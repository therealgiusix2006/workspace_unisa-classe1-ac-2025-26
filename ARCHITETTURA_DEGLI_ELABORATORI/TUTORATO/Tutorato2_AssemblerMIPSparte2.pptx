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80" r:id="rId1"/>
  </p:sldMasterIdLst>
  <p:notesMasterIdLst>
    <p:notesMasterId r:id="rId14"/>
  </p:notesMasterIdLst>
  <p:handoutMasterIdLst>
    <p:handoutMasterId r:id="rId15"/>
  </p:handoutMasterIdLst>
  <p:sldIdLst>
    <p:sldId id="2336" r:id="rId2"/>
    <p:sldId id="2168" r:id="rId3"/>
    <p:sldId id="2317" r:id="rId4"/>
    <p:sldId id="2339" r:id="rId5"/>
    <p:sldId id="2331" r:id="rId6"/>
    <p:sldId id="2342" r:id="rId7"/>
    <p:sldId id="2343" r:id="rId8"/>
    <p:sldId id="2344" r:id="rId9"/>
    <p:sldId id="2345" r:id="rId10"/>
    <p:sldId id="2346" r:id="rId11"/>
    <p:sldId id="2347" r:id="rId12"/>
    <p:sldId id="2348" r:id="rId13"/>
  </p:sldIdLst>
  <p:sldSz cx="9144000" cy="6858000" type="screen4x3"/>
  <p:notesSz cx="7099300" cy="10234613"/>
  <p:defaultTextStyle>
    <a:defPPr>
      <a:defRPr lang="en-US"/>
    </a:defPPr>
    <a:lvl1pPr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2pPr>
    <a:lvl3pPr marL="9144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3pPr>
    <a:lvl4pPr marL="13716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4pPr>
    <a:lvl5pPr marL="1828800" algn="r" rtl="0" eaLnBrk="0" fontAlgn="base" hangingPunct="0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CC33"/>
    <a:srgbClr val="993366"/>
    <a:srgbClr val="FF9966"/>
    <a:srgbClr val="FFFF00"/>
    <a:srgbClr val="6666FF"/>
    <a:srgbClr val="FF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3" autoAdjust="0"/>
    <p:restoredTop sz="94434" autoAdjust="0"/>
  </p:normalViewPr>
  <p:slideViewPr>
    <p:cSldViewPr>
      <p:cViewPr varScale="1">
        <p:scale>
          <a:sx n="82" d="100"/>
          <a:sy n="82" d="100"/>
        </p:scale>
        <p:origin x="1411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2412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3778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3778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778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EACE7C25-D304-BE4D-9C1F-2702F5306DF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19625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Elementi di Crittografia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r>
              <a:rPr lang="it-IT"/>
              <a:t>05-05-2016</a:t>
            </a:r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02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37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0"/>
            <a:r>
              <a:rPr lang="it-IT" noProof="0"/>
              <a:t>Secondo livello</a:t>
            </a:r>
          </a:p>
          <a:p>
            <a:pPr lvl="0"/>
            <a:r>
              <a:rPr lang="it-IT" noProof="0"/>
              <a:t>Terzo livello</a:t>
            </a:r>
          </a:p>
          <a:p>
            <a:pPr lvl="0"/>
            <a:r>
              <a:rPr lang="it-IT" noProof="0"/>
              <a:t>Quarto livello</a:t>
            </a:r>
          </a:p>
          <a:p>
            <a:pPr lvl="0"/>
            <a:r>
              <a:rPr lang="it-IT" noProof="0"/>
              <a:t>Quinto livello</a:t>
            </a:r>
          </a:p>
        </p:txBody>
      </p:sp>
      <p:sp>
        <p:nvSpPr>
          <p:cNvPr id="402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l" defTabSz="950913">
              <a:spcBef>
                <a:spcPct val="20000"/>
              </a:spcBef>
              <a:buFontTx/>
              <a:buChar char="•"/>
              <a:defRPr sz="1200" b="0">
                <a:latin typeface="Tahoma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02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defTabSz="950913">
              <a:spcBef>
                <a:spcPct val="20000"/>
              </a:spcBef>
              <a:buFontTx/>
              <a:buChar char="•"/>
              <a:defRPr sz="1200" b="0">
                <a:latin typeface="Tahoma" charset="0"/>
              </a:defRPr>
            </a:lvl1pPr>
          </a:lstStyle>
          <a:p>
            <a:pPr>
              <a:defRPr/>
            </a:pPr>
            <a:fld id="{6AE8E824-1F88-FB47-BC5C-B6033AAF8800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317406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ＭＳ Ｐゴシック" pitchFamily="-108" charset="-128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05-05-2016</a:t>
            </a:r>
          </a:p>
        </p:txBody>
      </p:sp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AF6A8D13-7514-B24E-9A26-496D76200EAD}" type="slidenum">
              <a:rPr lang="it-IT" sz="1200" b="0">
                <a:latin typeface="Tahoma" charset="0"/>
              </a:rPr>
              <a:pPr/>
              <a:t>0</a:t>
            </a:fld>
            <a:endParaRPr lang="it-IT" sz="1200" b="0">
              <a:latin typeface="Tahoma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3588"/>
            <a:ext cx="5094288" cy="3821112"/>
          </a:xfrm>
          <a:ln/>
        </p:spPr>
        <p:txBody>
          <a:bodyPr/>
          <a:lstStyle/>
          <a:p>
            <a:endParaRPr lang="it-IT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2338" y="4840288"/>
            <a:ext cx="5226050" cy="4668837"/>
          </a:xfrm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8437" name="Segnaposto intestazione 5"/>
          <p:cNvSpPr>
            <a:spLocks noGrp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950913"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algn="r" defTabSz="950913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it-IT" sz="1200" b="0">
                <a:latin typeface="Tahoma" charset="0"/>
              </a:rPr>
              <a:t>Elementi di Crittografia</a:t>
            </a:r>
          </a:p>
        </p:txBody>
      </p:sp>
    </p:spTree>
    <p:extLst>
      <p:ext uri="{BB962C8B-B14F-4D97-AF65-F5344CB8AC3E}">
        <p14:creationId xmlns:p14="http://schemas.microsoft.com/office/powerpoint/2010/main" val="416866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1BF9A9-75D2-5A4A-8BC4-C713BC08A5A3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13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paint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2880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609600"/>
            <a:ext cx="8178800" cy="1295400"/>
          </a:xfrm>
        </p:spPr>
        <p:txBody>
          <a:bodyPr/>
          <a:lstStyle>
            <a:lvl1pPr>
              <a:defRPr b="1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200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3886200"/>
            <a:ext cx="6400800" cy="1771650"/>
          </a:xfrm>
        </p:spPr>
        <p:txBody>
          <a:bodyPr/>
          <a:lstStyle>
            <a:lvl1pPr marL="0" indent="0">
              <a:defRPr>
                <a:latin typeface="Arial Black" pitchFamily="-108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11200" y="6229350"/>
            <a:ext cx="1930400" cy="5143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 b="0">
                <a:solidFill>
                  <a:srgbClr val="5E574E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9600" y="6229350"/>
            <a:ext cx="2844800" cy="514350"/>
          </a:xfrm>
        </p:spPr>
        <p:txBody>
          <a:bodyPr/>
          <a:lstStyle>
            <a:lvl1pPr algn="ctr">
              <a:defRPr sz="1400"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04000" y="6229350"/>
            <a:ext cx="1828800" cy="514350"/>
          </a:xfrm>
        </p:spPr>
        <p:txBody>
          <a:bodyPr/>
          <a:lstStyle>
            <a:lvl1pPr>
              <a:defRPr>
                <a:solidFill>
                  <a:srgbClr val="5E574E"/>
                </a:solidFill>
              </a:defRPr>
            </a:lvl1pPr>
          </a:lstStyle>
          <a:p>
            <a:pPr>
              <a:defRPr/>
            </a:pPr>
            <a:fld id="{6E642E82-7D8A-3A41-B235-D0E8CAF0ACF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7920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CC7E84-1A74-C448-82DC-88951075EFE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9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BC418-7B45-AB48-81FE-BC17BE879B8E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981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22800" y="1885950"/>
            <a:ext cx="4013200" cy="4171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50F877-E422-9843-95AA-365F1B5192D1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27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F48D5-374E-6847-9E0D-3AB5A545450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073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CEC335-BEF5-6A4F-A2EC-55E3DBE011C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575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4ECDD0-321D-5E40-B951-9EFC4C6791A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299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7A00E-4E6A-094F-9691-35F63ECD4D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9572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stile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833F9-DFB2-4C4C-9C97-F5B2E8C95175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007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8C3F7-1F86-5C43-B954-F7148FB6CDF3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6948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73850" y="228600"/>
            <a:ext cx="2089150" cy="5829300"/>
          </a:xfrm>
        </p:spPr>
        <p:txBody>
          <a:bodyPr vert="eaVert"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06400" y="228600"/>
            <a:ext cx="6115050" cy="58293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CC145-3297-FA40-830F-481A8FD46C14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877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356600" cy="1143000"/>
          </a:xfrm>
        </p:spPr>
        <p:txBody>
          <a:bodyPr/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457200" y="1885950"/>
            <a:ext cx="8178800" cy="417195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51193-0834-4640-A98B-28558B3C8042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4517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>
          <a:outerShdw blurRad="63500" dist="107763" dir="2700000" algn="ctr" rotWithShape="0">
            <a:srgbClr val="000000">
              <a:alpha val="74998"/>
            </a:srgbClr>
          </a:outerShdw>
        </a:effec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04800" y="1371600"/>
            <a:ext cx="381000" cy="381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prstShdw prst="shdw13" dist="85194" dir="12393903">
              <a:srgbClr val="F4792E">
                <a:alpha val="74997"/>
              </a:srgbClr>
            </a:prstShdw>
          </a:effectLst>
        </p:spPr>
        <p:txBody>
          <a:bodyPr wrap="none" anchor="ctr"/>
          <a:lstStyle/>
          <a:p>
            <a:endParaRPr lang="it-IT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28600"/>
            <a:ext cx="8356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85950"/>
            <a:ext cx="8178800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/>
          </a:p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0060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43000" y="6096000"/>
            <a:ext cx="5805488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b="0">
                <a:solidFill>
                  <a:schemeClr val="bg2"/>
                </a:solidFill>
                <a:latin typeface="Arial" pitchFamily="-108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it-IT"/>
              <a:t>Barbara Masucci - DI – Università di  Salerno</a:t>
            </a:r>
          </a:p>
        </p:txBody>
      </p:sp>
      <p:sp>
        <p:nvSpPr>
          <p:cNvPr id="20060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6248400"/>
            <a:ext cx="10922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b="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11A4DE33-46B0-8940-BB01-66AF5FC5DA8C}" type="slidenum">
              <a:rPr lang="it-IT"/>
              <a:pPr>
                <a:defRPr/>
              </a:pPr>
              <a:t>‹N›</a:t>
            </a:fld>
            <a:endParaRPr lang="it-IT"/>
          </a:p>
        </p:txBody>
      </p:sp>
      <p:pic>
        <p:nvPicPr>
          <p:cNvPr id="1031" name="Picture 8" descr="paint"/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C0C0C0"/>
              </a:clrFrom>
              <a:clrTo>
                <a:srgbClr val="C0C0C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14450"/>
            <a:ext cx="8229600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Line 9"/>
          <p:cNvSpPr>
            <a:spLocks noChangeShapeType="1"/>
          </p:cNvSpPr>
          <p:nvPr/>
        </p:nvSpPr>
        <p:spPr bwMode="auto">
          <a:xfrm flipV="1">
            <a:off x="457200" y="457200"/>
            <a:ext cx="0" cy="556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10"/>
          <p:cNvSpPr>
            <a:spLocks noChangeShapeType="1"/>
          </p:cNvSpPr>
          <p:nvPr/>
        </p:nvSpPr>
        <p:spPr bwMode="auto">
          <a:xfrm>
            <a:off x="228600" y="1524000"/>
            <a:ext cx="861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1034" name="Picture 11" descr="logo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92825"/>
            <a:ext cx="677863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  <a:ea typeface="ＭＳ Ｐゴシック" pitchFamily="-108" charset="-128"/>
          <a:cs typeface="ＭＳ Ｐゴシック" pitchFamily="-108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1"/>
          </a:solidFill>
          <a:latin typeface="Arial Black" pitchFamily="-10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defRPr kumimoji="1"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800">
          <a:solidFill>
            <a:schemeClr val="tx1"/>
          </a:solidFill>
          <a:latin typeface="+mn-lt"/>
          <a:ea typeface="ＭＳ Ｐゴシック" pitchFamily="-108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400">
          <a:solidFill>
            <a:schemeClr val="tx1"/>
          </a:solidFill>
          <a:latin typeface="+mn-lt"/>
          <a:ea typeface="ＭＳ Ｐゴシック" pitchFamily="-108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-108" charset="2"/>
        <a:buChar char="Ø"/>
        <a:defRPr kumimoji="1" sz="20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549275"/>
            <a:ext cx="8893175" cy="1143000"/>
          </a:xfrm>
          <a:noFill/>
        </p:spPr>
        <p:txBody>
          <a:bodyPr anchor="ctr"/>
          <a:lstStyle/>
          <a:p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Architettura</a:t>
            </a:r>
            <a:b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degli</a:t>
            </a:r>
            <a:r>
              <a:rPr lang="en-US" sz="5400" dirty="0">
                <a:latin typeface="Arial Black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5400" dirty="0" err="1">
                <a:latin typeface="Arial Black" charset="0"/>
                <a:ea typeface="ＭＳ Ｐゴシック" charset="0"/>
                <a:cs typeface="ＭＳ Ｐゴシック" charset="0"/>
              </a:rPr>
              <a:t>Elaboratori</a:t>
            </a:r>
            <a:endParaRPr lang="en-US" sz="3600" dirty="0"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2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2000">
              <a:solidFill>
                <a:srgbClr val="FF0066"/>
              </a:solidFill>
              <a:latin typeface="Comic Sans MS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charset="0"/>
              <a:buNone/>
            </a:pPr>
            <a:endParaRPr lang="en-US" sz="1400" b="0">
              <a:solidFill>
                <a:srgbClr val="0000CC"/>
              </a:solidFill>
              <a:latin typeface="Comic Sans MS" charset="0"/>
            </a:endParaRPr>
          </a:p>
        </p:txBody>
      </p:sp>
      <p:pic>
        <p:nvPicPr>
          <p:cNvPr id="7" name="Picture 1" descr="logodi-eps-converted-to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692" y="5259660"/>
            <a:ext cx="712470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FullSizeRender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2793636"/>
            <a:ext cx="3960440" cy="2795604"/>
          </a:xfrm>
          <a:prstGeom prst="rect">
            <a:avLst/>
          </a:prstGeom>
        </p:spPr>
      </p:pic>
      <p:sp>
        <p:nvSpPr>
          <p:cNvPr id="174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67744" y="4916760"/>
            <a:ext cx="4968552" cy="1752600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endParaRPr lang="en-US" sz="1800" b="1" dirty="0">
              <a:solidFill>
                <a:srgbClr val="FF0066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CC0000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D’Angelo - Rossi</a:t>
            </a:r>
            <a:endParaRPr lang="en-US" sz="2000" b="1" dirty="0">
              <a:solidFill>
                <a:srgbClr val="CC0000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2000" b="1" dirty="0">
              <a:solidFill>
                <a:srgbClr val="CC0000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400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50000"/>
              </a:lnSpc>
            </a:pPr>
            <a:endParaRPr lang="en-US" sz="1400" b="1" dirty="0">
              <a:solidFill>
                <a:schemeClr val="accent2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200" dirty="0">
              <a:solidFill>
                <a:srgbClr val="CC3399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555776" y="1676400"/>
            <a:ext cx="410445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defRPr kumimoji="1" sz="3200">
                <a:solidFill>
                  <a:schemeClr val="tx1"/>
                </a:solidFill>
                <a:latin typeface="Arial Black" pitchFamily="-108" charset="0"/>
                <a:ea typeface="ＭＳ Ｐゴシック" pitchFamily="-108" charset="-128"/>
                <a:cs typeface="ＭＳ Ｐゴシック" pitchFamily="-108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8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4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charset="0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-108" charset="2"/>
              <a:buChar char="Ø"/>
              <a:defRPr kumimoji="1" sz="2000">
                <a:solidFill>
                  <a:schemeClr val="tx1"/>
                </a:solidFill>
                <a:latin typeface="+mn-lt"/>
                <a:ea typeface="ＭＳ Ｐゴシック" pitchFamily="-108" charset="-128"/>
              </a:defRPr>
            </a:lvl9pPr>
          </a:lstStyle>
          <a:p>
            <a:pPr>
              <a:lnSpc>
                <a:spcPct val="90000"/>
              </a:lnSpc>
            </a:pPr>
            <a:endParaRPr lang="en-US" sz="24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 err="1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Tutorato</a:t>
            </a:r>
            <a:endParaRPr lang="en-US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40000"/>
              </a:lnSpc>
            </a:pPr>
            <a:r>
              <a:rPr lang="en-US" sz="1400" dirty="0">
                <a:solidFill>
                  <a:srgbClr val="0000FF"/>
                </a:solidFill>
                <a:latin typeface="Century Gothic" charset="0"/>
                <a:ea typeface="ＭＳ Ｐゴシック" charset="0"/>
                <a:cs typeface="ＭＳ Ｐゴシック" charset="0"/>
              </a:rPr>
              <a:t>21/11/2025 </a:t>
            </a:r>
          </a:p>
          <a:p>
            <a:pPr>
              <a:lnSpc>
                <a:spcPct val="50000"/>
              </a:lnSpc>
            </a:pPr>
            <a:endParaRPr lang="en-US" sz="1800" b="1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rgbClr val="0000FF"/>
              </a:solidFill>
              <a:latin typeface="Century Gothic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51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06400" y="341784"/>
            <a:ext cx="8356600" cy="1143000"/>
          </a:xfrm>
        </p:spPr>
        <p:txBody>
          <a:bodyPr/>
          <a:lstStyle/>
          <a:p>
            <a:r>
              <a:rPr lang="it-IT" sz="4800" dirty="0"/>
              <a:t>Su cosa </a:t>
            </a:r>
            <a:br>
              <a:rPr lang="it-IT" sz="4800" dirty="0"/>
            </a:br>
            <a:r>
              <a:rPr lang="it-IT" sz="4800" dirty="0"/>
              <a:t>ci esercitiamo oggi?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73224" y="1705322"/>
            <a:ext cx="8363272" cy="4171950"/>
          </a:xfrm>
        </p:spPr>
        <p:txBody>
          <a:bodyPr/>
          <a:lstStyle/>
          <a:p>
            <a:pPr marL="457200" indent="-457200">
              <a:buFont typeface="Wingdings" charset="2"/>
              <a:buChar char="Ø"/>
            </a:pPr>
            <a:r>
              <a:rPr lang="it-IT" sz="2800" dirty="0">
                <a:ea typeface="MS PGothic" charset="-128"/>
              </a:rPr>
              <a:t>istruzioni MIPS</a:t>
            </a:r>
          </a:p>
        </p:txBody>
      </p:sp>
    </p:spTree>
    <p:extLst>
      <p:ext uri="{BB962C8B-B14F-4D97-AF65-F5344CB8AC3E}">
        <p14:creationId xmlns:p14="http://schemas.microsoft.com/office/powerpoint/2010/main" val="96786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  <a:br>
              <a:rPr lang="it-IT" sz="2800" b="0" dirty="0">
                <a:latin typeface="+mn-lt"/>
                <a:cs typeface="Calibri"/>
              </a:rPr>
            </a:br>
            <a:endParaRPr lang="it-IT" sz="2800" b="0" dirty="0">
              <a:latin typeface="+mn-lt"/>
              <a:cs typeface="Calibri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FF0000"/>
                </a:solidFill>
                <a:latin typeface="+mn-lt"/>
                <a:cs typeface="Calibri"/>
              </a:rPr>
              <a:t>i = 5;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FF0000"/>
                </a:solidFill>
                <a:latin typeface="+mn-lt"/>
                <a:cs typeface="Calibri"/>
              </a:rPr>
              <a:t>k = 12;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FF0000"/>
                </a:solidFill>
                <a:latin typeface="+mn-lt"/>
                <a:cs typeface="Calibri"/>
              </a:rPr>
              <a:t>while (i &lt; k) {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FF0000"/>
                </a:solidFill>
                <a:latin typeface="+mn-lt"/>
                <a:cs typeface="Calibri"/>
              </a:rPr>
              <a:t>    i = i + 3;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2800" b="0" dirty="0">
                <a:solidFill>
                  <a:srgbClr val="FF0000"/>
                </a:solidFill>
                <a:latin typeface="+mn-lt"/>
                <a:cs typeface="Calibri"/>
              </a:rPr>
              <a:t>}</a:t>
            </a:r>
            <a:r>
              <a:rPr lang="it-IT" sz="28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it-IT" sz="28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k</a:t>
            </a:r>
          </a:p>
        </p:txBody>
      </p:sp>
    </p:spTree>
    <p:extLst>
      <p:ext uri="{BB962C8B-B14F-4D97-AF65-F5344CB8AC3E}">
        <p14:creationId xmlns:p14="http://schemas.microsoft.com/office/powerpoint/2010/main" val="294456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1</a:t>
            </a:r>
            <a:r>
              <a:rPr lang="it-IT" sz="4800"/>
              <a:t>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496" y="1772816"/>
            <a:ext cx="910850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8967EF-B5E5-21FC-E89A-78A2A9E58694}"/>
              </a:ext>
            </a:extLst>
          </p:cNvPr>
          <p:cNvSpPr txBox="1"/>
          <p:nvPr/>
        </p:nvSpPr>
        <p:spPr>
          <a:xfrm>
            <a:off x="404777" y="1772816"/>
            <a:ext cx="46419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1600" b="0" dirty="0">
                <a:solidFill>
                  <a:srgbClr val="FF0000"/>
                </a:solidFill>
                <a:latin typeface="+mn-lt"/>
                <a:cs typeface="Calibri"/>
              </a:rPr>
              <a:t>i = 5;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1600" b="0" dirty="0">
                <a:solidFill>
                  <a:srgbClr val="FF0000"/>
                </a:solidFill>
                <a:latin typeface="+mn-lt"/>
                <a:cs typeface="Calibri"/>
              </a:rPr>
              <a:t>k = 12;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1600" b="0" dirty="0">
                <a:solidFill>
                  <a:srgbClr val="FF0000"/>
                </a:solidFill>
                <a:latin typeface="+mn-lt"/>
                <a:cs typeface="Calibri"/>
              </a:rPr>
              <a:t>while (i &lt; k) {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1600" b="0" dirty="0">
                <a:solidFill>
                  <a:srgbClr val="FF0000"/>
                </a:solidFill>
                <a:latin typeface="+mn-lt"/>
                <a:cs typeface="Calibri"/>
              </a:rPr>
              <a:t>    i = i + 3;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nn-NO" sz="1600" b="0" dirty="0">
                <a:solidFill>
                  <a:srgbClr val="FF0000"/>
                </a:solidFill>
                <a:latin typeface="+mn-lt"/>
                <a:cs typeface="Calibri"/>
              </a:rPr>
              <a:t>}</a:t>
            </a:r>
            <a:r>
              <a:rPr lang="it-IT" sz="16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2E0E524-A2A0-F926-B50F-02DAE00DAD38}"/>
              </a:ext>
            </a:extLst>
          </p:cNvPr>
          <p:cNvSpPr txBox="1"/>
          <p:nvPr/>
        </p:nvSpPr>
        <p:spPr>
          <a:xfrm>
            <a:off x="1259632" y="2785289"/>
            <a:ext cx="82089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è: </a:t>
            </a:r>
          </a:p>
          <a:p>
            <a:pPr algn="l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addi $s0, $zero, 5      </a:t>
            </a:r>
            <a:r>
              <a:rPr lang="it-IT" dirty="0"/>
              <a:t># i = 5</a:t>
            </a:r>
          </a:p>
          <a:p>
            <a:pPr algn="l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addi $s1, $zero, 12     </a:t>
            </a:r>
            <a:r>
              <a:rPr lang="it-IT" dirty="0"/>
              <a:t># k = 12</a:t>
            </a:r>
          </a:p>
          <a:p>
            <a:pPr algn="l"/>
            <a:endParaRPr lang="it-IT" dirty="0"/>
          </a:p>
          <a:p>
            <a:pPr algn="l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CICLO:</a:t>
            </a:r>
          </a:p>
          <a:p>
            <a:pPr algn="l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   </a:t>
            </a:r>
            <a:r>
              <a:rPr lang="it-IT" sz="2400" b="0" dirty="0" err="1">
                <a:solidFill>
                  <a:srgbClr val="FF0000"/>
                </a:solidFill>
                <a:latin typeface="+mn-lt"/>
                <a:cs typeface="Arial" charset="0"/>
              </a:rPr>
              <a:t>bge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 $s0, $s1, FINE</a:t>
            </a:r>
            <a:r>
              <a:rPr lang="it-IT" dirty="0"/>
              <a:t>  # se i &gt;= k esci dal ciclo</a:t>
            </a:r>
          </a:p>
          <a:p>
            <a:pPr algn="l"/>
            <a:r>
              <a:rPr lang="it-IT" dirty="0"/>
              <a:t>   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addi $s0, $s0, 3    </a:t>
            </a:r>
            <a:r>
              <a:rPr lang="it-IT" dirty="0"/>
              <a:t># i = i + 3</a:t>
            </a:r>
          </a:p>
          <a:p>
            <a:pPr algn="l"/>
            <a:r>
              <a:rPr lang="it-IT" dirty="0"/>
              <a:t>    </a:t>
            </a:r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j CICLO             </a:t>
            </a:r>
            <a:r>
              <a:rPr lang="it-IT" dirty="0"/>
              <a:t># ripeti</a:t>
            </a:r>
          </a:p>
          <a:p>
            <a:pPr algn="l"/>
            <a:endParaRPr lang="it-IT" dirty="0"/>
          </a:p>
          <a:p>
            <a:pPr algn="l"/>
            <a:r>
              <a:rPr lang="it-IT" sz="2400" b="0" dirty="0">
                <a:solidFill>
                  <a:srgbClr val="FF0000"/>
                </a:solidFill>
                <a:latin typeface="+mn-lt"/>
                <a:cs typeface="Arial" charset="0"/>
              </a:rPr>
              <a:t>FINE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12A88BE-C006-9C9F-C350-41861C999013}"/>
              </a:ext>
            </a:extLst>
          </p:cNvPr>
          <p:cNvSpPr txBox="1"/>
          <p:nvPr/>
        </p:nvSpPr>
        <p:spPr>
          <a:xfrm>
            <a:off x="1547664" y="1957481"/>
            <a:ext cx="4641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16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1600" b="0" dirty="0">
                <a:latin typeface="+mn-lt"/>
                <a:cs typeface="Arial" charset="0"/>
              </a:rPr>
              <a:t>$s1 contiene k</a:t>
            </a:r>
          </a:p>
        </p:txBody>
      </p:sp>
    </p:spTree>
    <p:extLst>
      <p:ext uri="{BB962C8B-B14F-4D97-AF65-F5344CB8AC3E}">
        <p14:creationId xmlns:p14="http://schemas.microsoft.com/office/powerpoint/2010/main" val="321530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9512" y="1628800"/>
            <a:ext cx="8568952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somma = 0;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for (</a:t>
            </a:r>
            <a:r>
              <a:rPr lang="en-US" sz="28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 = 0; </a:t>
            </a:r>
            <a:r>
              <a:rPr lang="en-US" sz="28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 &lt; 10; </a:t>
            </a:r>
            <a:r>
              <a:rPr lang="en-US" sz="28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++) {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    somma = somma + V[</a:t>
            </a:r>
            <a:r>
              <a:rPr lang="en-US" sz="28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];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2800" b="0" dirty="0">
                <a:solidFill>
                  <a:srgbClr val="0000FF"/>
                </a:solidFill>
                <a:latin typeface="+mn-lt"/>
                <a:cs typeface="Arial" charset="0"/>
              </a:rPr>
              <a:t>}</a:t>
            </a: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somma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$s2 contiene indirizzo base V</a:t>
            </a:r>
          </a:p>
        </p:txBody>
      </p:sp>
    </p:spTree>
    <p:extLst>
      <p:ext uri="{BB962C8B-B14F-4D97-AF65-F5344CB8AC3E}">
        <p14:creationId xmlns:p14="http://schemas.microsoft.com/office/powerpoint/2010/main" val="93212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6239-7F02-0DEF-E7B0-F627B71D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1992B8-A764-7A63-840E-037E4D84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2: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A925A8-B97A-0A26-2C57-621DD824ED8F}"/>
              </a:ext>
            </a:extLst>
          </p:cNvPr>
          <p:cNvSpPr txBox="1"/>
          <p:nvPr/>
        </p:nvSpPr>
        <p:spPr>
          <a:xfrm>
            <a:off x="35496" y="1772816"/>
            <a:ext cx="910850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28D7AC-223C-B678-8680-70C1E522224F}"/>
              </a:ext>
            </a:extLst>
          </p:cNvPr>
          <p:cNvSpPr txBox="1"/>
          <p:nvPr/>
        </p:nvSpPr>
        <p:spPr>
          <a:xfrm>
            <a:off x="404777" y="1484784"/>
            <a:ext cx="4641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somma = 0;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for (</a:t>
            </a:r>
            <a:r>
              <a:rPr lang="en-US" sz="14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 = 0; </a:t>
            </a:r>
            <a:r>
              <a:rPr lang="en-US" sz="14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 &lt; 10; </a:t>
            </a:r>
            <a:r>
              <a:rPr lang="en-US" sz="14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++) {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    somma = somma + V[</a:t>
            </a:r>
            <a:r>
              <a:rPr lang="en-US" sz="1400" b="0" dirty="0" err="1">
                <a:solidFill>
                  <a:srgbClr val="0000FF"/>
                </a:solidFill>
                <a:latin typeface="+mn-lt"/>
                <a:cs typeface="Arial" charset="0"/>
              </a:rPr>
              <a:t>i</a:t>
            </a: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];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n-US" sz="1400" b="0" dirty="0">
                <a:solidFill>
                  <a:srgbClr val="0000FF"/>
                </a:solidFill>
                <a:latin typeface="+mn-lt"/>
                <a:cs typeface="Arial" charset="0"/>
              </a:rPr>
              <a:t>}</a:t>
            </a:r>
            <a:r>
              <a:rPr lang="it-IT" sz="1400" b="0" dirty="0">
                <a:solidFill>
                  <a:srgbClr val="0000FF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6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FA05585-E002-09C2-ED59-F7B773791BBF}"/>
              </a:ext>
            </a:extLst>
          </p:cNvPr>
          <p:cNvSpPr txBox="1"/>
          <p:nvPr/>
        </p:nvSpPr>
        <p:spPr>
          <a:xfrm>
            <a:off x="1321610" y="1961081"/>
            <a:ext cx="82089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è: 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addi $s1, $zero, 0      # somma = 0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addi $s0, $zero, 0      # i = 0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addi $t0, $zero, 10     # limite = 10</a:t>
            </a:r>
          </a:p>
          <a:p>
            <a:pPr algn="l"/>
            <a:endParaRPr lang="it-IT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CICLO: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</a:t>
            </a:r>
            <a:r>
              <a:rPr lang="it-IT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beq</a:t>
            </a:r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$s0, $t0, FINE  # se i == 10 esci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</a:t>
            </a:r>
            <a:r>
              <a:rPr lang="it-IT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lw</a:t>
            </a:r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$t1, 0($s2)     # t1 = V[i]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</a:t>
            </a:r>
            <a:r>
              <a:rPr lang="it-IT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add</a:t>
            </a:r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$s1, $s1, $t1   # somma = somma + V[i]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addi $s0, $s0, 1    # i++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addi $s2, $s2, 4    # indirizzo della word successiva</a:t>
            </a: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    j   CICLO</a:t>
            </a:r>
          </a:p>
          <a:p>
            <a:pPr algn="l"/>
            <a:endParaRPr lang="it-IT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000" b="0" dirty="0">
                <a:solidFill>
                  <a:srgbClr val="FF0000"/>
                </a:solidFill>
                <a:latin typeface="+mn-lt"/>
                <a:cs typeface="Arial" charset="0"/>
              </a:rPr>
              <a:t>FINE: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81C786-42BF-3B35-8219-054E9A3A6A71}"/>
              </a:ext>
            </a:extLst>
          </p:cNvPr>
          <p:cNvSpPr txBox="1"/>
          <p:nvPr/>
        </p:nvSpPr>
        <p:spPr>
          <a:xfrm>
            <a:off x="2725766" y="1546338"/>
            <a:ext cx="4641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b="0" dirty="0">
                <a:latin typeface="+mn-lt"/>
                <a:cs typeface="Arial" charset="0"/>
              </a:rPr>
              <a:t>$s1 contiene somma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b="0" dirty="0">
                <a:latin typeface="+mn-lt"/>
                <a:cs typeface="Arial" charset="0"/>
              </a:rPr>
              <a:t>$s2 contiene indirizzo base V</a:t>
            </a:r>
          </a:p>
        </p:txBody>
      </p:sp>
    </p:spTree>
    <p:extLst>
      <p:ext uri="{BB962C8B-B14F-4D97-AF65-F5344CB8AC3E}">
        <p14:creationId xmlns:p14="http://schemas.microsoft.com/office/powerpoint/2010/main" val="507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FBC6D-893E-DE9B-C115-6B5070EFB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F884C3-D303-7B99-5611-706EC9DC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881C4-E791-C313-D4E7-0871350F3196}"/>
              </a:ext>
            </a:extLst>
          </p:cNvPr>
          <p:cNvSpPr txBox="1"/>
          <p:nvPr/>
        </p:nvSpPr>
        <p:spPr>
          <a:xfrm>
            <a:off x="179512" y="1628800"/>
            <a:ext cx="85689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pt-BR" sz="2800" b="0" dirty="0">
                <a:solidFill>
                  <a:srgbClr val="0000FF"/>
                </a:solidFill>
                <a:latin typeface="+mn-lt"/>
                <a:cs typeface="Arial" charset="0"/>
              </a:rPr>
              <a:t>x = A[2] + A[5];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pt-BR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$s0 contiene x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400" b="0" dirty="0">
                <a:latin typeface="+mn-lt"/>
                <a:cs typeface="Arial" charset="0"/>
              </a:rPr>
              <a:t>$s1 contiene indirizzo base A</a:t>
            </a:r>
          </a:p>
        </p:txBody>
      </p:sp>
    </p:spTree>
    <p:extLst>
      <p:ext uri="{BB962C8B-B14F-4D97-AF65-F5344CB8AC3E}">
        <p14:creationId xmlns:p14="http://schemas.microsoft.com/office/powerpoint/2010/main" val="35859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6D0BD-182D-6D37-CE9A-37D53BDE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40C0D1-9613-E24B-579D-1A786FF0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3: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AE128-9B97-2E0E-0032-A59F1A69DFD5}"/>
              </a:ext>
            </a:extLst>
          </p:cNvPr>
          <p:cNvSpPr txBox="1"/>
          <p:nvPr/>
        </p:nvSpPr>
        <p:spPr>
          <a:xfrm>
            <a:off x="35496" y="1772816"/>
            <a:ext cx="910850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95233A2-A44B-B008-8515-B76B72CC5563}"/>
              </a:ext>
            </a:extLst>
          </p:cNvPr>
          <p:cNvSpPr txBox="1"/>
          <p:nvPr/>
        </p:nvSpPr>
        <p:spPr>
          <a:xfrm>
            <a:off x="404777" y="1484784"/>
            <a:ext cx="46419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en-US" sz="14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pt-BR" sz="1800" dirty="0">
                <a:solidFill>
                  <a:srgbClr val="0000FF"/>
                </a:solidFill>
                <a:latin typeface="+mn-lt"/>
                <a:cs typeface="Arial" charset="0"/>
              </a:rPr>
              <a:t>x = A[2] + A[5];</a:t>
            </a:r>
            <a:r>
              <a:rPr lang="it-IT" sz="1400" b="0" dirty="0">
                <a:solidFill>
                  <a:srgbClr val="0000FF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6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08038AE-1FD6-CCE2-D198-373003CFF59D}"/>
              </a:ext>
            </a:extLst>
          </p:cNvPr>
          <p:cNvSpPr txBox="1"/>
          <p:nvPr/>
        </p:nvSpPr>
        <p:spPr>
          <a:xfrm>
            <a:off x="1331640" y="2399351"/>
            <a:ext cx="8208912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è: </a:t>
            </a: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pt-BR" sz="2000" b="0" dirty="0">
                <a:solidFill>
                  <a:srgbClr val="FF0000"/>
                </a:solidFill>
                <a:latin typeface="+mn-lt"/>
                <a:cs typeface="Arial" charset="0"/>
              </a:rPr>
              <a:t>lw  $t0, 8($s1)      # carica A[2]  →  2*4 = 8</a:t>
            </a:r>
          </a:p>
          <a:p>
            <a:pPr algn="l"/>
            <a:r>
              <a:rPr lang="pt-BR" sz="2000" b="0" dirty="0">
                <a:solidFill>
                  <a:srgbClr val="FF0000"/>
                </a:solidFill>
                <a:latin typeface="+mn-lt"/>
                <a:cs typeface="Arial" charset="0"/>
              </a:rPr>
              <a:t>lw $t1, 20($s1)     # carica A[5]  →  5*4 = 20</a:t>
            </a:r>
          </a:p>
          <a:p>
            <a:pPr algn="l"/>
            <a:r>
              <a:rPr lang="pt-BR" sz="2000" b="0" dirty="0">
                <a:solidFill>
                  <a:srgbClr val="FF0000"/>
                </a:solidFill>
                <a:latin typeface="+mn-lt"/>
                <a:cs typeface="Arial" charset="0"/>
              </a:rPr>
              <a:t>add $s0, $t0, $t1   # x = A[2] + A[5]</a:t>
            </a:r>
            <a:endParaRPr lang="it-IT" sz="2000" b="0" dirty="0">
              <a:solidFill>
                <a:srgbClr val="FF0000"/>
              </a:solidFill>
              <a:latin typeface="+mn-lt"/>
              <a:cs typeface="Arial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A75BA05-59F7-5C71-8CD2-7FAF398F9870}"/>
              </a:ext>
            </a:extLst>
          </p:cNvPr>
          <p:cNvSpPr txBox="1"/>
          <p:nvPr/>
        </p:nvSpPr>
        <p:spPr>
          <a:xfrm>
            <a:off x="2725766" y="1546338"/>
            <a:ext cx="4641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dirty="0">
                <a:latin typeface="+mn-lt"/>
                <a:cs typeface="Arial" charset="0"/>
              </a:rPr>
              <a:t>$s0 contiene x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dirty="0">
                <a:latin typeface="+mn-lt"/>
                <a:cs typeface="Arial" charset="0"/>
              </a:rPr>
              <a:t>$s1 contiene indirizzo base A</a:t>
            </a:r>
          </a:p>
        </p:txBody>
      </p:sp>
    </p:spTree>
    <p:extLst>
      <p:ext uri="{BB962C8B-B14F-4D97-AF65-F5344CB8AC3E}">
        <p14:creationId xmlns:p14="http://schemas.microsoft.com/office/powerpoint/2010/main" val="3135204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32C53-5949-6222-F754-EAB0E500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BD88A7-D68A-476A-B5C7-1C6C2DBFE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03C80-5ADB-1B0D-3AEE-94EB9F2E982A}"/>
              </a:ext>
            </a:extLst>
          </p:cNvPr>
          <p:cNvSpPr txBox="1"/>
          <p:nvPr/>
        </p:nvSpPr>
        <p:spPr>
          <a:xfrm>
            <a:off x="179512" y="1628800"/>
            <a:ext cx="856895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br>
              <a:rPr lang="it-IT" sz="2800" b="0" dirty="0">
                <a:latin typeface="+mn-lt"/>
                <a:cs typeface="Calibri"/>
              </a:rPr>
            </a:b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if (x != y)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    x = x - y;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pt-BR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sz="2400" b="0" dirty="0">
                <a:latin typeface="+mn-lt"/>
                <a:cs typeface="Arial" charset="0"/>
              </a:rPr>
              <a:t>$s0 contiene x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sz="2400" b="0" dirty="0">
                <a:latin typeface="+mn-lt"/>
                <a:cs typeface="Arial" charset="0"/>
              </a:rPr>
              <a:t>$s1 contiene y</a:t>
            </a:r>
          </a:p>
        </p:txBody>
      </p:sp>
    </p:spTree>
    <p:extLst>
      <p:ext uri="{BB962C8B-B14F-4D97-AF65-F5344CB8AC3E}">
        <p14:creationId xmlns:p14="http://schemas.microsoft.com/office/powerpoint/2010/main" val="319451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23333-5B78-C998-2357-6FE317130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566F64-46A8-25C6-D67A-AE9C84DA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4: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E1CF1-51E9-D9A4-226E-82A8C9E57173}"/>
              </a:ext>
            </a:extLst>
          </p:cNvPr>
          <p:cNvSpPr txBox="1"/>
          <p:nvPr/>
        </p:nvSpPr>
        <p:spPr>
          <a:xfrm>
            <a:off x="35496" y="1772816"/>
            <a:ext cx="910850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BF5F9B0-2B5A-2ED6-65D1-5C536745EC40}"/>
              </a:ext>
            </a:extLst>
          </p:cNvPr>
          <p:cNvSpPr txBox="1"/>
          <p:nvPr/>
        </p:nvSpPr>
        <p:spPr>
          <a:xfrm>
            <a:off x="404777" y="1484784"/>
            <a:ext cx="464197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en-US" sz="14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800" dirty="0">
                <a:solidFill>
                  <a:srgbClr val="0000FF"/>
                </a:solidFill>
                <a:latin typeface="+mn-lt"/>
                <a:cs typeface="Arial" charset="0"/>
              </a:rPr>
              <a:t>if (x != y)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800" dirty="0">
                <a:solidFill>
                  <a:srgbClr val="0000FF"/>
                </a:solidFill>
                <a:latin typeface="+mn-lt"/>
                <a:cs typeface="Arial" charset="0"/>
              </a:rPr>
              <a:t>    x = x - y;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400" b="0" dirty="0">
                <a:solidFill>
                  <a:srgbClr val="0000FF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6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818BF0-752B-8779-9FC0-8F09D664FF05}"/>
              </a:ext>
            </a:extLst>
          </p:cNvPr>
          <p:cNvSpPr txBox="1"/>
          <p:nvPr/>
        </p:nvSpPr>
        <p:spPr>
          <a:xfrm>
            <a:off x="1331640" y="2399351"/>
            <a:ext cx="820891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è: </a:t>
            </a: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beq $s0, $s1, FINE  # se x == y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salta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l'if</a:t>
            </a:r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sub $s0, $s0, $s1   # x = x - y</a:t>
            </a:r>
          </a:p>
          <a:p>
            <a:pPr algn="l"/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FINE:</a:t>
            </a:r>
            <a:endParaRPr lang="it-IT" sz="2000" b="0" dirty="0">
              <a:solidFill>
                <a:srgbClr val="FF0000"/>
              </a:solidFill>
              <a:latin typeface="+mn-lt"/>
              <a:cs typeface="Arial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29B00FF-1EB0-51C2-88EF-AED82DF9F77F}"/>
              </a:ext>
            </a:extLst>
          </p:cNvPr>
          <p:cNvSpPr txBox="1"/>
          <p:nvPr/>
        </p:nvSpPr>
        <p:spPr>
          <a:xfrm>
            <a:off x="2725766" y="1546338"/>
            <a:ext cx="4641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dirty="0">
                <a:latin typeface="+mn-lt"/>
                <a:cs typeface="Arial" charset="0"/>
              </a:rPr>
              <a:t>$s0 contiene x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dirty="0">
                <a:latin typeface="+mn-lt"/>
                <a:cs typeface="Arial" charset="0"/>
              </a:rPr>
              <a:t>$s1 contiene y</a:t>
            </a:r>
            <a:endParaRPr lang="it-IT" dirty="0"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6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047E6-341D-BBAD-EAA6-B656B4B5E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5A684E-1920-02D2-8B48-235E4FED1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5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2FDCD-E89C-D73B-C67E-21F302D802CB}"/>
              </a:ext>
            </a:extLst>
          </p:cNvPr>
          <p:cNvSpPr txBox="1"/>
          <p:nvPr/>
        </p:nvSpPr>
        <p:spPr>
          <a:xfrm>
            <a:off x="179512" y="1628800"/>
            <a:ext cx="8568952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69950" lvl="1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it-IT" sz="2800" b="0" dirty="0">
                <a:latin typeface="+mn-lt"/>
                <a:cs typeface="Calibri"/>
              </a:rPr>
              <a:t>Scrivere 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corrispondente alla seguente istruzione in C: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i = 4;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j = 9;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if (i &lt; j)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    i = 2*i;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else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2800" b="0" dirty="0">
                <a:solidFill>
                  <a:srgbClr val="0000FF"/>
                </a:solidFill>
                <a:latin typeface="+mn-lt"/>
                <a:cs typeface="Arial" charset="0"/>
              </a:rPr>
              <a:t>    j = j - i;</a:t>
            </a:r>
            <a:endParaRPr lang="pt-BR" sz="28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br>
              <a:rPr lang="it-IT" sz="2800" b="0" dirty="0">
                <a:latin typeface="+mn-lt"/>
                <a:cs typeface="Arial" charset="0"/>
              </a:rPr>
            </a:br>
            <a:r>
              <a:rPr lang="it-IT" sz="2800" b="0" dirty="0">
                <a:latin typeface="+mn-lt"/>
                <a:cs typeface="Arial" charset="0"/>
              </a:rPr>
              <a:t>	Si suppone che: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sz="2400" b="0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sz="2400" b="0" dirty="0">
                <a:latin typeface="+mn-lt"/>
                <a:cs typeface="Arial" charset="0"/>
              </a:rPr>
              <a:t>$s1 contiene j</a:t>
            </a:r>
          </a:p>
        </p:txBody>
      </p:sp>
    </p:spTree>
    <p:extLst>
      <p:ext uri="{BB962C8B-B14F-4D97-AF65-F5344CB8AC3E}">
        <p14:creationId xmlns:p14="http://schemas.microsoft.com/office/powerpoint/2010/main" val="1479709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9E9D-76A3-0130-0DB1-70F616BC6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0679F0-DD1B-9EE7-D60D-45C9C894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Esercizio 5: Soluzione</a:t>
            </a:r>
            <a:endParaRPr lang="it-IT" sz="4800" dirty="0">
              <a:latin typeface="Cambria Math" charset="0"/>
              <a:ea typeface="Cambria Math" charset="0"/>
              <a:cs typeface="Cambria Math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20EBA-3DBA-CA31-4694-63E6E6157D6D}"/>
              </a:ext>
            </a:extLst>
          </p:cNvPr>
          <p:cNvSpPr txBox="1"/>
          <p:nvPr/>
        </p:nvSpPr>
        <p:spPr>
          <a:xfrm>
            <a:off x="35496" y="1772816"/>
            <a:ext cx="9108504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2800" b="0" dirty="0">
                <a:latin typeface="+mn-lt"/>
                <a:cs typeface="Arial" charset="0"/>
              </a:rPr>
              <a:t>	</a:t>
            </a:r>
            <a:endParaRPr lang="it-IT" sz="2400" b="0" dirty="0">
              <a:solidFill>
                <a:srgbClr val="33CC33"/>
              </a:solidFill>
              <a:latin typeface="+mn-lt"/>
              <a:cs typeface="Arial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E6D5227-836B-6D79-5F8A-7F5C61BA6E42}"/>
              </a:ext>
            </a:extLst>
          </p:cNvPr>
          <p:cNvSpPr txBox="1"/>
          <p:nvPr/>
        </p:nvSpPr>
        <p:spPr>
          <a:xfrm>
            <a:off x="17849" y="1577121"/>
            <a:ext cx="464197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endParaRPr lang="en-US" sz="1400" b="0" dirty="0">
              <a:solidFill>
                <a:srgbClr val="0000FF"/>
              </a:solidFill>
              <a:latin typeface="+mn-lt"/>
              <a:cs typeface="Arial" charset="0"/>
            </a:endParaRP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i = 4;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j = 9;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if (i &lt; j)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    i = 2*i;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else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es-ES" sz="1200" dirty="0">
                <a:solidFill>
                  <a:srgbClr val="0000FF"/>
                </a:solidFill>
                <a:latin typeface="+mn-lt"/>
                <a:cs typeface="Arial" charset="0"/>
              </a:rPr>
              <a:t>    j = j - i;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400" b="0" dirty="0">
                <a:solidFill>
                  <a:srgbClr val="0000FF"/>
                </a:solidFill>
                <a:latin typeface="+mn-lt"/>
                <a:cs typeface="Arial" charset="0"/>
              </a:rPr>
              <a:t>	</a:t>
            </a:r>
          </a:p>
          <a:p>
            <a:pPr marL="412750" lvl="1" algn="l">
              <a:buClr>
                <a:schemeClr val="accent2"/>
              </a:buClr>
              <a:tabLst>
                <a:tab pos="355600" algn="l"/>
              </a:tabLst>
            </a:pPr>
            <a:r>
              <a:rPr lang="it-IT" sz="1600" b="0" dirty="0">
                <a:solidFill>
                  <a:srgbClr val="FF0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F96A965-256E-2905-AE05-BD29C13CB27F}"/>
              </a:ext>
            </a:extLst>
          </p:cNvPr>
          <p:cNvSpPr txBox="1"/>
          <p:nvPr/>
        </p:nvSpPr>
        <p:spPr>
          <a:xfrm>
            <a:off x="-483826" y="3097613"/>
            <a:ext cx="46419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dirty="0">
                <a:latin typeface="+mn-lt"/>
                <a:cs typeface="Arial" charset="0"/>
              </a:rPr>
              <a:t>$s0 contiene i</a:t>
            </a:r>
          </a:p>
          <a:p>
            <a:pPr marL="1327150" lvl="2" indent="-457200" algn="l">
              <a:buClr>
                <a:schemeClr val="accent2"/>
              </a:buClr>
              <a:buFont typeface="Wingdings" charset="2"/>
              <a:buChar char="Ø"/>
              <a:tabLst>
                <a:tab pos="355600" algn="l"/>
              </a:tabLst>
            </a:pPr>
            <a:r>
              <a:rPr lang="es-ES" dirty="0">
                <a:latin typeface="+mn-lt"/>
                <a:cs typeface="Arial" charset="0"/>
              </a:rPr>
              <a:t>$s1 contiene j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50FD6C-3BD9-AF7F-CA96-B73637B03F06}"/>
              </a:ext>
            </a:extLst>
          </p:cNvPr>
          <p:cNvSpPr txBox="1"/>
          <p:nvPr/>
        </p:nvSpPr>
        <p:spPr>
          <a:xfrm>
            <a:off x="3707904" y="2435894"/>
            <a:ext cx="56886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addi $s0, $zero, 4      #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i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= 4</a:t>
            </a: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addi $s1, $zero, 9      # j = 9</a:t>
            </a:r>
          </a:p>
          <a:p>
            <a:pPr algn="l"/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bge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$s0, $s1, ELSE      # se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i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&gt;= j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vai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all'else</a:t>
            </a:r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add $s0, $s0, $s0       #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i</a:t>
            </a:r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 = 2*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i</a:t>
            </a:r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j FINE</a:t>
            </a:r>
          </a:p>
          <a:p>
            <a:pPr algn="l"/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ELSE:</a:t>
            </a: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sub $s1, $s1, $s0       # j = j - </a:t>
            </a:r>
            <a:r>
              <a:rPr lang="en-US" sz="2000" b="0" dirty="0" err="1">
                <a:solidFill>
                  <a:srgbClr val="FF0000"/>
                </a:solidFill>
                <a:latin typeface="+mn-lt"/>
                <a:cs typeface="Arial" charset="0"/>
              </a:rPr>
              <a:t>i</a:t>
            </a:r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endParaRPr lang="en-US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en-US" sz="2000" b="0" dirty="0">
                <a:solidFill>
                  <a:srgbClr val="FF0000"/>
                </a:solidFill>
                <a:latin typeface="+mn-lt"/>
                <a:cs typeface="Arial" charset="0"/>
              </a:rPr>
              <a:t>FINE: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B3A22EF-004F-1A48-F037-A62C6ACA58A2}"/>
              </a:ext>
            </a:extLst>
          </p:cNvPr>
          <p:cNvSpPr txBox="1"/>
          <p:nvPr/>
        </p:nvSpPr>
        <p:spPr>
          <a:xfrm>
            <a:off x="4608400" y="1249595"/>
            <a:ext cx="40123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it-IT" sz="24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r>
              <a:rPr lang="it-IT" sz="2800" b="0" dirty="0">
                <a:latin typeface="+mn-lt"/>
                <a:cs typeface="Calibri"/>
              </a:rPr>
              <a:t>Il codice </a:t>
            </a:r>
            <a:r>
              <a:rPr lang="it-IT" sz="2800" b="0" dirty="0" err="1">
                <a:latin typeface="+mn-lt"/>
                <a:cs typeface="Calibri"/>
              </a:rPr>
              <a:t>assembler</a:t>
            </a:r>
            <a:r>
              <a:rPr lang="it-IT" sz="2800" b="0" dirty="0">
                <a:latin typeface="+mn-lt"/>
                <a:cs typeface="Calibri"/>
              </a:rPr>
              <a:t> MIPS dell’istruzione è: </a:t>
            </a: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 algn="l"/>
            <a:endParaRPr lang="pt-BR" sz="2000" b="0" dirty="0">
              <a:solidFill>
                <a:srgbClr val="FF0000"/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70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orea">
  <a:themeElements>
    <a:clrScheme name="korea 2">
      <a:dk1>
        <a:srgbClr val="000000"/>
      </a:dk1>
      <a:lt1>
        <a:srgbClr val="FFFFFF"/>
      </a:lt1>
      <a:dk2>
        <a:srgbClr val="000000"/>
      </a:dk2>
      <a:lt2>
        <a:srgbClr val="5E574E"/>
      </a:lt2>
      <a:accent1>
        <a:srgbClr val="FF66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FFB8AA"/>
      </a:accent5>
      <a:accent6>
        <a:srgbClr val="E7B900"/>
      </a:accent6>
      <a:hlink>
        <a:srgbClr val="996633"/>
      </a:hlink>
      <a:folHlink>
        <a:srgbClr val="808000"/>
      </a:folHlink>
    </a:clrScheme>
    <a:fontScheme name="korea">
      <a:majorFont>
        <a:latin typeface="Arial Black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miter lim="800000"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08" charset="0"/>
          </a:defRPr>
        </a:defPPr>
      </a:lstStyle>
    </a:lnDef>
  </a:objectDefaults>
  <a:extraClrSchemeLst>
    <a:extraClrScheme>
      <a:clrScheme name="korea 1">
        <a:dk1>
          <a:srgbClr val="5E574E"/>
        </a:dk1>
        <a:lt1>
          <a:srgbClr val="FFFFCC"/>
        </a:lt1>
        <a:dk2>
          <a:srgbClr val="0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AA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2">
        <a:dk1>
          <a:srgbClr val="000000"/>
        </a:dk1>
        <a:lt1>
          <a:srgbClr val="FFFFFF"/>
        </a:lt1>
        <a:dk2>
          <a:srgbClr val="0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996633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4">
        <a:dk1>
          <a:srgbClr val="000000"/>
        </a:dk1>
        <a:lt1>
          <a:srgbClr val="FFFFFF"/>
        </a:lt1>
        <a:dk2>
          <a:srgbClr val="800000"/>
        </a:dk2>
        <a:lt2>
          <a:srgbClr val="5E574E"/>
        </a:lt2>
        <a:accent1>
          <a:srgbClr val="FF66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B8AA"/>
        </a:accent5>
        <a:accent6>
          <a:srgbClr val="E7B900"/>
        </a:accent6>
        <a:hlink>
          <a:srgbClr val="FF00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5">
        <a:dk1>
          <a:srgbClr val="000066"/>
        </a:dk1>
        <a:lt1>
          <a:srgbClr val="FFFFFF"/>
        </a:lt1>
        <a:dk2>
          <a:srgbClr val="0000FF"/>
        </a:dk2>
        <a:lt2>
          <a:srgbClr val="000000"/>
        </a:lt2>
        <a:accent1>
          <a:srgbClr val="0066FF"/>
        </a:accent1>
        <a:accent2>
          <a:srgbClr val="33CCCC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rea 6">
        <a:dk1>
          <a:srgbClr val="000000"/>
        </a:dk1>
        <a:lt1>
          <a:srgbClr val="FFFFFF"/>
        </a:lt1>
        <a:dk2>
          <a:srgbClr val="000066"/>
        </a:dk2>
        <a:lt2>
          <a:srgbClr val="FFCC00"/>
        </a:lt2>
        <a:accent1>
          <a:srgbClr val="0066FF"/>
        </a:accent1>
        <a:accent2>
          <a:srgbClr val="33CCCC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B9B9"/>
        </a:accent6>
        <a:hlink>
          <a:srgbClr val="FF00FF"/>
        </a:hlink>
        <a:folHlink>
          <a:srgbClr val="9933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rea 7">
        <a:dk1>
          <a:srgbClr val="5E574E"/>
        </a:dk1>
        <a:lt1>
          <a:srgbClr val="FFFFCC"/>
        </a:lt1>
        <a:dk2>
          <a:srgbClr val="800000"/>
        </a:dk2>
        <a:lt2>
          <a:srgbClr val="FFCC00"/>
        </a:lt2>
        <a:accent1>
          <a:srgbClr val="CC9900"/>
        </a:accent1>
        <a:accent2>
          <a:srgbClr val="FF6600"/>
        </a:accent2>
        <a:accent3>
          <a:srgbClr val="C0AAAA"/>
        </a:accent3>
        <a:accent4>
          <a:srgbClr val="DADAAE"/>
        </a:accent4>
        <a:accent5>
          <a:srgbClr val="E2CAAA"/>
        </a:accent5>
        <a:accent6>
          <a:srgbClr val="E75C00"/>
        </a:accent6>
        <a:hlink>
          <a:srgbClr val="FF00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stelvio</Template>
  <TotalTime>197667</TotalTime>
  <Words>850</Words>
  <Application>Microsoft Office PowerPoint</Application>
  <PresentationFormat>Presentazione su schermo (4:3)</PresentationFormat>
  <Paragraphs>170</Paragraphs>
  <Slides>12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2" baseType="lpstr">
      <vt:lpstr>MS PGothic</vt:lpstr>
      <vt:lpstr>Arial</vt:lpstr>
      <vt:lpstr>Arial Black</vt:lpstr>
      <vt:lpstr>Cambria Math</vt:lpstr>
      <vt:lpstr>Century Gothic</vt:lpstr>
      <vt:lpstr>Comic Sans MS</vt:lpstr>
      <vt:lpstr>Tahoma</vt:lpstr>
      <vt:lpstr>Times New Roman</vt:lpstr>
      <vt:lpstr>Wingdings</vt:lpstr>
      <vt:lpstr>korea</vt:lpstr>
      <vt:lpstr>Architettura degli Elaboratori</vt:lpstr>
      <vt:lpstr>Su cosa  ci esercitiamo oggi?</vt:lpstr>
      <vt:lpstr>Esercizio 1</vt:lpstr>
      <vt:lpstr>Esercizio 1: Soluzione</vt:lpstr>
      <vt:lpstr>Esercizio 2</vt:lpstr>
      <vt:lpstr>Esercizio 2: Soluzione</vt:lpstr>
      <vt:lpstr>Esercizio 3</vt:lpstr>
      <vt:lpstr>Esercizio 3: Soluzione</vt:lpstr>
      <vt:lpstr>Esercizio 4</vt:lpstr>
      <vt:lpstr>Esercizio 4: Soluzione</vt:lpstr>
      <vt:lpstr>Esercizio 5</vt:lpstr>
      <vt:lpstr>Esercizio 5: Soluzione</vt:lpstr>
    </vt:vector>
  </TitlesOfParts>
  <Manager/>
  <Company>Dipartimento di Informatica -- Università di Salerno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Introduzione</dc:title>
  <dc:subject/>
  <dc:creator>Barbara Masucci</dc:creator>
  <cp:keywords/>
  <dc:description/>
  <cp:lastModifiedBy>Domenico ROSSI</cp:lastModifiedBy>
  <cp:revision>2278</cp:revision>
  <cp:lastPrinted>2017-10-23T11:20:27Z</cp:lastPrinted>
  <dcterms:created xsi:type="dcterms:W3CDTF">2017-10-12T15:20:42Z</dcterms:created>
  <dcterms:modified xsi:type="dcterms:W3CDTF">2025-11-21T15:43:47Z</dcterms:modified>
  <cp:category/>
</cp:coreProperties>
</file>