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9.jpg" ContentType="image/jpg"/>
  <Override PartName="/ppt/media/image10.jpg" ContentType="image/jp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80" r:id="rId1"/>
  </p:sldMasterIdLst>
  <p:notesMasterIdLst>
    <p:notesMasterId r:id="rId36"/>
  </p:notesMasterIdLst>
  <p:handoutMasterIdLst>
    <p:handoutMasterId r:id="rId37"/>
  </p:handoutMasterIdLst>
  <p:sldIdLst>
    <p:sldId id="2149" r:id="rId2"/>
    <p:sldId id="2168" r:id="rId3"/>
    <p:sldId id="2273" r:id="rId4"/>
    <p:sldId id="2284" r:id="rId5"/>
    <p:sldId id="2276" r:id="rId6"/>
    <p:sldId id="2275" r:id="rId7"/>
    <p:sldId id="2282" r:id="rId8"/>
    <p:sldId id="2283" r:id="rId9"/>
    <p:sldId id="2279" r:id="rId10"/>
    <p:sldId id="2277" r:id="rId11"/>
    <p:sldId id="2280" r:id="rId12"/>
    <p:sldId id="2278" r:id="rId13"/>
    <p:sldId id="2290" r:id="rId14"/>
    <p:sldId id="2292" r:id="rId15"/>
    <p:sldId id="2291" r:id="rId16"/>
    <p:sldId id="2293" r:id="rId17"/>
    <p:sldId id="2294" r:id="rId18"/>
    <p:sldId id="2295" r:id="rId19"/>
    <p:sldId id="2296" r:id="rId20"/>
    <p:sldId id="2676" r:id="rId21"/>
    <p:sldId id="2705" r:id="rId22"/>
    <p:sldId id="2672" r:id="rId23"/>
    <p:sldId id="2671" r:id="rId24"/>
    <p:sldId id="2712" r:id="rId25"/>
    <p:sldId id="2673" r:id="rId26"/>
    <p:sldId id="2622" r:id="rId27"/>
    <p:sldId id="2674" r:id="rId28"/>
    <p:sldId id="2623" r:id="rId29"/>
    <p:sldId id="2675" r:id="rId30"/>
    <p:sldId id="2624" r:id="rId31"/>
    <p:sldId id="2677" r:id="rId32"/>
    <p:sldId id="2679" r:id="rId33"/>
    <p:sldId id="2680" r:id="rId34"/>
    <p:sldId id="2711" r:id="rId35"/>
  </p:sldIdLst>
  <p:sldSz cx="9144000" cy="6858000" type="screen4x3"/>
  <p:notesSz cx="7099300" cy="10234613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CC33"/>
    <a:srgbClr val="1F487C"/>
    <a:srgbClr val="6192F0"/>
    <a:srgbClr val="6E92D7"/>
    <a:srgbClr val="5872D7"/>
    <a:srgbClr val="1C55D7"/>
    <a:srgbClr val="4220D7"/>
    <a:srgbClr val="993366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415" autoAdjust="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2412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3778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778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EACE7C25-D304-BE4D-9C1F-2702F5306DF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19625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0"/>
            <a:r>
              <a:rPr lang="it-IT" noProof="0"/>
              <a:t>Secondo livello</a:t>
            </a:r>
          </a:p>
          <a:p>
            <a:pPr lvl="0"/>
            <a:r>
              <a:rPr lang="it-IT" noProof="0"/>
              <a:t>Terzo livello</a:t>
            </a:r>
          </a:p>
          <a:p>
            <a:pPr lvl="0"/>
            <a:r>
              <a:rPr lang="it-IT" noProof="0"/>
              <a:t>Quarto livello</a:t>
            </a:r>
          </a:p>
          <a:p>
            <a:pPr lvl="0"/>
            <a:r>
              <a:rPr lang="it-IT" noProof="0"/>
              <a:t>Quinto livello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6AE8E824-1F88-FB47-BC5C-B6033AAF880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231740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ＭＳ Ｐゴシック" pitchFamily="-108" charset="-128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05-05-2016</a:t>
            </a:r>
          </a:p>
        </p:txBody>
      </p:sp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F6A8D13-7514-B24E-9A26-496D76200EAD}" type="slidenum">
              <a:rPr lang="it-IT" sz="1200" b="0">
                <a:latin typeface="Tahoma" charset="0"/>
              </a:rPr>
              <a:pPr/>
              <a:t>0</a:t>
            </a:fld>
            <a:endParaRPr lang="it-IT" sz="1200" b="0">
              <a:latin typeface="Tahoma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3588"/>
            <a:ext cx="5094288" cy="3821112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2338" y="4840288"/>
            <a:ext cx="5226050" cy="4668837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437" name="Segnaposto intestazione 5"/>
          <p:cNvSpPr>
            <a:spLocks noGrp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Elementi di Crittografia</a:t>
            </a:r>
          </a:p>
        </p:txBody>
      </p:sp>
    </p:spTree>
    <p:extLst>
      <p:ext uri="{BB962C8B-B14F-4D97-AF65-F5344CB8AC3E}">
        <p14:creationId xmlns:p14="http://schemas.microsoft.com/office/powerpoint/2010/main" val="1182876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36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pPr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7964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8068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0386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266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1675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3999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6415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488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595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3987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6733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37010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1567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6454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609600"/>
            <a:ext cx="8178800" cy="1295400"/>
          </a:xfrm>
        </p:spPr>
        <p:txBody>
          <a:bodyPr/>
          <a:lstStyle>
            <a:lvl1pPr>
              <a:defRPr b="1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200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defRPr>
                <a:latin typeface="Arial Black" pitchFamily="-108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b="0">
                <a:solidFill>
                  <a:srgbClr val="5E574E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 algn="ctr">
              <a:defRPr sz="1400"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fld id="{6E642E82-7D8A-3A41-B235-D0E8CAF0ACF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792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C7E84-1A74-C448-82DC-88951075EFE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1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BC418-7B45-AB48-81FE-BC17BE879B8E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8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0F877-E422-9843-95AA-365F1B5192D1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7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F48D5-374E-6847-9E0D-3AB5A545450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073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EC335-BEF5-6A4F-A2EC-55E3DBE011C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575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ECDD0-321D-5E40-B951-9EFC4C6791A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29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7A00E-4E6A-094F-9691-35F63ECD4D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57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833F9-DFB2-4C4C-9C97-F5B2E8C951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007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8C3F7-1F86-5C43-B954-F7148FB6CDF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694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73850" y="228600"/>
            <a:ext cx="2089150" cy="5829300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115050" cy="58293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CC145-3297-FA40-830F-481A8FD46C1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87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457200" y="1885950"/>
            <a:ext cx="8178800" cy="417195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51193-0834-4640-A98B-28558B3C804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4517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30200" y="1622425"/>
            <a:ext cx="2312670" cy="433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3688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1978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127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04800" y="1371600"/>
            <a:ext cx="381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3" dist="85194" dir="12393903">
              <a:srgbClr val="F4792E">
                <a:alpha val="74997"/>
              </a:srgbClr>
            </a:prstShdw>
          </a:effectLst>
        </p:spPr>
        <p:txBody>
          <a:bodyPr wrap="none" anchor="ctr"/>
          <a:lstStyle/>
          <a:p>
            <a:endParaRPr lang="it-IT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835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/>
          </a:p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0060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43000" y="6096000"/>
            <a:ext cx="58054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b="0">
                <a:solidFill>
                  <a:schemeClr val="bg2"/>
                </a:solidFill>
                <a:latin typeface="Arial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20060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6248400"/>
            <a:ext cx="1092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11A4DE33-46B0-8940-BB01-66AF5FC5DA8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pic>
        <p:nvPicPr>
          <p:cNvPr id="1031" name="Picture 8" descr="paint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9"/>
          <p:cNvSpPr>
            <a:spLocks noChangeShapeType="1"/>
          </p:cNvSpPr>
          <p:nvPr/>
        </p:nvSpPr>
        <p:spPr bwMode="auto">
          <a:xfrm flipV="1">
            <a:off x="457200" y="457200"/>
            <a:ext cx="0" cy="556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Line 10"/>
          <p:cNvSpPr>
            <a:spLocks noChangeShapeType="1"/>
          </p:cNvSpPr>
          <p:nvPr/>
        </p:nvSpPr>
        <p:spPr bwMode="auto">
          <a:xfrm>
            <a:off x="228600" y="15240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1" descr="logo1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2825"/>
            <a:ext cx="677863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7" r:id="rId13"/>
    <p:sldLayoutId id="2147483858" r:id="rId14"/>
    <p:sldLayoutId id="2147483859" r:id="rId1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defRPr kumimoji="1" sz="32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8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400">
          <a:solidFill>
            <a:schemeClr val="tx1"/>
          </a:solidFill>
          <a:latin typeface="+mn-lt"/>
          <a:ea typeface="ＭＳ Ｐゴシック" pitchFamily="-108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0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DI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32" y="5229225"/>
            <a:ext cx="7620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0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549275"/>
            <a:ext cx="8893175" cy="1143000"/>
          </a:xfrm>
          <a:noFill/>
        </p:spPr>
        <p:txBody>
          <a:bodyPr anchor="ctr"/>
          <a:lstStyle/>
          <a:p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Architettura</a:t>
            </a:r>
            <a:b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degli</a:t>
            </a:r>
            <a: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Elaboratori</a:t>
            </a:r>
            <a:endParaRPr lang="en-US" sz="360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685800" y="152400"/>
            <a:ext cx="7772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2000">
              <a:solidFill>
                <a:srgbClr val="FF0066"/>
              </a:solidFill>
              <a:latin typeface="Comic Sans MS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1400" b="0">
              <a:solidFill>
                <a:srgbClr val="0000CC"/>
              </a:solidFill>
              <a:latin typeface="Comic Sans MS" charset="0"/>
            </a:endParaRPr>
          </a:p>
        </p:txBody>
      </p:sp>
      <p:pic>
        <p:nvPicPr>
          <p:cNvPr id="3" name="Picture 2" descr="FullSizeRend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780928"/>
            <a:ext cx="3960440" cy="2795604"/>
          </a:xfrm>
          <a:prstGeom prst="rect">
            <a:avLst/>
          </a:prstGeom>
        </p:spPr>
      </p:pic>
      <p:sp>
        <p:nvSpPr>
          <p:cNvPr id="174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67744" y="4916760"/>
            <a:ext cx="3672408" cy="17526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endParaRPr lang="en-US" sz="1400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50000"/>
              </a:lnSpc>
            </a:pPr>
            <a:endParaRPr lang="en-US" sz="1400" b="1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endParaRPr lang="en-US" sz="1200" dirty="0">
              <a:solidFill>
                <a:srgbClr val="CC3399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555776" y="1748408"/>
            <a:ext cx="4104456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>
              <a:lnSpc>
                <a:spcPct val="90000"/>
              </a:lnSpc>
            </a:pPr>
            <a:endParaRPr lang="en-US" sz="24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18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40000"/>
              </a:lnSpc>
            </a:pPr>
            <a:r>
              <a:rPr lang="en-US" dirty="0" err="1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Tutorato</a:t>
            </a:r>
            <a:endParaRPr lang="en-US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40000"/>
              </a:lnSpc>
            </a:pPr>
            <a:r>
              <a:rPr lang="en-US" dirty="0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 </a:t>
            </a:r>
            <a:endParaRPr lang="en-US" sz="20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50000"/>
              </a:lnSpc>
            </a:pPr>
            <a:endParaRPr lang="en-US" sz="18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endParaRPr lang="en-US" sz="16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00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</a:t>
            </a:r>
            <a:r>
              <a:rPr lang="it-IT" sz="4800"/>
              <a:t>cosa </a:t>
            </a:r>
            <a:br>
              <a:rPr lang="it-IT" sz="4800"/>
            </a:br>
            <a:r>
              <a:rPr lang="it-IT" sz="4800"/>
              <a:t>ci esercitiamo </a:t>
            </a:r>
            <a:r>
              <a:rPr lang="it-IT" sz="4800" dirty="0"/>
              <a:t>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73224" y="1777330"/>
            <a:ext cx="8507288" cy="4171950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dirty="0">
                <a:ea typeface="MS PGothic" charset="-128"/>
              </a:rPr>
              <a:t>Addizionatore binario</a:t>
            </a:r>
          </a:p>
          <a:p>
            <a:pPr marL="457200" indent="-457200">
              <a:buFont typeface="Wingdings" charset="2"/>
              <a:buChar char="Ø"/>
            </a:pPr>
            <a:endParaRPr lang="it-IT" dirty="0">
              <a:ea typeface="MS PGothic" charset="-128"/>
            </a:endParaRPr>
          </a:p>
          <a:p>
            <a:pPr marL="457200" indent="-457200">
              <a:buFont typeface="Wingdings" charset="2"/>
              <a:buChar char="Ø"/>
            </a:pPr>
            <a:r>
              <a:rPr lang="it-IT" dirty="0">
                <a:ea typeface="MS PGothic" charset="-128"/>
              </a:rPr>
              <a:t>Unità Aritmetico-Logica (ALU)</a:t>
            </a:r>
          </a:p>
          <a:p>
            <a:pPr marL="857250" lvl="1" indent="-457200">
              <a:buFont typeface="Wingdings" charset="2"/>
              <a:buChar char="Ø"/>
            </a:pPr>
            <a:endParaRPr lang="it-IT" dirty="0">
              <a:ea typeface="MS PGothic" charset="-128"/>
            </a:endParaRPr>
          </a:p>
          <a:p>
            <a:pPr marL="0" indent="0"/>
            <a:br>
              <a:rPr lang="it-IT" sz="2800" dirty="0">
                <a:ea typeface="MS PGothic" charset="-128"/>
              </a:rPr>
            </a:br>
            <a:endParaRPr lang="it-IT" dirty="0">
              <a:ea typeface="MS PGothic" charset="-128"/>
            </a:endParaRPr>
          </a:p>
          <a:p>
            <a:pPr marL="857250" lvl="1" indent="-457200">
              <a:buNone/>
            </a:pPr>
            <a:endParaRPr lang="it-IT" sz="3200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78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</a:rPr>
              <a:t>Progettare un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PLA</a:t>
            </a:r>
            <a:r>
              <a:rPr lang="it-IT" sz="2800" b="0" dirty="0">
                <a:latin typeface="+mn-lt"/>
              </a:rPr>
              <a:t> (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Array Logico Programmabile</a:t>
            </a:r>
            <a:r>
              <a:rPr lang="it-IT" sz="2800" b="0" dirty="0">
                <a:latin typeface="+mn-lt"/>
              </a:rPr>
              <a:t>) che realizzi un </a:t>
            </a:r>
            <a:r>
              <a:rPr lang="it-IT" sz="2800" b="0" dirty="0">
                <a:solidFill>
                  <a:srgbClr val="CC0000"/>
                </a:solidFill>
                <a:latin typeface="+mn-lt"/>
              </a:rPr>
              <a:t>addizionatore ad 1 bit</a:t>
            </a: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CC0000"/>
              </a:solidFill>
              <a:latin typeface="+mn-lt"/>
            </a:endParaRPr>
          </a:p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</a:rPr>
              <a:t>Rappresentare il circuito sotto forma di </a:t>
            </a:r>
            <a:r>
              <a:rPr lang="it-IT" sz="2800" b="0" dirty="0">
                <a:solidFill>
                  <a:srgbClr val="0000FF"/>
                </a:solidFill>
                <a:latin typeface="+mn-lt"/>
              </a:rPr>
              <a:t>griglia</a:t>
            </a:r>
          </a:p>
        </p:txBody>
      </p:sp>
      <p:sp>
        <p:nvSpPr>
          <p:cNvPr id="5" name="object 4"/>
          <p:cNvSpPr/>
          <p:nvPr/>
        </p:nvSpPr>
        <p:spPr>
          <a:xfrm>
            <a:off x="5373982" y="4229357"/>
            <a:ext cx="89535" cy="85090"/>
          </a:xfrm>
          <a:custGeom>
            <a:avLst/>
            <a:gdLst/>
            <a:ahLst/>
            <a:cxnLst/>
            <a:rect l="l" t="t" r="r" b="b"/>
            <a:pathLst>
              <a:path w="89535" h="85089">
                <a:moveTo>
                  <a:pt x="0" y="0"/>
                </a:moveTo>
                <a:lnTo>
                  <a:pt x="5318" y="85015"/>
                </a:lnTo>
                <a:lnTo>
                  <a:pt x="89418" y="45034"/>
                </a:lnTo>
                <a:lnTo>
                  <a:pt x="5318" y="50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" name="object 5"/>
          <p:cNvSpPr/>
          <p:nvPr/>
        </p:nvSpPr>
        <p:spPr>
          <a:xfrm>
            <a:off x="5084278" y="4274392"/>
            <a:ext cx="321310" cy="0"/>
          </a:xfrm>
          <a:custGeom>
            <a:avLst/>
            <a:gdLst/>
            <a:ahLst/>
            <a:cxnLst/>
            <a:rect l="l" t="t" r="r" b="b"/>
            <a:pathLst>
              <a:path w="321310">
                <a:moveTo>
                  <a:pt x="321084" y="0"/>
                </a:moveTo>
                <a:lnTo>
                  <a:pt x="0" y="0"/>
                </a:lnTo>
              </a:path>
            </a:pathLst>
          </a:custGeom>
          <a:ln w="202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6"/>
          <p:cNvSpPr/>
          <p:nvPr/>
        </p:nvSpPr>
        <p:spPr>
          <a:xfrm>
            <a:off x="3767589" y="3649910"/>
            <a:ext cx="1316990" cy="1249045"/>
          </a:xfrm>
          <a:custGeom>
            <a:avLst/>
            <a:gdLst/>
            <a:ahLst/>
            <a:cxnLst/>
            <a:rect l="l" t="t" r="r" b="b"/>
            <a:pathLst>
              <a:path w="1316989" h="1249045">
                <a:moveTo>
                  <a:pt x="1316688" y="0"/>
                </a:moveTo>
                <a:lnTo>
                  <a:pt x="0" y="0"/>
                </a:lnTo>
                <a:lnTo>
                  <a:pt x="0" y="1248964"/>
                </a:lnTo>
                <a:lnTo>
                  <a:pt x="1311370" y="1248964"/>
                </a:lnTo>
                <a:lnTo>
                  <a:pt x="1316688" y="0"/>
                </a:lnTo>
                <a:close/>
              </a:path>
            </a:pathLst>
          </a:custGeom>
          <a:solidFill>
            <a:srgbClr val="FBE9D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" name="object 7"/>
          <p:cNvSpPr/>
          <p:nvPr/>
        </p:nvSpPr>
        <p:spPr>
          <a:xfrm>
            <a:off x="3767589" y="3649910"/>
            <a:ext cx="1316990" cy="1249045"/>
          </a:xfrm>
          <a:custGeom>
            <a:avLst/>
            <a:gdLst/>
            <a:ahLst/>
            <a:cxnLst/>
            <a:rect l="l" t="t" r="r" b="b"/>
            <a:pathLst>
              <a:path w="1316989" h="1249045">
                <a:moveTo>
                  <a:pt x="1311370" y="1248964"/>
                </a:moveTo>
                <a:lnTo>
                  <a:pt x="1316688" y="0"/>
                </a:lnTo>
                <a:lnTo>
                  <a:pt x="0" y="0"/>
                </a:lnTo>
                <a:lnTo>
                  <a:pt x="0" y="1248964"/>
                </a:lnTo>
                <a:lnTo>
                  <a:pt x="1316688" y="1248964"/>
                </a:lnTo>
              </a:path>
            </a:pathLst>
          </a:custGeom>
          <a:ln w="207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9" name="object 8"/>
          <p:cNvSpPr/>
          <p:nvPr/>
        </p:nvSpPr>
        <p:spPr>
          <a:xfrm>
            <a:off x="4415562" y="4279445"/>
            <a:ext cx="16510" cy="50165"/>
          </a:xfrm>
          <a:custGeom>
            <a:avLst/>
            <a:gdLst/>
            <a:ahLst/>
            <a:cxnLst/>
            <a:rect l="l" t="t" r="r" b="b"/>
            <a:pathLst>
              <a:path w="16510" h="50164">
                <a:moveTo>
                  <a:pt x="0" y="25054"/>
                </a:moveTo>
                <a:lnTo>
                  <a:pt x="15954" y="25054"/>
                </a:lnTo>
              </a:path>
            </a:pathLst>
          </a:custGeom>
          <a:ln w="513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9"/>
          <p:cNvSpPr/>
          <p:nvPr/>
        </p:nvSpPr>
        <p:spPr>
          <a:xfrm>
            <a:off x="4368249" y="4274392"/>
            <a:ext cx="111125" cy="0"/>
          </a:xfrm>
          <a:custGeom>
            <a:avLst/>
            <a:gdLst/>
            <a:ahLst/>
            <a:cxnLst/>
            <a:rect l="l" t="t" r="r" b="b"/>
            <a:pathLst>
              <a:path w="111125">
                <a:moveTo>
                  <a:pt x="0" y="0"/>
                </a:moveTo>
                <a:lnTo>
                  <a:pt x="110581" y="0"/>
                </a:lnTo>
              </a:path>
            </a:pathLst>
          </a:custGeom>
          <a:ln w="113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1" name="object 10"/>
          <p:cNvSpPr/>
          <p:nvPr/>
        </p:nvSpPr>
        <p:spPr>
          <a:xfrm>
            <a:off x="4415562" y="4219736"/>
            <a:ext cx="16510" cy="50165"/>
          </a:xfrm>
          <a:custGeom>
            <a:avLst/>
            <a:gdLst/>
            <a:ahLst/>
            <a:cxnLst/>
            <a:rect l="l" t="t" r="r" b="b"/>
            <a:pathLst>
              <a:path w="16510" h="50164">
                <a:moveTo>
                  <a:pt x="0" y="24801"/>
                </a:moveTo>
                <a:lnTo>
                  <a:pt x="15954" y="24801"/>
                </a:lnTo>
              </a:path>
            </a:pathLst>
          </a:custGeom>
          <a:ln w="508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object 11"/>
          <p:cNvSpPr/>
          <p:nvPr/>
        </p:nvSpPr>
        <p:spPr>
          <a:xfrm>
            <a:off x="4378356" y="3555272"/>
            <a:ext cx="90170" cy="85090"/>
          </a:xfrm>
          <a:custGeom>
            <a:avLst/>
            <a:gdLst/>
            <a:ahLst/>
            <a:cxnLst/>
            <a:rect l="l" t="t" r="r" b="b"/>
            <a:pathLst>
              <a:path w="90169" h="85089">
                <a:moveTo>
                  <a:pt x="89837" y="0"/>
                </a:moveTo>
                <a:lnTo>
                  <a:pt x="0" y="0"/>
                </a:lnTo>
                <a:lnTo>
                  <a:pt x="47842" y="85015"/>
                </a:lnTo>
                <a:lnTo>
                  <a:pt x="898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3" name="object 12"/>
          <p:cNvSpPr/>
          <p:nvPr/>
        </p:nvSpPr>
        <p:spPr>
          <a:xfrm>
            <a:off x="4420880" y="3275444"/>
            <a:ext cx="5715" cy="309880"/>
          </a:xfrm>
          <a:custGeom>
            <a:avLst/>
            <a:gdLst/>
            <a:ahLst/>
            <a:cxnLst/>
            <a:rect l="l" t="t" r="r" b="b"/>
            <a:pathLst>
              <a:path w="5714" h="309880">
                <a:moveTo>
                  <a:pt x="0" y="309683"/>
                </a:moveTo>
                <a:lnTo>
                  <a:pt x="5318" y="0"/>
                </a:lnTo>
              </a:path>
            </a:pathLst>
          </a:custGeom>
          <a:ln w="212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4" name="object 13"/>
          <p:cNvSpPr/>
          <p:nvPr/>
        </p:nvSpPr>
        <p:spPr>
          <a:xfrm>
            <a:off x="4378356" y="5178724"/>
            <a:ext cx="90170" cy="85090"/>
          </a:xfrm>
          <a:custGeom>
            <a:avLst/>
            <a:gdLst/>
            <a:ahLst/>
            <a:cxnLst/>
            <a:rect l="l" t="t" r="r" b="b"/>
            <a:pathLst>
              <a:path w="90169" h="85089">
                <a:moveTo>
                  <a:pt x="89837" y="0"/>
                </a:moveTo>
                <a:lnTo>
                  <a:pt x="0" y="0"/>
                </a:lnTo>
                <a:lnTo>
                  <a:pt x="47842" y="85015"/>
                </a:lnTo>
                <a:lnTo>
                  <a:pt x="898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5" name="object 14"/>
          <p:cNvSpPr/>
          <p:nvPr/>
        </p:nvSpPr>
        <p:spPr>
          <a:xfrm>
            <a:off x="4420880" y="4898874"/>
            <a:ext cx="5715" cy="309880"/>
          </a:xfrm>
          <a:custGeom>
            <a:avLst/>
            <a:gdLst/>
            <a:ahLst/>
            <a:cxnLst/>
            <a:rect l="l" t="t" r="r" b="b"/>
            <a:pathLst>
              <a:path w="5714" h="309879">
                <a:moveTo>
                  <a:pt x="0" y="309704"/>
                </a:moveTo>
                <a:lnTo>
                  <a:pt x="5318" y="0"/>
                </a:lnTo>
              </a:path>
            </a:pathLst>
          </a:custGeom>
          <a:ln w="212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6" name="object 15"/>
          <p:cNvSpPr/>
          <p:nvPr/>
        </p:nvSpPr>
        <p:spPr>
          <a:xfrm>
            <a:off x="3662326" y="3814889"/>
            <a:ext cx="89535" cy="85090"/>
          </a:xfrm>
          <a:custGeom>
            <a:avLst/>
            <a:gdLst/>
            <a:ahLst/>
            <a:cxnLst/>
            <a:rect l="l" t="t" r="r" b="b"/>
            <a:pathLst>
              <a:path w="89534" h="85089">
                <a:moveTo>
                  <a:pt x="5318" y="0"/>
                </a:moveTo>
                <a:lnTo>
                  <a:pt x="0" y="0"/>
                </a:lnTo>
                <a:lnTo>
                  <a:pt x="5318" y="85015"/>
                </a:lnTo>
                <a:lnTo>
                  <a:pt x="89307" y="45034"/>
                </a:lnTo>
                <a:lnTo>
                  <a:pt x="5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object 16"/>
          <p:cNvSpPr/>
          <p:nvPr/>
        </p:nvSpPr>
        <p:spPr>
          <a:xfrm>
            <a:off x="3372622" y="3854870"/>
            <a:ext cx="321310" cy="5080"/>
          </a:xfrm>
          <a:custGeom>
            <a:avLst/>
            <a:gdLst/>
            <a:ahLst/>
            <a:cxnLst/>
            <a:rect l="l" t="t" r="r" b="b"/>
            <a:pathLst>
              <a:path w="321309" h="5080">
                <a:moveTo>
                  <a:pt x="321062" y="0"/>
                </a:moveTo>
                <a:lnTo>
                  <a:pt x="0" y="5052"/>
                </a:lnTo>
              </a:path>
            </a:pathLst>
          </a:custGeom>
          <a:ln w="202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object 17"/>
          <p:cNvSpPr/>
          <p:nvPr/>
        </p:nvSpPr>
        <p:spPr>
          <a:xfrm>
            <a:off x="3662326" y="4649384"/>
            <a:ext cx="89535" cy="85090"/>
          </a:xfrm>
          <a:custGeom>
            <a:avLst/>
            <a:gdLst/>
            <a:ahLst/>
            <a:cxnLst/>
            <a:rect l="l" t="t" r="r" b="b"/>
            <a:pathLst>
              <a:path w="89534" h="85089">
                <a:moveTo>
                  <a:pt x="5318" y="0"/>
                </a:moveTo>
                <a:lnTo>
                  <a:pt x="0" y="0"/>
                </a:lnTo>
                <a:lnTo>
                  <a:pt x="5318" y="84510"/>
                </a:lnTo>
                <a:lnTo>
                  <a:pt x="89307" y="39981"/>
                </a:lnTo>
                <a:lnTo>
                  <a:pt x="5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object 18"/>
          <p:cNvSpPr/>
          <p:nvPr/>
        </p:nvSpPr>
        <p:spPr>
          <a:xfrm>
            <a:off x="3372622" y="4689366"/>
            <a:ext cx="321310" cy="0"/>
          </a:xfrm>
          <a:custGeom>
            <a:avLst/>
            <a:gdLst/>
            <a:ahLst/>
            <a:cxnLst/>
            <a:rect l="l" t="t" r="r" b="b"/>
            <a:pathLst>
              <a:path w="321309">
                <a:moveTo>
                  <a:pt x="321062" y="0"/>
                </a:moveTo>
                <a:lnTo>
                  <a:pt x="0" y="0"/>
                </a:lnTo>
              </a:path>
            </a:pathLst>
          </a:custGeom>
          <a:ln w="202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object 19"/>
          <p:cNvSpPr txBox="1"/>
          <p:nvPr/>
        </p:nvSpPr>
        <p:spPr>
          <a:xfrm>
            <a:off x="3203848" y="3691889"/>
            <a:ext cx="2736304" cy="1148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400" b="0" spc="25" dirty="0">
                <a:latin typeface="+mn-lt"/>
                <a:cs typeface="Arial"/>
              </a:rPr>
              <a:t>a</a:t>
            </a:r>
            <a:endParaRPr sz="1400" b="0" dirty="0">
              <a:latin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b="0" dirty="0">
              <a:latin typeface="+mn-lt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400" b="0" spc="30" dirty="0">
                <a:latin typeface="+mn-lt"/>
                <a:cs typeface="Arial"/>
              </a:rPr>
              <a:t>S</a:t>
            </a:r>
            <a:r>
              <a:rPr sz="1400" b="0" spc="55" dirty="0">
                <a:latin typeface="+mn-lt"/>
                <a:cs typeface="Arial"/>
              </a:rPr>
              <a:t>u</a:t>
            </a:r>
            <a:r>
              <a:rPr sz="1400" b="0" spc="40" dirty="0">
                <a:latin typeface="+mn-lt"/>
                <a:cs typeface="Arial"/>
              </a:rPr>
              <a:t>m</a:t>
            </a:r>
            <a:endParaRPr sz="1400" b="0" dirty="0">
              <a:latin typeface="+mn-lt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b="0" dirty="0">
              <a:latin typeface="+mn-lt"/>
              <a:cs typeface="Times New Roman"/>
            </a:endParaRPr>
          </a:p>
          <a:p>
            <a:pPr marL="12700" algn="l">
              <a:lnSpc>
                <a:spcPct val="100000"/>
              </a:lnSpc>
            </a:pPr>
            <a:r>
              <a:rPr sz="1400" b="0" spc="25" dirty="0">
                <a:latin typeface="+mn-lt"/>
                <a:cs typeface="Arial"/>
              </a:rPr>
              <a:t>b</a:t>
            </a:r>
            <a:endParaRPr sz="1400" b="0" dirty="0">
              <a:latin typeface="+mn-lt"/>
              <a:cs typeface="Arial"/>
            </a:endParaRPr>
          </a:p>
        </p:txBody>
      </p:sp>
      <p:sp>
        <p:nvSpPr>
          <p:cNvPr id="21" name="object 20"/>
          <p:cNvSpPr txBox="1"/>
          <p:nvPr/>
        </p:nvSpPr>
        <p:spPr>
          <a:xfrm>
            <a:off x="3923928" y="3063926"/>
            <a:ext cx="93154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0" spc="45" dirty="0">
                <a:latin typeface="+mn-lt"/>
                <a:cs typeface="Arial"/>
              </a:rPr>
              <a:t>C</a:t>
            </a:r>
            <a:r>
              <a:rPr sz="1400" b="0" spc="10" dirty="0">
                <a:latin typeface="+mn-lt"/>
                <a:cs typeface="Arial"/>
              </a:rPr>
              <a:t>a</a:t>
            </a:r>
            <a:r>
              <a:rPr sz="1400" b="0" spc="15" dirty="0">
                <a:latin typeface="+mn-lt"/>
                <a:cs typeface="Arial"/>
              </a:rPr>
              <a:t>r</a:t>
            </a:r>
            <a:r>
              <a:rPr sz="1400" b="0" spc="50" dirty="0">
                <a:latin typeface="+mn-lt"/>
                <a:cs typeface="Arial"/>
              </a:rPr>
              <a:t>r</a:t>
            </a:r>
            <a:r>
              <a:rPr sz="1400" b="0" spc="5" dirty="0">
                <a:latin typeface="+mn-lt"/>
                <a:cs typeface="Arial"/>
              </a:rPr>
              <a:t>y</a:t>
            </a:r>
            <a:r>
              <a:rPr sz="1400" b="0" dirty="0">
                <a:latin typeface="+mn-lt"/>
                <a:cs typeface="Arial"/>
              </a:rPr>
              <a:t>I</a:t>
            </a:r>
            <a:r>
              <a:rPr sz="1400" b="0" spc="25" dirty="0">
                <a:latin typeface="+mn-lt"/>
                <a:cs typeface="Arial"/>
              </a:rPr>
              <a:t>n</a:t>
            </a:r>
            <a:endParaRPr sz="1400" b="0" dirty="0">
              <a:latin typeface="+mn-lt"/>
              <a:cs typeface="Arial"/>
            </a:endParaRPr>
          </a:p>
        </p:txBody>
      </p:sp>
      <p:sp>
        <p:nvSpPr>
          <p:cNvPr id="22" name="object 21"/>
          <p:cNvSpPr txBox="1"/>
          <p:nvPr/>
        </p:nvSpPr>
        <p:spPr>
          <a:xfrm>
            <a:off x="3923928" y="5301788"/>
            <a:ext cx="99478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0" spc="45" dirty="0">
                <a:latin typeface="+mn-lt"/>
                <a:cs typeface="Arial"/>
              </a:rPr>
              <a:t>C</a:t>
            </a:r>
            <a:r>
              <a:rPr sz="1400" b="0" spc="15" dirty="0">
                <a:latin typeface="+mn-lt"/>
                <a:cs typeface="Arial"/>
              </a:rPr>
              <a:t>ar</a:t>
            </a:r>
            <a:r>
              <a:rPr sz="1400" b="0" spc="50" dirty="0">
                <a:latin typeface="+mn-lt"/>
                <a:cs typeface="Arial"/>
              </a:rPr>
              <a:t>r</a:t>
            </a:r>
            <a:r>
              <a:rPr sz="1400" b="0" spc="5" dirty="0">
                <a:latin typeface="+mn-lt"/>
                <a:cs typeface="Arial"/>
              </a:rPr>
              <a:t>y</a:t>
            </a:r>
            <a:r>
              <a:rPr sz="1400" b="0" spc="50" dirty="0">
                <a:latin typeface="+mn-lt"/>
                <a:cs typeface="Arial"/>
              </a:rPr>
              <a:t>Ou</a:t>
            </a:r>
            <a:r>
              <a:rPr sz="1400" b="0" spc="10" dirty="0">
                <a:latin typeface="+mn-lt"/>
                <a:cs typeface="Arial"/>
              </a:rPr>
              <a:t>t</a:t>
            </a:r>
            <a:endParaRPr sz="1400" b="0" dirty="0"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648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</a:rPr>
              <a:t>Ricaviamo la </a:t>
            </a:r>
            <a:r>
              <a:rPr lang="it-IT" sz="2800" b="0" dirty="0">
                <a:solidFill>
                  <a:srgbClr val="33CC33"/>
                </a:solidFill>
                <a:latin typeface="+mn-lt"/>
              </a:rPr>
              <a:t>tavola di verità </a:t>
            </a:r>
            <a:r>
              <a:rPr lang="it-IT" sz="2800" b="0" dirty="0">
                <a:latin typeface="+mn-lt"/>
              </a:rPr>
              <a:t>delle </a:t>
            </a:r>
            <a:br>
              <a:rPr lang="it-IT" sz="2800" b="0" dirty="0">
                <a:latin typeface="+mn-lt"/>
              </a:rPr>
            </a:br>
            <a:r>
              <a:rPr lang="it-IT" sz="2800" b="0" dirty="0">
                <a:latin typeface="+mn-lt"/>
              </a:rPr>
              <a:t>funzioni</a:t>
            </a:r>
          </a:p>
          <a:p>
            <a:pPr lvl="2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Sum</a:t>
            </a:r>
            <a:r>
              <a:rPr lang="it-IT" sz="2400" b="0" dirty="0">
                <a:latin typeface="+mn-lt"/>
                <a:ea typeface="Cambria Math" charset="0"/>
                <a:cs typeface="Cambria Math" charset="0"/>
              </a:rPr>
              <a:t>=Somma(</a:t>
            </a:r>
            <a:r>
              <a:rPr lang="it-IT" sz="2400" b="0" dirty="0" err="1">
                <a:latin typeface="+mn-lt"/>
                <a:ea typeface="Cambria Math" charset="0"/>
                <a:cs typeface="Cambria Math" charset="0"/>
              </a:rPr>
              <a:t>a,b,CarryIn</a:t>
            </a:r>
            <a:r>
              <a:rPr lang="it-IT" sz="2400" b="0" dirty="0">
                <a:latin typeface="+mn-lt"/>
                <a:ea typeface="Cambria Math" charset="0"/>
                <a:cs typeface="Cambria Math" charset="0"/>
              </a:rPr>
              <a:t>)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CarryOut</a:t>
            </a:r>
            <a:r>
              <a:rPr lang="it-IT" sz="2400" b="0" dirty="0">
                <a:latin typeface="+mn-lt"/>
                <a:ea typeface="Cambria Math" charset="0"/>
                <a:cs typeface="Cambria Math" charset="0"/>
              </a:rPr>
              <a:t>= Riporto(</a:t>
            </a:r>
            <a:r>
              <a:rPr lang="it-IT" sz="2400" b="0" dirty="0" err="1">
                <a:latin typeface="+mn-lt"/>
                <a:ea typeface="Cambria Math" charset="0"/>
                <a:cs typeface="Cambria Math" charset="0"/>
              </a:rPr>
              <a:t>a,b,CarryIn</a:t>
            </a:r>
            <a:r>
              <a:rPr lang="it-IT" sz="2400" b="0" dirty="0">
                <a:latin typeface="+mn-lt"/>
                <a:ea typeface="Cambria Math" charset="0"/>
                <a:cs typeface="Cambria Math" charset="0"/>
              </a:rPr>
              <a:t>)</a:t>
            </a:r>
            <a:br>
              <a:rPr lang="it-IT" sz="2400" b="0" dirty="0">
                <a:latin typeface="+mn-lt"/>
                <a:ea typeface="Cambria Math" charset="0"/>
                <a:cs typeface="Cambria Math" charset="0"/>
              </a:rPr>
            </a:br>
            <a:endParaRPr lang="it-IT" sz="2400" b="0" dirty="0"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latin typeface="+mn-lt"/>
                <a:ea typeface="Cambria Math" charset="0"/>
                <a:cs typeface="Cambria Math" charset="0"/>
              </a:rPr>
              <a:t>Successivamente, esprimiamo le funzioni in </a:t>
            </a:r>
            <a:br>
              <a:rPr lang="it-IT" sz="2800" b="0" dirty="0">
                <a:latin typeface="+mn-lt"/>
                <a:ea typeface="Cambria Math" charset="0"/>
                <a:cs typeface="Cambria Math" charset="0"/>
              </a:rPr>
            </a:br>
            <a:r>
              <a:rPr lang="it-IT" sz="28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forma canonica SOP</a:t>
            </a: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800" b="0" dirty="0">
              <a:solidFill>
                <a:srgbClr val="0000FF"/>
              </a:solidFill>
              <a:latin typeface="+mn-lt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910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"/>
          <p:cNvSpPr/>
          <p:nvPr/>
        </p:nvSpPr>
        <p:spPr>
          <a:xfrm>
            <a:off x="755576" y="1700808"/>
            <a:ext cx="3456384" cy="2880320"/>
          </a:xfrm>
          <a:prstGeom prst="rect">
            <a:avLst/>
          </a:prstGeom>
          <a:blipFill>
            <a:blip r:embed="rId3" cstate="print"/>
            <a:srcRect/>
            <a:stretch>
              <a:fillRect t="-11272" r="-67936" b="-1149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"/>
          <p:cNvSpPr/>
          <p:nvPr/>
        </p:nvSpPr>
        <p:spPr>
          <a:xfrm>
            <a:off x="4211960" y="1700808"/>
            <a:ext cx="1728192" cy="2880320"/>
          </a:xfrm>
          <a:prstGeom prst="rect">
            <a:avLst/>
          </a:prstGeom>
          <a:blipFill>
            <a:blip r:embed="rId3" cstate="print"/>
            <a:srcRect/>
            <a:stretch>
              <a:fillRect l="-351939" t="-10607" r="1" b="-1142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Rettangolo 8"/>
          <p:cNvSpPr/>
          <p:nvPr/>
        </p:nvSpPr>
        <p:spPr>
          <a:xfrm>
            <a:off x="6020544" y="227687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39" name="Rettangolo 8"/>
          <p:cNvSpPr/>
          <p:nvPr/>
        </p:nvSpPr>
        <p:spPr>
          <a:xfrm>
            <a:off x="6020544" y="263691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40" name="Rettangolo 8"/>
          <p:cNvSpPr/>
          <p:nvPr/>
        </p:nvSpPr>
        <p:spPr>
          <a:xfrm>
            <a:off x="6020544" y="3284984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41" name="Rettangolo 8"/>
          <p:cNvSpPr/>
          <p:nvPr/>
        </p:nvSpPr>
        <p:spPr>
          <a:xfrm>
            <a:off x="6020544" y="4139788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cxnSp>
        <p:nvCxnSpPr>
          <p:cNvPr id="42" name="Connettore 1 7"/>
          <p:cNvCxnSpPr/>
          <p:nvPr/>
        </p:nvCxnSpPr>
        <p:spPr>
          <a:xfrm>
            <a:off x="6444208" y="2708920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1 7"/>
          <p:cNvCxnSpPr/>
          <p:nvPr/>
        </p:nvCxnSpPr>
        <p:spPr>
          <a:xfrm>
            <a:off x="6084168" y="234888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1 7"/>
          <p:cNvCxnSpPr/>
          <p:nvPr/>
        </p:nvCxnSpPr>
        <p:spPr>
          <a:xfrm>
            <a:off x="6300192" y="234888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7"/>
          <p:cNvCxnSpPr/>
          <p:nvPr/>
        </p:nvCxnSpPr>
        <p:spPr>
          <a:xfrm>
            <a:off x="6084168" y="270892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1 7"/>
          <p:cNvCxnSpPr/>
          <p:nvPr/>
        </p:nvCxnSpPr>
        <p:spPr>
          <a:xfrm>
            <a:off x="6228184" y="3356992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ttangolo 8"/>
          <p:cNvSpPr/>
          <p:nvPr/>
        </p:nvSpPr>
        <p:spPr>
          <a:xfrm>
            <a:off x="323528" y="5027692"/>
            <a:ext cx="90730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Sum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48" name="Connettore 1 7"/>
          <p:cNvCxnSpPr/>
          <p:nvPr/>
        </p:nvCxnSpPr>
        <p:spPr>
          <a:xfrm>
            <a:off x="1403648" y="508518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1 7"/>
          <p:cNvCxnSpPr/>
          <p:nvPr/>
        </p:nvCxnSpPr>
        <p:spPr>
          <a:xfrm>
            <a:off x="1691680" y="508518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1 7"/>
          <p:cNvCxnSpPr/>
          <p:nvPr/>
        </p:nvCxnSpPr>
        <p:spPr>
          <a:xfrm>
            <a:off x="3347864" y="508518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1 7"/>
          <p:cNvCxnSpPr/>
          <p:nvPr/>
        </p:nvCxnSpPr>
        <p:spPr>
          <a:xfrm>
            <a:off x="5580112" y="5085184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1 7"/>
          <p:cNvCxnSpPr/>
          <p:nvPr/>
        </p:nvCxnSpPr>
        <p:spPr>
          <a:xfrm>
            <a:off x="3851920" y="5085184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1 7"/>
          <p:cNvCxnSpPr/>
          <p:nvPr/>
        </p:nvCxnSpPr>
        <p:spPr>
          <a:xfrm>
            <a:off x="6444208" y="3356992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7"/>
          <p:cNvCxnSpPr/>
          <p:nvPr/>
        </p:nvCxnSpPr>
        <p:spPr>
          <a:xfrm>
            <a:off x="5940152" y="5085184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sellaDiTesto 6"/>
          <p:cNvSpPr txBox="1"/>
          <p:nvPr/>
        </p:nvSpPr>
        <p:spPr>
          <a:xfrm>
            <a:off x="1544996" y="1331476"/>
            <a:ext cx="353106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it-IT" sz="1800" dirty="0">
                <a:latin typeface="+mn-lt"/>
              </a:rPr>
              <a:t>Tavola di verità funzione Sum</a:t>
            </a:r>
          </a:p>
        </p:txBody>
      </p:sp>
      <p:sp>
        <p:nvSpPr>
          <p:cNvPr id="24" name="object 3"/>
          <p:cNvSpPr txBox="1">
            <a:spLocks/>
          </p:cNvSpPr>
          <p:nvPr/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800" spc="-25"/>
              <a:t>Esercizio 1: Soluzione</a:t>
            </a:r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243450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83568" y="2049016"/>
            <a:ext cx="3663900" cy="3036168"/>
          </a:xfrm>
          <a:prstGeom prst="rect">
            <a:avLst/>
          </a:prstGeom>
          <a:blipFill>
            <a:blip r:embed="rId3" cstate="print"/>
            <a:srcRect/>
            <a:stretch>
              <a:fillRect l="1" t="-11467" r="-23571" b="-115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Rettangolo 8"/>
          <p:cNvSpPr/>
          <p:nvPr/>
        </p:nvSpPr>
        <p:spPr>
          <a:xfrm>
            <a:off x="683568" y="5027692"/>
            <a:ext cx="878497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000" b="0" dirty="0">
                <a:latin typeface="+mn-lt"/>
              </a:rPr>
              <a:t> </a:t>
            </a:r>
            <a:r>
              <a:rPr lang="it-IT" sz="2000" b="0" dirty="0" err="1">
                <a:solidFill>
                  <a:srgbClr val="CC0000"/>
                </a:solidFill>
                <a:latin typeface="+mn-lt"/>
              </a:rPr>
              <a:t>CarryOut</a:t>
            </a:r>
            <a:r>
              <a:rPr lang="it-IT" sz="2000" b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it-IT" sz="2000" b="0" dirty="0">
                <a:latin typeface="+mn-lt"/>
              </a:rPr>
              <a:t>=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endParaRPr lang="it-IT" sz="2000" b="0" dirty="0">
              <a:latin typeface="+mn-lt"/>
              <a:sym typeface="Symbol"/>
            </a:endParaRPr>
          </a:p>
          <a:p>
            <a:pPr algn="l"/>
            <a:r>
              <a:rPr lang="it-IT" sz="2000" b="0" dirty="0">
                <a:latin typeface="+mn-lt"/>
                <a:sym typeface="Symbol"/>
              </a:rPr>
              <a:t>	     =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+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</a:t>
            </a:r>
          </a:p>
          <a:p>
            <a:pPr algn="l"/>
            <a:r>
              <a:rPr lang="it-IT" sz="2000" b="0" dirty="0">
                <a:latin typeface="+mn-lt"/>
                <a:sym typeface="Symbol"/>
              </a:rPr>
              <a:t>	     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 +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</a:t>
            </a:r>
          </a:p>
          <a:p>
            <a:pPr algn="l"/>
            <a:r>
              <a:rPr lang="it-IT" sz="2000" b="0" dirty="0">
                <a:latin typeface="+mn-lt"/>
                <a:sym typeface="Symbol"/>
              </a:rPr>
              <a:t>	       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r>
              <a:rPr lang="it-IT" sz="2000" b="0" dirty="0">
                <a:latin typeface="+mn-lt"/>
                <a:sym typeface="Symbol"/>
              </a:rPr>
              <a:t>  + </a:t>
            </a:r>
            <a:r>
              <a:rPr lang="it-IT" sz="2000" b="0" dirty="0" err="1">
                <a:latin typeface="+mn-lt"/>
              </a:rPr>
              <a:t>a</a:t>
            </a:r>
            <a:r>
              <a:rPr lang="it-IT" sz="2000" b="0" dirty="0" err="1">
                <a:latin typeface="+mn-lt"/>
                <a:sym typeface="Symbol"/>
              </a:rPr>
              <a:t>bCarryIn</a:t>
            </a:r>
            <a:endParaRPr lang="it-IT" sz="2000" b="0" dirty="0">
              <a:latin typeface="+mn-lt"/>
              <a:sym typeface="Symbol"/>
            </a:endParaRPr>
          </a:p>
          <a:p>
            <a:pPr algn="l"/>
            <a:r>
              <a:rPr lang="it-IT" sz="2000" b="0" dirty="0">
                <a:latin typeface="+mn-lt"/>
                <a:sym typeface="Symbol"/>
              </a:rPr>
              <a:t>	    </a:t>
            </a:r>
            <a:r>
              <a:rPr lang="it-IT" sz="2000" b="0" dirty="0">
                <a:solidFill>
                  <a:srgbClr val="CC0000"/>
                </a:solidFill>
                <a:latin typeface="+mn-lt"/>
                <a:sym typeface="Symbol"/>
              </a:rPr>
              <a:t> = </a:t>
            </a:r>
            <a:r>
              <a:rPr lang="it-IT" sz="2000" b="0" dirty="0" err="1">
                <a:solidFill>
                  <a:srgbClr val="CC0000"/>
                </a:solidFill>
                <a:latin typeface="+mn-lt"/>
              </a:rPr>
              <a:t>a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sym typeface="Symbol"/>
              </a:rPr>
              <a:t>CarryIn</a:t>
            </a:r>
            <a:r>
              <a:rPr lang="it-IT" sz="2000" b="0" dirty="0">
                <a:solidFill>
                  <a:srgbClr val="CC0000"/>
                </a:solidFill>
                <a:latin typeface="+mn-lt"/>
                <a:sym typeface="Symbol"/>
              </a:rPr>
              <a:t> + 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sym typeface="Symbol"/>
              </a:rPr>
              <a:t>bCarryIn</a:t>
            </a:r>
            <a:r>
              <a:rPr lang="it-IT" sz="2000" b="0" dirty="0">
                <a:solidFill>
                  <a:srgbClr val="CC0000"/>
                </a:solidFill>
                <a:latin typeface="+mn-lt"/>
                <a:sym typeface="Symbol"/>
              </a:rPr>
              <a:t> + </a:t>
            </a:r>
            <a:r>
              <a:rPr lang="it-IT" sz="2000" b="0" dirty="0" err="1">
                <a:solidFill>
                  <a:srgbClr val="CC0000"/>
                </a:solidFill>
                <a:latin typeface="+mn-lt"/>
              </a:rPr>
              <a:t>a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sym typeface="Symbol"/>
              </a:rPr>
              <a:t>b</a:t>
            </a:r>
            <a:endParaRPr lang="it-IT" sz="2000" b="0" dirty="0">
              <a:solidFill>
                <a:srgbClr val="CC0000"/>
              </a:solidFill>
              <a:latin typeface="+mn-lt"/>
              <a:sym typeface="Symbol"/>
            </a:endParaRPr>
          </a:p>
          <a:p>
            <a:pPr algn="l"/>
            <a:endParaRPr lang="it-IT" sz="2000" b="0" dirty="0">
              <a:sym typeface="Symbol"/>
            </a:endParaRPr>
          </a:p>
          <a:p>
            <a:pPr algn="l"/>
            <a:endParaRPr lang="it-IT" sz="2000" b="0" dirty="0">
              <a:latin typeface="+mn-lt"/>
              <a:sym typeface="Symbol"/>
            </a:endParaRPr>
          </a:p>
          <a:p>
            <a:pPr algn="l"/>
            <a:endParaRPr lang="it-IT" sz="2000" b="0" dirty="0">
              <a:latin typeface="+mn-lt"/>
              <a:sym typeface="Symbol"/>
            </a:endParaRPr>
          </a:p>
          <a:p>
            <a:pPr algn="l"/>
            <a:r>
              <a:rPr lang="it-IT" sz="2000" b="0" dirty="0">
                <a:latin typeface="+mn-lt"/>
                <a:sym typeface="Symbol"/>
              </a:rPr>
              <a:t>		</a:t>
            </a:r>
          </a:p>
          <a:p>
            <a:pPr algn="l"/>
            <a:r>
              <a:rPr lang="it-IT" sz="2000" b="0" dirty="0">
                <a:latin typeface="+mn-lt"/>
                <a:sym typeface="Symbol"/>
              </a:rPr>
              <a:t>	</a:t>
            </a:r>
            <a:endParaRPr lang="it-IT" sz="20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49" name="Connettore 1 7"/>
          <p:cNvCxnSpPr/>
          <p:nvPr/>
        </p:nvCxnSpPr>
        <p:spPr>
          <a:xfrm>
            <a:off x="5940152" y="5085184"/>
            <a:ext cx="9361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tangolo 8"/>
          <p:cNvSpPr/>
          <p:nvPr/>
        </p:nvSpPr>
        <p:spPr>
          <a:xfrm>
            <a:off x="4499992" y="335699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5" name="Rettangolo 8"/>
          <p:cNvSpPr/>
          <p:nvPr/>
        </p:nvSpPr>
        <p:spPr>
          <a:xfrm>
            <a:off x="4499992" y="393305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6" name="Rettangolo 8"/>
          <p:cNvSpPr/>
          <p:nvPr/>
        </p:nvSpPr>
        <p:spPr>
          <a:xfrm>
            <a:off x="4499992" y="429309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7" name="Rettangolo 8"/>
          <p:cNvSpPr/>
          <p:nvPr/>
        </p:nvSpPr>
        <p:spPr>
          <a:xfrm>
            <a:off x="4499992" y="4643844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cxnSp>
        <p:nvCxnSpPr>
          <p:cNvPr id="58" name="Connettore 1 7"/>
          <p:cNvCxnSpPr/>
          <p:nvPr/>
        </p:nvCxnSpPr>
        <p:spPr>
          <a:xfrm>
            <a:off x="4572000" y="342900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1 7"/>
          <p:cNvCxnSpPr/>
          <p:nvPr/>
        </p:nvCxnSpPr>
        <p:spPr>
          <a:xfrm>
            <a:off x="4724400" y="401435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1 7"/>
          <p:cNvCxnSpPr/>
          <p:nvPr/>
        </p:nvCxnSpPr>
        <p:spPr>
          <a:xfrm>
            <a:off x="4932040" y="4374396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sellaDiTesto 6"/>
          <p:cNvSpPr txBox="1"/>
          <p:nvPr/>
        </p:nvSpPr>
        <p:spPr>
          <a:xfrm>
            <a:off x="539587" y="1691516"/>
            <a:ext cx="410442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it-IT" sz="1800" dirty="0">
                <a:latin typeface="+mn-lt"/>
              </a:rPr>
              <a:t>Tavola di verità funzione </a:t>
            </a:r>
            <a:r>
              <a:rPr lang="it-IT" sz="1800" dirty="0" err="1">
                <a:latin typeface="+mn-lt"/>
              </a:rPr>
              <a:t>CarryOut</a:t>
            </a:r>
            <a:endParaRPr lang="it-IT" sz="1800" dirty="0">
              <a:latin typeface="+mn-lt"/>
            </a:endParaRPr>
          </a:p>
        </p:txBody>
      </p:sp>
      <p:sp>
        <p:nvSpPr>
          <p:cNvPr id="19" name="object 3"/>
          <p:cNvSpPr txBox="1">
            <a:spLocks noGrp="1"/>
          </p:cNvSpPr>
          <p:nvPr>
            <p:ph type="title"/>
          </p:nvPr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/>
          <a:p>
            <a:pPr marL="1880235">
              <a:lnSpc>
                <a:spcPct val="100000"/>
              </a:lnSpc>
            </a:pPr>
            <a:r>
              <a:rPr lang="it-IT" sz="4800" spc="-25" dirty="0"/>
              <a:t>Esercizio 1: Soluzione</a:t>
            </a:r>
            <a:endParaRPr sz="4800" dirty="0"/>
          </a:p>
        </p:txBody>
      </p:sp>
      <p:cxnSp>
        <p:nvCxnSpPr>
          <p:cNvPr id="22" name="Connettore 1 7"/>
          <p:cNvCxnSpPr/>
          <p:nvPr/>
        </p:nvCxnSpPr>
        <p:spPr>
          <a:xfrm>
            <a:off x="2267744" y="5445224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7"/>
          <p:cNvCxnSpPr/>
          <p:nvPr/>
        </p:nvCxnSpPr>
        <p:spPr>
          <a:xfrm>
            <a:off x="2987824" y="6021288"/>
            <a:ext cx="9361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1 7"/>
          <p:cNvCxnSpPr/>
          <p:nvPr/>
        </p:nvCxnSpPr>
        <p:spPr>
          <a:xfrm>
            <a:off x="2267744" y="5157192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1 7"/>
          <p:cNvCxnSpPr/>
          <p:nvPr/>
        </p:nvCxnSpPr>
        <p:spPr>
          <a:xfrm>
            <a:off x="4067944" y="5085184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7"/>
          <p:cNvCxnSpPr/>
          <p:nvPr/>
        </p:nvCxnSpPr>
        <p:spPr>
          <a:xfrm>
            <a:off x="2627784" y="573325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6"/>
          <p:cNvSpPr txBox="1"/>
          <p:nvPr/>
        </p:nvSpPr>
        <p:spPr>
          <a:xfrm>
            <a:off x="6084168" y="5517232"/>
            <a:ext cx="2736304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1800" dirty="0">
                <a:latin typeface="+mn-lt"/>
              </a:rPr>
              <a:t>Minimizziamo con le proprietà di idempotenza e del complemento</a:t>
            </a:r>
          </a:p>
        </p:txBody>
      </p:sp>
    </p:spTree>
    <p:extLst>
      <p:ext uri="{BB962C8B-B14F-4D97-AF65-F5344CB8AC3E}">
        <p14:creationId xmlns:p14="http://schemas.microsoft.com/office/powerpoint/2010/main" val="378418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4" grpId="0"/>
      <p:bldP spid="55" grpId="0"/>
      <p:bldP spid="56" grpId="0"/>
      <p:bldP spid="57" grpId="0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Line 30"/>
          <p:cNvSpPr>
            <a:spLocks noChangeShapeType="1"/>
          </p:cNvSpPr>
          <p:nvPr/>
        </p:nvSpPr>
        <p:spPr bwMode="auto">
          <a:xfrm>
            <a:off x="5724128" y="4293096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5" name="Line 30"/>
          <p:cNvSpPr>
            <a:spLocks noChangeShapeType="1"/>
          </p:cNvSpPr>
          <p:nvPr/>
        </p:nvSpPr>
        <p:spPr bwMode="auto">
          <a:xfrm>
            <a:off x="5004048" y="4221088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4" name="Line 30"/>
          <p:cNvSpPr>
            <a:spLocks noChangeShapeType="1"/>
          </p:cNvSpPr>
          <p:nvPr/>
        </p:nvSpPr>
        <p:spPr bwMode="auto">
          <a:xfrm>
            <a:off x="6444208" y="4005064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3" name="Line 30"/>
          <p:cNvSpPr>
            <a:spLocks noChangeShapeType="1"/>
          </p:cNvSpPr>
          <p:nvPr/>
        </p:nvSpPr>
        <p:spPr bwMode="auto">
          <a:xfrm>
            <a:off x="5580112" y="4005064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>
            <a:off x="3373016" y="3836615"/>
            <a:ext cx="0" cy="7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>
            <a:off x="2699792" y="3836615"/>
            <a:ext cx="0" cy="7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7" name="Line 28"/>
          <p:cNvSpPr>
            <a:spLocks noChangeShapeType="1"/>
          </p:cNvSpPr>
          <p:nvPr/>
        </p:nvSpPr>
        <p:spPr bwMode="auto">
          <a:xfrm flipV="1">
            <a:off x="6804248" y="6428903"/>
            <a:ext cx="792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" name="Line 28"/>
          <p:cNvSpPr>
            <a:spLocks noChangeShapeType="1"/>
          </p:cNvSpPr>
          <p:nvPr/>
        </p:nvSpPr>
        <p:spPr bwMode="auto">
          <a:xfrm flipV="1">
            <a:off x="6876256" y="5780831"/>
            <a:ext cx="792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" name="Line 30"/>
          <p:cNvSpPr>
            <a:spLocks noChangeShapeType="1"/>
          </p:cNvSpPr>
          <p:nvPr/>
        </p:nvSpPr>
        <p:spPr bwMode="auto">
          <a:xfrm>
            <a:off x="4283968" y="5157192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" name="Line 30"/>
          <p:cNvSpPr>
            <a:spLocks noChangeShapeType="1"/>
          </p:cNvSpPr>
          <p:nvPr/>
        </p:nvSpPr>
        <p:spPr bwMode="auto">
          <a:xfrm>
            <a:off x="2843808" y="5060751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2123728" y="5013176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" name="Line 30"/>
          <p:cNvSpPr>
            <a:spLocks noChangeShapeType="1"/>
          </p:cNvSpPr>
          <p:nvPr/>
        </p:nvSpPr>
        <p:spPr bwMode="auto">
          <a:xfrm>
            <a:off x="2987824" y="4268663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" name="Line 30"/>
          <p:cNvSpPr>
            <a:spLocks noChangeShapeType="1"/>
          </p:cNvSpPr>
          <p:nvPr/>
        </p:nvSpPr>
        <p:spPr bwMode="auto">
          <a:xfrm>
            <a:off x="3733056" y="4268663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" name="Line 30"/>
          <p:cNvSpPr>
            <a:spLocks noChangeShapeType="1"/>
          </p:cNvSpPr>
          <p:nvPr/>
        </p:nvSpPr>
        <p:spPr bwMode="auto">
          <a:xfrm>
            <a:off x="4453136" y="4268663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9" name="Line 30"/>
          <p:cNvSpPr>
            <a:spLocks noChangeShapeType="1"/>
          </p:cNvSpPr>
          <p:nvPr/>
        </p:nvSpPr>
        <p:spPr bwMode="auto">
          <a:xfrm>
            <a:off x="2267744" y="4268663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" name="Line 30"/>
          <p:cNvSpPr>
            <a:spLocks noChangeShapeType="1"/>
          </p:cNvSpPr>
          <p:nvPr/>
        </p:nvSpPr>
        <p:spPr bwMode="auto">
          <a:xfrm>
            <a:off x="4309120" y="4052639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" name="Line 30"/>
          <p:cNvSpPr>
            <a:spLocks noChangeShapeType="1"/>
          </p:cNvSpPr>
          <p:nvPr/>
        </p:nvSpPr>
        <p:spPr bwMode="auto">
          <a:xfrm>
            <a:off x="3517032" y="4052639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" name="Line 30"/>
          <p:cNvSpPr>
            <a:spLocks noChangeShapeType="1"/>
          </p:cNvSpPr>
          <p:nvPr/>
        </p:nvSpPr>
        <p:spPr bwMode="auto">
          <a:xfrm>
            <a:off x="2843808" y="4052639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>
            <a:off x="1979712" y="3836614"/>
            <a:ext cx="0" cy="8165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67544" y="1700808"/>
            <a:ext cx="8208912" cy="49685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0" indent="0" eaLnBrk="1" hangingPunct="1">
              <a:lnSpc>
                <a:spcPct val="90000"/>
              </a:lnSpc>
            </a:pPr>
            <a:r>
              <a:rPr lang="it-IT" sz="2800" b="0" dirty="0">
                <a:latin typeface="Comic Sans MS" charset="0"/>
              </a:rPr>
              <a:t>   Otteniamo la </a:t>
            </a:r>
            <a:r>
              <a:rPr lang="it-IT" sz="2800" b="0" dirty="0">
                <a:solidFill>
                  <a:srgbClr val="CC0000"/>
                </a:solidFill>
                <a:latin typeface="Comic Sans MS" charset="0"/>
              </a:rPr>
              <a:t> rete AND-to-OR </a:t>
            </a:r>
            <a:r>
              <a:rPr lang="it-IT" sz="2800" b="0" dirty="0">
                <a:latin typeface="Comic Sans MS" charset="0"/>
              </a:rPr>
              <a:t>per le funzioni</a:t>
            </a:r>
          </a:p>
        </p:txBody>
      </p:sp>
      <p:sp>
        <p:nvSpPr>
          <p:cNvPr id="14" name="AutoShape 22"/>
          <p:cNvSpPr>
            <a:spLocks noChangeArrowheads="1"/>
          </p:cNvSpPr>
          <p:nvPr/>
        </p:nvSpPr>
        <p:spPr bwMode="auto">
          <a:xfrm rot="5400000">
            <a:off x="2517676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5" name="AutoShape 22"/>
          <p:cNvSpPr>
            <a:spLocks noChangeArrowheads="1"/>
          </p:cNvSpPr>
          <p:nvPr/>
        </p:nvSpPr>
        <p:spPr bwMode="auto">
          <a:xfrm rot="5400000">
            <a:off x="3237756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6" name="AutoShape 22"/>
          <p:cNvSpPr>
            <a:spLocks noChangeArrowheads="1"/>
          </p:cNvSpPr>
          <p:nvPr/>
        </p:nvSpPr>
        <p:spPr bwMode="auto">
          <a:xfrm rot="5400000">
            <a:off x="3957836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7" name="Oval 34"/>
          <p:cNvSpPr>
            <a:spLocks noChangeArrowheads="1"/>
          </p:cNvSpPr>
          <p:nvPr/>
        </p:nvSpPr>
        <p:spPr bwMode="auto">
          <a:xfrm rot="16092290">
            <a:off x="3315450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8" name="Oval 34"/>
          <p:cNvSpPr>
            <a:spLocks noChangeArrowheads="1"/>
          </p:cNvSpPr>
          <p:nvPr/>
        </p:nvSpPr>
        <p:spPr bwMode="auto">
          <a:xfrm rot="16092290">
            <a:off x="2642226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V="1">
            <a:off x="2090463" y="4078992"/>
            <a:ext cx="4968552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 flipV="1">
            <a:off x="1763688" y="4039138"/>
            <a:ext cx="4968552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V="1">
            <a:off x="1763688" y="4255162"/>
            <a:ext cx="4968552" cy="13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>
            <a:off x="4165104" y="3836615"/>
            <a:ext cx="0" cy="792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2132112" y="4052639"/>
            <a:ext cx="0" cy="7200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AutoShape 22"/>
          <p:cNvSpPr>
            <a:spLocks noChangeArrowheads="1"/>
          </p:cNvSpPr>
          <p:nvPr/>
        </p:nvSpPr>
        <p:spPr bwMode="auto">
          <a:xfrm rot="5400000">
            <a:off x="1797596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 flipV="1">
            <a:off x="2123728" y="5719753"/>
            <a:ext cx="4544888" cy="13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" name="Line 28"/>
          <p:cNvSpPr>
            <a:spLocks noChangeShapeType="1"/>
          </p:cNvSpPr>
          <p:nvPr/>
        </p:nvSpPr>
        <p:spPr bwMode="auto">
          <a:xfrm flipV="1">
            <a:off x="2843808" y="5775712"/>
            <a:ext cx="3977208" cy="295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" name="Line 28"/>
          <p:cNvSpPr>
            <a:spLocks noChangeShapeType="1"/>
          </p:cNvSpPr>
          <p:nvPr/>
        </p:nvSpPr>
        <p:spPr bwMode="auto">
          <a:xfrm>
            <a:off x="4283968" y="5877272"/>
            <a:ext cx="26894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8" name="AutoShape 27"/>
          <p:cNvSpPr>
            <a:spLocks noChangeArrowheads="1"/>
          </p:cNvSpPr>
          <p:nvPr/>
        </p:nvSpPr>
        <p:spPr bwMode="auto">
          <a:xfrm rot="10872147">
            <a:off x="6522000" y="5525495"/>
            <a:ext cx="793361" cy="559538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49" name="Line 30"/>
          <p:cNvSpPr>
            <a:spLocks noChangeShapeType="1"/>
          </p:cNvSpPr>
          <p:nvPr/>
        </p:nvSpPr>
        <p:spPr bwMode="auto">
          <a:xfrm>
            <a:off x="3563888" y="5204767"/>
            <a:ext cx="0" cy="4564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" name="Line 28"/>
          <p:cNvSpPr>
            <a:spLocks noChangeShapeType="1"/>
          </p:cNvSpPr>
          <p:nvPr/>
        </p:nvSpPr>
        <p:spPr bwMode="auto">
          <a:xfrm flipV="1">
            <a:off x="6372200" y="6284886"/>
            <a:ext cx="720080" cy="244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4" name="Line 28"/>
          <p:cNvSpPr>
            <a:spLocks noChangeShapeType="1"/>
          </p:cNvSpPr>
          <p:nvPr/>
        </p:nvSpPr>
        <p:spPr bwMode="auto">
          <a:xfrm flipV="1">
            <a:off x="4932040" y="6597351"/>
            <a:ext cx="237626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 rot="10872147">
            <a:off x="6510258" y="6173567"/>
            <a:ext cx="793361" cy="559538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59" name="Rettangolo 10"/>
          <p:cNvSpPr/>
          <p:nvPr/>
        </p:nvSpPr>
        <p:spPr>
          <a:xfrm>
            <a:off x="683568" y="4129335"/>
            <a:ext cx="23762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 err="1">
                <a:latin typeface="+mn-lt"/>
              </a:rPr>
              <a:t>CarryIn</a:t>
            </a:r>
            <a:endParaRPr lang="it-IT" sz="1400" b="0" dirty="0">
              <a:latin typeface="+mn-lt"/>
            </a:endParaRPr>
          </a:p>
        </p:txBody>
      </p:sp>
      <p:sp>
        <p:nvSpPr>
          <p:cNvPr id="60" name="Rettangolo 10"/>
          <p:cNvSpPr/>
          <p:nvPr/>
        </p:nvSpPr>
        <p:spPr>
          <a:xfrm>
            <a:off x="7740352" y="5471353"/>
            <a:ext cx="115212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b="0" dirty="0">
                <a:solidFill>
                  <a:srgbClr val="0000FF"/>
                </a:solidFill>
                <a:latin typeface="+mn-lt"/>
              </a:rPr>
              <a:t>Sum</a:t>
            </a:r>
          </a:p>
          <a:p>
            <a:pPr algn="l"/>
            <a:endParaRPr lang="it-IT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b="0" dirty="0">
              <a:solidFill>
                <a:srgbClr val="0000FF"/>
              </a:solidFill>
              <a:latin typeface="+mn-lt"/>
            </a:endParaRPr>
          </a:p>
          <a:p>
            <a:pPr algn="l"/>
            <a:r>
              <a:rPr lang="it-IT" b="0" dirty="0" err="1">
                <a:solidFill>
                  <a:srgbClr val="0000FF"/>
                </a:solidFill>
                <a:latin typeface="+mn-lt"/>
              </a:rPr>
              <a:t>CarryOut</a:t>
            </a:r>
            <a:endParaRPr lang="it-IT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  <a:p>
            <a:pPr algn="l"/>
            <a:endParaRPr lang="it-IT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b="0" dirty="0">
              <a:latin typeface="+mn-lt"/>
            </a:endParaRPr>
          </a:p>
        </p:txBody>
      </p:sp>
      <p:sp>
        <p:nvSpPr>
          <p:cNvPr id="71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50" name="Rettangolo 8"/>
          <p:cNvSpPr/>
          <p:nvPr/>
        </p:nvSpPr>
        <p:spPr>
          <a:xfrm>
            <a:off x="650303" y="2303226"/>
            <a:ext cx="9073008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Sum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 </a:t>
            </a:r>
            <a:r>
              <a:rPr lang="it-IT" sz="2400" b="0" dirty="0" err="1">
                <a:solidFill>
                  <a:srgbClr val="0000FF"/>
                </a:solidFill>
                <a:latin typeface="+mn-lt"/>
                <a:sym typeface="Symbol"/>
              </a:rPr>
              <a:t>CarryOut</a:t>
            </a:r>
            <a:r>
              <a:rPr lang="it-IT" sz="2400" b="0" dirty="0">
                <a:latin typeface="+mn-lt"/>
                <a:sym typeface="Symbol"/>
              </a:rPr>
              <a:t> 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  <a:sym typeface="Symbol"/>
              </a:rPr>
              <a:t>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51" name="Connettore 1 7"/>
          <p:cNvCxnSpPr/>
          <p:nvPr/>
        </p:nvCxnSpPr>
        <p:spPr>
          <a:xfrm>
            <a:off x="1730423" y="2360718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1 7"/>
          <p:cNvCxnSpPr/>
          <p:nvPr/>
        </p:nvCxnSpPr>
        <p:spPr>
          <a:xfrm>
            <a:off x="2018455" y="2360718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1 7"/>
          <p:cNvCxnSpPr/>
          <p:nvPr/>
        </p:nvCxnSpPr>
        <p:spPr>
          <a:xfrm>
            <a:off x="3674639" y="2360718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1 7"/>
          <p:cNvCxnSpPr/>
          <p:nvPr/>
        </p:nvCxnSpPr>
        <p:spPr>
          <a:xfrm>
            <a:off x="5906887" y="2360718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1 7"/>
          <p:cNvCxnSpPr/>
          <p:nvPr/>
        </p:nvCxnSpPr>
        <p:spPr>
          <a:xfrm>
            <a:off x="4178695" y="2360718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1 7"/>
          <p:cNvCxnSpPr/>
          <p:nvPr/>
        </p:nvCxnSpPr>
        <p:spPr>
          <a:xfrm>
            <a:off x="6266927" y="2360718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ttangolo 10"/>
          <p:cNvSpPr/>
          <p:nvPr/>
        </p:nvSpPr>
        <p:spPr>
          <a:xfrm>
            <a:off x="1187624" y="3697868"/>
            <a:ext cx="3600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latin typeface="+mn-lt"/>
              </a:rPr>
              <a:t>a</a:t>
            </a:r>
          </a:p>
          <a:p>
            <a:pPr algn="l"/>
            <a:r>
              <a:rPr lang="it-IT" sz="1400" b="0" dirty="0">
                <a:latin typeface="+mn-lt"/>
                <a:sym typeface="Symbol"/>
              </a:rPr>
              <a:t>b</a:t>
            </a:r>
            <a:endParaRPr lang="it-IT" sz="1400" b="0" dirty="0">
              <a:solidFill>
                <a:srgbClr val="FF3300"/>
              </a:solidFill>
              <a:latin typeface="+mn-lt"/>
            </a:endParaRPr>
          </a:p>
        </p:txBody>
      </p:sp>
      <p:sp>
        <p:nvSpPr>
          <p:cNvPr id="83" name="Oval 34"/>
          <p:cNvSpPr>
            <a:spLocks noChangeArrowheads="1"/>
          </p:cNvSpPr>
          <p:nvPr/>
        </p:nvSpPr>
        <p:spPr bwMode="auto">
          <a:xfrm rot="16092290">
            <a:off x="2786242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4" name="Oval 34"/>
          <p:cNvSpPr>
            <a:spLocks noChangeArrowheads="1"/>
          </p:cNvSpPr>
          <p:nvPr/>
        </p:nvSpPr>
        <p:spPr bwMode="auto">
          <a:xfrm rot="16092290">
            <a:off x="3689799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5" name="Oval 34"/>
          <p:cNvSpPr>
            <a:spLocks noChangeArrowheads="1"/>
          </p:cNvSpPr>
          <p:nvPr/>
        </p:nvSpPr>
        <p:spPr bwMode="auto">
          <a:xfrm rot="16092290">
            <a:off x="4240711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6" name="Oval 34"/>
          <p:cNvSpPr>
            <a:spLocks noChangeArrowheads="1"/>
          </p:cNvSpPr>
          <p:nvPr/>
        </p:nvSpPr>
        <p:spPr bwMode="auto">
          <a:xfrm rot="16092290">
            <a:off x="4442426" y="4498186"/>
            <a:ext cx="100823" cy="12660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7" name="Line 28"/>
          <p:cNvSpPr>
            <a:spLocks noChangeShapeType="1"/>
          </p:cNvSpPr>
          <p:nvPr/>
        </p:nvSpPr>
        <p:spPr bwMode="auto">
          <a:xfrm>
            <a:off x="3563888" y="5661246"/>
            <a:ext cx="3096344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8" name="AutoShape 22"/>
          <p:cNvSpPr>
            <a:spLocks noChangeArrowheads="1"/>
          </p:cNvSpPr>
          <p:nvPr/>
        </p:nvSpPr>
        <p:spPr bwMode="auto">
          <a:xfrm rot="5400000">
            <a:off x="4652764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89" name="AutoShape 22"/>
          <p:cNvSpPr>
            <a:spLocks noChangeArrowheads="1"/>
          </p:cNvSpPr>
          <p:nvPr/>
        </p:nvSpPr>
        <p:spPr bwMode="auto">
          <a:xfrm rot="5400000">
            <a:off x="5372844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90" name="AutoShape 22"/>
          <p:cNvSpPr>
            <a:spLocks noChangeArrowheads="1"/>
          </p:cNvSpPr>
          <p:nvPr/>
        </p:nvSpPr>
        <p:spPr bwMode="auto">
          <a:xfrm rot="5400000">
            <a:off x="6092924" y="4661892"/>
            <a:ext cx="605408" cy="529208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91" name="Line 30"/>
          <p:cNvSpPr>
            <a:spLocks noChangeShapeType="1"/>
          </p:cNvSpPr>
          <p:nvPr/>
        </p:nvSpPr>
        <p:spPr bwMode="auto">
          <a:xfrm>
            <a:off x="4860032" y="3861048"/>
            <a:ext cx="0" cy="744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" name="Line 30"/>
          <p:cNvSpPr>
            <a:spLocks noChangeShapeType="1"/>
          </p:cNvSpPr>
          <p:nvPr/>
        </p:nvSpPr>
        <p:spPr bwMode="auto">
          <a:xfrm>
            <a:off x="6300192" y="3836615"/>
            <a:ext cx="0" cy="8165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7" name="Line 30"/>
          <p:cNvSpPr>
            <a:spLocks noChangeShapeType="1"/>
          </p:cNvSpPr>
          <p:nvPr/>
        </p:nvSpPr>
        <p:spPr bwMode="auto">
          <a:xfrm>
            <a:off x="4932040" y="5229200"/>
            <a:ext cx="0" cy="13681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8" name="Line 30"/>
          <p:cNvSpPr>
            <a:spLocks noChangeShapeType="1"/>
          </p:cNvSpPr>
          <p:nvPr/>
        </p:nvSpPr>
        <p:spPr bwMode="auto">
          <a:xfrm>
            <a:off x="5652120" y="5229200"/>
            <a:ext cx="0" cy="12241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9" name="Line 28"/>
          <p:cNvSpPr>
            <a:spLocks noChangeShapeType="1"/>
          </p:cNvSpPr>
          <p:nvPr/>
        </p:nvSpPr>
        <p:spPr bwMode="auto">
          <a:xfrm>
            <a:off x="5652120" y="6453336"/>
            <a:ext cx="1008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0" name="Line 30"/>
          <p:cNvSpPr>
            <a:spLocks noChangeShapeType="1"/>
          </p:cNvSpPr>
          <p:nvPr/>
        </p:nvSpPr>
        <p:spPr bwMode="auto">
          <a:xfrm>
            <a:off x="6372200" y="5229200"/>
            <a:ext cx="0" cy="10801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A588C77-0952-DA44-9486-84FFA1C389A2}"/>
              </a:ext>
            </a:extLst>
          </p:cNvPr>
          <p:cNvSpPr txBox="1"/>
          <p:nvPr/>
        </p:nvSpPr>
        <p:spPr>
          <a:xfrm>
            <a:off x="9643853" y="381052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3807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ttangolo 8"/>
          <p:cNvSpPr/>
          <p:nvPr/>
        </p:nvSpPr>
        <p:spPr>
          <a:xfrm>
            <a:off x="323528" y="2300680"/>
            <a:ext cx="9073008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0000FF"/>
                </a:solidFill>
                <a:latin typeface="+mn-lt"/>
              </a:rPr>
              <a:t>Sum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 </a:t>
            </a:r>
            <a:r>
              <a:rPr lang="it-IT" sz="2400" b="0" dirty="0" err="1">
                <a:solidFill>
                  <a:srgbClr val="0000FF"/>
                </a:solidFill>
                <a:latin typeface="+mn-lt"/>
                <a:sym typeface="Symbol"/>
              </a:rPr>
              <a:t>CarryOut</a:t>
            </a:r>
            <a:r>
              <a:rPr lang="it-IT" sz="2400" b="0" dirty="0">
                <a:latin typeface="+mn-lt"/>
                <a:sym typeface="Symbol"/>
              </a:rPr>
              <a:t> 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  <a:sym typeface="Symbol"/>
              </a:rPr>
              <a:t>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3923928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78408" y="1700808"/>
            <a:ext cx="8774112" cy="496855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0" indent="0" eaLnBrk="1" hangingPunct="1">
              <a:lnSpc>
                <a:spcPct val="90000"/>
              </a:lnSpc>
            </a:pPr>
            <a:r>
              <a:rPr lang="it-IT" sz="2800" b="0" dirty="0">
                <a:latin typeface="Comic Sans MS" charset="0"/>
              </a:rPr>
              <a:t>	Rappresentazione  </a:t>
            </a:r>
            <a:r>
              <a:rPr lang="it-IT" sz="2800" b="0" dirty="0">
                <a:solidFill>
                  <a:srgbClr val="CC0000"/>
                </a:solidFill>
                <a:latin typeface="Comic Sans MS" charset="0"/>
              </a:rPr>
              <a:t>sotto forma di griglia</a:t>
            </a:r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V="1">
            <a:off x="2843808" y="3987640"/>
            <a:ext cx="2952328" cy="1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3059832" y="4203665"/>
            <a:ext cx="27363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2843808" y="4419687"/>
            <a:ext cx="2952328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" name="Line 28"/>
          <p:cNvSpPr>
            <a:spLocks noChangeShapeType="1"/>
          </p:cNvSpPr>
          <p:nvPr/>
        </p:nvSpPr>
        <p:spPr bwMode="auto">
          <a:xfrm flipV="1">
            <a:off x="3419872" y="5787841"/>
            <a:ext cx="2304256" cy="26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" name="Rettangolo 10"/>
          <p:cNvSpPr/>
          <p:nvPr/>
        </p:nvSpPr>
        <p:spPr>
          <a:xfrm>
            <a:off x="1979712" y="3826782"/>
            <a:ext cx="16561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latin typeface="+mn-lt"/>
              </a:rPr>
              <a:t>        a</a:t>
            </a:r>
          </a:p>
          <a:p>
            <a:pPr algn="l"/>
            <a:endParaRPr lang="it-IT" sz="1400" b="0" dirty="0">
              <a:latin typeface="+mn-lt"/>
            </a:endParaRPr>
          </a:p>
          <a:p>
            <a:pPr algn="l"/>
            <a:r>
              <a:rPr lang="it-IT" sz="1400" b="0" dirty="0">
                <a:latin typeface="+mn-lt"/>
              </a:rPr>
              <a:t>        b</a:t>
            </a:r>
          </a:p>
          <a:p>
            <a:pPr algn="l"/>
            <a:endParaRPr lang="it-IT" sz="1400" b="0" dirty="0">
              <a:latin typeface="+mn-lt"/>
              <a:sym typeface="Symbol"/>
            </a:endParaRPr>
          </a:p>
          <a:p>
            <a:pPr algn="l"/>
            <a:r>
              <a:rPr lang="it-IT" sz="1400" b="0" dirty="0" err="1">
                <a:latin typeface="+mn-lt"/>
                <a:sym typeface="Symbol"/>
              </a:rPr>
              <a:t>CarryIn</a:t>
            </a:r>
            <a:endParaRPr lang="it-IT" sz="1400" b="0" dirty="0">
              <a:solidFill>
                <a:srgbClr val="FF3300"/>
              </a:solidFill>
              <a:latin typeface="+mn-lt"/>
            </a:endParaRPr>
          </a:p>
          <a:p>
            <a:pPr algn="l"/>
            <a:endParaRPr lang="it-IT" sz="1400" b="0" dirty="0">
              <a:latin typeface="+mn-lt"/>
            </a:endParaRPr>
          </a:p>
        </p:txBody>
      </p:sp>
      <p:sp>
        <p:nvSpPr>
          <p:cNvPr id="60" name="Rettangolo 10"/>
          <p:cNvSpPr/>
          <p:nvPr/>
        </p:nvSpPr>
        <p:spPr>
          <a:xfrm>
            <a:off x="5796136" y="5626982"/>
            <a:ext cx="20162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>
                <a:solidFill>
                  <a:srgbClr val="0000FF"/>
                </a:solidFill>
                <a:latin typeface="+mn-lt"/>
              </a:rPr>
              <a:t>Sum</a:t>
            </a: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71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>
            <a:normAutofit/>
          </a:bodyPr>
          <a:lstStyle/>
          <a:p>
            <a:r>
              <a:rPr lang="it-IT" sz="4800" dirty="0"/>
              <a:t>Esercizio 1: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50" name="Line 28"/>
          <p:cNvSpPr>
            <a:spLocks noChangeShapeType="1"/>
          </p:cNvSpPr>
          <p:nvPr/>
        </p:nvSpPr>
        <p:spPr bwMode="auto">
          <a:xfrm>
            <a:off x="3059832" y="4635711"/>
            <a:ext cx="2736304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" name="Line 28"/>
          <p:cNvSpPr>
            <a:spLocks noChangeShapeType="1"/>
          </p:cNvSpPr>
          <p:nvPr/>
        </p:nvSpPr>
        <p:spPr bwMode="auto">
          <a:xfrm>
            <a:off x="2843808" y="4851735"/>
            <a:ext cx="2952328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2" name="Line 28"/>
          <p:cNvSpPr>
            <a:spLocks noChangeShapeType="1"/>
          </p:cNvSpPr>
          <p:nvPr/>
        </p:nvSpPr>
        <p:spPr bwMode="auto">
          <a:xfrm>
            <a:off x="3059832" y="5067759"/>
            <a:ext cx="2736304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56" name="Group 32"/>
          <p:cNvGrpSpPr>
            <a:grpSpLocks/>
          </p:cNvGrpSpPr>
          <p:nvPr/>
        </p:nvGrpSpPr>
        <p:grpSpPr bwMode="auto">
          <a:xfrm rot="16092290">
            <a:off x="3278625" y="4065101"/>
            <a:ext cx="194784" cy="338402"/>
            <a:chOff x="3888" y="2880"/>
            <a:chExt cx="288" cy="384"/>
          </a:xfrm>
        </p:grpSpPr>
        <p:sp>
          <p:nvSpPr>
            <p:cNvPr id="73" name="AutoShape 33"/>
            <p:cNvSpPr>
              <a:spLocks noChangeArrowheads="1"/>
            </p:cNvSpPr>
            <p:nvPr/>
          </p:nvSpPr>
          <p:spPr bwMode="auto">
            <a:xfrm>
              <a:off x="3888" y="2880"/>
              <a:ext cx="288" cy="288"/>
            </a:xfrm>
            <a:prstGeom prst="flowChartMer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  <p:sp>
          <p:nvSpPr>
            <p:cNvPr id="74" name="Oval 34"/>
            <p:cNvSpPr>
              <a:spLocks noChangeArrowheads="1"/>
            </p:cNvSpPr>
            <p:nvPr/>
          </p:nvSpPr>
          <p:spPr bwMode="auto">
            <a:xfrm>
              <a:off x="3984" y="31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</p:grpSp>
      <p:grpSp>
        <p:nvGrpSpPr>
          <p:cNvPr id="75" name="Group 32"/>
          <p:cNvGrpSpPr>
            <a:grpSpLocks/>
          </p:cNvGrpSpPr>
          <p:nvPr/>
        </p:nvGrpSpPr>
        <p:grpSpPr bwMode="auto">
          <a:xfrm rot="16092290">
            <a:off x="3278625" y="4497149"/>
            <a:ext cx="194784" cy="338402"/>
            <a:chOff x="3888" y="2880"/>
            <a:chExt cx="288" cy="384"/>
          </a:xfrm>
        </p:grpSpPr>
        <p:sp>
          <p:nvSpPr>
            <p:cNvPr id="76" name="AutoShape 33"/>
            <p:cNvSpPr>
              <a:spLocks noChangeArrowheads="1"/>
            </p:cNvSpPr>
            <p:nvPr/>
          </p:nvSpPr>
          <p:spPr bwMode="auto">
            <a:xfrm>
              <a:off x="3888" y="2880"/>
              <a:ext cx="288" cy="288"/>
            </a:xfrm>
            <a:prstGeom prst="flowChartMer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  <p:sp>
          <p:nvSpPr>
            <p:cNvPr id="77" name="Oval 34"/>
            <p:cNvSpPr>
              <a:spLocks noChangeArrowheads="1"/>
            </p:cNvSpPr>
            <p:nvPr/>
          </p:nvSpPr>
          <p:spPr bwMode="auto">
            <a:xfrm>
              <a:off x="3984" y="31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</p:grpSp>
      <p:grpSp>
        <p:nvGrpSpPr>
          <p:cNvPr id="78" name="Group 32"/>
          <p:cNvGrpSpPr>
            <a:grpSpLocks/>
          </p:cNvGrpSpPr>
          <p:nvPr/>
        </p:nvGrpSpPr>
        <p:grpSpPr bwMode="auto">
          <a:xfrm rot="16092290">
            <a:off x="3278625" y="4929197"/>
            <a:ext cx="194784" cy="338402"/>
            <a:chOff x="3888" y="2880"/>
            <a:chExt cx="288" cy="384"/>
          </a:xfrm>
        </p:grpSpPr>
        <p:sp>
          <p:nvSpPr>
            <p:cNvPr id="79" name="AutoShape 33"/>
            <p:cNvSpPr>
              <a:spLocks noChangeArrowheads="1"/>
            </p:cNvSpPr>
            <p:nvPr/>
          </p:nvSpPr>
          <p:spPr bwMode="auto">
            <a:xfrm>
              <a:off x="3888" y="2880"/>
              <a:ext cx="288" cy="288"/>
            </a:xfrm>
            <a:prstGeom prst="flowChartMerg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  <p:sp>
          <p:nvSpPr>
            <p:cNvPr id="80" name="Oval 34"/>
            <p:cNvSpPr>
              <a:spLocks noChangeArrowheads="1"/>
            </p:cNvSpPr>
            <p:nvPr/>
          </p:nvSpPr>
          <p:spPr bwMode="auto">
            <a:xfrm>
              <a:off x="3984" y="31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it-IT"/>
            </a:p>
          </p:txBody>
        </p:sp>
      </p:grpSp>
      <p:sp>
        <p:nvSpPr>
          <p:cNvPr id="81" name="Line 30"/>
          <p:cNvSpPr>
            <a:spLocks noChangeShapeType="1"/>
          </p:cNvSpPr>
          <p:nvPr/>
        </p:nvSpPr>
        <p:spPr bwMode="auto">
          <a:xfrm>
            <a:off x="3059832" y="3987641"/>
            <a:ext cx="0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" name="Line 30"/>
          <p:cNvSpPr>
            <a:spLocks noChangeShapeType="1"/>
          </p:cNvSpPr>
          <p:nvPr/>
        </p:nvSpPr>
        <p:spPr bwMode="auto">
          <a:xfrm>
            <a:off x="3059832" y="4419689"/>
            <a:ext cx="0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" name="Line 30"/>
          <p:cNvSpPr>
            <a:spLocks noChangeShapeType="1"/>
          </p:cNvSpPr>
          <p:nvPr/>
        </p:nvSpPr>
        <p:spPr bwMode="auto">
          <a:xfrm>
            <a:off x="3059832" y="4851737"/>
            <a:ext cx="0" cy="2160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4" name="Line 30"/>
          <p:cNvSpPr>
            <a:spLocks noChangeShapeType="1"/>
          </p:cNvSpPr>
          <p:nvPr/>
        </p:nvSpPr>
        <p:spPr bwMode="auto">
          <a:xfrm>
            <a:off x="4211960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5" name="Line 30"/>
          <p:cNvSpPr>
            <a:spLocks noChangeShapeType="1"/>
          </p:cNvSpPr>
          <p:nvPr/>
        </p:nvSpPr>
        <p:spPr bwMode="auto">
          <a:xfrm>
            <a:off x="4499992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6" name="Line 30"/>
          <p:cNvSpPr>
            <a:spLocks noChangeShapeType="1"/>
          </p:cNvSpPr>
          <p:nvPr/>
        </p:nvSpPr>
        <p:spPr bwMode="auto">
          <a:xfrm>
            <a:off x="4788024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8" name="Line 28"/>
          <p:cNvSpPr>
            <a:spLocks noChangeShapeType="1"/>
          </p:cNvSpPr>
          <p:nvPr/>
        </p:nvSpPr>
        <p:spPr bwMode="auto">
          <a:xfrm>
            <a:off x="3419872" y="6075871"/>
            <a:ext cx="2304256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9" name="Oval 88"/>
          <p:cNvSpPr/>
          <p:nvPr/>
        </p:nvSpPr>
        <p:spPr bwMode="auto">
          <a:xfrm>
            <a:off x="3851920" y="4131657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0" name="Oval 89"/>
          <p:cNvSpPr/>
          <p:nvPr/>
        </p:nvSpPr>
        <p:spPr bwMode="auto">
          <a:xfrm>
            <a:off x="3851920" y="4563705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1" name="Oval 90"/>
          <p:cNvSpPr/>
          <p:nvPr/>
        </p:nvSpPr>
        <p:spPr bwMode="auto">
          <a:xfrm>
            <a:off x="3851920" y="4779729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2" name="Oval 91"/>
          <p:cNvSpPr/>
          <p:nvPr/>
        </p:nvSpPr>
        <p:spPr bwMode="auto">
          <a:xfrm>
            <a:off x="4139952" y="4131657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3" name="Oval 92"/>
          <p:cNvSpPr/>
          <p:nvPr/>
        </p:nvSpPr>
        <p:spPr bwMode="auto">
          <a:xfrm>
            <a:off x="4139952" y="4347681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4" name="Oval 93"/>
          <p:cNvSpPr/>
          <p:nvPr/>
        </p:nvSpPr>
        <p:spPr bwMode="auto">
          <a:xfrm>
            <a:off x="4139952" y="499575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5" name="Oval 94"/>
          <p:cNvSpPr/>
          <p:nvPr/>
        </p:nvSpPr>
        <p:spPr bwMode="auto">
          <a:xfrm>
            <a:off x="4427984" y="391563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6" name="Oval 95"/>
          <p:cNvSpPr/>
          <p:nvPr/>
        </p:nvSpPr>
        <p:spPr bwMode="auto">
          <a:xfrm>
            <a:off x="4427984" y="4563705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7" name="Oval 96"/>
          <p:cNvSpPr/>
          <p:nvPr/>
        </p:nvSpPr>
        <p:spPr bwMode="auto">
          <a:xfrm>
            <a:off x="4427984" y="499575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8" name="Oval 97"/>
          <p:cNvSpPr/>
          <p:nvPr/>
        </p:nvSpPr>
        <p:spPr bwMode="auto">
          <a:xfrm>
            <a:off x="4716016" y="391563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99" name="Oval 98"/>
          <p:cNvSpPr/>
          <p:nvPr/>
        </p:nvSpPr>
        <p:spPr bwMode="auto">
          <a:xfrm>
            <a:off x="4716016" y="4347681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0" name="Oval 99"/>
          <p:cNvSpPr/>
          <p:nvPr/>
        </p:nvSpPr>
        <p:spPr bwMode="auto">
          <a:xfrm>
            <a:off x="4716016" y="4779729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1" name="Oval 100"/>
          <p:cNvSpPr/>
          <p:nvPr/>
        </p:nvSpPr>
        <p:spPr bwMode="auto">
          <a:xfrm>
            <a:off x="3851920" y="571583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2" name="Oval 101"/>
          <p:cNvSpPr/>
          <p:nvPr/>
        </p:nvSpPr>
        <p:spPr bwMode="auto">
          <a:xfrm>
            <a:off x="4139952" y="571583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3" name="Oval 102"/>
          <p:cNvSpPr/>
          <p:nvPr/>
        </p:nvSpPr>
        <p:spPr bwMode="auto">
          <a:xfrm>
            <a:off x="4427984" y="571583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4" name="Oval 103"/>
          <p:cNvSpPr/>
          <p:nvPr/>
        </p:nvSpPr>
        <p:spPr bwMode="auto">
          <a:xfrm>
            <a:off x="5004048" y="6003865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05" name="Oval 104"/>
          <p:cNvSpPr/>
          <p:nvPr/>
        </p:nvSpPr>
        <p:spPr bwMode="auto">
          <a:xfrm>
            <a:off x="5292080" y="6003865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cxnSp>
        <p:nvCxnSpPr>
          <p:cNvPr id="54" name="Connettore 1 7"/>
          <p:cNvCxnSpPr/>
          <p:nvPr/>
        </p:nvCxnSpPr>
        <p:spPr>
          <a:xfrm>
            <a:off x="1403648" y="23581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1 7"/>
          <p:cNvCxnSpPr/>
          <p:nvPr/>
        </p:nvCxnSpPr>
        <p:spPr>
          <a:xfrm>
            <a:off x="1691680" y="23581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1 7"/>
          <p:cNvCxnSpPr/>
          <p:nvPr/>
        </p:nvCxnSpPr>
        <p:spPr>
          <a:xfrm>
            <a:off x="3347864" y="23581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1 7"/>
          <p:cNvCxnSpPr/>
          <p:nvPr/>
        </p:nvCxnSpPr>
        <p:spPr>
          <a:xfrm>
            <a:off x="5580112" y="23581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1 7"/>
          <p:cNvCxnSpPr/>
          <p:nvPr/>
        </p:nvCxnSpPr>
        <p:spPr>
          <a:xfrm>
            <a:off x="3851920" y="2358172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1 7"/>
          <p:cNvCxnSpPr/>
          <p:nvPr/>
        </p:nvCxnSpPr>
        <p:spPr>
          <a:xfrm>
            <a:off x="5940152" y="2358172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Line 30"/>
          <p:cNvSpPr>
            <a:spLocks noChangeShapeType="1"/>
          </p:cNvSpPr>
          <p:nvPr/>
        </p:nvSpPr>
        <p:spPr bwMode="auto">
          <a:xfrm>
            <a:off x="5076056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4" name="Line 30"/>
          <p:cNvSpPr>
            <a:spLocks noChangeShapeType="1"/>
          </p:cNvSpPr>
          <p:nvPr/>
        </p:nvSpPr>
        <p:spPr bwMode="auto">
          <a:xfrm>
            <a:off x="5364088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5" name="Line 30"/>
          <p:cNvSpPr>
            <a:spLocks noChangeShapeType="1"/>
          </p:cNvSpPr>
          <p:nvPr/>
        </p:nvSpPr>
        <p:spPr bwMode="auto">
          <a:xfrm>
            <a:off x="5580112" y="3843625"/>
            <a:ext cx="0" cy="2376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" name="Oval 65"/>
          <p:cNvSpPr/>
          <p:nvPr/>
        </p:nvSpPr>
        <p:spPr bwMode="auto">
          <a:xfrm>
            <a:off x="4716016" y="5715833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67" name="Oval 66"/>
          <p:cNvSpPr/>
          <p:nvPr/>
        </p:nvSpPr>
        <p:spPr bwMode="auto">
          <a:xfrm>
            <a:off x="5004048" y="391563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68" name="Oval 67"/>
          <p:cNvSpPr/>
          <p:nvPr/>
        </p:nvSpPr>
        <p:spPr bwMode="auto">
          <a:xfrm>
            <a:off x="5004048" y="4779729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69" name="Oval 68"/>
          <p:cNvSpPr/>
          <p:nvPr/>
        </p:nvSpPr>
        <p:spPr bwMode="auto">
          <a:xfrm>
            <a:off x="5292080" y="4347681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70" name="Oval 69"/>
          <p:cNvSpPr/>
          <p:nvPr/>
        </p:nvSpPr>
        <p:spPr bwMode="auto">
          <a:xfrm>
            <a:off x="5292080" y="4779729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72" name="Oval 71"/>
          <p:cNvSpPr/>
          <p:nvPr/>
        </p:nvSpPr>
        <p:spPr bwMode="auto">
          <a:xfrm>
            <a:off x="5508104" y="3915633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87" name="Oval 86"/>
          <p:cNvSpPr/>
          <p:nvPr/>
        </p:nvSpPr>
        <p:spPr bwMode="auto">
          <a:xfrm>
            <a:off x="5508104" y="4347681"/>
            <a:ext cx="144016" cy="144016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12" name="Oval 111"/>
          <p:cNvSpPr/>
          <p:nvPr/>
        </p:nvSpPr>
        <p:spPr bwMode="auto">
          <a:xfrm>
            <a:off x="5508104" y="6003865"/>
            <a:ext cx="144016" cy="14401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13" name="Rettangolo 10"/>
          <p:cNvSpPr/>
          <p:nvPr/>
        </p:nvSpPr>
        <p:spPr>
          <a:xfrm>
            <a:off x="5796136" y="5859849"/>
            <a:ext cx="201622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400" b="0" dirty="0" err="1">
                <a:solidFill>
                  <a:srgbClr val="0000FF"/>
                </a:solidFill>
                <a:latin typeface="+mn-lt"/>
              </a:rPr>
              <a:t>CarryOut</a:t>
            </a:r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  <a:p>
            <a:pPr algn="l"/>
            <a:endParaRPr lang="it-IT" sz="1400" b="0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691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2" grpId="0" animBg="1"/>
      <p:bldP spid="87" grpId="0" animBg="1"/>
      <p:bldP spid="1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Progettare una rete combinatoria che realizzi le funzioni </a:t>
            </a:r>
            <a:r>
              <a:rPr lang="it-IT" sz="2800" b="0" dirty="0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Sum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e </a:t>
            </a:r>
            <a:r>
              <a:rPr lang="it-IT" sz="2800" b="0" dirty="0" err="1">
                <a:solidFill>
                  <a:srgbClr val="0000FF"/>
                </a:solidFill>
                <a:latin typeface="+mn-lt"/>
                <a:ea typeface="Cambria Math" charset="0"/>
                <a:cs typeface="Cambria Math" charset="0"/>
              </a:rPr>
              <a:t>CarryOut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usando porte </a:t>
            </a:r>
            <a:r>
              <a:rPr lang="it-IT" sz="28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AND, OR e XOR</a:t>
            </a:r>
            <a:endParaRPr lang="en-US" sz="2400" b="0" dirty="0">
              <a:solidFill>
                <a:srgbClr val="CC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719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8"/>
          <p:cNvSpPr/>
          <p:nvPr/>
        </p:nvSpPr>
        <p:spPr>
          <a:xfrm>
            <a:off x="323528" y="1844824"/>
            <a:ext cx="90730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Sum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         = (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)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 + (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)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 </a:t>
            </a:r>
          </a:p>
          <a:p>
            <a:pPr algn="l"/>
            <a:r>
              <a:rPr lang="it-IT" sz="2400" b="0" dirty="0">
                <a:latin typeface="+mn-lt"/>
                <a:sym typeface="Symbol"/>
              </a:rPr>
              <a:t>         = 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(a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000000"/>
                </a:solidFill>
                <a:latin typeface="+mn-lt"/>
                <a:cs typeface="Symbol"/>
                <a:sym typeface="Symbol"/>
              </a:rPr>
              <a:t> </a:t>
            </a:r>
            <a:r>
              <a:rPr lang="it-IT" sz="2400" b="0" dirty="0">
                <a:solidFill>
                  <a:srgbClr val="000000"/>
                </a:solidFill>
                <a:latin typeface="+mn-lt"/>
                <a:cs typeface="Symbol"/>
              </a:rPr>
              <a:t>b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)</a:t>
            </a:r>
            <a:r>
              <a:rPr lang="it-IT" sz="2400" b="0" dirty="0" err="1">
                <a:solidFill>
                  <a:srgbClr val="000000"/>
                </a:solidFill>
                <a:latin typeface="+mn-lt"/>
                <a:sym typeface="Symbol"/>
              </a:rPr>
              <a:t>CarryIn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 + (a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000000"/>
                </a:solidFill>
                <a:latin typeface="+mn-lt"/>
                <a:cs typeface="Symbol"/>
                <a:sym typeface="Symbol"/>
              </a:rPr>
              <a:t>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000000"/>
                </a:solidFill>
                <a:latin typeface="+mn-lt"/>
                <a:cs typeface="Symbol"/>
              </a:rPr>
              <a:t>b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)</a:t>
            </a:r>
            <a:r>
              <a:rPr lang="it-IT" sz="2400" b="0" dirty="0" err="1">
                <a:solidFill>
                  <a:srgbClr val="000000"/>
                </a:solidFill>
                <a:latin typeface="+mn-lt"/>
                <a:sym typeface="Symbol"/>
              </a:rPr>
              <a:t>CarryIn</a:t>
            </a:r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 </a:t>
            </a:r>
          </a:p>
          <a:p>
            <a:pPr algn="l"/>
            <a:r>
              <a:rPr lang="it-IT" sz="2400" b="0" dirty="0">
                <a:solidFill>
                  <a:srgbClr val="000000"/>
                </a:solidFill>
                <a:latin typeface="+mn-lt"/>
                <a:sym typeface="Symbol"/>
              </a:rPr>
              <a:t>         =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a 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Symbol"/>
              </a:rPr>
              <a:t> b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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sym typeface="Symbol"/>
              </a:rPr>
              <a:t>CarryIn</a:t>
            </a:r>
            <a:endParaRPr lang="it-IT" sz="2400" b="0" dirty="0">
              <a:solidFill>
                <a:srgbClr val="FF0000"/>
              </a:solidFill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25" name="Connettore 1 7"/>
          <p:cNvCxnSpPr/>
          <p:nvPr/>
        </p:nvCxnSpPr>
        <p:spPr>
          <a:xfrm>
            <a:off x="1403648" y="1902316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1 7"/>
          <p:cNvCxnSpPr/>
          <p:nvPr/>
        </p:nvCxnSpPr>
        <p:spPr>
          <a:xfrm>
            <a:off x="1691680" y="1902316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1 7"/>
          <p:cNvCxnSpPr/>
          <p:nvPr/>
        </p:nvCxnSpPr>
        <p:spPr>
          <a:xfrm>
            <a:off x="3347864" y="1902316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1 7"/>
          <p:cNvCxnSpPr/>
          <p:nvPr/>
        </p:nvCxnSpPr>
        <p:spPr>
          <a:xfrm>
            <a:off x="5580112" y="1902316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7"/>
          <p:cNvCxnSpPr/>
          <p:nvPr/>
        </p:nvCxnSpPr>
        <p:spPr>
          <a:xfrm>
            <a:off x="3851920" y="1902316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1 7"/>
          <p:cNvCxnSpPr/>
          <p:nvPr/>
        </p:nvCxnSpPr>
        <p:spPr>
          <a:xfrm>
            <a:off x="5940152" y="1902316"/>
            <a:ext cx="10801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1 7"/>
          <p:cNvCxnSpPr/>
          <p:nvPr/>
        </p:nvCxnSpPr>
        <p:spPr>
          <a:xfrm>
            <a:off x="1763688" y="22768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7"/>
          <p:cNvCxnSpPr/>
          <p:nvPr/>
        </p:nvCxnSpPr>
        <p:spPr>
          <a:xfrm>
            <a:off x="2195736" y="22768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1 7"/>
          <p:cNvCxnSpPr/>
          <p:nvPr/>
        </p:nvCxnSpPr>
        <p:spPr>
          <a:xfrm>
            <a:off x="2843808" y="2276872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1 7"/>
          <p:cNvCxnSpPr/>
          <p:nvPr/>
        </p:nvCxnSpPr>
        <p:spPr>
          <a:xfrm>
            <a:off x="4355976" y="22768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7"/>
          <p:cNvCxnSpPr/>
          <p:nvPr/>
        </p:nvCxnSpPr>
        <p:spPr>
          <a:xfrm>
            <a:off x="4644008" y="2276872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1 7"/>
          <p:cNvCxnSpPr/>
          <p:nvPr/>
        </p:nvCxnSpPr>
        <p:spPr>
          <a:xfrm>
            <a:off x="2339752" y="2636912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1 7"/>
          <p:cNvCxnSpPr/>
          <p:nvPr/>
        </p:nvCxnSpPr>
        <p:spPr>
          <a:xfrm>
            <a:off x="4067944" y="2636912"/>
            <a:ext cx="6480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bject 3"/>
          <p:cNvSpPr txBox="1">
            <a:spLocks/>
          </p:cNvSpPr>
          <p:nvPr/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800" spc="-25" dirty="0"/>
              <a:t>Esercizio 2: Soluzione</a:t>
            </a:r>
            <a:endParaRPr lang="it-IT" sz="4800" dirty="0"/>
          </a:p>
        </p:txBody>
      </p:sp>
      <p:sp>
        <p:nvSpPr>
          <p:cNvPr id="18" name="object 3"/>
          <p:cNvSpPr/>
          <p:nvPr/>
        </p:nvSpPr>
        <p:spPr>
          <a:xfrm>
            <a:off x="1979712" y="3573016"/>
            <a:ext cx="3456384" cy="2880320"/>
          </a:xfrm>
          <a:prstGeom prst="rect">
            <a:avLst/>
          </a:prstGeom>
          <a:blipFill>
            <a:blip r:embed="rId3" cstate="print"/>
            <a:srcRect/>
            <a:stretch>
              <a:fillRect t="-11272" r="-67936" b="-1149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/>
          <p:cNvSpPr/>
          <p:nvPr/>
        </p:nvSpPr>
        <p:spPr>
          <a:xfrm>
            <a:off x="5436096" y="3573016"/>
            <a:ext cx="1728192" cy="2880320"/>
          </a:xfrm>
          <a:prstGeom prst="rect">
            <a:avLst/>
          </a:prstGeom>
          <a:blipFill>
            <a:blip r:embed="rId3" cstate="print"/>
            <a:srcRect/>
            <a:stretch>
              <a:fillRect l="-351939" t="-10607" r="1" b="-1142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Rettangolo 8"/>
          <p:cNvSpPr/>
          <p:nvPr/>
        </p:nvSpPr>
        <p:spPr>
          <a:xfrm>
            <a:off x="7244680" y="4149080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21" name="Rettangolo 8"/>
          <p:cNvSpPr/>
          <p:nvPr/>
        </p:nvSpPr>
        <p:spPr>
          <a:xfrm>
            <a:off x="7244680" y="4509120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22" name="Rettangolo 8"/>
          <p:cNvSpPr/>
          <p:nvPr/>
        </p:nvSpPr>
        <p:spPr>
          <a:xfrm>
            <a:off x="7244680" y="515719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23" name="Rettangolo 8"/>
          <p:cNvSpPr/>
          <p:nvPr/>
        </p:nvSpPr>
        <p:spPr>
          <a:xfrm>
            <a:off x="7244680" y="601199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cxnSp>
        <p:nvCxnSpPr>
          <p:cNvPr id="34" name="Connettore 1 7"/>
          <p:cNvCxnSpPr/>
          <p:nvPr/>
        </p:nvCxnSpPr>
        <p:spPr>
          <a:xfrm>
            <a:off x="7668344" y="4581128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1 7"/>
          <p:cNvCxnSpPr/>
          <p:nvPr/>
        </p:nvCxnSpPr>
        <p:spPr>
          <a:xfrm>
            <a:off x="7308304" y="4221088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7"/>
          <p:cNvCxnSpPr/>
          <p:nvPr/>
        </p:nvCxnSpPr>
        <p:spPr>
          <a:xfrm>
            <a:off x="7524328" y="4221088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1 7"/>
          <p:cNvCxnSpPr/>
          <p:nvPr/>
        </p:nvCxnSpPr>
        <p:spPr>
          <a:xfrm>
            <a:off x="7308304" y="4581128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1 7"/>
          <p:cNvCxnSpPr/>
          <p:nvPr/>
        </p:nvCxnSpPr>
        <p:spPr>
          <a:xfrm>
            <a:off x="7452320" y="522920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1 7"/>
          <p:cNvCxnSpPr/>
          <p:nvPr/>
        </p:nvCxnSpPr>
        <p:spPr>
          <a:xfrm>
            <a:off x="7668344" y="5229200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51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0" grpId="0"/>
      <p:bldP spid="21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83568" y="2049016"/>
            <a:ext cx="3663900" cy="3036168"/>
          </a:xfrm>
          <a:prstGeom prst="rect">
            <a:avLst/>
          </a:prstGeom>
          <a:blipFill>
            <a:blip r:embed="rId3" cstate="print"/>
            <a:srcRect/>
            <a:stretch>
              <a:fillRect l="1" t="-11467" r="-23571" b="-1151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Rettangolo 8"/>
          <p:cNvSpPr/>
          <p:nvPr/>
        </p:nvSpPr>
        <p:spPr>
          <a:xfrm>
            <a:off x="683568" y="5027692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2400" b="0" dirty="0">
                <a:latin typeface="+mn-lt"/>
              </a:rPr>
              <a:t> </a:t>
            </a:r>
            <a:r>
              <a:rPr lang="it-IT" sz="2400" b="0" dirty="0" err="1">
                <a:solidFill>
                  <a:srgbClr val="FF0000"/>
                </a:solidFill>
                <a:latin typeface="+mn-lt"/>
              </a:rPr>
              <a:t>CarryOut</a:t>
            </a:r>
            <a:r>
              <a:rPr lang="it-IT" sz="2400" b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it-IT" sz="2400" b="0" dirty="0">
                <a:latin typeface="+mn-lt"/>
              </a:rPr>
              <a:t>=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</a:t>
            </a:r>
          </a:p>
          <a:p>
            <a:pPr algn="l"/>
            <a:r>
              <a:rPr lang="it-IT" sz="2400" b="0" dirty="0">
                <a:latin typeface="+mn-lt"/>
                <a:sym typeface="Symbol"/>
              </a:rPr>
              <a:t>		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r>
              <a:rPr lang="it-IT" sz="2400" b="0" dirty="0">
                <a:latin typeface="+mn-lt"/>
                <a:sym typeface="Symbol"/>
              </a:rPr>
              <a:t> 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bCarryIn</a:t>
            </a:r>
            <a:endParaRPr lang="it-IT" sz="2400" b="0" dirty="0">
              <a:latin typeface="+mn-lt"/>
              <a:sym typeface="Symbol"/>
            </a:endParaRPr>
          </a:p>
          <a:p>
            <a:pPr algn="l"/>
            <a:r>
              <a:rPr lang="it-IT" sz="2400" b="0" dirty="0">
                <a:latin typeface="+mn-lt"/>
                <a:sym typeface="Symbol"/>
              </a:rPr>
              <a:t>	       = (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)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 + </a:t>
            </a:r>
            <a:r>
              <a:rPr lang="it-IT" sz="2400" b="0" dirty="0" err="1">
                <a:latin typeface="+mn-lt"/>
              </a:rPr>
              <a:t>a</a:t>
            </a:r>
            <a:r>
              <a:rPr lang="it-IT" sz="2400" b="0" dirty="0" err="1">
                <a:latin typeface="+mn-lt"/>
                <a:sym typeface="Symbol"/>
              </a:rPr>
              <a:t>b</a:t>
            </a:r>
            <a:r>
              <a:rPr lang="it-IT" sz="2400" b="0" dirty="0">
                <a:latin typeface="+mn-lt"/>
                <a:sym typeface="Symbol"/>
              </a:rPr>
              <a:t>(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 +</a:t>
            </a:r>
            <a:r>
              <a:rPr lang="it-IT" sz="2400" b="0" dirty="0" err="1">
                <a:latin typeface="+mn-lt"/>
                <a:sym typeface="Symbol"/>
              </a:rPr>
              <a:t>CarryIn</a:t>
            </a:r>
            <a:r>
              <a:rPr lang="it-IT" sz="2400" b="0" dirty="0">
                <a:latin typeface="+mn-lt"/>
                <a:sym typeface="Symbol"/>
              </a:rPr>
              <a:t>)</a:t>
            </a:r>
          </a:p>
          <a:p>
            <a:pPr algn="l"/>
            <a:r>
              <a:rPr lang="it-IT" sz="2400" b="0" baseline="-25000" dirty="0">
                <a:latin typeface="+mn-lt"/>
                <a:sym typeface="Symbol"/>
              </a:rPr>
              <a:t>                       </a:t>
            </a:r>
            <a:r>
              <a:rPr lang="it-IT" sz="2400" b="0" dirty="0">
                <a:latin typeface="+mn-lt"/>
                <a:sym typeface="Symbol"/>
              </a:rPr>
              <a:t> 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= (a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</a:t>
            </a:r>
            <a:r>
              <a:rPr lang="it-IT" sz="2400" dirty="0">
                <a:solidFill>
                  <a:srgbClr val="CC0000"/>
                </a:solidFill>
                <a:sym typeface="Symbol"/>
              </a:rPr>
              <a:t> 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b)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sym typeface="Symbol"/>
              </a:rPr>
              <a:t>CarryIn</a:t>
            </a:r>
            <a:r>
              <a:rPr lang="it-IT" sz="2400" b="0" dirty="0">
                <a:solidFill>
                  <a:srgbClr val="FF0000"/>
                </a:solidFill>
                <a:latin typeface="+mn-lt"/>
                <a:sym typeface="Symbol"/>
              </a:rPr>
              <a:t> + </a:t>
            </a:r>
            <a:r>
              <a:rPr lang="it-IT" sz="2400" b="0" dirty="0" err="1">
                <a:solidFill>
                  <a:srgbClr val="FF0000"/>
                </a:solidFill>
                <a:latin typeface="+mn-lt"/>
              </a:rPr>
              <a:t>a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sym typeface="Symbol"/>
              </a:rPr>
              <a:t>b</a:t>
            </a:r>
            <a:endParaRPr lang="it-IT" sz="2400" b="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47" name="Connettore 1 7"/>
          <p:cNvCxnSpPr/>
          <p:nvPr/>
        </p:nvCxnSpPr>
        <p:spPr>
          <a:xfrm>
            <a:off x="2555776" y="5099700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7"/>
          <p:cNvCxnSpPr/>
          <p:nvPr/>
        </p:nvCxnSpPr>
        <p:spPr>
          <a:xfrm>
            <a:off x="4644008" y="5099700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1 7"/>
          <p:cNvCxnSpPr/>
          <p:nvPr/>
        </p:nvCxnSpPr>
        <p:spPr>
          <a:xfrm>
            <a:off x="3275856" y="5459740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1 7"/>
          <p:cNvCxnSpPr/>
          <p:nvPr/>
        </p:nvCxnSpPr>
        <p:spPr>
          <a:xfrm>
            <a:off x="2699792" y="5819780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1 7"/>
          <p:cNvCxnSpPr/>
          <p:nvPr/>
        </p:nvCxnSpPr>
        <p:spPr>
          <a:xfrm>
            <a:off x="3635896" y="5819780"/>
            <a:ext cx="2160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1 7"/>
          <p:cNvCxnSpPr/>
          <p:nvPr/>
        </p:nvCxnSpPr>
        <p:spPr>
          <a:xfrm>
            <a:off x="6012160" y="5819780"/>
            <a:ext cx="1152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tangolo 8"/>
          <p:cNvSpPr/>
          <p:nvPr/>
        </p:nvSpPr>
        <p:spPr>
          <a:xfrm>
            <a:off x="4499992" y="3356992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5" name="Rettangolo 8"/>
          <p:cNvSpPr/>
          <p:nvPr/>
        </p:nvSpPr>
        <p:spPr>
          <a:xfrm>
            <a:off x="4499992" y="393305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6" name="Rettangolo 8"/>
          <p:cNvSpPr/>
          <p:nvPr/>
        </p:nvSpPr>
        <p:spPr>
          <a:xfrm>
            <a:off x="4499992" y="4293096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sp>
        <p:nvSpPr>
          <p:cNvPr id="57" name="Rettangolo 8"/>
          <p:cNvSpPr/>
          <p:nvPr/>
        </p:nvSpPr>
        <p:spPr>
          <a:xfrm>
            <a:off x="4499992" y="4643844"/>
            <a:ext cx="2943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it-IT" sz="1800" b="0" dirty="0" err="1">
                <a:latin typeface="+mn-lt"/>
              </a:rPr>
              <a:t>a</a:t>
            </a:r>
            <a:r>
              <a:rPr lang="it-IT" sz="1800" b="0" dirty="0" err="1">
                <a:latin typeface="+mn-lt"/>
                <a:sym typeface="Symbol"/>
              </a:rPr>
              <a:t>bCarryIn</a:t>
            </a:r>
            <a:endParaRPr lang="it-IT" sz="1800" b="0" dirty="0">
              <a:latin typeface="+mn-lt"/>
            </a:endParaRPr>
          </a:p>
        </p:txBody>
      </p:sp>
      <p:cxnSp>
        <p:nvCxnSpPr>
          <p:cNvPr id="58" name="Connettore 1 7"/>
          <p:cNvCxnSpPr/>
          <p:nvPr/>
        </p:nvCxnSpPr>
        <p:spPr>
          <a:xfrm>
            <a:off x="4572000" y="3429000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1 7"/>
          <p:cNvCxnSpPr/>
          <p:nvPr/>
        </p:nvCxnSpPr>
        <p:spPr>
          <a:xfrm>
            <a:off x="4724400" y="4014356"/>
            <a:ext cx="1440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1 7"/>
          <p:cNvCxnSpPr/>
          <p:nvPr/>
        </p:nvCxnSpPr>
        <p:spPr>
          <a:xfrm>
            <a:off x="4932040" y="4374396"/>
            <a:ext cx="7920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 3"/>
          <p:cNvSpPr txBox="1">
            <a:spLocks noGrp="1"/>
          </p:cNvSpPr>
          <p:nvPr>
            <p:ph type="title"/>
          </p:nvPr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/>
          <a:p>
            <a:pPr marL="1880235">
              <a:lnSpc>
                <a:spcPct val="100000"/>
              </a:lnSpc>
            </a:pPr>
            <a:r>
              <a:rPr lang="it-IT" sz="4800" spc="-25" dirty="0"/>
              <a:t>Esercizio 2: Soluzione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402863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4" grpId="0"/>
      <p:bldP spid="55" grpId="0"/>
      <p:bldP spid="56" grpId="0"/>
      <p:bldP spid="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770914" y="3285744"/>
            <a:ext cx="3464052" cy="31577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79649" y="2919348"/>
            <a:ext cx="6985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Car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yIn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0300" y="6490360"/>
            <a:ext cx="86868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Car</a:t>
            </a:r>
            <a:r>
              <a:rPr sz="1800" spc="-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yOut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55776" y="3648709"/>
            <a:ext cx="153035" cy="542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52137" y="3792854"/>
            <a:ext cx="4330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Sum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0"/>
          <p:cNvSpPr txBox="1">
            <a:spLocks/>
          </p:cNvSpPr>
          <p:nvPr/>
        </p:nvSpPr>
        <p:spPr bwMode="auto">
          <a:xfrm>
            <a:off x="1763688" y="1772816"/>
            <a:ext cx="9217024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+mn-lt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 marL="1571625"/>
            <a:r>
              <a:rPr lang="is-IS" sz="2400" b="0" dirty="0"/>
              <a:t>		</a:t>
            </a:r>
            <a:r>
              <a:rPr lang="is-IS" sz="2400" b="0" dirty="0">
                <a:solidFill>
                  <a:srgbClr val="0000FF"/>
                </a:solidFill>
              </a:rPr>
              <a:t>Sum =</a:t>
            </a:r>
            <a:r>
              <a:rPr lang="is-IS" sz="2400" b="0" spc="-10" dirty="0">
                <a:solidFill>
                  <a:srgbClr val="0000FF"/>
                </a:solidFill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a 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</a:t>
            </a:r>
            <a:r>
              <a:rPr lang="is-IS" sz="2400" b="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b 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</a:t>
            </a:r>
            <a:r>
              <a:rPr lang="is-IS" sz="2400" b="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Carry</a:t>
            </a:r>
            <a:r>
              <a:rPr lang="is-IS" sz="2400" b="0" spc="5" dirty="0">
                <a:solidFill>
                  <a:srgbClr val="0000FF"/>
                </a:solidFill>
              </a:rPr>
              <a:t>I</a:t>
            </a:r>
            <a:r>
              <a:rPr lang="is-IS" sz="2400" b="0" dirty="0">
                <a:solidFill>
                  <a:srgbClr val="0000FF"/>
                </a:solidFill>
              </a:rPr>
              <a:t>n</a:t>
            </a:r>
          </a:p>
          <a:p>
            <a:pPr marL="1571625"/>
            <a:r>
              <a:rPr lang="is-IS" sz="2400" b="0" dirty="0">
                <a:solidFill>
                  <a:srgbClr val="0000FF"/>
                </a:solidFill>
              </a:rPr>
              <a:t>CarryOut =</a:t>
            </a:r>
            <a:r>
              <a:rPr lang="is-IS" sz="2400" b="0" spc="-10" dirty="0">
                <a:solidFill>
                  <a:srgbClr val="0000FF"/>
                </a:solidFill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(a</a:t>
            </a:r>
            <a:r>
              <a:rPr lang="is-IS" sz="2400" b="0" spc="5" dirty="0">
                <a:solidFill>
                  <a:srgbClr val="0000FF"/>
                </a:solidFill>
              </a:rPr>
              <a:t> 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</a:t>
            </a:r>
            <a:r>
              <a:rPr lang="is-IS" sz="2400" b="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is-IS" sz="2400" b="0" dirty="0">
                <a:solidFill>
                  <a:srgbClr val="0000FF"/>
                </a:solidFill>
              </a:rPr>
              <a:t>b)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</a:t>
            </a:r>
            <a:r>
              <a:rPr lang="is-IS" sz="2400" b="0" dirty="0">
                <a:solidFill>
                  <a:srgbClr val="0000FF"/>
                </a:solidFill>
              </a:rPr>
              <a:t>CarryIn + a</a:t>
            </a:r>
            <a:r>
              <a:rPr lang="is-IS" sz="2400" b="0" dirty="0">
                <a:solidFill>
                  <a:srgbClr val="0000FF"/>
                </a:solidFill>
                <a:latin typeface="Symbol"/>
                <a:cs typeface="Symbol"/>
              </a:rPr>
              <a:t></a:t>
            </a:r>
            <a:r>
              <a:rPr lang="is-IS" sz="2400" b="0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10" name="AutoShape 27"/>
          <p:cNvSpPr>
            <a:spLocks noChangeArrowheads="1"/>
          </p:cNvSpPr>
          <p:nvPr/>
        </p:nvSpPr>
        <p:spPr bwMode="auto">
          <a:xfrm rot="16200000">
            <a:off x="3686065" y="5683088"/>
            <a:ext cx="648072" cy="460375"/>
          </a:xfrm>
          <a:prstGeom prst="flowChartOnlineStorag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1" name="AutoShape 22"/>
          <p:cNvSpPr>
            <a:spLocks noChangeArrowheads="1"/>
          </p:cNvSpPr>
          <p:nvPr/>
        </p:nvSpPr>
        <p:spPr bwMode="auto">
          <a:xfrm rot="5400000">
            <a:off x="4572000" y="4581128"/>
            <a:ext cx="504056" cy="504056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2" name="AutoShape 22"/>
          <p:cNvSpPr>
            <a:spLocks noChangeArrowheads="1"/>
          </p:cNvSpPr>
          <p:nvPr/>
        </p:nvSpPr>
        <p:spPr bwMode="auto">
          <a:xfrm rot="5400000">
            <a:off x="2987824" y="4581128"/>
            <a:ext cx="504056" cy="504056"/>
          </a:xfrm>
          <a:prstGeom prst="flowChartDelay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endParaRPr lang="it-IT"/>
          </a:p>
        </p:txBody>
      </p:sp>
      <p:sp>
        <p:nvSpPr>
          <p:cNvPr id="16" name="AutoShape 40"/>
          <p:cNvSpPr>
            <a:spLocks noChangeArrowheads="1"/>
          </p:cNvSpPr>
          <p:nvPr/>
        </p:nvSpPr>
        <p:spPr bwMode="auto">
          <a:xfrm rot="10835685">
            <a:off x="3567911" y="3501008"/>
            <a:ext cx="860568" cy="779512"/>
          </a:xfrm>
          <a:prstGeom prst="moon">
            <a:avLst>
              <a:gd name="adj" fmla="val 72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20" name="Freeform 44"/>
          <p:cNvSpPr>
            <a:spLocks/>
          </p:cNvSpPr>
          <p:nvPr/>
        </p:nvSpPr>
        <p:spPr bwMode="auto">
          <a:xfrm>
            <a:off x="3491880" y="3501008"/>
            <a:ext cx="185104" cy="779512"/>
          </a:xfrm>
          <a:custGeom>
            <a:avLst/>
            <a:gdLst>
              <a:gd name="T0" fmla="*/ 0 w 96"/>
              <a:gd name="T1" fmla="*/ 0 h 288"/>
              <a:gd name="T2" fmla="*/ 2147483647 w 96"/>
              <a:gd name="T3" fmla="*/ 2147483647 h 288"/>
              <a:gd name="T4" fmla="*/ 0 w 96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288">
                <a:moveTo>
                  <a:pt x="0" y="0"/>
                </a:moveTo>
                <a:cubicBezTo>
                  <a:pt x="48" y="48"/>
                  <a:pt x="96" y="96"/>
                  <a:pt x="96" y="144"/>
                </a:cubicBezTo>
                <a:cubicBezTo>
                  <a:pt x="96" y="192"/>
                  <a:pt x="48" y="240"/>
                  <a:pt x="0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" name="AutoShape 40"/>
          <p:cNvSpPr>
            <a:spLocks noChangeArrowheads="1"/>
          </p:cNvSpPr>
          <p:nvPr/>
        </p:nvSpPr>
        <p:spPr bwMode="auto">
          <a:xfrm rot="10835685">
            <a:off x="5147569" y="3433446"/>
            <a:ext cx="860568" cy="779512"/>
          </a:xfrm>
          <a:prstGeom prst="moon">
            <a:avLst>
              <a:gd name="adj" fmla="val 72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  <p:sp>
        <p:nvSpPr>
          <p:cNvPr id="22" name="Freeform 44"/>
          <p:cNvSpPr>
            <a:spLocks/>
          </p:cNvSpPr>
          <p:nvPr/>
        </p:nvSpPr>
        <p:spPr bwMode="auto">
          <a:xfrm>
            <a:off x="5071538" y="3433446"/>
            <a:ext cx="185104" cy="779512"/>
          </a:xfrm>
          <a:custGeom>
            <a:avLst/>
            <a:gdLst>
              <a:gd name="T0" fmla="*/ 0 w 96"/>
              <a:gd name="T1" fmla="*/ 0 h 288"/>
              <a:gd name="T2" fmla="*/ 2147483647 w 96"/>
              <a:gd name="T3" fmla="*/ 2147483647 h 288"/>
              <a:gd name="T4" fmla="*/ 0 w 96"/>
              <a:gd name="T5" fmla="*/ 2147483647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288">
                <a:moveTo>
                  <a:pt x="0" y="0"/>
                </a:moveTo>
                <a:cubicBezTo>
                  <a:pt x="48" y="48"/>
                  <a:pt x="96" y="96"/>
                  <a:pt x="96" y="144"/>
                </a:cubicBezTo>
                <a:cubicBezTo>
                  <a:pt x="96" y="192"/>
                  <a:pt x="48" y="240"/>
                  <a:pt x="0" y="28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" name="object 3"/>
          <p:cNvSpPr txBox="1">
            <a:spLocks noGrp="1"/>
          </p:cNvSpPr>
          <p:nvPr>
            <p:ph type="title"/>
          </p:nvPr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/>
          <a:p>
            <a:pPr marL="1880235">
              <a:lnSpc>
                <a:spcPct val="100000"/>
              </a:lnSpc>
            </a:pPr>
            <a:r>
              <a:rPr lang="it-IT" sz="4800" spc="-25" dirty="0"/>
              <a:t>Esercizio 2: Soluzione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417066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  <p:bldP spid="8" grpId="0"/>
      <p:bldP spid="13" grpId="0"/>
      <p:bldP spid="10" grpId="0" animBg="1"/>
      <p:bldP spid="11" grpId="0" animBg="1"/>
      <p:bldP spid="12" grpId="0" animBg="1"/>
      <p:bldP spid="16" grpId="0" animBg="1"/>
      <p:bldP spid="20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5"/>
          <p:cNvSpPr txBox="1"/>
          <p:nvPr/>
        </p:nvSpPr>
        <p:spPr bwMode="auto">
          <a:xfrm>
            <a:off x="406400" y="228600"/>
            <a:ext cx="835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12700" algn="ctr">
              <a:lnSpc>
                <a:spcPct val="90000"/>
              </a:lnSpc>
              <a:spcAft>
                <a:spcPts val="600"/>
              </a:spcAft>
            </a:pP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Ai</a:t>
            </a:r>
            <a:r>
              <a:rPr kumimoji="1" lang="it-IT" sz="3700" spc="-35">
                <a:latin typeface="+mj-lt"/>
                <a:ea typeface="ＭＳ Ｐゴシック" pitchFamily="-108" charset="-128"/>
                <a:cs typeface="ＭＳ Ｐゴシック" pitchFamily="-108" charset="-128"/>
              </a:rPr>
              <a:t>n</a:t>
            </a:r>
            <a:r>
              <a:rPr kumimoji="1" lang="it-IT" sz="3700" spc="-30">
                <a:latin typeface="+mj-lt"/>
                <a:ea typeface="ＭＳ Ｐゴシック" pitchFamily="-108" charset="-128"/>
                <a:cs typeface="ＭＳ Ｐゴシック" pitchFamily="-108" charset="-128"/>
              </a:rPr>
              <a:t>v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er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t (1 bit)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,</a:t>
            </a:r>
            <a:r>
              <a:rPr kumimoji="1" lang="it-IT" sz="3700" spc="20">
                <a:latin typeface="+mj-lt"/>
                <a:ea typeface="ＭＳ Ｐゴシック" pitchFamily="-108" charset="-128"/>
                <a:cs typeface="ＭＳ Ｐゴシック" pitchFamily="-108" charset="-128"/>
              </a:rPr>
              <a:t> 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Bne</a:t>
            </a:r>
            <a:r>
              <a:rPr kumimoji="1" lang="it-IT" sz="3700" spc="-30">
                <a:latin typeface="+mj-lt"/>
                <a:ea typeface="ＭＳ Ｐゴシック" pitchFamily="-108" charset="-128"/>
                <a:cs typeface="ＭＳ Ｐゴシック" pitchFamily="-108" charset="-128"/>
              </a:rPr>
              <a:t>g</a:t>
            </a:r>
            <a:r>
              <a:rPr kumimoji="1" lang="it-IT" sz="3700" spc="-25">
                <a:latin typeface="+mj-lt"/>
                <a:ea typeface="ＭＳ Ｐゴシック" pitchFamily="-108" charset="-128"/>
                <a:cs typeface="ＭＳ Ｐゴシック" pitchFamily="-108" charset="-128"/>
              </a:rPr>
              <a:t>at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e (1 bit)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,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 O</a:t>
            </a:r>
            <a:r>
              <a:rPr kumimoji="1" lang="it-IT" sz="3700" spc="5">
                <a:latin typeface="+mj-lt"/>
                <a:ea typeface="ＭＳ Ｐゴシック" pitchFamily="-108" charset="-128"/>
                <a:cs typeface="ＭＳ Ｐゴシック" pitchFamily="-108" charset="-128"/>
              </a:rPr>
              <a:t>p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e</a:t>
            </a:r>
            <a:r>
              <a:rPr kumimoji="1" lang="it-IT" sz="3700" spc="-45">
                <a:latin typeface="+mj-lt"/>
                <a:ea typeface="ＭＳ Ｐゴシック" pitchFamily="-108" charset="-128"/>
                <a:cs typeface="ＭＳ Ｐゴシック" pitchFamily="-108" charset="-128"/>
              </a:rPr>
              <a:t>r</a:t>
            </a:r>
            <a:r>
              <a:rPr kumimoji="1" lang="it-IT" sz="3700" spc="-25">
                <a:latin typeface="+mj-lt"/>
                <a:ea typeface="ＭＳ Ｐゴシック" pitchFamily="-108" charset="-128"/>
                <a:cs typeface="ＭＳ Ｐゴシック" pitchFamily="-108" charset="-128"/>
              </a:rPr>
              <a:t>a</a:t>
            </a:r>
            <a:r>
              <a:rPr kumimoji="1" lang="it-IT" sz="3700">
                <a:latin typeface="+mj-lt"/>
                <a:ea typeface="ＭＳ Ｐゴシック" pitchFamily="-108" charset="-128"/>
                <a:cs typeface="ＭＳ Ｐゴシック" pitchFamily="-108" charset="-128"/>
              </a:rPr>
              <a:t>tion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 (</a:t>
            </a:r>
            <a:r>
              <a:rPr kumimoji="1" lang="it-IT" sz="3700" spc="5">
                <a:latin typeface="+mj-lt"/>
                <a:ea typeface="ＭＳ Ｐゴシック" pitchFamily="-108" charset="-128"/>
                <a:cs typeface="ＭＳ Ｐゴシック" pitchFamily="-108" charset="-128"/>
              </a:rPr>
              <a:t>2</a:t>
            </a:r>
            <a:r>
              <a:rPr kumimoji="1" lang="it-IT" sz="3700" spc="-5">
                <a:latin typeface="+mj-lt"/>
                <a:ea typeface="ＭＳ Ｐゴシック" pitchFamily="-108" charset="-128"/>
                <a:cs typeface="ＭＳ Ｐゴシック" pitchFamily="-108" charset="-128"/>
              </a:rPr>
              <a:t>bit)</a:t>
            </a:r>
            <a:endParaRPr kumimoji="1" lang="it-IT" sz="3700">
              <a:latin typeface="+mj-lt"/>
              <a:ea typeface="ＭＳ Ｐゴシック" pitchFamily="-108" charset="-128"/>
              <a:cs typeface="ＭＳ Ｐゴシック" pitchFamily="-108" charset="-128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F2A13221-3748-A3E6-EB2A-6C8812D95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96" y="2364540"/>
            <a:ext cx="4668792" cy="2576931"/>
          </a:xfrm>
          <a:prstGeom prst="rect">
            <a:avLst/>
          </a:prstGeom>
          <a:noFill/>
        </p:spPr>
      </p:pic>
      <p:sp>
        <p:nvSpPr>
          <p:cNvPr id="50" name="Slide Number Placeholder 4">
            <a:extLst>
              <a:ext uri="{FF2B5EF4-FFF2-40B4-BE49-F238E27FC236}">
                <a16:creationId xmlns:a16="http://schemas.microsoft.com/office/drawing/2014/main" id="{C757E39A-562E-B029-027E-C28A5C1608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696200" y="6248400"/>
            <a:ext cx="1092200" cy="400050"/>
          </a:xfrm>
        </p:spPr>
        <p:txBody>
          <a:bodyPr/>
          <a:lstStyle/>
          <a:p>
            <a:pPr>
              <a:defRPr/>
            </a:pPr>
            <a:fld id="{B2CC7E84-1A74-C448-82DC-88951075EFE9}" type="slidenum">
              <a:rPr lang="it-IT"/>
              <a:pPr>
                <a:defRPr/>
              </a:pPr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4568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Progettare una </a:t>
            </a:r>
            <a:r>
              <a:rPr lang="it-IT" sz="28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ALU a 3 bit 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che realizzi le seguenti funzioni, specificando gli opportuni segnali di controllo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AND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OR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NAND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NOR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Somma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4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Sottrazione</a:t>
            </a:r>
          </a:p>
        </p:txBody>
      </p:sp>
    </p:spTree>
    <p:extLst>
      <p:ext uri="{BB962C8B-B14F-4D97-AF65-F5344CB8AC3E}">
        <p14:creationId xmlns:p14="http://schemas.microsoft.com/office/powerpoint/2010/main" val="3568546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1"/>
          <p:cNvSpPr txBox="1"/>
          <p:nvPr/>
        </p:nvSpPr>
        <p:spPr>
          <a:xfrm>
            <a:off x="395536" y="1700808"/>
            <a:ext cx="88569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Input: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a=a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b=b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Output: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 err="1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b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</a:b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   =Result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Concateniamo tre copie </a:t>
            </a:r>
            <a:b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</a:b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dell’ALU costruita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ALU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0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ALU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1</a:t>
            </a: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ALU</a:t>
            </a:r>
            <a:r>
              <a:rPr lang="it-IT" sz="2000" b="0" baseline="-2500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2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sp>
        <p:nvSpPr>
          <p:cNvPr id="5" name="object 2"/>
          <p:cNvSpPr/>
          <p:nvPr/>
        </p:nvSpPr>
        <p:spPr>
          <a:xfrm>
            <a:off x="5222495" y="4437112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/>
          <p:cNvSpPr/>
          <p:nvPr/>
        </p:nvSpPr>
        <p:spPr>
          <a:xfrm>
            <a:off x="6660232" y="4437112"/>
            <a:ext cx="113418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/>
          <p:nvPr/>
        </p:nvSpPr>
        <p:spPr>
          <a:xfrm>
            <a:off x="5222495" y="3284984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6660232" y="3220900"/>
            <a:ext cx="1134185" cy="280108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6660232" y="2132856"/>
            <a:ext cx="1134185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 flipH="1">
            <a:off x="5176776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5"/>
          <p:cNvSpPr/>
          <p:nvPr/>
        </p:nvSpPr>
        <p:spPr>
          <a:xfrm>
            <a:off x="7793958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2"/>
          <p:cNvSpPr/>
          <p:nvPr/>
        </p:nvSpPr>
        <p:spPr>
          <a:xfrm>
            <a:off x="6174806" y="2479591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3"/>
          <p:cNvSpPr/>
          <p:nvPr/>
        </p:nvSpPr>
        <p:spPr>
          <a:xfrm>
            <a:off x="8044248" y="2699117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4"/>
          <p:cNvSpPr/>
          <p:nvPr/>
        </p:nvSpPr>
        <p:spPr>
          <a:xfrm>
            <a:off x="6090149" y="2528564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5">
                <a:moveTo>
                  <a:pt x="0" y="0"/>
                </a:moveTo>
                <a:lnTo>
                  <a:pt x="0" y="69207"/>
                </a:lnTo>
                <a:lnTo>
                  <a:pt x="75647" y="36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5"/>
          <p:cNvSpPr/>
          <p:nvPr/>
        </p:nvSpPr>
        <p:spPr>
          <a:xfrm>
            <a:off x="5839356" y="2560872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8"/>
          <p:cNvSpPr/>
          <p:nvPr/>
        </p:nvSpPr>
        <p:spPr>
          <a:xfrm>
            <a:off x="6174806" y="3598305"/>
            <a:ext cx="671195" cy="678815"/>
          </a:xfrm>
          <a:custGeom>
            <a:avLst/>
            <a:gdLst/>
            <a:ahLst/>
            <a:cxnLst/>
            <a:rect l="l" t="t" r="r" b="b"/>
            <a:pathLst>
              <a:path w="671195" h="678814">
                <a:moveTo>
                  <a:pt x="666413" y="674731"/>
                </a:moveTo>
                <a:lnTo>
                  <a:pt x="670899" y="0"/>
                </a:lnTo>
                <a:lnTo>
                  <a:pt x="0" y="0"/>
                </a:lnTo>
                <a:lnTo>
                  <a:pt x="0" y="678812"/>
                </a:lnTo>
                <a:lnTo>
                  <a:pt x="670899" y="678812"/>
                </a:lnTo>
              </a:path>
            </a:pathLst>
          </a:custGeom>
          <a:ln w="17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9"/>
          <p:cNvSpPr/>
          <p:nvPr/>
        </p:nvSpPr>
        <p:spPr>
          <a:xfrm>
            <a:off x="8044248" y="3817661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126"/>
                </a:lnTo>
                <a:lnTo>
                  <a:pt x="7607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0"/>
          <p:cNvSpPr/>
          <p:nvPr/>
        </p:nvSpPr>
        <p:spPr>
          <a:xfrm>
            <a:off x="6470180" y="3520936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20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1"/>
          <p:cNvSpPr/>
          <p:nvPr/>
        </p:nvSpPr>
        <p:spPr>
          <a:xfrm>
            <a:off x="6505751" y="3158914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167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2"/>
          <p:cNvSpPr/>
          <p:nvPr/>
        </p:nvSpPr>
        <p:spPr>
          <a:xfrm>
            <a:off x="6090149" y="3646938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03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3"/>
          <p:cNvSpPr/>
          <p:nvPr/>
        </p:nvSpPr>
        <p:spPr>
          <a:xfrm>
            <a:off x="5839356" y="3679586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7"/>
          <p:cNvSpPr/>
          <p:nvPr/>
        </p:nvSpPr>
        <p:spPr>
          <a:xfrm>
            <a:off x="6174806" y="4716509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8"/>
          <p:cNvSpPr/>
          <p:nvPr/>
        </p:nvSpPr>
        <p:spPr>
          <a:xfrm>
            <a:off x="8044248" y="4936034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4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9"/>
          <p:cNvSpPr/>
          <p:nvPr/>
        </p:nvSpPr>
        <p:spPr>
          <a:xfrm>
            <a:off x="6470180" y="4639309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03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0"/>
          <p:cNvSpPr/>
          <p:nvPr/>
        </p:nvSpPr>
        <p:spPr>
          <a:xfrm>
            <a:off x="6505751" y="4277117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678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1"/>
          <p:cNvSpPr/>
          <p:nvPr/>
        </p:nvSpPr>
        <p:spPr>
          <a:xfrm>
            <a:off x="6090149" y="4765141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54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2"/>
          <p:cNvSpPr/>
          <p:nvPr/>
        </p:nvSpPr>
        <p:spPr>
          <a:xfrm>
            <a:off x="5839356" y="4797789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5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5"/>
          <p:cNvSpPr/>
          <p:nvPr/>
        </p:nvSpPr>
        <p:spPr>
          <a:xfrm>
            <a:off x="6845706" y="2731765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6"/>
          <p:cNvSpPr/>
          <p:nvPr/>
        </p:nvSpPr>
        <p:spPr>
          <a:xfrm>
            <a:off x="6845706" y="3850479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/>
          <p:cNvSpPr/>
          <p:nvPr/>
        </p:nvSpPr>
        <p:spPr>
          <a:xfrm>
            <a:off x="6845706" y="4968682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6"/>
          <p:cNvSpPr/>
          <p:nvPr/>
        </p:nvSpPr>
        <p:spPr>
          <a:xfrm>
            <a:off x="6090149" y="2699117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7"/>
          <p:cNvSpPr/>
          <p:nvPr/>
        </p:nvSpPr>
        <p:spPr>
          <a:xfrm>
            <a:off x="5839356" y="2731765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/>
          <p:cNvSpPr/>
          <p:nvPr/>
        </p:nvSpPr>
        <p:spPr>
          <a:xfrm>
            <a:off x="6090149" y="3817661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207"/>
                </a:lnTo>
                <a:lnTo>
                  <a:pt x="7564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9"/>
          <p:cNvSpPr/>
          <p:nvPr/>
        </p:nvSpPr>
        <p:spPr>
          <a:xfrm>
            <a:off x="5839356" y="3850479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/>
          <p:cNvSpPr/>
          <p:nvPr/>
        </p:nvSpPr>
        <p:spPr>
          <a:xfrm>
            <a:off x="6090149" y="4936034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1"/>
          <p:cNvSpPr/>
          <p:nvPr/>
        </p:nvSpPr>
        <p:spPr>
          <a:xfrm>
            <a:off x="5839356" y="4968682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7"/>
          <p:cNvSpPr txBox="1"/>
          <p:nvPr/>
        </p:nvSpPr>
        <p:spPr>
          <a:xfrm>
            <a:off x="6138474" y="2496100"/>
            <a:ext cx="707760" cy="49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8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899"/>
              </a:lnSpc>
              <a:spcBef>
                <a:spcPts val="25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0" name="object 88"/>
          <p:cNvSpPr txBox="1"/>
          <p:nvPr/>
        </p:nvSpPr>
        <p:spPr>
          <a:xfrm>
            <a:off x="8156785" y="2655090"/>
            <a:ext cx="59167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114" dirty="0">
                <a:latin typeface="+mn-lt"/>
                <a:cs typeface="Arial"/>
              </a:rPr>
              <a:t>R</a:t>
            </a:r>
            <a:r>
              <a:rPr sz="1050" spc="40" dirty="0">
                <a:latin typeface="+mn-lt"/>
                <a:cs typeface="Arial"/>
              </a:rPr>
              <a:t>e</a:t>
            </a:r>
            <a:r>
              <a:rPr sz="1050" spc="60" dirty="0">
                <a:latin typeface="+mn-lt"/>
                <a:cs typeface="Arial"/>
              </a:rPr>
              <a:t>s</a:t>
            </a:r>
            <a:r>
              <a:rPr sz="1050" spc="40" dirty="0">
                <a:latin typeface="+mn-lt"/>
                <a:cs typeface="Arial"/>
              </a:rPr>
              <a:t>u</a:t>
            </a:r>
            <a:r>
              <a:rPr sz="1050" spc="35" dirty="0">
                <a:latin typeface="+mn-lt"/>
                <a:cs typeface="Arial"/>
              </a:rPr>
              <a:t>l</a:t>
            </a:r>
            <a:r>
              <a:rPr sz="1050" spc="15" dirty="0">
                <a:latin typeface="+mn-lt"/>
                <a:cs typeface="Arial"/>
              </a:rPr>
              <a:t>t</a:t>
            </a:r>
            <a:r>
              <a:rPr lang="it-IT" sz="1050" spc="55" baseline="-25000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2" name="object 90"/>
          <p:cNvSpPr txBox="1"/>
          <p:nvPr/>
        </p:nvSpPr>
        <p:spPr>
          <a:xfrm>
            <a:off x="5598817" y="2488448"/>
            <a:ext cx="188595" cy="335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99"/>
              </a:lnSpc>
            </a:pPr>
            <a:r>
              <a:rPr sz="1050" spc="40" dirty="0">
                <a:latin typeface="+mn-lt"/>
                <a:cs typeface="Arial"/>
              </a:rPr>
              <a:t>a</a:t>
            </a:r>
            <a:r>
              <a:rPr sz="1050" spc="55" baseline="-2500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sz="1050" spc="40" dirty="0">
                <a:latin typeface="+mn-lt"/>
                <a:cs typeface="Arial"/>
              </a:rPr>
              <a:t>b</a:t>
            </a:r>
            <a:r>
              <a:rPr sz="1050" spc="55" baseline="-25000" dirty="0">
                <a:latin typeface="+mn-lt"/>
                <a:cs typeface="Arial"/>
              </a:rPr>
              <a:t>0</a:t>
            </a:r>
            <a:endParaRPr sz="1050" baseline="-25000" dirty="0">
              <a:latin typeface="+mn-lt"/>
              <a:cs typeface="Arial"/>
            </a:endParaRPr>
          </a:p>
        </p:txBody>
      </p:sp>
      <p:sp>
        <p:nvSpPr>
          <p:cNvPr id="93" name="object 91"/>
          <p:cNvSpPr txBox="1"/>
          <p:nvPr/>
        </p:nvSpPr>
        <p:spPr>
          <a:xfrm>
            <a:off x="8215699" y="3773464"/>
            <a:ext cx="53276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114" dirty="0">
                <a:latin typeface="+mn-lt"/>
                <a:cs typeface="Arial"/>
              </a:rPr>
              <a:t>R</a:t>
            </a:r>
            <a:r>
              <a:rPr sz="1050" spc="40" dirty="0">
                <a:latin typeface="+mn-lt"/>
                <a:cs typeface="Arial"/>
              </a:rPr>
              <a:t>e</a:t>
            </a:r>
            <a:r>
              <a:rPr sz="1050" spc="60" dirty="0">
                <a:latin typeface="+mn-lt"/>
                <a:cs typeface="Arial"/>
              </a:rPr>
              <a:t>s</a:t>
            </a:r>
            <a:r>
              <a:rPr sz="1050" spc="40" dirty="0">
                <a:latin typeface="+mn-lt"/>
                <a:cs typeface="Arial"/>
              </a:rPr>
              <a:t>u</a:t>
            </a:r>
            <a:r>
              <a:rPr sz="1050" spc="35" dirty="0">
                <a:latin typeface="+mn-lt"/>
                <a:cs typeface="Arial"/>
              </a:rPr>
              <a:t>l</a:t>
            </a:r>
            <a:r>
              <a:rPr sz="1050" spc="15" dirty="0">
                <a:latin typeface="+mn-lt"/>
                <a:cs typeface="Arial"/>
              </a:rPr>
              <a:t>t</a:t>
            </a:r>
            <a:r>
              <a:rPr lang="it-IT" sz="1050" spc="55" baseline="-25000" dirty="0">
                <a:latin typeface="+mn-lt"/>
                <a:cs typeface="Arial"/>
              </a:rPr>
              <a:t>1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4" name="object 92"/>
          <p:cNvSpPr txBox="1"/>
          <p:nvPr/>
        </p:nvSpPr>
        <p:spPr>
          <a:xfrm>
            <a:off x="5598817" y="3606651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sz="1050" spc="40" dirty="0">
                <a:latin typeface="+mn-lt"/>
                <a:cs typeface="Arial"/>
              </a:rPr>
              <a:t>a</a:t>
            </a:r>
            <a:r>
              <a:rPr sz="1050" spc="55" baseline="-25000" dirty="0">
                <a:latin typeface="+mn-lt"/>
                <a:cs typeface="Arial"/>
              </a:rPr>
              <a:t>1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sz="1050" spc="40" dirty="0">
                <a:latin typeface="+mn-lt"/>
                <a:cs typeface="Arial"/>
              </a:rPr>
              <a:t>b</a:t>
            </a:r>
            <a:r>
              <a:rPr sz="1050" spc="55" baseline="-25000" dirty="0">
                <a:latin typeface="+mn-lt"/>
                <a:cs typeface="Arial"/>
              </a:rPr>
              <a:t>1</a:t>
            </a:r>
            <a:r>
              <a:rPr sz="1050" spc="40" dirty="0">
                <a:latin typeface="+mn-lt"/>
                <a:cs typeface="Arial"/>
              </a:rPr>
              <a:t> 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5" name="object 93"/>
          <p:cNvSpPr txBox="1"/>
          <p:nvPr/>
        </p:nvSpPr>
        <p:spPr>
          <a:xfrm>
            <a:off x="8215699" y="4891667"/>
            <a:ext cx="53276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114" dirty="0">
                <a:latin typeface="+mn-lt"/>
                <a:cs typeface="Arial"/>
              </a:rPr>
              <a:t>R</a:t>
            </a:r>
            <a:r>
              <a:rPr sz="1050" spc="40" dirty="0">
                <a:latin typeface="+mn-lt"/>
                <a:cs typeface="Arial"/>
              </a:rPr>
              <a:t>e</a:t>
            </a:r>
            <a:r>
              <a:rPr sz="1050" spc="60" dirty="0">
                <a:latin typeface="+mn-lt"/>
                <a:cs typeface="Arial"/>
              </a:rPr>
              <a:t>s</a:t>
            </a:r>
            <a:r>
              <a:rPr sz="1050" spc="40" dirty="0">
                <a:latin typeface="+mn-lt"/>
                <a:cs typeface="Arial"/>
              </a:rPr>
              <a:t>u</a:t>
            </a:r>
            <a:r>
              <a:rPr sz="1050" spc="35" dirty="0">
                <a:latin typeface="+mn-lt"/>
                <a:cs typeface="Arial"/>
              </a:rPr>
              <a:t>l</a:t>
            </a:r>
            <a:r>
              <a:rPr sz="1050" spc="15" dirty="0">
                <a:latin typeface="+mn-lt"/>
                <a:cs typeface="Arial"/>
              </a:rPr>
              <a:t>t</a:t>
            </a:r>
            <a:r>
              <a:rPr lang="it-IT" sz="1050" spc="55" baseline="-25000" dirty="0">
                <a:latin typeface="+mn-lt"/>
                <a:cs typeface="Arial"/>
              </a:rPr>
              <a:t>2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6" name="object 94"/>
          <p:cNvSpPr txBox="1"/>
          <p:nvPr/>
        </p:nvSpPr>
        <p:spPr>
          <a:xfrm>
            <a:off x="5598817" y="4724855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sz="1050" spc="40" dirty="0">
                <a:latin typeface="+mn-lt"/>
                <a:cs typeface="Arial"/>
              </a:rPr>
              <a:t>a</a:t>
            </a:r>
            <a:r>
              <a:rPr sz="1050" spc="55" baseline="-25000" dirty="0">
                <a:latin typeface="+mn-lt"/>
                <a:cs typeface="Arial"/>
              </a:rPr>
              <a:t>2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sz="1050" spc="40" dirty="0">
                <a:latin typeface="+mn-lt"/>
                <a:cs typeface="Arial"/>
              </a:rPr>
              <a:t>b</a:t>
            </a:r>
            <a:r>
              <a:rPr sz="1050" spc="55" baseline="-25000" dirty="0">
                <a:latin typeface="+mn-lt"/>
                <a:cs typeface="Arial"/>
              </a:rPr>
              <a:t>2</a:t>
            </a:r>
            <a:r>
              <a:rPr sz="1050" spc="40" dirty="0">
                <a:latin typeface="+mn-lt"/>
                <a:cs typeface="Arial"/>
              </a:rPr>
              <a:t> 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7" name="object 95"/>
          <p:cNvSpPr txBox="1"/>
          <p:nvPr/>
        </p:nvSpPr>
        <p:spPr>
          <a:xfrm>
            <a:off x="7354024" y="1849595"/>
            <a:ext cx="789928" cy="16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85" dirty="0">
                <a:solidFill>
                  <a:srgbClr val="EB7500"/>
                </a:solidFill>
                <a:latin typeface="Arial"/>
                <a:cs typeface="Arial"/>
              </a:rPr>
              <a:t>O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p</a:t>
            </a:r>
            <a:r>
              <a:rPr sz="1050" spc="40" dirty="0">
                <a:solidFill>
                  <a:srgbClr val="EB7500"/>
                </a:solidFill>
                <a:latin typeface="Arial"/>
                <a:cs typeface="Arial"/>
              </a:rPr>
              <a:t>e</a:t>
            </a:r>
            <a:r>
              <a:rPr sz="1050" spc="30" dirty="0">
                <a:solidFill>
                  <a:srgbClr val="EB7500"/>
                </a:solidFill>
                <a:latin typeface="Arial"/>
                <a:cs typeface="Arial"/>
              </a:rPr>
              <a:t>r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a</a:t>
            </a:r>
            <a:r>
              <a:rPr sz="1050" spc="15" dirty="0">
                <a:solidFill>
                  <a:srgbClr val="EB7500"/>
                </a:solidFill>
                <a:latin typeface="Arial"/>
                <a:cs typeface="Arial"/>
              </a:rPr>
              <a:t>t</a:t>
            </a:r>
            <a:r>
              <a:rPr sz="1050" spc="5" dirty="0">
                <a:solidFill>
                  <a:srgbClr val="EB7500"/>
                </a:solidFill>
                <a:latin typeface="Arial"/>
                <a:cs typeface="Arial"/>
              </a:rPr>
              <a:t>i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o</a:t>
            </a:r>
            <a:r>
              <a:rPr sz="1050" spc="55" dirty="0">
                <a:solidFill>
                  <a:srgbClr val="EB7500"/>
                </a:solidFill>
                <a:latin typeface="Arial"/>
                <a:cs typeface="Arial"/>
              </a:rPr>
              <a:t>n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8" name="object 96"/>
          <p:cNvSpPr txBox="1"/>
          <p:nvPr/>
        </p:nvSpPr>
        <p:spPr>
          <a:xfrm>
            <a:off x="4986016" y="1849596"/>
            <a:ext cx="594096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65" dirty="0">
                <a:solidFill>
                  <a:srgbClr val="EB7500"/>
                </a:solidFill>
                <a:latin typeface="Arial"/>
                <a:cs typeface="Arial"/>
              </a:rPr>
              <a:t>B</a:t>
            </a:r>
            <a:r>
              <a:rPr lang="it-IT" sz="1050" spc="10" dirty="0">
                <a:solidFill>
                  <a:srgbClr val="EB7500"/>
                </a:solidFill>
                <a:latin typeface="Arial"/>
                <a:cs typeface="Arial"/>
              </a:rPr>
              <a:t>negate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9" name="object 97"/>
          <p:cNvSpPr txBox="1"/>
          <p:nvPr/>
        </p:nvSpPr>
        <p:spPr>
          <a:xfrm>
            <a:off x="6138474" y="3614813"/>
            <a:ext cx="707759" cy="4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00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0" name="object 98"/>
          <p:cNvSpPr txBox="1"/>
          <p:nvPr/>
        </p:nvSpPr>
        <p:spPr>
          <a:xfrm>
            <a:off x="6163734" y="4733187"/>
            <a:ext cx="682499" cy="496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00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2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99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6" name="object 96"/>
          <p:cNvSpPr txBox="1"/>
          <p:nvPr/>
        </p:nvSpPr>
        <p:spPr>
          <a:xfrm>
            <a:off x="4248926" y="1844824"/>
            <a:ext cx="59409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A</a:t>
            </a:r>
            <a:r>
              <a:rPr sz="1050" spc="10" dirty="0">
                <a:solidFill>
                  <a:srgbClr val="EB7500"/>
                </a:solidFill>
                <a:latin typeface="Arial"/>
                <a:cs typeface="Arial"/>
              </a:rPr>
              <a:t>i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n</a:t>
            </a:r>
            <a:r>
              <a:rPr sz="1050" spc="30" dirty="0">
                <a:solidFill>
                  <a:srgbClr val="EB7500"/>
                </a:solidFill>
                <a:latin typeface="Arial"/>
                <a:cs typeface="Arial"/>
              </a:rPr>
              <a:t>v</a:t>
            </a:r>
            <a:r>
              <a:rPr sz="1050" spc="75" dirty="0">
                <a:solidFill>
                  <a:srgbClr val="EB7500"/>
                </a:solidFill>
                <a:latin typeface="Arial"/>
                <a:cs typeface="Arial"/>
              </a:rPr>
              <a:t>e</a:t>
            </a:r>
            <a:r>
              <a:rPr sz="1050" spc="30" dirty="0">
                <a:solidFill>
                  <a:srgbClr val="EB7500"/>
                </a:solidFill>
                <a:latin typeface="Arial"/>
                <a:cs typeface="Arial"/>
              </a:rPr>
              <a:t>rt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10" name="object 12"/>
          <p:cNvSpPr/>
          <p:nvPr/>
        </p:nvSpPr>
        <p:spPr>
          <a:xfrm flipH="1">
            <a:off x="4634308" y="2060849"/>
            <a:ext cx="45719" cy="2448272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7"/>
          <p:cNvSpPr/>
          <p:nvPr/>
        </p:nvSpPr>
        <p:spPr>
          <a:xfrm flipH="1">
            <a:off x="5220072" y="2132856"/>
            <a:ext cx="1224136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 flipH="1">
            <a:off x="4644008" y="2276872"/>
            <a:ext cx="1656184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7"/>
          <p:cNvSpPr/>
          <p:nvPr/>
        </p:nvSpPr>
        <p:spPr>
          <a:xfrm flipH="1">
            <a:off x="4644008" y="3356992"/>
            <a:ext cx="1584176" cy="144016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7"/>
          <p:cNvSpPr/>
          <p:nvPr/>
        </p:nvSpPr>
        <p:spPr>
          <a:xfrm flipH="1">
            <a:off x="4644008" y="4509120"/>
            <a:ext cx="1584176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9" name="Straight Arrow Connector 118"/>
          <p:cNvCxnSpPr/>
          <p:nvPr/>
        </p:nvCxnSpPr>
        <p:spPr bwMode="auto">
          <a:xfrm>
            <a:off x="63001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2" name="Straight Arrow Connector 121"/>
          <p:cNvCxnSpPr/>
          <p:nvPr/>
        </p:nvCxnSpPr>
        <p:spPr bwMode="auto">
          <a:xfrm>
            <a:off x="64525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3" name="Straight Arrow Connector 122"/>
          <p:cNvCxnSpPr/>
          <p:nvPr/>
        </p:nvCxnSpPr>
        <p:spPr bwMode="auto">
          <a:xfrm>
            <a:off x="666023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4" name="Straight Arrow Connector 123"/>
          <p:cNvCxnSpPr/>
          <p:nvPr/>
        </p:nvCxnSpPr>
        <p:spPr bwMode="auto">
          <a:xfrm>
            <a:off x="6660232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5" name="Straight Arrow Connector 124"/>
          <p:cNvCxnSpPr/>
          <p:nvPr/>
        </p:nvCxnSpPr>
        <p:spPr bwMode="auto">
          <a:xfrm>
            <a:off x="6228184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6" name="Straight Arrow Connector 125"/>
          <p:cNvCxnSpPr/>
          <p:nvPr/>
        </p:nvCxnSpPr>
        <p:spPr bwMode="auto">
          <a:xfrm>
            <a:off x="6372200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7" name="Straight Arrow Connector 126"/>
          <p:cNvCxnSpPr/>
          <p:nvPr/>
        </p:nvCxnSpPr>
        <p:spPr bwMode="auto">
          <a:xfrm>
            <a:off x="6660232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8" name="Straight Arrow Connector 127"/>
          <p:cNvCxnSpPr/>
          <p:nvPr/>
        </p:nvCxnSpPr>
        <p:spPr bwMode="auto">
          <a:xfrm>
            <a:off x="6372200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30" name="Straight Arrow Connector 129"/>
          <p:cNvCxnSpPr/>
          <p:nvPr/>
        </p:nvCxnSpPr>
        <p:spPr bwMode="auto">
          <a:xfrm>
            <a:off x="6228184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sp>
        <p:nvSpPr>
          <p:cNvPr id="131" name="object 3"/>
          <p:cNvSpPr txBox="1">
            <a:spLocks/>
          </p:cNvSpPr>
          <p:nvPr/>
        </p:nvSpPr>
        <p:spPr>
          <a:xfrm>
            <a:off x="-900608" y="387406"/>
            <a:ext cx="9505056" cy="800218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800" spc="-25" dirty="0"/>
              <a:t>Esercizio 4: Soluzione</a:t>
            </a:r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323827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5" grpId="0" animBg="1"/>
      <p:bldP spid="28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8" grpId="0" animBg="1"/>
      <p:bldP spid="69" grpId="0" animBg="1"/>
      <p:bldP spid="70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/>
      <p:bldP spid="90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6" grpId="0"/>
      <p:bldP spid="110" grpId="0" animBg="1"/>
      <p:bldP spid="113" grpId="0" animBg="1"/>
      <p:bldP spid="114" grpId="0" animBg="1"/>
      <p:bldP spid="115" grpId="0" animBg="1"/>
      <p:bldP spid="1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4.a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Sullo schema progettato all’Esercizio 4, mostrare il risultato dell’operazione </a:t>
            </a:r>
            <a:r>
              <a:rPr lang="it-IT" sz="28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AND (010,001)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indicando il valore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dei bit trasportati su ogni filo del circuito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dei segnali di controllo</a:t>
            </a:r>
            <a:endParaRPr lang="it-IT" sz="2400" b="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286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1"/>
          <p:cNvSpPr txBox="1"/>
          <p:nvPr/>
        </p:nvSpPr>
        <p:spPr>
          <a:xfrm>
            <a:off x="395536" y="1700808"/>
            <a:ext cx="88569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Input: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a=010</a:t>
            </a: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b=001</a:t>
            </a: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Output: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r>
              <a:rPr lang="it-IT" sz="20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=AND(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a,b</a:t>
            </a:r>
            <a:r>
              <a:rPr lang="it-IT" sz="20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)=000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sp>
        <p:nvSpPr>
          <p:cNvPr id="5" name="object 2"/>
          <p:cNvSpPr/>
          <p:nvPr/>
        </p:nvSpPr>
        <p:spPr>
          <a:xfrm>
            <a:off x="5222495" y="4437112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/>
          <p:cNvSpPr/>
          <p:nvPr/>
        </p:nvSpPr>
        <p:spPr>
          <a:xfrm>
            <a:off x="6660232" y="4437112"/>
            <a:ext cx="113418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/>
          <p:nvPr/>
        </p:nvSpPr>
        <p:spPr>
          <a:xfrm>
            <a:off x="5222495" y="3284984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6660232" y="3220900"/>
            <a:ext cx="1134185" cy="280108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6660232" y="2132856"/>
            <a:ext cx="1134185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 flipH="1">
            <a:off x="5176776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5"/>
          <p:cNvSpPr/>
          <p:nvPr/>
        </p:nvSpPr>
        <p:spPr>
          <a:xfrm>
            <a:off x="7793958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2"/>
          <p:cNvSpPr/>
          <p:nvPr/>
        </p:nvSpPr>
        <p:spPr>
          <a:xfrm>
            <a:off x="6174806" y="2479591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3"/>
          <p:cNvSpPr/>
          <p:nvPr/>
        </p:nvSpPr>
        <p:spPr>
          <a:xfrm>
            <a:off x="7956376" y="2699117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4"/>
          <p:cNvSpPr/>
          <p:nvPr/>
        </p:nvSpPr>
        <p:spPr>
          <a:xfrm>
            <a:off x="6090149" y="2528564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5">
                <a:moveTo>
                  <a:pt x="0" y="0"/>
                </a:moveTo>
                <a:lnTo>
                  <a:pt x="0" y="69207"/>
                </a:lnTo>
                <a:lnTo>
                  <a:pt x="75647" y="36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5"/>
          <p:cNvSpPr/>
          <p:nvPr/>
        </p:nvSpPr>
        <p:spPr>
          <a:xfrm>
            <a:off x="5839356" y="2560872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8"/>
          <p:cNvSpPr/>
          <p:nvPr/>
        </p:nvSpPr>
        <p:spPr>
          <a:xfrm>
            <a:off x="6174806" y="3598305"/>
            <a:ext cx="671195" cy="678815"/>
          </a:xfrm>
          <a:custGeom>
            <a:avLst/>
            <a:gdLst/>
            <a:ahLst/>
            <a:cxnLst/>
            <a:rect l="l" t="t" r="r" b="b"/>
            <a:pathLst>
              <a:path w="671195" h="678814">
                <a:moveTo>
                  <a:pt x="666413" y="674731"/>
                </a:moveTo>
                <a:lnTo>
                  <a:pt x="670899" y="0"/>
                </a:lnTo>
                <a:lnTo>
                  <a:pt x="0" y="0"/>
                </a:lnTo>
                <a:lnTo>
                  <a:pt x="0" y="678812"/>
                </a:lnTo>
                <a:lnTo>
                  <a:pt x="670899" y="678812"/>
                </a:lnTo>
              </a:path>
            </a:pathLst>
          </a:custGeom>
          <a:ln w="17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9"/>
          <p:cNvSpPr/>
          <p:nvPr/>
        </p:nvSpPr>
        <p:spPr>
          <a:xfrm>
            <a:off x="7956376" y="3817661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126"/>
                </a:lnTo>
                <a:lnTo>
                  <a:pt x="7607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0"/>
          <p:cNvSpPr/>
          <p:nvPr/>
        </p:nvSpPr>
        <p:spPr>
          <a:xfrm>
            <a:off x="6470180" y="3520936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20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1"/>
          <p:cNvSpPr/>
          <p:nvPr/>
        </p:nvSpPr>
        <p:spPr>
          <a:xfrm>
            <a:off x="6505751" y="3158914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167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2"/>
          <p:cNvSpPr/>
          <p:nvPr/>
        </p:nvSpPr>
        <p:spPr>
          <a:xfrm>
            <a:off x="6090149" y="3646938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03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3"/>
          <p:cNvSpPr/>
          <p:nvPr/>
        </p:nvSpPr>
        <p:spPr>
          <a:xfrm>
            <a:off x="5839356" y="3679586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7"/>
          <p:cNvSpPr/>
          <p:nvPr/>
        </p:nvSpPr>
        <p:spPr>
          <a:xfrm>
            <a:off x="6174806" y="4716509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8"/>
          <p:cNvSpPr/>
          <p:nvPr/>
        </p:nvSpPr>
        <p:spPr>
          <a:xfrm>
            <a:off x="7956376" y="4936034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4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9"/>
          <p:cNvSpPr/>
          <p:nvPr/>
        </p:nvSpPr>
        <p:spPr>
          <a:xfrm>
            <a:off x="6470180" y="4639309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03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0"/>
          <p:cNvSpPr/>
          <p:nvPr/>
        </p:nvSpPr>
        <p:spPr>
          <a:xfrm>
            <a:off x="6505751" y="4277117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678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1"/>
          <p:cNvSpPr/>
          <p:nvPr/>
        </p:nvSpPr>
        <p:spPr>
          <a:xfrm>
            <a:off x="6090149" y="4765141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54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2"/>
          <p:cNvSpPr/>
          <p:nvPr/>
        </p:nvSpPr>
        <p:spPr>
          <a:xfrm>
            <a:off x="5839356" y="4797789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5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5"/>
          <p:cNvSpPr/>
          <p:nvPr/>
        </p:nvSpPr>
        <p:spPr>
          <a:xfrm flipV="1">
            <a:off x="6845707" y="2686046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6"/>
          <p:cNvSpPr/>
          <p:nvPr/>
        </p:nvSpPr>
        <p:spPr>
          <a:xfrm>
            <a:off x="6845707" y="3850478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/>
          <p:cNvSpPr/>
          <p:nvPr/>
        </p:nvSpPr>
        <p:spPr>
          <a:xfrm flipV="1">
            <a:off x="6845707" y="4922963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6"/>
          <p:cNvSpPr/>
          <p:nvPr/>
        </p:nvSpPr>
        <p:spPr>
          <a:xfrm>
            <a:off x="6090149" y="2699117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7"/>
          <p:cNvSpPr/>
          <p:nvPr/>
        </p:nvSpPr>
        <p:spPr>
          <a:xfrm>
            <a:off x="5839356" y="2731765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/>
          <p:cNvSpPr/>
          <p:nvPr/>
        </p:nvSpPr>
        <p:spPr>
          <a:xfrm>
            <a:off x="6090149" y="3817661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207"/>
                </a:lnTo>
                <a:lnTo>
                  <a:pt x="7564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9"/>
          <p:cNvSpPr/>
          <p:nvPr/>
        </p:nvSpPr>
        <p:spPr>
          <a:xfrm>
            <a:off x="5839356" y="3850479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/>
          <p:cNvSpPr/>
          <p:nvPr/>
        </p:nvSpPr>
        <p:spPr>
          <a:xfrm>
            <a:off x="6090149" y="4936034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1"/>
          <p:cNvSpPr/>
          <p:nvPr/>
        </p:nvSpPr>
        <p:spPr>
          <a:xfrm>
            <a:off x="5839356" y="4968682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7"/>
          <p:cNvSpPr txBox="1"/>
          <p:nvPr/>
        </p:nvSpPr>
        <p:spPr>
          <a:xfrm>
            <a:off x="6120171" y="2496100"/>
            <a:ext cx="756085" cy="49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8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899"/>
              </a:lnSpc>
              <a:spcBef>
                <a:spcPts val="25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0" name="object 88"/>
          <p:cNvSpPr txBox="1"/>
          <p:nvPr/>
        </p:nvSpPr>
        <p:spPr>
          <a:xfrm>
            <a:off x="7596336" y="2655090"/>
            <a:ext cx="59167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2" name="object 90"/>
          <p:cNvSpPr txBox="1"/>
          <p:nvPr/>
        </p:nvSpPr>
        <p:spPr>
          <a:xfrm>
            <a:off x="5598817" y="2488448"/>
            <a:ext cx="188595" cy="335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99"/>
              </a:lnSpc>
            </a:pPr>
            <a:r>
              <a:rPr lang="it-IT" sz="1050" spc="4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25" dirty="0">
                <a:latin typeface="+mn-lt"/>
                <a:cs typeface="Arial"/>
              </a:rPr>
              <a:t>1</a:t>
            </a:r>
            <a:endParaRPr sz="1050" baseline="-25000" dirty="0">
              <a:latin typeface="+mn-lt"/>
              <a:cs typeface="Arial"/>
            </a:endParaRPr>
          </a:p>
        </p:txBody>
      </p:sp>
      <p:sp>
        <p:nvSpPr>
          <p:cNvPr id="93" name="object 91"/>
          <p:cNvSpPr txBox="1"/>
          <p:nvPr/>
        </p:nvSpPr>
        <p:spPr>
          <a:xfrm>
            <a:off x="7668344" y="3773464"/>
            <a:ext cx="5327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4" name="object 92"/>
          <p:cNvSpPr txBox="1"/>
          <p:nvPr/>
        </p:nvSpPr>
        <p:spPr>
          <a:xfrm>
            <a:off x="5598817" y="3606651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lang="it-IT" sz="1050" spc="40" dirty="0">
                <a:latin typeface="+mn-lt"/>
                <a:cs typeface="Arial"/>
              </a:rPr>
              <a:t>1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40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5" name="object 93"/>
          <p:cNvSpPr txBox="1"/>
          <p:nvPr/>
        </p:nvSpPr>
        <p:spPr>
          <a:xfrm>
            <a:off x="7668344" y="4869160"/>
            <a:ext cx="5327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6" name="object 94"/>
          <p:cNvSpPr txBox="1"/>
          <p:nvPr/>
        </p:nvSpPr>
        <p:spPr>
          <a:xfrm>
            <a:off x="5598817" y="4724855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lang="it-IT" sz="1050" spc="4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40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7" name="object 95"/>
          <p:cNvSpPr txBox="1"/>
          <p:nvPr/>
        </p:nvSpPr>
        <p:spPr>
          <a:xfrm>
            <a:off x="7164288" y="1849596"/>
            <a:ext cx="68008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85" dirty="0">
                <a:solidFill>
                  <a:srgbClr val="EB7500"/>
                </a:solidFill>
                <a:latin typeface="Arial"/>
                <a:cs typeface="Arial"/>
              </a:rPr>
              <a:t>00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8" name="object 96"/>
          <p:cNvSpPr txBox="1"/>
          <p:nvPr/>
        </p:nvSpPr>
        <p:spPr>
          <a:xfrm>
            <a:off x="4644008" y="1849596"/>
            <a:ext cx="594096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9" name="object 97"/>
          <p:cNvSpPr txBox="1"/>
          <p:nvPr/>
        </p:nvSpPr>
        <p:spPr>
          <a:xfrm>
            <a:off x="6120172" y="3614813"/>
            <a:ext cx="756084" cy="4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00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0" name="object 98"/>
          <p:cNvSpPr txBox="1"/>
          <p:nvPr/>
        </p:nvSpPr>
        <p:spPr>
          <a:xfrm>
            <a:off x="6146874" y="4733187"/>
            <a:ext cx="729382" cy="496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00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2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99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6" name="object 96"/>
          <p:cNvSpPr txBox="1"/>
          <p:nvPr/>
        </p:nvSpPr>
        <p:spPr>
          <a:xfrm>
            <a:off x="4211960" y="1844824"/>
            <a:ext cx="48704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10" name="object 12"/>
          <p:cNvSpPr/>
          <p:nvPr/>
        </p:nvSpPr>
        <p:spPr>
          <a:xfrm flipH="1">
            <a:off x="4634308" y="2060849"/>
            <a:ext cx="45719" cy="2448272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7"/>
          <p:cNvSpPr/>
          <p:nvPr/>
        </p:nvSpPr>
        <p:spPr>
          <a:xfrm flipH="1">
            <a:off x="5220072" y="2132856"/>
            <a:ext cx="1224136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 flipH="1">
            <a:off x="4644008" y="2276872"/>
            <a:ext cx="1656184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7"/>
          <p:cNvSpPr/>
          <p:nvPr/>
        </p:nvSpPr>
        <p:spPr>
          <a:xfrm flipH="1">
            <a:off x="4644008" y="3356992"/>
            <a:ext cx="1584176" cy="144016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7"/>
          <p:cNvSpPr/>
          <p:nvPr/>
        </p:nvSpPr>
        <p:spPr>
          <a:xfrm flipH="1">
            <a:off x="4644008" y="4509120"/>
            <a:ext cx="1584176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9" name="Straight Arrow Connector 118"/>
          <p:cNvCxnSpPr/>
          <p:nvPr/>
        </p:nvCxnSpPr>
        <p:spPr bwMode="auto">
          <a:xfrm>
            <a:off x="63001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2" name="Straight Arrow Connector 121"/>
          <p:cNvCxnSpPr/>
          <p:nvPr/>
        </p:nvCxnSpPr>
        <p:spPr bwMode="auto">
          <a:xfrm>
            <a:off x="64525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3" name="Straight Arrow Connector 122"/>
          <p:cNvCxnSpPr/>
          <p:nvPr/>
        </p:nvCxnSpPr>
        <p:spPr bwMode="auto">
          <a:xfrm>
            <a:off x="666023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4" name="Straight Arrow Connector 123"/>
          <p:cNvCxnSpPr/>
          <p:nvPr/>
        </p:nvCxnSpPr>
        <p:spPr bwMode="auto">
          <a:xfrm>
            <a:off x="6660232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5" name="Straight Arrow Connector 124"/>
          <p:cNvCxnSpPr/>
          <p:nvPr/>
        </p:nvCxnSpPr>
        <p:spPr bwMode="auto">
          <a:xfrm>
            <a:off x="6228184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6" name="Straight Arrow Connector 125"/>
          <p:cNvCxnSpPr/>
          <p:nvPr/>
        </p:nvCxnSpPr>
        <p:spPr bwMode="auto">
          <a:xfrm>
            <a:off x="6372200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7" name="Straight Arrow Connector 126"/>
          <p:cNvCxnSpPr/>
          <p:nvPr/>
        </p:nvCxnSpPr>
        <p:spPr bwMode="auto">
          <a:xfrm>
            <a:off x="6660232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8" name="Straight Arrow Connector 127"/>
          <p:cNvCxnSpPr/>
          <p:nvPr/>
        </p:nvCxnSpPr>
        <p:spPr bwMode="auto">
          <a:xfrm>
            <a:off x="6372200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30" name="Straight Arrow Connector 129"/>
          <p:cNvCxnSpPr/>
          <p:nvPr/>
        </p:nvCxnSpPr>
        <p:spPr bwMode="auto">
          <a:xfrm>
            <a:off x="6228184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sp>
        <p:nvSpPr>
          <p:cNvPr id="131" name="object 3"/>
          <p:cNvSpPr txBox="1">
            <a:spLocks/>
          </p:cNvSpPr>
          <p:nvPr/>
        </p:nvSpPr>
        <p:spPr>
          <a:xfrm>
            <a:off x="-900608" y="387406"/>
            <a:ext cx="9505056" cy="738663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400" spc="-25" dirty="0"/>
              <a:t>Esercizio 4.a: Soluzione</a:t>
            </a:r>
            <a:endParaRPr lang="it-IT" sz="44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2ABD1D4-3254-0139-4170-DF7E167467A6}"/>
              </a:ext>
            </a:extLst>
          </p:cNvPr>
          <p:cNvSpPr txBox="1"/>
          <p:nvPr/>
        </p:nvSpPr>
        <p:spPr>
          <a:xfrm>
            <a:off x="1419863" y="4500795"/>
            <a:ext cx="50980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 err="1"/>
              <a:t>Segnali</a:t>
            </a:r>
            <a:r>
              <a:rPr lang="en-US" dirty="0"/>
              <a:t> di </a:t>
            </a:r>
            <a:r>
              <a:rPr lang="en-US" dirty="0" err="1"/>
              <a:t>controllo</a:t>
            </a:r>
            <a:r>
              <a:rPr lang="en-US" dirty="0"/>
              <a:t> per AND: </a:t>
            </a:r>
          </a:p>
          <a:p>
            <a:pPr algn="l"/>
            <a:r>
              <a:rPr lang="en-US" dirty="0" err="1"/>
              <a:t>Ainvert</a:t>
            </a:r>
            <a:r>
              <a:rPr lang="en-US" dirty="0"/>
              <a:t> 0, </a:t>
            </a:r>
            <a:r>
              <a:rPr lang="en-US" dirty="0" err="1"/>
              <a:t>Bnegate</a:t>
            </a:r>
            <a:r>
              <a:rPr lang="en-US" dirty="0"/>
              <a:t> 0, Op 00 (4 zero in alto)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OP:</a:t>
            </a:r>
            <a:br>
              <a:rPr lang="en-US" dirty="0"/>
            </a:br>
            <a:r>
              <a:rPr lang="en-US" dirty="0"/>
              <a:t>AND 00</a:t>
            </a:r>
          </a:p>
          <a:p>
            <a:pPr algn="l"/>
            <a:r>
              <a:rPr lang="en-US" dirty="0"/>
              <a:t>OR 01</a:t>
            </a:r>
          </a:p>
          <a:p>
            <a:pPr algn="l"/>
            <a:r>
              <a:rPr lang="en-US" dirty="0"/>
              <a:t>ADD 10</a:t>
            </a:r>
          </a:p>
          <a:p>
            <a:pPr algn="l"/>
            <a:r>
              <a:rPr lang="en-US" dirty="0"/>
              <a:t>SLT 11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97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5" grpId="0" animBg="1"/>
      <p:bldP spid="28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8" grpId="0" animBg="1"/>
      <p:bldP spid="69" grpId="0" animBg="1"/>
      <p:bldP spid="70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/>
      <p:bldP spid="90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6" grpId="0"/>
      <p:bldP spid="110" grpId="0" animBg="1"/>
      <p:bldP spid="113" grpId="0" animBg="1"/>
      <p:bldP spid="114" grpId="0" animBg="1"/>
      <p:bldP spid="115" grpId="0" animBg="1"/>
      <p:bldP spid="1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4.b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00808"/>
            <a:ext cx="88569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Sullo schema progettato all’Esercizio 4, mostrare il risultato dell’operazione </a:t>
            </a:r>
            <a:r>
              <a:rPr lang="it-IT" sz="28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OR (010,001)</a:t>
            </a: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, indicando il valore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dei bit trasportati su ogni filo del circuito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8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dei segnali di controllo</a:t>
            </a:r>
            <a:endParaRPr lang="it-IT" sz="2400" b="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43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1"/>
          <p:cNvSpPr txBox="1"/>
          <p:nvPr/>
        </p:nvSpPr>
        <p:spPr>
          <a:xfrm>
            <a:off x="395536" y="1700808"/>
            <a:ext cx="88569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Input: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a=010</a:t>
            </a: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b=001</a:t>
            </a: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457200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>
                <a:solidFill>
                  <a:srgbClr val="000000"/>
                </a:solidFill>
                <a:latin typeface="+mn-lt"/>
                <a:ea typeface="Cambria Math" charset="0"/>
                <a:cs typeface="Cambria Math" charset="0"/>
              </a:rPr>
              <a:t>Output: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r>
              <a:rPr lang="it-IT" sz="20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Result</a:t>
            </a:r>
            <a:r>
              <a:rPr lang="it-IT" sz="20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=OR(</a:t>
            </a:r>
            <a:r>
              <a:rPr lang="it-IT" sz="2000" b="0" dirty="0" err="1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a,b</a:t>
            </a:r>
            <a:r>
              <a:rPr lang="it-IT" sz="2000" b="0" dirty="0">
                <a:solidFill>
                  <a:srgbClr val="CC0000"/>
                </a:solidFill>
                <a:latin typeface="+mn-lt"/>
                <a:ea typeface="Cambria Math" charset="0"/>
                <a:cs typeface="Cambria Math" charset="0"/>
              </a:rPr>
              <a:t>)=011</a:t>
            </a: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="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  <a:p>
            <a:pPr marL="914400" lvl="1" indent="-457200" algn="l">
              <a:buClr>
                <a:schemeClr val="accent2"/>
              </a:buClr>
              <a:buFont typeface="Wingdings" charset="2"/>
              <a:buChar char="Ø"/>
            </a:pPr>
            <a:endParaRPr lang="it-IT" sz="2000" baseline="-25000" dirty="0">
              <a:solidFill>
                <a:srgbClr val="000000"/>
              </a:solidFill>
              <a:latin typeface="+mn-lt"/>
              <a:ea typeface="Cambria Math" charset="0"/>
              <a:cs typeface="Cambria Math" charset="0"/>
            </a:endParaRPr>
          </a:p>
        </p:txBody>
      </p:sp>
      <p:sp>
        <p:nvSpPr>
          <p:cNvPr id="5" name="object 2"/>
          <p:cNvSpPr/>
          <p:nvPr/>
        </p:nvSpPr>
        <p:spPr>
          <a:xfrm>
            <a:off x="5222495" y="4437112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/>
          <p:cNvSpPr/>
          <p:nvPr/>
        </p:nvSpPr>
        <p:spPr>
          <a:xfrm>
            <a:off x="6660232" y="4437112"/>
            <a:ext cx="1134185" cy="288032"/>
          </a:xfrm>
          <a:custGeom>
            <a:avLst/>
            <a:gdLst/>
            <a:ahLst/>
            <a:cxnLst/>
            <a:rect l="l" t="t" r="r" b="b"/>
            <a:pathLst>
              <a:path w="1100454" h="252729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/>
          <p:nvPr/>
        </p:nvSpPr>
        <p:spPr>
          <a:xfrm>
            <a:off x="5222495" y="3284984"/>
            <a:ext cx="1149705" cy="288032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0" y="0"/>
                </a:moveTo>
                <a:lnTo>
                  <a:pt x="1099997" y="0"/>
                </a:lnTo>
                <a:lnTo>
                  <a:pt x="1099997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/>
        </p:nvSpPr>
        <p:spPr>
          <a:xfrm>
            <a:off x="6660232" y="3220900"/>
            <a:ext cx="1134185" cy="280108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6660232" y="2132856"/>
            <a:ext cx="1134185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 flipH="1">
            <a:off x="5176776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5"/>
          <p:cNvSpPr/>
          <p:nvPr/>
        </p:nvSpPr>
        <p:spPr>
          <a:xfrm>
            <a:off x="7793958" y="2024217"/>
            <a:ext cx="45719" cy="2412896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2"/>
          <p:cNvSpPr/>
          <p:nvPr/>
        </p:nvSpPr>
        <p:spPr>
          <a:xfrm>
            <a:off x="6174806" y="2479591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3"/>
          <p:cNvSpPr/>
          <p:nvPr/>
        </p:nvSpPr>
        <p:spPr>
          <a:xfrm>
            <a:off x="7956376" y="2699117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4"/>
          <p:cNvSpPr/>
          <p:nvPr/>
        </p:nvSpPr>
        <p:spPr>
          <a:xfrm>
            <a:off x="6090149" y="2528564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5">
                <a:moveTo>
                  <a:pt x="0" y="0"/>
                </a:moveTo>
                <a:lnTo>
                  <a:pt x="0" y="69207"/>
                </a:lnTo>
                <a:lnTo>
                  <a:pt x="75647" y="36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5"/>
          <p:cNvSpPr/>
          <p:nvPr/>
        </p:nvSpPr>
        <p:spPr>
          <a:xfrm>
            <a:off x="5839356" y="2560872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8"/>
          <p:cNvSpPr/>
          <p:nvPr/>
        </p:nvSpPr>
        <p:spPr>
          <a:xfrm>
            <a:off x="6174806" y="3598305"/>
            <a:ext cx="671195" cy="678815"/>
          </a:xfrm>
          <a:custGeom>
            <a:avLst/>
            <a:gdLst/>
            <a:ahLst/>
            <a:cxnLst/>
            <a:rect l="l" t="t" r="r" b="b"/>
            <a:pathLst>
              <a:path w="671195" h="678814">
                <a:moveTo>
                  <a:pt x="666413" y="674731"/>
                </a:moveTo>
                <a:lnTo>
                  <a:pt x="670899" y="0"/>
                </a:lnTo>
                <a:lnTo>
                  <a:pt x="0" y="0"/>
                </a:lnTo>
                <a:lnTo>
                  <a:pt x="0" y="678812"/>
                </a:lnTo>
                <a:lnTo>
                  <a:pt x="670899" y="678812"/>
                </a:lnTo>
              </a:path>
            </a:pathLst>
          </a:custGeom>
          <a:ln w="172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9"/>
          <p:cNvSpPr/>
          <p:nvPr/>
        </p:nvSpPr>
        <p:spPr>
          <a:xfrm>
            <a:off x="7956376" y="3817661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5">
                <a:moveTo>
                  <a:pt x="0" y="0"/>
                </a:moveTo>
                <a:lnTo>
                  <a:pt x="0" y="65126"/>
                </a:lnTo>
                <a:lnTo>
                  <a:pt x="7607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0"/>
          <p:cNvSpPr/>
          <p:nvPr/>
        </p:nvSpPr>
        <p:spPr>
          <a:xfrm>
            <a:off x="6470180" y="3520936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20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1"/>
          <p:cNvSpPr/>
          <p:nvPr/>
        </p:nvSpPr>
        <p:spPr>
          <a:xfrm>
            <a:off x="6505751" y="3158914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167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2"/>
          <p:cNvSpPr/>
          <p:nvPr/>
        </p:nvSpPr>
        <p:spPr>
          <a:xfrm>
            <a:off x="6090149" y="3646938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03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3"/>
          <p:cNvSpPr/>
          <p:nvPr/>
        </p:nvSpPr>
        <p:spPr>
          <a:xfrm>
            <a:off x="5839356" y="3679586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4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7"/>
          <p:cNvSpPr/>
          <p:nvPr/>
        </p:nvSpPr>
        <p:spPr>
          <a:xfrm>
            <a:off x="6174806" y="4716509"/>
            <a:ext cx="671195" cy="679450"/>
          </a:xfrm>
          <a:custGeom>
            <a:avLst/>
            <a:gdLst/>
            <a:ahLst/>
            <a:cxnLst/>
            <a:rect l="l" t="t" r="r" b="b"/>
            <a:pathLst>
              <a:path w="671195" h="679450">
                <a:moveTo>
                  <a:pt x="666413" y="675241"/>
                </a:moveTo>
                <a:lnTo>
                  <a:pt x="670899" y="0"/>
                </a:lnTo>
                <a:lnTo>
                  <a:pt x="0" y="0"/>
                </a:lnTo>
                <a:lnTo>
                  <a:pt x="0" y="679322"/>
                </a:lnTo>
                <a:lnTo>
                  <a:pt x="670899" y="679322"/>
                </a:lnTo>
              </a:path>
            </a:pathLst>
          </a:custGeom>
          <a:ln w="172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8"/>
          <p:cNvSpPr/>
          <p:nvPr/>
        </p:nvSpPr>
        <p:spPr>
          <a:xfrm>
            <a:off x="7956376" y="4936034"/>
            <a:ext cx="76200" cy="65405"/>
          </a:xfrm>
          <a:custGeom>
            <a:avLst/>
            <a:gdLst/>
            <a:ahLst/>
            <a:cxnLst/>
            <a:rect l="l" t="t" r="r" b="b"/>
            <a:pathLst>
              <a:path w="76200" h="65404">
                <a:moveTo>
                  <a:pt x="0" y="0"/>
                </a:moveTo>
                <a:lnTo>
                  <a:pt x="0" y="65296"/>
                </a:lnTo>
                <a:lnTo>
                  <a:pt x="7607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49"/>
          <p:cNvSpPr/>
          <p:nvPr/>
        </p:nvSpPr>
        <p:spPr>
          <a:xfrm>
            <a:off x="6470180" y="4639309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76095" y="0"/>
                </a:moveTo>
                <a:lnTo>
                  <a:pt x="0" y="0"/>
                </a:lnTo>
                <a:lnTo>
                  <a:pt x="40076" y="69037"/>
                </a:lnTo>
                <a:lnTo>
                  <a:pt x="760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0"/>
          <p:cNvSpPr/>
          <p:nvPr/>
        </p:nvSpPr>
        <p:spPr>
          <a:xfrm>
            <a:off x="6505751" y="4277117"/>
            <a:ext cx="5080" cy="386715"/>
          </a:xfrm>
          <a:custGeom>
            <a:avLst/>
            <a:gdLst/>
            <a:ahLst/>
            <a:cxnLst/>
            <a:rect l="l" t="t" r="r" b="b"/>
            <a:pathLst>
              <a:path w="5079" h="386714">
                <a:moveTo>
                  <a:pt x="0" y="386678"/>
                </a:moveTo>
                <a:lnTo>
                  <a:pt x="4504" y="0"/>
                </a:lnTo>
              </a:path>
            </a:pathLst>
          </a:custGeom>
          <a:ln w="18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1"/>
          <p:cNvSpPr/>
          <p:nvPr/>
        </p:nvSpPr>
        <p:spPr>
          <a:xfrm>
            <a:off x="6090149" y="4765141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547"/>
                </a:lnTo>
                <a:lnTo>
                  <a:pt x="75647" y="367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2"/>
          <p:cNvSpPr/>
          <p:nvPr/>
        </p:nvSpPr>
        <p:spPr>
          <a:xfrm>
            <a:off x="5839356" y="4797789"/>
            <a:ext cx="277495" cy="4445"/>
          </a:xfrm>
          <a:custGeom>
            <a:avLst/>
            <a:gdLst/>
            <a:ahLst/>
            <a:cxnLst/>
            <a:rect l="l" t="t" r="r" b="b"/>
            <a:pathLst>
              <a:path w="277495" h="4445">
                <a:moveTo>
                  <a:pt x="277354" y="0"/>
                </a:moveTo>
                <a:lnTo>
                  <a:pt x="0" y="4081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5"/>
          <p:cNvSpPr/>
          <p:nvPr/>
        </p:nvSpPr>
        <p:spPr>
          <a:xfrm flipV="1">
            <a:off x="6845707" y="2686046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6"/>
          <p:cNvSpPr/>
          <p:nvPr/>
        </p:nvSpPr>
        <p:spPr>
          <a:xfrm>
            <a:off x="6845707" y="3850478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/>
          <p:cNvSpPr/>
          <p:nvPr/>
        </p:nvSpPr>
        <p:spPr>
          <a:xfrm flipV="1">
            <a:off x="6845707" y="4922963"/>
            <a:ext cx="1182678" cy="45719"/>
          </a:xfrm>
          <a:custGeom>
            <a:avLst/>
            <a:gdLst/>
            <a:ahLst/>
            <a:cxnLst/>
            <a:rect l="l" t="t" r="r" b="b"/>
            <a:pathLst>
              <a:path w="1226184">
                <a:moveTo>
                  <a:pt x="1225646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6"/>
          <p:cNvSpPr/>
          <p:nvPr/>
        </p:nvSpPr>
        <p:spPr>
          <a:xfrm>
            <a:off x="6090149" y="2699117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77"/>
          <p:cNvSpPr/>
          <p:nvPr/>
        </p:nvSpPr>
        <p:spPr>
          <a:xfrm>
            <a:off x="5839356" y="2731765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78"/>
          <p:cNvSpPr/>
          <p:nvPr/>
        </p:nvSpPr>
        <p:spPr>
          <a:xfrm>
            <a:off x="6090149" y="3817661"/>
            <a:ext cx="76200" cy="69215"/>
          </a:xfrm>
          <a:custGeom>
            <a:avLst/>
            <a:gdLst/>
            <a:ahLst/>
            <a:cxnLst/>
            <a:rect l="l" t="t" r="r" b="b"/>
            <a:pathLst>
              <a:path w="76200" h="69214">
                <a:moveTo>
                  <a:pt x="0" y="0"/>
                </a:moveTo>
                <a:lnTo>
                  <a:pt x="0" y="69207"/>
                </a:lnTo>
                <a:lnTo>
                  <a:pt x="75647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79"/>
          <p:cNvSpPr/>
          <p:nvPr/>
        </p:nvSpPr>
        <p:spPr>
          <a:xfrm>
            <a:off x="5839356" y="3850479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0"/>
          <p:cNvSpPr/>
          <p:nvPr/>
        </p:nvSpPr>
        <p:spPr>
          <a:xfrm>
            <a:off x="6090149" y="4936034"/>
            <a:ext cx="76200" cy="69850"/>
          </a:xfrm>
          <a:custGeom>
            <a:avLst/>
            <a:gdLst/>
            <a:ahLst/>
            <a:cxnLst/>
            <a:rect l="l" t="t" r="r" b="b"/>
            <a:pathLst>
              <a:path w="76200" h="69850">
                <a:moveTo>
                  <a:pt x="0" y="0"/>
                </a:moveTo>
                <a:lnTo>
                  <a:pt x="0" y="69377"/>
                </a:lnTo>
                <a:lnTo>
                  <a:pt x="75647" y="32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1"/>
          <p:cNvSpPr/>
          <p:nvPr/>
        </p:nvSpPr>
        <p:spPr>
          <a:xfrm>
            <a:off x="5839356" y="4968682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>
                <a:moveTo>
                  <a:pt x="277354" y="0"/>
                </a:moveTo>
                <a:lnTo>
                  <a:pt x="0" y="0"/>
                </a:lnTo>
              </a:path>
            </a:pathLst>
          </a:custGeom>
          <a:ln w="16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7"/>
          <p:cNvSpPr txBox="1"/>
          <p:nvPr/>
        </p:nvSpPr>
        <p:spPr>
          <a:xfrm>
            <a:off x="6156176" y="2496100"/>
            <a:ext cx="705459" cy="49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8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899"/>
              </a:lnSpc>
              <a:spcBef>
                <a:spcPts val="25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0" name="object 88"/>
          <p:cNvSpPr txBox="1"/>
          <p:nvPr/>
        </p:nvSpPr>
        <p:spPr>
          <a:xfrm>
            <a:off x="7596336" y="2655090"/>
            <a:ext cx="591679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2" name="object 90"/>
          <p:cNvSpPr txBox="1"/>
          <p:nvPr/>
        </p:nvSpPr>
        <p:spPr>
          <a:xfrm>
            <a:off x="5598817" y="2488448"/>
            <a:ext cx="188595" cy="335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99"/>
              </a:lnSpc>
            </a:pPr>
            <a:r>
              <a:rPr lang="it-IT" sz="1050" spc="4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25" dirty="0">
                <a:latin typeface="+mn-lt"/>
                <a:cs typeface="Arial"/>
              </a:rPr>
              <a:t>1</a:t>
            </a:r>
            <a:endParaRPr sz="1050" baseline="-25000" dirty="0">
              <a:latin typeface="+mn-lt"/>
              <a:cs typeface="Arial"/>
            </a:endParaRPr>
          </a:p>
        </p:txBody>
      </p:sp>
      <p:sp>
        <p:nvSpPr>
          <p:cNvPr id="93" name="object 91"/>
          <p:cNvSpPr txBox="1"/>
          <p:nvPr/>
        </p:nvSpPr>
        <p:spPr>
          <a:xfrm>
            <a:off x="7668344" y="3773464"/>
            <a:ext cx="5327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4" name="object 92"/>
          <p:cNvSpPr txBox="1"/>
          <p:nvPr/>
        </p:nvSpPr>
        <p:spPr>
          <a:xfrm>
            <a:off x="5598817" y="3606651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lang="it-IT" sz="1050" spc="40" dirty="0">
                <a:latin typeface="+mn-lt"/>
                <a:cs typeface="Arial"/>
              </a:rPr>
              <a:t>1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40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5" name="object 93"/>
          <p:cNvSpPr txBox="1"/>
          <p:nvPr/>
        </p:nvSpPr>
        <p:spPr>
          <a:xfrm>
            <a:off x="7668344" y="4869160"/>
            <a:ext cx="5327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114" dirty="0">
                <a:solidFill>
                  <a:srgbClr val="CC0000"/>
                </a:solidFill>
                <a:latin typeface="+mn-lt"/>
                <a:cs typeface="Arial"/>
              </a:rPr>
              <a:t>0</a:t>
            </a:r>
            <a:endParaRPr sz="1050" dirty="0">
              <a:solidFill>
                <a:srgbClr val="CC0000"/>
              </a:solidFill>
              <a:latin typeface="+mn-lt"/>
              <a:cs typeface="Arial"/>
            </a:endParaRPr>
          </a:p>
        </p:txBody>
      </p:sp>
      <p:sp>
        <p:nvSpPr>
          <p:cNvPr id="96" name="object 94"/>
          <p:cNvSpPr txBox="1"/>
          <p:nvPr/>
        </p:nvSpPr>
        <p:spPr>
          <a:xfrm>
            <a:off x="5598817" y="4724855"/>
            <a:ext cx="188595" cy="33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5500"/>
              </a:lnSpc>
            </a:pPr>
            <a:r>
              <a:rPr lang="it-IT" sz="1050" spc="40" dirty="0">
                <a:latin typeface="+mn-lt"/>
                <a:cs typeface="Arial"/>
              </a:rPr>
              <a:t>0</a:t>
            </a:r>
            <a:r>
              <a:rPr sz="1050" spc="25" dirty="0">
                <a:latin typeface="+mn-lt"/>
                <a:cs typeface="Arial"/>
              </a:rPr>
              <a:t> </a:t>
            </a:r>
            <a:r>
              <a:rPr lang="it-IT" sz="1050" spc="25" dirty="0">
                <a:latin typeface="+mn-lt"/>
                <a:cs typeface="Arial"/>
              </a:rPr>
              <a:t>0</a:t>
            </a:r>
            <a:endParaRPr sz="1050" dirty="0">
              <a:latin typeface="+mn-lt"/>
              <a:cs typeface="Arial"/>
            </a:endParaRPr>
          </a:p>
        </p:txBody>
      </p:sp>
      <p:sp>
        <p:nvSpPr>
          <p:cNvPr id="97" name="object 95"/>
          <p:cNvSpPr txBox="1"/>
          <p:nvPr/>
        </p:nvSpPr>
        <p:spPr>
          <a:xfrm>
            <a:off x="7164288" y="1849596"/>
            <a:ext cx="68008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85" dirty="0">
                <a:solidFill>
                  <a:srgbClr val="EB7500"/>
                </a:solidFill>
                <a:latin typeface="Arial"/>
                <a:cs typeface="Arial"/>
              </a:rPr>
              <a:t>01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8" name="object 96"/>
          <p:cNvSpPr txBox="1"/>
          <p:nvPr/>
        </p:nvSpPr>
        <p:spPr>
          <a:xfrm>
            <a:off x="4644008" y="1849596"/>
            <a:ext cx="594096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99" name="object 97"/>
          <p:cNvSpPr txBox="1"/>
          <p:nvPr/>
        </p:nvSpPr>
        <p:spPr>
          <a:xfrm>
            <a:off x="6156176" y="3614813"/>
            <a:ext cx="723516" cy="49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99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1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00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0" name="object 98"/>
          <p:cNvSpPr txBox="1"/>
          <p:nvPr/>
        </p:nvSpPr>
        <p:spPr>
          <a:xfrm>
            <a:off x="6084168" y="4733187"/>
            <a:ext cx="773011" cy="496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675" marR="66040" algn="ctr">
              <a:lnSpc>
                <a:spcPct val="101600"/>
              </a:lnSpc>
            </a:pPr>
            <a:r>
              <a:rPr sz="1050" spc="75" dirty="0">
                <a:latin typeface="Arial"/>
                <a:cs typeface="Arial"/>
              </a:rPr>
              <a:t>Ca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55" dirty="0">
                <a:latin typeface="Arial"/>
                <a:cs typeface="Arial"/>
              </a:rPr>
              <a:t>In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65" dirty="0">
                <a:solidFill>
                  <a:srgbClr val="CC0000"/>
                </a:solidFill>
                <a:latin typeface="+mn-lt"/>
                <a:cs typeface="Arial"/>
              </a:rPr>
              <a:t>A</a:t>
            </a:r>
            <a:r>
              <a:rPr sz="1050" spc="75" dirty="0">
                <a:solidFill>
                  <a:srgbClr val="CC0000"/>
                </a:solidFill>
                <a:latin typeface="+mn-lt"/>
                <a:cs typeface="Arial"/>
              </a:rPr>
              <a:t>L</a:t>
            </a:r>
            <a:r>
              <a:rPr sz="1050" spc="80" dirty="0">
                <a:solidFill>
                  <a:srgbClr val="CC0000"/>
                </a:solidFill>
                <a:latin typeface="+mn-lt"/>
                <a:cs typeface="Arial"/>
              </a:rPr>
              <a:t>U</a:t>
            </a:r>
            <a:r>
              <a:rPr sz="1050" spc="55" baseline="-25000" dirty="0">
                <a:solidFill>
                  <a:srgbClr val="CC0000"/>
                </a:solidFill>
                <a:latin typeface="+mn-lt"/>
                <a:cs typeface="Arial"/>
              </a:rPr>
              <a:t>2</a:t>
            </a:r>
            <a:endParaRPr sz="1050" baseline="-25000" dirty="0">
              <a:solidFill>
                <a:srgbClr val="CC0000"/>
              </a:solidFill>
              <a:latin typeface="+mn-lt"/>
              <a:cs typeface="Arial"/>
            </a:endParaRPr>
          </a:p>
          <a:p>
            <a:pPr marL="12700" marR="5080" indent="-60960" algn="ctr">
              <a:lnSpc>
                <a:spcPct val="101699"/>
              </a:lnSpc>
              <a:spcBef>
                <a:spcPts val="30"/>
              </a:spcBef>
            </a:pP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C</a:t>
            </a:r>
            <a:r>
              <a:rPr sz="1050" spc="75" dirty="0">
                <a:latin typeface="Arial"/>
                <a:cs typeface="Arial"/>
              </a:rPr>
              <a:t>a</a:t>
            </a:r>
            <a:r>
              <a:rPr sz="1050" spc="30" dirty="0">
                <a:latin typeface="Arial"/>
                <a:cs typeface="Arial"/>
              </a:rPr>
              <a:t>rry</a:t>
            </a:r>
            <a:r>
              <a:rPr sz="1050" spc="90" dirty="0">
                <a:latin typeface="Arial"/>
                <a:cs typeface="Arial"/>
              </a:rPr>
              <a:t>O</a:t>
            </a:r>
            <a:r>
              <a:rPr sz="1050" spc="75" dirty="0">
                <a:latin typeface="Arial"/>
                <a:cs typeface="Arial"/>
              </a:rPr>
              <a:t>u</a:t>
            </a:r>
            <a:r>
              <a:rPr sz="1050" spc="25" dirty="0">
                <a:latin typeface="Arial"/>
                <a:cs typeface="Arial"/>
              </a:rPr>
              <a:t>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06" name="object 96"/>
          <p:cNvSpPr txBox="1"/>
          <p:nvPr/>
        </p:nvSpPr>
        <p:spPr>
          <a:xfrm>
            <a:off x="4211960" y="1844824"/>
            <a:ext cx="487045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it-IT" sz="1050" spc="65" dirty="0">
                <a:solidFill>
                  <a:srgbClr val="EB7500"/>
                </a:solidFill>
                <a:latin typeface="Arial"/>
                <a:cs typeface="Arial"/>
              </a:rPr>
              <a:t>0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10" name="object 12"/>
          <p:cNvSpPr/>
          <p:nvPr/>
        </p:nvSpPr>
        <p:spPr>
          <a:xfrm flipH="1">
            <a:off x="4634308" y="2060849"/>
            <a:ext cx="45719" cy="2448272"/>
          </a:xfrm>
          <a:custGeom>
            <a:avLst/>
            <a:gdLst/>
            <a:ahLst/>
            <a:cxnLst/>
            <a:rect l="l" t="t" r="r" b="b"/>
            <a:pathLst>
              <a:path h="3668395">
                <a:moveTo>
                  <a:pt x="0" y="3668340"/>
                </a:moveTo>
                <a:lnTo>
                  <a:pt x="0" y="0"/>
                </a:lnTo>
              </a:path>
            </a:pathLst>
          </a:custGeom>
          <a:ln w="18010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7"/>
          <p:cNvSpPr/>
          <p:nvPr/>
        </p:nvSpPr>
        <p:spPr>
          <a:xfrm flipH="1">
            <a:off x="5220072" y="2132856"/>
            <a:ext cx="1224136" cy="360040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 flipH="1">
            <a:off x="4644008" y="2276872"/>
            <a:ext cx="1656184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7"/>
          <p:cNvSpPr/>
          <p:nvPr/>
        </p:nvSpPr>
        <p:spPr>
          <a:xfrm flipH="1">
            <a:off x="4644008" y="3356992"/>
            <a:ext cx="1584176" cy="144016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7"/>
          <p:cNvSpPr/>
          <p:nvPr/>
        </p:nvSpPr>
        <p:spPr>
          <a:xfrm flipH="1">
            <a:off x="4644008" y="4509120"/>
            <a:ext cx="1584176" cy="216024"/>
          </a:xfrm>
          <a:custGeom>
            <a:avLst/>
            <a:gdLst/>
            <a:ahLst/>
            <a:cxnLst/>
            <a:rect l="l" t="t" r="r" b="b"/>
            <a:pathLst>
              <a:path w="1100454" h="252730">
                <a:moveTo>
                  <a:pt x="1099997" y="0"/>
                </a:moveTo>
                <a:lnTo>
                  <a:pt x="0" y="0"/>
                </a:lnTo>
                <a:lnTo>
                  <a:pt x="0" y="252173"/>
                </a:lnTo>
              </a:path>
            </a:pathLst>
          </a:custGeom>
          <a:ln w="16465">
            <a:solidFill>
              <a:srgbClr val="EB75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119" name="Straight Arrow Connector 118"/>
          <p:cNvCxnSpPr/>
          <p:nvPr/>
        </p:nvCxnSpPr>
        <p:spPr bwMode="auto">
          <a:xfrm>
            <a:off x="63001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2" name="Straight Arrow Connector 121"/>
          <p:cNvCxnSpPr/>
          <p:nvPr/>
        </p:nvCxnSpPr>
        <p:spPr bwMode="auto">
          <a:xfrm>
            <a:off x="645259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3" name="Straight Arrow Connector 122"/>
          <p:cNvCxnSpPr/>
          <p:nvPr/>
        </p:nvCxnSpPr>
        <p:spPr bwMode="auto">
          <a:xfrm>
            <a:off x="6660232" y="227687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4" name="Straight Arrow Connector 123"/>
          <p:cNvCxnSpPr/>
          <p:nvPr/>
        </p:nvCxnSpPr>
        <p:spPr bwMode="auto">
          <a:xfrm>
            <a:off x="6660232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5" name="Straight Arrow Connector 124"/>
          <p:cNvCxnSpPr/>
          <p:nvPr/>
        </p:nvCxnSpPr>
        <p:spPr bwMode="auto">
          <a:xfrm>
            <a:off x="6228184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6" name="Straight Arrow Connector 125"/>
          <p:cNvCxnSpPr/>
          <p:nvPr/>
        </p:nvCxnSpPr>
        <p:spPr bwMode="auto">
          <a:xfrm>
            <a:off x="6372200" y="3356992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7" name="Straight Arrow Connector 126"/>
          <p:cNvCxnSpPr/>
          <p:nvPr/>
        </p:nvCxnSpPr>
        <p:spPr bwMode="auto">
          <a:xfrm>
            <a:off x="6660232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28" name="Straight Arrow Connector 127"/>
          <p:cNvCxnSpPr/>
          <p:nvPr/>
        </p:nvCxnSpPr>
        <p:spPr bwMode="auto">
          <a:xfrm>
            <a:off x="6372200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cxnSp>
        <p:nvCxnSpPr>
          <p:cNvPr id="130" name="Straight Arrow Connector 129"/>
          <p:cNvCxnSpPr/>
          <p:nvPr/>
        </p:nvCxnSpPr>
        <p:spPr bwMode="auto">
          <a:xfrm>
            <a:off x="6228184" y="4509120"/>
            <a:ext cx="0" cy="216024"/>
          </a:xfrm>
          <a:prstGeom prst="straightConnector1">
            <a:avLst/>
          </a:prstGeom>
          <a:noFill/>
          <a:ln w="9525" cap="flat" cmpd="sng" algn="ctr">
            <a:solidFill>
              <a:srgbClr val="FF6600"/>
            </a:solidFill>
            <a:prstDash val="solid"/>
            <a:miter lim="800000"/>
            <a:headEnd type="none" w="sm" len="sm"/>
            <a:tailEnd type="arrow"/>
          </a:ln>
          <a:effectLst/>
        </p:spPr>
      </p:cxnSp>
      <p:sp>
        <p:nvSpPr>
          <p:cNvPr id="131" name="object 3"/>
          <p:cNvSpPr txBox="1">
            <a:spLocks/>
          </p:cNvSpPr>
          <p:nvPr/>
        </p:nvSpPr>
        <p:spPr>
          <a:xfrm>
            <a:off x="-900608" y="387406"/>
            <a:ext cx="9505056" cy="738663"/>
          </a:xfrm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880235"/>
            <a:r>
              <a:rPr lang="it-IT" sz="4400" spc="-25" dirty="0"/>
              <a:t>Esercizio 4.b: Soluzione</a:t>
            </a:r>
            <a:endParaRPr lang="it-IT" sz="44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A0C245E-538E-EC30-9C2F-EE85ACFCB24B}"/>
              </a:ext>
            </a:extLst>
          </p:cNvPr>
          <p:cNvSpPr txBox="1"/>
          <p:nvPr/>
        </p:nvSpPr>
        <p:spPr>
          <a:xfrm>
            <a:off x="1419863" y="4500795"/>
            <a:ext cx="50980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 err="1"/>
              <a:t>Segnali</a:t>
            </a:r>
            <a:r>
              <a:rPr lang="en-US" dirty="0"/>
              <a:t> di </a:t>
            </a:r>
            <a:r>
              <a:rPr lang="en-US" dirty="0" err="1"/>
              <a:t>controllo</a:t>
            </a:r>
            <a:r>
              <a:rPr lang="en-US" dirty="0"/>
              <a:t> per AND: </a:t>
            </a:r>
          </a:p>
          <a:p>
            <a:pPr algn="l"/>
            <a:r>
              <a:rPr lang="en-US" dirty="0" err="1"/>
              <a:t>Ainvert</a:t>
            </a:r>
            <a:r>
              <a:rPr lang="en-US" dirty="0"/>
              <a:t> 0, </a:t>
            </a:r>
            <a:r>
              <a:rPr lang="en-US" dirty="0" err="1"/>
              <a:t>Bnegate</a:t>
            </a:r>
            <a:r>
              <a:rPr lang="en-US" dirty="0"/>
              <a:t> 0, Op 01 (4 zero in alto)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OP:</a:t>
            </a:r>
            <a:br>
              <a:rPr lang="en-US" dirty="0"/>
            </a:br>
            <a:r>
              <a:rPr lang="en-US" dirty="0"/>
              <a:t>AND 00</a:t>
            </a:r>
          </a:p>
          <a:p>
            <a:pPr algn="l"/>
            <a:r>
              <a:rPr lang="en-US" dirty="0"/>
              <a:t>OR 01</a:t>
            </a:r>
          </a:p>
          <a:p>
            <a:pPr algn="l"/>
            <a:r>
              <a:rPr lang="en-US" dirty="0"/>
              <a:t>ADD 10</a:t>
            </a:r>
          </a:p>
          <a:p>
            <a:pPr algn="l"/>
            <a:r>
              <a:rPr lang="en-US" dirty="0"/>
              <a:t>SLT 11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36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5" grpId="0" animBg="1"/>
      <p:bldP spid="28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8" grpId="0" animBg="1"/>
      <p:bldP spid="69" grpId="0" animBg="1"/>
      <p:bldP spid="70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/>
      <p:bldP spid="90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6" grpId="0"/>
      <p:bldP spid="110" grpId="0" animBg="1"/>
      <p:bldP spid="113" grpId="0" animBg="1"/>
      <p:bldP spid="114" grpId="0" animBg="1"/>
      <p:bldP spid="115" grpId="0" animBg="1"/>
      <p:bldP spid="1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cosa </a:t>
            </a:r>
            <a:br>
              <a:rPr lang="it-IT" sz="4800" dirty="0"/>
            </a:br>
            <a:r>
              <a:rPr lang="it-IT" sz="4800" dirty="0"/>
              <a:t>ci esercitiamo 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73224" y="1705322"/>
            <a:ext cx="8363272" cy="4171950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800" dirty="0" err="1">
                <a:ea typeface="MS PGothic" charset="-128"/>
              </a:rPr>
              <a:t>Datapath</a:t>
            </a:r>
            <a:r>
              <a:rPr lang="it-IT" sz="2800" dirty="0">
                <a:ea typeface="MS PGothic" charset="-128"/>
              </a:rPr>
              <a:t> (Unità di Elaborazione)</a:t>
            </a:r>
          </a:p>
          <a:p>
            <a:pPr marL="857250" lvl="1" indent="-457200">
              <a:buFont typeface="Wingdings" charset="2"/>
              <a:buChar char="Ø"/>
            </a:pPr>
            <a:r>
              <a:rPr lang="it-IT" sz="2400" dirty="0">
                <a:ea typeface="MS PGothic" charset="-128"/>
              </a:rPr>
              <a:t>Istruzioni </a:t>
            </a:r>
            <a:r>
              <a:rPr lang="it-IT" sz="2400" dirty="0" err="1">
                <a:ea typeface="MS PGothic" charset="-128"/>
              </a:rPr>
              <a:t>add</a:t>
            </a:r>
            <a:r>
              <a:rPr lang="it-IT" sz="2400" dirty="0">
                <a:ea typeface="MS PGothic" charset="-128"/>
              </a:rPr>
              <a:t>, </a:t>
            </a:r>
            <a:r>
              <a:rPr lang="it-IT" sz="2400" dirty="0" err="1">
                <a:ea typeface="MS PGothic" charset="-128"/>
              </a:rPr>
              <a:t>lw</a:t>
            </a:r>
            <a:r>
              <a:rPr lang="it-IT" sz="2400" dirty="0">
                <a:ea typeface="MS PGothic" charset="-128"/>
              </a:rPr>
              <a:t>, </a:t>
            </a:r>
            <a:r>
              <a:rPr lang="it-IT" sz="2400" dirty="0" err="1">
                <a:ea typeface="MS PGothic" charset="-128"/>
              </a:rPr>
              <a:t>sw</a:t>
            </a:r>
            <a:r>
              <a:rPr lang="it-IT" sz="2400" dirty="0">
                <a:ea typeface="MS PGothic" charset="-128"/>
              </a:rPr>
              <a:t>, </a:t>
            </a:r>
            <a:r>
              <a:rPr lang="it-IT" sz="2400" dirty="0" err="1">
                <a:ea typeface="MS PGothic" charset="-128"/>
              </a:rPr>
              <a:t>beq</a:t>
            </a:r>
            <a:r>
              <a:rPr lang="it-IT" sz="2400" dirty="0">
                <a:ea typeface="MS PGothic" charset="-128"/>
              </a:rPr>
              <a:t> nell’implementazione a ciclo singolo</a:t>
            </a:r>
          </a:p>
          <a:p>
            <a:pPr marL="457200" indent="-457200">
              <a:buFont typeface="Wingdings" charset="2"/>
              <a:buChar char="Ø"/>
            </a:pPr>
            <a:r>
              <a:rPr lang="it-IT" sz="2800" dirty="0" err="1">
                <a:ea typeface="MS PGothic" charset="-128"/>
              </a:rPr>
              <a:t>Hazard</a:t>
            </a:r>
            <a:r>
              <a:rPr lang="it-IT" sz="2800" dirty="0">
                <a:ea typeface="MS PGothic" charset="-128"/>
              </a:rPr>
              <a:t> sui dati</a:t>
            </a:r>
          </a:p>
          <a:p>
            <a:pPr marL="857250" lvl="1" indent="-457200">
              <a:buNone/>
            </a:pPr>
            <a:endParaRPr lang="it-IT" dirty="0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76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285061"/>
            <a:ext cx="8356600" cy="839683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Domanda</a:t>
            </a:r>
            <a:r>
              <a:rPr lang="en-US" sz="4400" spc="-25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sul</a:t>
            </a:r>
            <a:r>
              <a:rPr lang="en-US" sz="4400" spc="-25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Datapath</a:t>
            </a: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4987"/>
            <a:ext cx="91440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58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sp>
        <p:nvSpPr>
          <p:cNvPr id="196" name="object 7"/>
          <p:cNvSpPr txBox="1"/>
          <p:nvPr/>
        </p:nvSpPr>
        <p:spPr>
          <a:xfrm>
            <a:off x="6165284" y="6267152"/>
            <a:ext cx="258318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ad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d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rd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b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rs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rt</a:t>
            </a:r>
            <a:endParaRPr sz="24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pic>
        <p:nvPicPr>
          <p:cNvPr id="197" name="Picture 3" descr="Schermata 2017-09-08 alle 19.03.47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77" y="5486851"/>
            <a:ext cx="2526430" cy="534437"/>
          </a:xfrm>
          <a:prstGeom prst="rect">
            <a:avLst/>
          </a:prstGeom>
        </p:spPr>
      </p:pic>
      <p:sp>
        <p:nvSpPr>
          <p:cNvPr id="157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164" name="Immagine 1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0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165284" y="6267152"/>
            <a:ext cx="25831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ad</a:t>
            </a:r>
            <a:r>
              <a:rPr sz="2400" b="1" dirty="0">
                <a:latin typeface="Courier New"/>
                <a:cs typeface="Courier New"/>
              </a:rPr>
              <a:t>d </a:t>
            </a:r>
            <a:r>
              <a:rPr sz="2400" b="1" spc="-5" dirty="0">
                <a:latin typeface="Courier New"/>
                <a:cs typeface="Courier New"/>
              </a:rPr>
              <a:t>rd</a:t>
            </a:r>
            <a:r>
              <a:rPr sz="2400" b="1" dirty="0">
                <a:latin typeface="Courier New"/>
                <a:cs typeface="Courier New"/>
              </a:rPr>
              <a:t>,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rs</a:t>
            </a:r>
            <a:r>
              <a:rPr sz="2400" b="1" dirty="0">
                <a:latin typeface="Courier New"/>
                <a:cs typeface="Courier New"/>
              </a:rPr>
              <a:t>, </a:t>
            </a:r>
            <a:r>
              <a:rPr sz="2400" b="1" spc="-5" dirty="0">
                <a:latin typeface="Courier New"/>
                <a:cs typeface="Courier New"/>
              </a:rPr>
              <a:t>rt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3000" y="2656332"/>
            <a:ext cx="605155" cy="147955"/>
          </a:xfrm>
          <a:custGeom>
            <a:avLst/>
            <a:gdLst/>
            <a:ahLst/>
            <a:cxnLst/>
            <a:rect l="l" t="t" r="r" b="b"/>
            <a:pathLst>
              <a:path w="605155" h="147955">
                <a:moveTo>
                  <a:pt x="0" y="147827"/>
                </a:moveTo>
                <a:lnTo>
                  <a:pt x="605027" y="147827"/>
                </a:lnTo>
                <a:lnTo>
                  <a:pt x="6050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5800" y="32766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5" h="147954">
                <a:moveTo>
                  <a:pt x="0" y="147827"/>
                </a:moveTo>
                <a:lnTo>
                  <a:pt x="452628" y="147827"/>
                </a:lnTo>
                <a:lnTo>
                  <a:pt x="452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6195" y="2205227"/>
            <a:ext cx="180340" cy="1186180"/>
          </a:xfrm>
          <a:custGeom>
            <a:avLst/>
            <a:gdLst/>
            <a:ahLst/>
            <a:cxnLst/>
            <a:rect l="l" t="t" r="r" b="b"/>
            <a:pathLst>
              <a:path w="180340" h="1186179">
                <a:moveTo>
                  <a:pt x="0" y="1185672"/>
                </a:moveTo>
                <a:lnTo>
                  <a:pt x="179832" y="1185672"/>
                </a:lnTo>
                <a:lnTo>
                  <a:pt x="179832" y="0"/>
                </a:lnTo>
                <a:lnTo>
                  <a:pt x="0" y="0"/>
                </a:lnTo>
                <a:lnTo>
                  <a:pt x="0" y="1185672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4672" y="2080260"/>
            <a:ext cx="943610" cy="125095"/>
          </a:xfrm>
          <a:custGeom>
            <a:avLst/>
            <a:gdLst/>
            <a:ahLst/>
            <a:cxnLst/>
            <a:rect l="l" t="t" r="r" b="b"/>
            <a:pathLst>
              <a:path w="943610" h="125094">
                <a:moveTo>
                  <a:pt x="0" y="124967"/>
                </a:moveTo>
                <a:lnTo>
                  <a:pt x="943355" y="124967"/>
                </a:lnTo>
                <a:lnTo>
                  <a:pt x="943355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56460" y="2415539"/>
            <a:ext cx="3804285" cy="147955"/>
          </a:xfrm>
          <a:custGeom>
            <a:avLst/>
            <a:gdLst/>
            <a:ahLst/>
            <a:cxnLst/>
            <a:rect l="l" t="t" r="r" b="b"/>
            <a:pathLst>
              <a:path w="3804285" h="147955">
                <a:moveTo>
                  <a:pt x="0" y="147827"/>
                </a:moveTo>
                <a:lnTo>
                  <a:pt x="3803904" y="147827"/>
                </a:lnTo>
                <a:lnTo>
                  <a:pt x="3803904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00928" y="2205227"/>
            <a:ext cx="147955" cy="304800"/>
          </a:xfrm>
          <a:custGeom>
            <a:avLst/>
            <a:gdLst/>
            <a:ahLst/>
            <a:cxnLst/>
            <a:rect l="l" t="t" r="r" b="b"/>
            <a:pathLst>
              <a:path w="147954" h="304800">
                <a:moveTo>
                  <a:pt x="0" y="304800"/>
                </a:moveTo>
                <a:lnTo>
                  <a:pt x="147827" y="304800"/>
                </a:lnTo>
                <a:lnTo>
                  <a:pt x="1478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90259" y="2080260"/>
            <a:ext cx="1213485" cy="125095"/>
          </a:xfrm>
          <a:custGeom>
            <a:avLst/>
            <a:gdLst/>
            <a:ahLst/>
            <a:cxnLst/>
            <a:rect l="l" t="t" r="r" b="b"/>
            <a:pathLst>
              <a:path w="1213484" h="125094">
                <a:moveTo>
                  <a:pt x="0" y="124967"/>
                </a:moveTo>
                <a:lnTo>
                  <a:pt x="1213104" y="124967"/>
                </a:lnTo>
                <a:lnTo>
                  <a:pt x="1213104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10400" y="2438400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5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99731" y="2110739"/>
            <a:ext cx="147955" cy="452755"/>
          </a:xfrm>
          <a:custGeom>
            <a:avLst/>
            <a:gdLst/>
            <a:ahLst/>
            <a:cxnLst/>
            <a:rect l="l" t="t" r="r" b="b"/>
            <a:pathLst>
              <a:path w="147954" h="452755">
                <a:moveTo>
                  <a:pt x="0" y="452627"/>
                </a:moveTo>
                <a:lnTo>
                  <a:pt x="147827" y="452627"/>
                </a:lnTo>
                <a:lnTo>
                  <a:pt x="147827" y="0"/>
                </a:lnTo>
                <a:lnTo>
                  <a:pt x="0" y="0"/>
                </a:lnTo>
                <a:lnTo>
                  <a:pt x="0" y="452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55992" y="1687067"/>
            <a:ext cx="135890" cy="899160"/>
          </a:xfrm>
          <a:custGeom>
            <a:avLst/>
            <a:gdLst/>
            <a:ahLst/>
            <a:cxnLst/>
            <a:rect l="l" t="t" r="r" b="b"/>
            <a:pathLst>
              <a:path w="135890" h="899160">
                <a:moveTo>
                  <a:pt x="0" y="899160"/>
                </a:moveTo>
                <a:lnTo>
                  <a:pt x="135635" y="899160"/>
                </a:lnTo>
                <a:lnTo>
                  <a:pt x="135635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1687067"/>
            <a:ext cx="7615555" cy="147955"/>
          </a:xfrm>
          <a:custGeom>
            <a:avLst/>
            <a:gdLst/>
            <a:ahLst/>
            <a:cxnLst/>
            <a:rect l="l" t="t" r="r" b="b"/>
            <a:pathLst>
              <a:path w="7615555" h="147955">
                <a:moveTo>
                  <a:pt x="0" y="147827"/>
                </a:moveTo>
                <a:lnTo>
                  <a:pt x="7615428" y="147827"/>
                </a:lnTo>
                <a:lnTo>
                  <a:pt x="76154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8495" y="3308603"/>
            <a:ext cx="170180" cy="116205"/>
          </a:xfrm>
          <a:custGeom>
            <a:avLst/>
            <a:gdLst/>
            <a:ahLst/>
            <a:cxnLst/>
            <a:rect l="l" t="t" r="r" b="b"/>
            <a:pathLst>
              <a:path w="170179" h="116204">
                <a:moveTo>
                  <a:pt x="0" y="115824"/>
                </a:moveTo>
                <a:lnTo>
                  <a:pt x="170084" y="115824"/>
                </a:lnTo>
                <a:lnTo>
                  <a:pt x="170084" y="0"/>
                </a:lnTo>
                <a:lnTo>
                  <a:pt x="0" y="0"/>
                </a:lnTo>
                <a:lnTo>
                  <a:pt x="0" y="11582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667" y="1828800"/>
            <a:ext cx="147955" cy="1595755"/>
          </a:xfrm>
          <a:custGeom>
            <a:avLst/>
            <a:gdLst/>
            <a:ahLst/>
            <a:cxnLst/>
            <a:rect l="l" t="t" r="r" b="b"/>
            <a:pathLst>
              <a:path w="147955" h="1595754">
                <a:moveTo>
                  <a:pt x="0" y="1595627"/>
                </a:moveTo>
                <a:lnTo>
                  <a:pt x="147828" y="1595627"/>
                </a:lnTo>
                <a:lnTo>
                  <a:pt x="147828" y="0"/>
                </a:lnTo>
                <a:lnTo>
                  <a:pt x="0" y="0"/>
                </a:lnTo>
                <a:lnTo>
                  <a:pt x="0" y="1595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56931" y="2537460"/>
            <a:ext cx="224154" cy="125095"/>
          </a:xfrm>
          <a:custGeom>
            <a:avLst/>
            <a:gdLst/>
            <a:ahLst/>
            <a:cxnLst/>
            <a:rect l="l" t="t" r="r" b="b"/>
            <a:pathLst>
              <a:path w="224154" h="125094">
                <a:moveTo>
                  <a:pt x="0" y="124967"/>
                </a:moveTo>
                <a:lnTo>
                  <a:pt x="224027" y="124967"/>
                </a:lnTo>
                <a:lnTo>
                  <a:pt x="2240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84772" y="3886200"/>
            <a:ext cx="954405" cy="147955"/>
          </a:xfrm>
          <a:custGeom>
            <a:avLst/>
            <a:gdLst/>
            <a:ahLst/>
            <a:cxnLst/>
            <a:rect l="l" t="t" r="r" b="b"/>
            <a:pathLst>
              <a:path w="954404" h="147954">
                <a:moveTo>
                  <a:pt x="0" y="147827"/>
                </a:moveTo>
                <a:lnTo>
                  <a:pt x="954255" y="147827"/>
                </a:lnTo>
                <a:lnTo>
                  <a:pt x="9542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62855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148328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1094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62200" y="3276600"/>
            <a:ext cx="2357755" cy="147955"/>
          </a:xfrm>
          <a:custGeom>
            <a:avLst/>
            <a:gdLst/>
            <a:ahLst/>
            <a:cxnLst/>
            <a:rect l="l" t="t" r="r" b="b"/>
            <a:pathLst>
              <a:path w="2357754" h="147954">
                <a:moveTo>
                  <a:pt x="0" y="147827"/>
                </a:moveTo>
                <a:lnTo>
                  <a:pt x="2357628" y="147827"/>
                </a:lnTo>
                <a:lnTo>
                  <a:pt x="2357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84772" y="4419600"/>
            <a:ext cx="497205" cy="147955"/>
          </a:xfrm>
          <a:custGeom>
            <a:avLst/>
            <a:gdLst/>
            <a:ahLst/>
            <a:cxnLst/>
            <a:rect l="l" t="t" r="r" b="b"/>
            <a:pathLst>
              <a:path w="497204" h="147954">
                <a:moveTo>
                  <a:pt x="0" y="147827"/>
                </a:moveTo>
                <a:lnTo>
                  <a:pt x="497055" y="147827"/>
                </a:lnTo>
                <a:lnTo>
                  <a:pt x="4970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38800" y="4572000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4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400800" y="4191000"/>
            <a:ext cx="239395" cy="147955"/>
          </a:xfrm>
          <a:custGeom>
            <a:avLst/>
            <a:gdLst/>
            <a:ahLst/>
            <a:cxnLst/>
            <a:rect l="l" t="t" r="r" b="b"/>
            <a:pathLst>
              <a:path w="239395" h="147954">
                <a:moveTo>
                  <a:pt x="0" y="147827"/>
                </a:moveTo>
                <a:lnTo>
                  <a:pt x="239268" y="147827"/>
                </a:lnTo>
                <a:lnTo>
                  <a:pt x="23926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40068" y="4191000"/>
            <a:ext cx="137160" cy="1600200"/>
          </a:xfrm>
          <a:custGeom>
            <a:avLst/>
            <a:gdLst/>
            <a:ahLst/>
            <a:cxnLst/>
            <a:rect l="l" t="t" r="r" b="b"/>
            <a:pathLst>
              <a:path w="137159" h="1600200">
                <a:moveTo>
                  <a:pt x="0" y="1600200"/>
                </a:moveTo>
                <a:lnTo>
                  <a:pt x="137159" y="1600200"/>
                </a:lnTo>
                <a:lnTo>
                  <a:pt x="137159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29400" y="5791200"/>
            <a:ext cx="1676400" cy="147955"/>
          </a:xfrm>
          <a:custGeom>
            <a:avLst/>
            <a:gdLst/>
            <a:ahLst/>
            <a:cxnLst/>
            <a:rect l="l" t="t" r="r" b="b"/>
            <a:pathLst>
              <a:path w="1676400" h="147954">
                <a:moveTo>
                  <a:pt x="0" y="147827"/>
                </a:moveTo>
                <a:lnTo>
                  <a:pt x="1676400" y="147827"/>
                </a:lnTo>
                <a:lnTo>
                  <a:pt x="1676400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305800" y="5329428"/>
            <a:ext cx="147955" cy="609600"/>
          </a:xfrm>
          <a:custGeom>
            <a:avLst/>
            <a:gdLst/>
            <a:ahLst/>
            <a:cxnLst/>
            <a:rect l="l" t="t" r="r" b="b"/>
            <a:pathLst>
              <a:path w="147954" h="609600">
                <a:moveTo>
                  <a:pt x="0" y="609600"/>
                </a:moveTo>
                <a:lnTo>
                  <a:pt x="147827" y="609600"/>
                </a:lnTo>
                <a:lnTo>
                  <a:pt x="147827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305800" y="5204459"/>
            <a:ext cx="300355" cy="125095"/>
          </a:xfrm>
          <a:custGeom>
            <a:avLst/>
            <a:gdLst/>
            <a:ahLst/>
            <a:cxnLst/>
            <a:rect l="l" t="t" r="r" b="b"/>
            <a:pathLst>
              <a:path w="300354" h="125095">
                <a:moveTo>
                  <a:pt x="0" y="124967"/>
                </a:moveTo>
                <a:lnTo>
                  <a:pt x="300227" y="124967"/>
                </a:lnTo>
                <a:lnTo>
                  <a:pt x="3002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63000" y="5105400"/>
            <a:ext cx="152400" cy="147955"/>
          </a:xfrm>
          <a:custGeom>
            <a:avLst/>
            <a:gdLst/>
            <a:ahLst/>
            <a:cxnLst/>
            <a:rect l="l" t="t" r="r" b="b"/>
            <a:pathLst>
              <a:path w="152400" h="147954">
                <a:moveTo>
                  <a:pt x="0" y="147827"/>
                </a:moveTo>
                <a:lnTo>
                  <a:pt x="152400" y="147827"/>
                </a:lnTo>
                <a:lnTo>
                  <a:pt x="152400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915400" y="5105400"/>
            <a:ext cx="147955" cy="870585"/>
          </a:xfrm>
          <a:custGeom>
            <a:avLst/>
            <a:gdLst/>
            <a:ahLst/>
            <a:cxnLst/>
            <a:rect l="l" t="t" r="r" b="b"/>
            <a:pathLst>
              <a:path w="147954" h="870585">
                <a:moveTo>
                  <a:pt x="0" y="870204"/>
                </a:moveTo>
                <a:lnTo>
                  <a:pt x="147827" y="870204"/>
                </a:lnTo>
                <a:lnTo>
                  <a:pt x="147827" y="0"/>
                </a:lnTo>
                <a:lnTo>
                  <a:pt x="0" y="0"/>
                </a:lnTo>
                <a:lnTo>
                  <a:pt x="0" y="87020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48000" y="5975603"/>
            <a:ext cx="6015355" cy="169545"/>
          </a:xfrm>
          <a:custGeom>
            <a:avLst/>
            <a:gdLst/>
            <a:ahLst/>
            <a:cxnLst/>
            <a:rect l="l" t="t" r="r" b="b"/>
            <a:pathLst>
              <a:path w="6015355" h="169545">
                <a:moveTo>
                  <a:pt x="0" y="169164"/>
                </a:moveTo>
                <a:lnTo>
                  <a:pt x="6015228" y="169164"/>
                </a:lnTo>
                <a:lnTo>
                  <a:pt x="6015228" y="0"/>
                </a:lnTo>
                <a:lnTo>
                  <a:pt x="0" y="0"/>
                </a:lnTo>
                <a:lnTo>
                  <a:pt x="0" y="16916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48000" y="4349496"/>
            <a:ext cx="147955" cy="1742439"/>
          </a:xfrm>
          <a:custGeom>
            <a:avLst/>
            <a:gdLst/>
            <a:ahLst/>
            <a:cxnLst/>
            <a:rect l="l" t="t" r="r" b="b"/>
            <a:pathLst>
              <a:path w="147955" h="1742439">
                <a:moveTo>
                  <a:pt x="0" y="1741931"/>
                </a:moveTo>
                <a:lnTo>
                  <a:pt x="147827" y="1741931"/>
                </a:lnTo>
                <a:lnTo>
                  <a:pt x="147827" y="0"/>
                </a:lnTo>
                <a:lnTo>
                  <a:pt x="0" y="0"/>
                </a:lnTo>
                <a:lnTo>
                  <a:pt x="0" y="1741931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48000" y="4201667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"/>
          <p:cNvSpPr txBox="1"/>
          <p:nvPr/>
        </p:nvSpPr>
        <p:spPr>
          <a:xfrm>
            <a:off x="-396552" y="6301861"/>
            <a:ext cx="7025640" cy="29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92400"/>
              </a:lnSpc>
              <a:buClr>
                <a:srgbClr val="211C1F"/>
              </a:buClr>
              <a:tabLst>
                <a:tab pos="320040" algn="l"/>
              </a:tabLst>
            </a:pP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Datapath</a:t>
            </a:r>
            <a:r>
              <a:rPr lang="it-IT" sz="2050" b="0" spc="114" dirty="0">
                <a:solidFill>
                  <a:srgbClr val="FF0000"/>
                </a:solidFill>
                <a:latin typeface="+mn-lt"/>
                <a:cs typeface="Arial"/>
              </a:rPr>
              <a:t> dell’ istruzione </a:t>
            </a: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add</a:t>
            </a:r>
            <a:endParaRPr lang="it-IT" sz="2050" b="0" spc="114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060848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187" name="Picture 3" descr="Schermata 2017-09-08 alle 19.03.47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77" y="5486851"/>
            <a:ext cx="2526430" cy="534437"/>
          </a:xfrm>
          <a:prstGeom prst="rect">
            <a:avLst/>
          </a:prstGeom>
        </p:spPr>
      </p:pic>
      <p:pic>
        <p:nvPicPr>
          <p:cNvPr id="190" name="Immagine 18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69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920ECF-2FE4-D517-9F4A-1526B7ABC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289BFA-F442-36DA-8DC4-FA4DCFD5FD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3813DF1-35F5-4206-5C73-2CF199ED97E4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3F4DD3-D9DC-25CD-D871-4843E979B7F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EC6C58D-953D-13D1-948F-1244167340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23</a:t>
            </a:fld>
            <a:endParaRPr lang="it-IT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C28A89E-4323-56C6-5BA0-FE72864DE484}"/>
              </a:ext>
            </a:extLst>
          </p:cNvPr>
          <p:cNvSpPr txBox="1">
            <a:spLocks/>
          </p:cNvSpPr>
          <p:nvPr/>
        </p:nvSpPr>
        <p:spPr>
          <a:xfrm>
            <a:off x="256542" y="2492896"/>
            <a:ext cx="8356600" cy="2193900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>
                <a:solidFill>
                  <a:srgbClr val="000000"/>
                </a:solidFill>
                <a:cs typeface="Comic Sans MS"/>
              </a:rPr>
              <a:t>DA VEDERE ANCHE</a:t>
            </a:r>
          </a:p>
          <a:p>
            <a:pPr marL="12700"/>
            <a:r>
              <a:rPr lang="en-US" sz="4400" spc="-25" dirty="0">
                <a:solidFill>
                  <a:srgbClr val="000000"/>
                </a:solidFill>
                <a:cs typeface="Comic Sans MS"/>
              </a:rPr>
              <a:t>LE ALTRE ISTRUZIONI !!!</a:t>
            </a:r>
            <a:br>
              <a:rPr lang="en-US" sz="4400" spc="-25" dirty="0">
                <a:solidFill>
                  <a:srgbClr val="000000"/>
                </a:solidFill>
                <a:cs typeface="Comic Sans MS"/>
              </a:rPr>
            </a:br>
            <a:r>
              <a:rPr lang="en-US" sz="4400" spc="-25">
                <a:solidFill>
                  <a:srgbClr val="000000"/>
                </a:solidFill>
                <a:cs typeface="Comic Sans MS"/>
              </a:rPr>
              <a:t>(PROSSIME SLIDE)</a:t>
            </a: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054728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sp>
        <p:nvSpPr>
          <p:cNvPr id="157" name="object 7"/>
          <p:cNvSpPr txBox="1"/>
          <p:nvPr/>
        </p:nvSpPr>
        <p:spPr>
          <a:xfrm>
            <a:off x="6012160" y="6309320"/>
            <a:ext cx="294703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705" algn="l"/>
              </a:tabLst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l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w	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rt,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of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fset(r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pic>
        <p:nvPicPr>
          <p:cNvPr id="164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sp>
        <p:nvSpPr>
          <p:cNvPr id="165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166" name="Immagine 1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8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012160" y="6309320"/>
            <a:ext cx="29470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705" algn="l"/>
              </a:tabLst>
            </a:pPr>
            <a:r>
              <a:rPr sz="2400" b="1" spc="-5" dirty="0">
                <a:latin typeface="Courier New"/>
                <a:cs typeface="Courier New"/>
              </a:rPr>
              <a:t>l</a:t>
            </a:r>
            <a:r>
              <a:rPr sz="2400" b="1" dirty="0">
                <a:latin typeface="Courier New"/>
                <a:cs typeface="Courier New"/>
              </a:rPr>
              <a:t>w	</a:t>
            </a:r>
            <a:r>
              <a:rPr sz="2400" b="1" spc="-5" dirty="0">
                <a:latin typeface="Courier New"/>
                <a:cs typeface="Courier New"/>
              </a:rPr>
              <a:t>rt,</a:t>
            </a:r>
            <a:r>
              <a:rPr sz="2400" b="1" spc="-15" dirty="0">
                <a:latin typeface="Courier New"/>
                <a:cs typeface="Courier New"/>
              </a:rPr>
              <a:t>of</a:t>
            </a:r>
            <a:r>
              <a:rPr sz="2400" b="1" spc="-5" dirty="0">
                <a:latin typeface="Courier New"/>
                <a:cs typeface="Courier New"/>
              </a:rPr>
              <a:t>fset(r</a:t>
            </a:r>
            <a:r>
              <a:rPr sz="2400" b="1" spc="-15" dirty="0">
                <a:latin typeface="Courier New"/>
                <a:cs typeface="Courier New"/>
              </a:rPr>
              <a:t>s</a:t>
            </a:r>
            <a:r>
              <a:rPr sz="2400" b="1" dirty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3000" y="2656332"/>
            <a:ext cx="605155" cy="147955"/>
          </a:xfrm>
          <a:custGeom>
            <a:avLst/>
            <a:gdLst/>
            <a:ahLst/>
            <a:cxnLst/>
            <a:rect l="l" t="t" r="r" b="b"/>
            <a:pathLst>
              <a:path w="605155" h="147955">
                <a:moveTo>
                  <a:pt x="0" y="147827"/>
                </a:moveTo>
                <a:lnTo>
                  <a:pt x="605027" y="147827"/>
                </a:lnTo>
                <a:lnTo>
                  <a:pt x="6050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5800" y="32766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5" h="147954">
                <a:moveTo>
                  <a:pt x="0" y="147827"/>
                </a:moveTo>
                <a:lnTo>
                  <a:pt x="452628" y="147827"/>
                </a:lnTo>
                <a:lnTo>
                  <a:pt x="452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6195" y="2205227"/>
            <a:ext cx="180340" cy="1186180"/>
          </a:xfrm>
          <a:custGeom>
            <a:avLst/>
            <a:gdLst/>
            <a:ahLst/>
            <a:cxnLst/>
            <a:rect l="l" t="t" r="r" b="b"/>
            <a:pathLst>
              <a:path w="180340" h="1186179">
                <a:moveTo>
                  <a:pt x="0" y="1185672"/>
                </a:moveTo>
                <a:lnTo>
                  <a:pt x="179832" y="1185672"/>
                </a:lnTo>
                <a:lnTo>
                  <a:pt x="179832" y="0"/>
                </a:lnTo>
                <a:lnTo>
                  <a:pt x="0" y="0"/>
                </a:lnTo>
                <a:lnTo>
                  <a:pt x="0" y="1185672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4672" y="2080260"/>
            <a:ext cx="943610" cy="125095"/>
          </a:xfrm>
          <a:custGeom>
            <a:avLst/>
            <a:gdLst/>
            <a:ahLst/>
            <a:cxnLst/>
            <a:rect l="l" t="t" r="r" b="b"/>
            <a:pathLst>
              <a:path w="943610" h="125094">
                <a:moveTo>
                  <a:pt x="0" y="124967"/>
                </a:moveTo>
                <a:lnTo>
                  <a:pt x="943355" y="124967"/>
                </a:lnTo>
                <a:lnTo>
                  <a:pt x="943355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56460" y="2415539"/>
            <a:ext cx="3804285" cy="147955"/>
          </a:xfrm>
          <a:custGeom>
            <a:avLst/>
            <a:gdLst/>
            <a:ahLst/>
            <a:cxnLst/>
            <a:rect l="l" t="t" r="r" b="b"/>
            <a:pathLst>
              <a:path w="3804285" h="147955">
                <a:moveTo>
                  <a:pt x="0" y="147827"/>
                </a:moveTo>
                <a:lnTo>
                  <a:pt x="3803904" y="147827"/>
                </a:lnTo>
                <a:lnTo>
                  <a:pt x="3803904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00928" y="2205227"/>
            <a:ext cx="147955" cy="304800"/>
          </a:xfrm>
          <a:custGeom>
            <a:avLst/>
            <a:gdLst/>
            <a:ahLst/>
            <a:cxnLst/>
            <a:rect l="l" t="t" r="r" b="b"/>
            <a:pathLst>
              <a:path w="147954" h="304800">
                <a:moveTo>
                  <a:pt x="0" y="304800"/>
                </a:moveTo>
                <a:lnTo>
                  <a:pt x="147827" y="304800"/>
                </a:lnTo>
                <a:lnTo>
                  <a:pt x="1478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90259" y="2080260"/>
            <a:ext cx="1213485" cy="125095"/>
          </a:xfrm>
          <a:custGeom>
            <a:avLst/>
            <a:gdLst/>
            <a:ahLst/>
            <a:cxnLst/>
            <a:rect l="l" t="t" r="r" b="b"/>
            <a:pathLst>
              <a:path w="1213484" h="125094">
                <a:moveTo>
                  <a:pt x="0" y="124967"/>
                </a:moveTo>
                <a:lnTo>
                  <a:pt x="1213104" y="124967"/>
                </a:lnTo>
                <a:lnTo>
                  <a:pt x="1213104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10400" y="2438400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5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99731" y="2110739"/>
            <a:ext cx="147955" cy="452755"/>
          </a:xfrm>
          <a:custGeom>
            <a:avLst/>
            <a:gdLst/>
            <a:ahLst/>
            <a:cxnLst/>
            <a:rect l="l" t="t" r="r" b="b"/>
            <a:pathLst>
              <a:path w="147954" h="452755">
                <a:moveTo>
                  <a:pt x="0" y="452627"/>
                </a:moveTo>
                <a:lnTo>
                  <a:pt x="147827" y="452627"/>
                </a:lnTo>
                <a:lnTo>
                  <a:pt x="147827" y="0"/>
                </a:lnTo>
                <a:lnTo>
                  <a:pt x="0" y="0"/>
                </a:lnTo>
                <a:lnTo>
                  <a:pt x="0" y="452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71231" y="1687067"/>
            <a:ext cx="134620" cy="899160"/>
          </a:xfrm>
          <a:custGeom>
            <a:avLst/>
            <a:gdLst/>
            <a:ahLst/>
            <a:cxnLst/>
            <a:rect l="l" t="t" r="r" b="b"/>
            <a:pathLst>
              <a:path w="134620" h="899160">
                <a:moveTo>
                  <a:pt x="0" y="899160"/>
                </a:moveTo>
                <a:lnTo>
                  <a:pt x="134111" y="899160"/>
                </a:lnTo>
                <a:lnTo>
                  <a:pt x="134111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1687067"/>
            <a:ext cx="7615555" cy="147955"/>
          </a:xfrm>
          <a:custGeom>
            <a:avLst/>
            <a:gdLst/>
            <a:ahLst/>
            <a:cxnLst/>
            <a:rect l="l" t="t" r="r" b="b"/>
            <a:pathLst>
              <a:path w="7615555" h="147955">
                <a:moveTo>
                  <a:pt x="0" y="147827"/>
                </a:moveTo>
                <a:lnTo>
                  <a:pt x="7615428" y="147827"/>
                </a:lnTo>
                <a:lnTo>
                  <a:pt x="76154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8495" y="3308603"/>
            <a:ext cx="170180" cy="116205"/>
          </a:xfrm>
          <a:custGeom>
            <a:avLst/>
            <a:gdLst/>
            <a:ahLst/>
            <a:cxnLst/>
            <a:rect l="l" t="t" r="r" b="b"/>
            <a:pathLst>
              <a:path w="170179" h="116204">
                <a:moveTo>
                  <a:pt x="0" y="115824"/>
                </a:moveTo>
                <a:lnTo>
                  <a:pt x="170084" y="115824"/>
                </a:lnTo>
                <a:lnTo>
                  <a:pt x="170084" y="0"/>
                </a:lnTo>
                <a:lnTo>
                  <a:pt x="0" y="0"/>
                </a:lnTo>
                <a:lnTo>
                  <a:pt x="0" y="11582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667" y="1828800"/>
            <a:ext cx="147955" cy="1595755"/>
          </a:xfrm>
          <a:custGeom>
            <a:avLst/>
            <a:gdLst/>
            <a:ahLst/>
            <a:cxnLst/>
            <a:rect l="l" t="t" r="r" b="b"/>
            <a:pathLst>
              <a:path w="147955" h="1595754">
                <a:moveTo>
                  <a:pt x="0" y="1595627"/>
                </a:moveTo>
                <a:lnTo>
                  <a:pt x="147828" y="1595627"/>
                </a:lnTo>
                <a:lnTo>
                  <a:pt x="147828" y="0"/>
                </a:lnTo>
                <a:lnTo>
                  <a:pt x="0" y="0"/>
                </a:lnTo>
                <a:lnTo>
                  <a:pt x="0" y="1595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56931" y="2537460"/>
            <a:ext cx="224154" cy="125095"/>
          </a:xfrm>
          <a:custGeom>
            <a:avLst/>
            <a:gdLst/>
            <a:ahLst/>
            <a:cxnLst/>
            <a:rect l="l" t="t" r="r" b="b"/>
            <a:pathLst>
              <a:path w="224154" h="125094">
                <a:moveTo>
                  <a:pt x="0" y="124967"/>
                </a:moveTo>
                <a:lnTo>
                  <a:pt x="224027" y="124967"/>
                </a:lnTo>
                <a:lnTo>
                  <a:pt x="2240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84772" y="3886200"/>
            <a:ext cx="954405" cy="147955"/>
          </a:xfrm>
          <a:custGeom>
            <a:avLst/>
            <a:gdLst/>
            <a:ahLst/>
            <a:cxnLst/>
            <a:rect l="l" t="t" r="r" b="b"/>
            <a:pathLst>
              <a:path w="954404" h="147954">
                <a:moveTo>
                  <a:pt x="0" y="147827"/>
                </a:moveTo>
                <a:lnTo>
                  <a:pt x="954255" y="147827"/>
                </a:lnTo>
                <a:lnTo>
                  <a:pt x="9542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73523" y="3299459"/>
            <a:ext cx="147955" cy="375285"/>
          </a:xfrm>
          <a:custGeom>
            <a:avLst/>
            <a:gdLst/>
            <a:ahLst/>
            <a:cxnLst/>
            <a:rect l="l" t="t" r="r" b="b"/>
            <a:pathLst>
              <a:path w="147954" h="375285">
                <a:moveTo>
                  <a:pt x="0" y="374903"/>
                </a:moveTo>
                <a:lnTo>
                  <a:pt x="147827" y="374903"/>
                </a:lnTo>
                <a:lnTo>
                  <a:pt x="147827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3380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62200" y="3276600"/>
            <a:ext cx="2357755" cy="147955"/>
          </a:xfrm>
          <a:custGeom>
            <a:avLst/>
            <a:gdLst/>
            <a:ahLst/>
            <a:cxnLst/>
            <a:rect l="l" t="t" r="r" b="b"/>
            <a:pathLst>
              <a:path w="2357754" h="147954">
                <a:moveTo>
                  <a:pt x="0" y="147827"/>
                </a:moveTo>
                <a:lnTo>
                  <a:pt x="2357628" y="147827"/>
                </a:lnTo>
                <a:lnTo>
                  <a:pt x="2357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29200" y="47244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4" h="147954">
                <a:moveTo>
                  <a:pt x="0" y="147827"/>
                </a:moveTo>
                <a:lnTo>
                  <a:pt x="452627" y="147827"/>
                </a:lnTo>
                <a:lnTo>
                  <a:pt x="452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38800" y="4572000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4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400800" y="4219955"/>
            <a:ext cx="266700" cy="147955"/>
          </a:xfrm>
          <a:custGeom>
            <a:avLst/>
            <a:gdLst/>
            <a:ahLst/>
            <a:cxnLst/>
            <a:rect l="l" t="t" r="r" b="b"/>
            <a:pathLst>
              <a:path w="266700" h="147954">
                <a:moveTo>
                  <a:pt x="0" y="147827"/>
                </a:moveTo>
                <a:lnTo>
                  <a:pt x="266700" y="147827"/>
                </a:lnTo>
                <a:lnTo>
                  <a:pt x="266700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667500" y="4191000"/>
            <a:ext cx="137160" cy="528955"/>
          </a:xfrm>
          <a:custGeom>
            <a:avLst/>
            <a:gdLst/>
            <a:ahLst/>
            <a:cxnLst/>
            <a:rect l="l" t="t" r="r" b="b"/>
            <a:pathLst>
              <a:path w="137159" h="528954">
                <a:moveTo>
                  <a:pt x="0" y="528827"/>
                </a:moveTo>
                <a:lnTo>
                  <a:pt x="137159" y="528827"/>
                </a:lnTo>
                <a:lnTo>
                  <a:pt x="137159" y="0"/>
                </a:lnTo>
                <a:lnTo>
                  <a:pt x="0" y="0"/>
                </a:lnTo>
                <a:lnTo>
                  <a:pt x="0" y="528827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279588" y="4953000"/>
            <a:ext cx="327025" cy="125095"/>
          </a:xfrm>
          <a:custGeom>
            <a:avLst/>
            <a:gdLst/>
            <a:ahLst/>
            <a:cxnLst/>
            <a:rect l="l" t="t" r="r" b="b"/>
            <a:pathLst>
              <a:path w="327025" h="125095">
                <a:moveTo>
                  <a:pt x="0" y="124968"/>
                </a:moveTo>
                <a:lnTo>
                  <a:pt x="326439" y="124968"/>
                </a:lnTo>
                <a:lnTo>
                  <a:pt x="326439" y="0"/>
                </a:lnTo>
                <a:lnTo>
                  <a:pt x="0" y="0"/>
                </a:lnTo>
                <a:lnTo>
                  <a:pt x="0" y="12496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763000" y="5105400"/>
            <a:ext cx="195580" cy="147955"/>
          </a:xfrm>
          <a:custGeom>
            <a:avLst/>
            <a:gdLst/>
            <a:ahLst/>
            <a:cxnLst/>
            <a:rect l="l" t="t" r="r" b="b"/>
            <a:pathLst>
              <a:path w="195579" h="147954">
                <a:moveTo>
                  <a:pt x="0" y="147827"/>
                </a:moveTo>
                <a:lnTo>
                  <a:pt x="195072" y="147827"/>
                </a:lnTo>
                <a:lnTo>
                  <a:pt x="195072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958071" y="5105400"/>
            <a:ext cx="147955" cy="909955"/>
          </a:xfrm>
          <a:custGeom>
            <a:avLst/>
            <a:gdLst/>
            <a:ahLst/>
            <a:cxnLst/>
            <a:rect l="l" t="t" r="r" b="b"/>
            <a:pathLst>
              <a:path w="147954" h="909954">
                <a:moveTo>
                  <a:pt x="0" y="909828"/>
                </a:moveTo>
                <a:lnTo>
                  <a:pt x="147827" y="909828"/>
                </a:lnTo>
                <a:lnTo>
                  <a:pt x="147827" y="0"/>
                </a:lnTo>
                <a:lnTo>
                  <a:pt x="0" y="0"/>
                </a:lnTo>
                <a:lnTo>
                  <a:pt x="0" y="90982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48000" y="5975603"/>
            <a:ext cx="6015355" cy="169545"/>
          </a:xfrm>
          <a:custGeom>
            <a:avLst/>
            <a:gdLst/>
            <a:ahLst/>
            <a:cxnLst/>
            <a:rect l="l" t="t" r="r" b="b"/>
            <a:pathLst>
              <a:path w="6015355" h="169545">
                <a:moveTo>
                  <a:pt x="0" y="169164"/>
                </a:moveTo>
                <a:lnTo>
                  <a:pt x="6015228" y="169164"/>
                </a:lnTo>
                <a:lnTo>
                  <a:pt x="6015228" y="0"/>
                </a:lnTo>
                <a:lnTo>
                  <a:pt x="0" y="0"/>
                </a:lnTo>
                <a:lnTo>
                  <a:pt x="0" y="16916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48000" y="4349496"/>
            <a:ext cx="147955" cy="908685"/>
          </a:xfrm>
          <a:custGeom>
            <a:avLst/>
            <a:gdLst/>
            <a:ahLst/>
            <a:cxnLst/>
            <a:rect l="l" t="t" r="r" b="b"/>
            <a:pathLst>
              <a:path w="147955" h="908685">
                <a:moveTo>
                  <a:pt x="0" y="908303"/>
                </a:moveTo>
                <a:lnTo>
                  <a:pt x="147827" y="908303"/>
                </a:lnTo>
                <a:lnTo>
                  <a:pt x="147827" y="0"/>
                </a:lnTo>
                <a:lnTo>
                  <a:pt x="0" y="0"/>
                </a:lnTo>
                <a:lnTo>
                  <a:pt x="0" y="908303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48000" y="5405628"/>
            <a:ext cx="147955" cy="685800"/>
          </a:xfrm>
          <a:custGeom>
            <a:avLst/>
            <a:gdLst/>
            <a:ahLst/>
            <a:cxnLst/>
            <a:rect l="l" t="t" r="r" b="b"/>
            <a:pathLst>
              <a:path w="147955" h="685800">
                <a:moveTo>
                  <a:pt x="0" y="685800"/>
                </a:moveTo>
                <a:lnTo>
                  <a:pt x="147827" y="685800"/>
                </a:lnTo>
                <a:lnTo>
                  <a:pt x="147827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48000" y="4201667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87311" y="4594859"/>
            <a:ext cx="316230" cy="125095"/>
          </a:xfrm>
          <a:custGeom>
            <a:avLst/>
            <a:gdLst/>
            <a:ahLst/>
            <a:cxnLst/>
            <a:rect l="l" t="t" r="r" b="b"/>
            <a:pathLst>
              <a:path w="316229" h="125095">
                <a:moveTo>
                  <a:pt x="0" y="124968"/>
                </a:moveTo>
                <a:lnTo>
                  <a:pt x="315672" y="124968"/>
                </a:lnTo>
                <a:lnTo>
                  <a:pt x="315672" y="0"/>
                </a:lnTo>
                <a:lnTo>
                  <a:pt x="0" y="0"/>
                </a:lnTo>
                <a:lnTo>
                  <a:pt x="0" y="124968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029200" y="4800600"/>
            <a:ext cx="147955" cy="457200"/>
          </a:xfrm>
          <a:custGeom>
            <a:avLst/>
            <a:gdLst/>
            <a:ahLst/>
            <a:cxnLst/>
            <a:rect l="l" t="t" r="r" b="b"/>
            <a:pathLst>
              <a:path w="147954" h="457200">
                <a:moveTo>
                  <a:pt x="0" y="457200"/>
                </a:moveTo>
                <a:lnTo>
                  <a:pt x="147827" y="457200"/>
                </a:lnTo>
                <a:lnTo>
                  <a:pt x="14782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00600" y="5257800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743200" y="5257800"/>
            <a:ext cx="1748155" cy="147955"/>
          </a:xfrm>
          <a:custGeom>
            <a:avLst/>
            <a:gdLst/>
            <a:ahLst/>
            <a:cxnLst/>
            <a:rect l="l" t="t" r="r" b="b"/>
            <a:pathLst>
              <a:path w="1748154" h="147954">
                <a:moveTo>
                  <a:pt x="0" y="147828"/>
                </a:moveTo>
                <a:lnTo>
                  <a:pt x="1748027" y="147828"/>
                </a:lnTo>
                <a:lnTo>
                  <a:pt x="17480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743200" y="3429000"/>
            <a:ext cx="147955" cy="1824355"/>
          </a:xfrm>
          <a:custGeom>
            <a:avLst/>
            <a:gdLst/>
            <a:ahLst/>
            <a:cxnLst/>
            <a:rect l="l" t="t" r="r" b="b"/>
            <a:pathLst>
              <a:path w="147955" h="1824354">
                <a:moveTo>
                  <a:pt x="0" y="1824227"/>
                </a:moveTo>
                <a:lnTo>
                  <a:pt x="147827" y="1824227"/>
                </a:lnTo>
                <a:lnTo>
                  <a:pt x="147827" y="0"/>
                </a:lnTo>
                <a:lnTo>
                  <a:pt x="0" y="0"/>
                </a:lnTo>
                <a:lnTo>
                  <a:pt x="0" y="18242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454625" y="3696183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341870" y="4240570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126120" y="4297034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754848" y="3592862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801902" y="3367383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177588" y="359286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24266" y="3367383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764234" y="3414602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836257" y="3394786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186848" y="3414602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788103" y="3452078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224266" y="4888527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71321" y="4926066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507626" y="3717454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43567" y="4562409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929991" y="4703318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904588" y="3696171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2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904588" y="3696171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792082" y="3902788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984772" y="3958876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420935" y="4297034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120713" y="372440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167392" y="3536399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730794" y="3996477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420935" y="4043572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816801" y="3370052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985871" y="3996900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126120" y="6071565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039969" y="5188797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126120" y="4297034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365489" y="3367383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130099" y="3583244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6201746" y="3563558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369467" y="445643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84772" y="4512895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369467" y="474774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116300" y="4803832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116300" y="3076445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515479" y="4963591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4615159" y="5004080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224266" y="5311005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211566" y="5169330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355669" y="530168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834907" y="5357838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900049" y="5311005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850056" y="5169330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815701" y="5357838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834907" y="3367383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6858882" y="3970915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002984" y="4418918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  <a:close/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786800" y="5188797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8022856" y="4947386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056111" y="5238336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641224" y="5611562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688278" y="5649100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7328301" y="5426302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271860" y="4804305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6890354" y="46254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758826" y="468191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641224" y="4315647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688278" y="4174863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7056111" y="4449857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6758826" y="4297034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09212" y="3414602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4680860" y="3394786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4599826" y="359286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646881" y="3367383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792082" y="46254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707359" y="4681911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2540631" y="3114337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2496891" y="3329907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491609" y="4381355"/>
            <a:ext cx="169545" cy="469900"/>
          </a:xfrm>
          <a:custGeom>
            <a:avLst/>
            <a:gdLst/>
            <a:ahLst/>
            <a:cxnLst/>
            <a:rect l="l" t="t" r="r" b="b"/>
            <a:pathLst>
              <a:path w="169545" h="469900">
                <a:moveTo>
                  <a:pt x="169070" y="469647"/>
                </a:moveTo>
                <a:lnTo>
                  <a:pt x="169070" y="131540"/>
                </a:lnTo>
                <a:lnTo>
                  <a:pt x="0" y="0"/>
                </a:lnTo>
              </a:path>
            </a:pathLst>
          </a:custGeom>
          <a:ln w="56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5525839" y="4517815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8495588" y="49635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279713" y="502004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8495588" y="525455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411115" y="5311005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890354" y="525455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38065" y="5311005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238065" y="4512895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210033" y="4476536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89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210033" y="4476536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89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529278" y="493537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575957" y="4972911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5347382" y="5125746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8655273" y="48228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702077" y="4719511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8360747" y="4553408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6758826" y="5902512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8411115" y="5311005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301998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214446" y="3076445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809631" y="2898060"/>
            <a:ext cx="405130" cy="281940"/>
          </a:xfrm>
          <a:custGeom>
            <a:avLst/>
            <a:gdLst/>
            <a:ahLst/>
            <a:cxnLst/>
            <a:rect l="l" t="t" r="r" b="b"/>
            <a:pathLst>
              <a:path w="405129" h="281939">
                <a:moveTo>
                  <a:pt x="370021" y="281617"/>
                </a:moveTo>
                <a:lnTo>
                  <a:pt x="391028" y="245809"/>
                </a:lnTo>
                <a:lnTo>
                  <a:pt x="402779" y="204928"/>
                </a:lnTo>
                <a:lnTo>
                  <a:pt x="404814" y="169141"/>
                </a:lnTo>
                <a:lnTo>
                  <a:pt x="404187" y="154313"/>
                </a:lnTo>
                <a:lnTo>
                  <a:pt x="395177" y="112266"/>
                </a:lnTo>
                <a:lnTo>
                  <a:pt x="376546" y="74934"/>
                </a:lnTo>
                <a:lnTo>
                  <a:pt x="349666" y="43679"/>
                </a:lnTo>
                <a:lnTo>
                  <a:pt x="315909" y="19866"/>
                </a:lnTo>
                <a:lnTo>
                  <a:pt x="276647" y="4859"/>
                </a:lnTo>
                <a:lnTo>
                  <a:pt x="141885" y="0"/>
                </a:lnTo>
                <a:lnTo>
                  <a:pt x="127103" y="628"/>
                </a:lnTo>
                <a:lnTo>
                  <a:pt x="85174" y="9645"/>
                </a:lnTo>
                <a:lnTo>
                  <a:pt x="47933" y="28301"/>
                </a:lnTo>
                <a:lnTo>
                  <a:pt x="16749" y="55229"/>
                </a:lnTo>
                <a:lnTo>
                  <a:pt x="7936" y="65808"/>
                </a:lnTo>
                <a:lnTo>
                  <a:pt x="0" y="77103"/>
                </a:lnTo>
              </a:path>
            </a:pathLst>
          </a:custGeom>
          <a:ln w="56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430321" y="2428488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159000" y="2484951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190827" y="271967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6974702" y="2775889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135877" y="3104689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28580" y="2766532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215837" y="331129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4406" y="3367383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023134" y="331129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75857" y="3367383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614619" y="209070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91695" y="2146794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614619" y="268219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314272" y="2738413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727375" y="192168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727375" y="192168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91695" y="2146794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4406" y="1761917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4406" y="1761917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7650860" y="1761917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543077" y="2259721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6543077" y="2259721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 txBox="1"/>
          <p:nvPr/>
        </p:nvSpPr>
        <p:spPr>
          <a:xfrm>
            <a:off x="5816801" y="2986304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2155686" y="3295343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179543" y="3295343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381594" y="2982928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1141862" y="2647018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770990" y="2178063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0" name="object 170"/>
          <p:cNvSpPr/>
          <p:nvPr/>
        </p:nvSpPr>
        <p:spPr>
          <a:xfrm>
            <a:off x="5623011" y="301998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116300" y="3076445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303332" y="2315935"/>
            <a:ext cx="169545" cy="469900"/>
          </a:xfrm>
          <a:custGeom>
            <a:avLst/>
            <a:gdLst/>
            <a:ahLst/>
            <a:cxnLst/>
            <a:rect l="l" t="t" r="r" b="b"/>
            <a:pathLst>
              <a:path w="169545" h="469900">
                <a:moveTo>
                  <a:pt x="169070" y="469572"/>
                </a:moveTo>
                <a:lnTo>
                  <a:pt x="169070" y="131415"/>
                </a:lnTo>
                <a:lnTo>
                  <a:pt x="0" y="0"/>
                </a:lnTo>
              </a:path>
            </a:pathLst>
          </a:custGeom>
          <a:ln w="56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 txBox="1"/>
          <p:nvPr/>
        </p:nvSpPr>
        <p:spPr>
          <a:xfrm>
            <a:off x="7337562" y="2452396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337562" y="2564948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7346947" y="2677501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350262" y="2860584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397316" y="2898060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 txBox="1"/>
          <p:nvPr/>
        </p:nvSpPr>
        <p:spPr>
          <a:xfrm>
            <a:off x="7159105" y="3060252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7190827" y="2428488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096843" y="2484951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7096843" y="2146794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98571" y="2146794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078631" y="4778499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078631" y="4778499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51872" y="33852"/>
                </a:move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5970289" y="2448442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5970289" y="2448442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5998571" y="2146794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7481789" y="2606873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"/>
          <p:cNvSpPr txBox="1"/>
          <p:nvPr/>
        </p:nvSpPr>
        <p:spPr>
          <a:xfrm>
            <a:off x="-324544" y="6373869"/>
            <a:ext cx="7025640" cy="29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92400"/>
              </a:lnSpc>
              <a:buClr>
                <a:srgbClr val="211C1F"/>
              </a:buClr>
              <a:tabLst>
                <a:tab pos="320040" algn="l"/>
              </a:tabLst>
            </a:pP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Datapath</a:t>
            </a:r>
            <a:r>
              <a:rPr lang="it-IT" sz="2050" b="0" spc="114" dirty="0">
                <a:solidFill>
                  <a:srgbClr val="FF0000"/>
                </a:solidFill>
                <a:latin typeface="+mn-lt"/>
                <a:cs typeface="Arial"/>
              </a:rPr>
              <a:t> dell’ istruzione </a:t>
            </a: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lw</a:t>
            </a:r>
            <a:endParaRPr lang="it-IT" sz="2050" b="0" spc="114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3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2"/>
          <p:cNvSpPr/>
          <p:nvPr/>
        </p:nvSpPr>
        <p:spPr>
          <a:xfrm>
            <a:off x="7206828" y="2060848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98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190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pic>
        <p:nvPicPr>
          <p:cNvPr id="191" name="Immagine 1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33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sp>
        <p:nvSpPr>
          <p:cNvPr id="157" name="object 7"/>
          <p:cNvSpPr txBox="1"/>
          <p:nvPr/>
        </p:nvSpPr>
        <p:spPr>
          <a:xfrm>
            <a:off x="5940152" y="6309320"/>
            <a:ext cx="294703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705" algn="l"/>
              </a:tabLst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w	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rt,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of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fset(r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4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pic>
        <p:nvPicPr>
          <p:cNvPr id="164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sp>
        <p:nvSpPr>
          <p:cNvPr id="165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166" name="Immagine 1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9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940152" y="6309320"/>
            <a:ext cx="29470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705" algn="l"/>
              </a:tabLst>
            </a:pPr>
            <a:r>
              <a:rPr sz="2400" b="1" spc="-5" dirty="0">
                <a:latin typeface="Courier New"/>
                <a:cs typeface="Courier New"/>
              </a:rPr>
              <a:t>s</a:t>
            </a:r>
            <a:r>
              <a:rPr sz="2400" b="1" dirty="0">
                <a:latin typeface="Courier New"/>
                <a:cs typeface="Courier New"/>
              </a:rPr>
              <a:t>w	</a:t>
            </a:r>
            <a:r>
              <a:rPr sz="2400" b="1" spc="-5" dirty="0">
                <a:latin typeface="Courier New"/>
                <a:cs typeface="Courier New"/>
              </a:rPr>
              <a:t>rt,</a:t>
            </a:r>
            <a:r>
              <a:rPr sz="2400" b="1" spc="-15" dirty="0">
                <a:latin typeface="Courier New"/>
                <a:cs typeface="Courier New"/>
              </a:rPr>
              <a:t>of</a:t>
            </a:r>
            <a:r>
              <a:rPr sz="2400" b="1" spc="-5" dirty="0">
                <a:latin typeface="Courier New"/>
                <a:cs typeface="Courier New"/>
              </a:rPr>
              <a:t>fset(r</a:t>
            </a:r>
            <a:r>
              <a:rPr sz="2400" b="1" spc="-15" dirty="0">
                <a:latin typeface="Courier New"/>
                <a:cs typeface="Courier New"/>
              </a:rPr>
              <a:t>s</a:t>
            </a:r>
            <a:r>
              <a:rPr sz="2400" b="1" dirty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86528" y="4419600"/>
            <a:ext cx="266700" cy="147955"/>
          </a:xfrm>
          <a:custGeom>
            <a:avLst/>
            <a:gdLst/>
            <a:ahLst/>
            <a:cxnLst/>
            <a:rect l="l" t="t" r="r" b="b"/>
            <a:pathLst>
              <a:path w="266700" h="147954">
                <a:moveTo>
                  <a:pt x="0" y="147827"/>
                </a:moveTo>
                <a:lnTo>
                  <a:pt x="266700" y="147827"/>
                </a:lnTo>
                <a:lnTo>
                  <a:pt x="266700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16067" y="4472940"/>
            <a:ext cx="147955" cy="251460"/>
          </a:xfrm>
          <a:custGeom>
            <a:avLst/>
            <a:gdLst/>
            <a:ahLst/>
            <a:cxnLst/>
            <a:rect l="l" t="t" r="r" b="b"/>
            <a:pathLst>
              <a:path w="147954" h="251460">
                <a:moveTo>
                  <a:pt x="0" y="251460"/>
                </a:moveTo>
                <a:lnTo>
                  <a:pt x="147827" y="251460"/>
                </a:lnTo>
                <a:lnTo>
                  <a:pt x="147827" y="0"/>
                </a:lnTo>
                <a:lnTo>
                  <a:pt x="0" y="0"/>
                </a:lnTo>
                <a:lnTo>
                  <a:pt x="0" y="25146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41976" y="4872228"/>
            <a:ext cx="121920" cy="510540"/>
          </a:xfrm>
          <a:custGeom>
            <a:avLst/>
            <a:gdLst/>
            <a:ahLst/>
            <a:cxnLst/>
            <a:rect l="l" t="t" r="r" b="b"/>
            <a:pathLst>
              <a:path w="121920" h="510539">
                <a:moveTo>
                  <a:pt x="0" y="510539"/>
                </a:moveTo>
                <a:lnTo>
                  <a:pt x="121919" y="510539"/>
                </a:lnTo>
                <a:lnTo>
                  <a:pt x="121919" y="0"/>
                </a:lnTo>
                <a:lnTo>
                  <a:pt x="0" y="0"/>
                </a:lnTo>
                <a:lnTo>
                  <a:pt x="0" y="51053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15128" y="5204459"/>
            <a:ext cx="1748155" cy="178435"/>
          </a:xfrm>
          <a:custGeom>
            <a:avLst/>
            <a:gdLst/>
            <a:ahLst/>
            <a:cxnLst/>
            <a:rect l="l" t="t" r="r" b="b"/>
            <a:pathLst>
              <a:path w="1748154" h="178435">
                <a:moveTo>
                  <a:pt x="0" y="178307"/>
                </a:moveTo>
                <a:lnTo>
                  <a:pt x="1748027" y="178307"/>
                </a:lnTo>
                <a:lnTo>
                  <a:pt x="1748027" y="0"/>
                </a:lnTo>
                <a:lnTo>
                  <a:pt x="0" y="0"/>
                </a:lnTo>
                <a:lnTo>
                  <a:pt x="0" y="17830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5800" y="32766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5" h="147954">
                <a:moveTo>
                  <a:pt x="0" y="147827"/>
                </a:moveTo>
                <a:lnTo>
                  <a:pt x="452628" y="147827"/>
                </a:lnTo>
                <a:lnTo>
                  <a:pt x="452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6195" y="2205227"/>
            <a:ext cx="180340" cy="1186180"/>
          </a:xfrm>
          <a:custGeom>
            <a:avLst/>
            <a:gdLst/>
            <a:ahLst/>
            <a:cxnLst/>
            <a:rect l="l" t="t" r="r" b="b"/>
            <a:pathLst>
              <a:path w="180340" h="1186179">
                <a:moveTo>
                  <a:pt x="0" y="1185672"/>
                </a:moveTo>
                <a:lnTo>
                  <a:pt x="179832" y="1185672"/>
                </a:lnTo>
                <a:lnTo>
                  <a:pt x="179832" y="0"/>
                </a:lnTo>
                <a:lnTo>
                  <a:pt x="0" y="0"/>
                </a:lnTo>
                <a:lnTo>
                  <a:pt x="0" y="1185672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4672" y="2080260"/>
            <a:ext cx="943610" cy="125095"/>
          </a:xfrm>
          <a:custGeom>
            <a:avLst/>
            <a:gdLst/>
            <a:ahLst/>
            <a:cxnLst/>
            <a:rect l="l" t="t" r="r" b="b"/>
            <a:pathLst>
              <a:path w="943610" h="125094">
                <a:moveTo>
                  <a:pt x="0" y="124967"/>
                </a:moveTo>
                <a:lnTo>
                  <a:pt x="943355" y="124967"/>
                </a:lnTo>
                <a:lnTo>
                  <a:pt x="943355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56460" y="2415539"/>
            <a:ext cx="3804285" cy="147955"/>
          </a:xfrm>
          <a:custGeom>
            <a:avLst/>
            <a:gdLst/>
            <a:ahLst/>
            <a:cxnLst/>
            <a:rect l="l" t="t" r="r" b="b"/>
            <a:pathLst>
              <a:path w="3804285" h="147955">
                <a:moveTo>
                  <a:pt x="0" y="147827"/>
                </a:moveTo>
                <a:lnTo>
                  <a:pt x="3803904" y="147827"/>
                </a:lnTo>
                <a:lnTo>
                  <a:pt x="3803904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00928" y="2205227"/>
            <a:ext cx="147955" cy="304800"/>
          </a:xfrm>
          <a:custGeom>
            <a:avLst/>
            <a:gdLst/>
            <a:ahLst/>
            <a:cxnLst/>
            <a:rect l="l" t="t" r="r" b="b"/>
            <a:pathLst>
              <a:path w="147954" h="304800">
                <a:moveTo>
                  <a:pt x="0" y="304800"/>
                </a:moveTo>
                <a:lnTo>
                  <a:pt x="147827" y="304800"/>
                </a:lnTo>
                <a:lnTo>
                  <a:pt x="147827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90259" y="2080260"/>
            <a:ext cx="1213485" cy="125095"/>
          </a:xfrm>
          <a:custGeom>
            <a:avLst/>
            <a:gdLst/>
            <a:ahLst/>
            <a:cxnLst/>
            <a:rect l="l" t="t" r="r" b="b"/>
            <a:pathLst>
              <a:path w="1213484" h="125094">
                <a:moveTo>
                  <a:pt x="0" y="124967"/>
                </a:moveTo>
                <a:lnTo>
                  <a:pt x="1213104" y="124967"/>
                </a:lnTo>
                <a:lnTo>
                  <a:pt x="1213104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10400" y="2427732"/>
            <a:ext cx="300355" cy="147955"/>
          </a:xfrm>
          <a:custGeom>
            <a:avLst/>
            <a:gdLst/>
            <a:ahLst/>
            <a:cxnLst/>
            <a:rect l="l" t="t" r="r" b="b"/>
            <a:pathLst>
              <a:path w="300354" h="147955">
                <a:moveTo>
                  <a:pt x="0" y="147827"/>
                </a:moveTo>
                <a:lnTo>
                  <a:pt x="300227" y="147827"/>
                </a:lnTo>
                <a:lnTo>
                  <a:pt x="3002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99731" y="2110739"/>
            <a:ext cx="147955" cy="452755"/>
          </a:xfrm>
          <a:custGeom>
            <a:avLst/>
            <a:gdLst/>
            <a:ahLst/>
            <a:cxnLst/>
            <a:rect l="l" t="t" r="r" b="b"/>
            <a:pathLst>
              <a:path w="147954" h="452755">
                <a:moveTo>
                  <a:pt x="0" y="452627"/>
                </a:moveTo>
                <a:lnTo>
                  <a:pt x="147827" y="452627"/>
                </a:lnTo>
                <a:lnTo>
                  <a:pt x="147827" y="0"/>
                </a:lnTo>
                <a:lnTo>
                  <a:pt x="0" y="0"/>
                </a:lnTo>
                <a:lnTo>
                  <a:pt x="0" y="452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55992" y="1687067"/>
            <a:ext cx="135890" cy="899160"/>
          </a:xfrm>
          <a:custGeom>
            <a:avLst/>
            <a:gdLst/>
            <a:ahLst/>
            <a:cxnLst/>
            <a:rect l="l" t="t" r="r" b="b"/>
            <a:pathLst>
              <a:path w="135890" h="899160">
                <a:moveTo>
                  <a:pt x="0" y="899160"/>
                </a:moveTo>
                <a:lnTo>
                  <a:pt x="135635" y="899160"/>
                </a:lnTo>
                <a:lnTo>
                  <a:pt x="135635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1687067"/>
            <a:ext cx="7615555" cy="147955"/>
          </a:xfrm>
          <a:custGeom>
            <a:avLst/>
            <a:gdLst/>
            <a:ahLst/>
            <a:cxnLst/>
            <a:rect l="l" t="t" r="r" b="b"/>
            <a:pathLst>
              <a:path w="7615555" h="147955">
                <a:moveTo>
                  <a:pt x="0" y="147827"/>
                </a:moveTo>
                <a:lnTo>
                  <a:pt x="7615428" y="147827"/>
                </a:lnTo>
                <a:lnTo>
                  <a:pt x="76154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8495" y="3308603"/>
            <a:ext cx="170180" cy="116205"/>
          </a:xfrm>
          <a:custGeom>
            <a:avLst/>
            <a:gdLst/>
            <a:ahLst/>
            <a:cxnLst/>
            <a:rect l="l" t="t" r="r" b="b"/>
            <a:pathLst>
              <a:path w="170179" h="116204">
                <a:moveTo>
                  <a:pt x="0" y="115824"/>
                </a:moveTo>
                <a:lnTo>
                  <a:pt x="170084" y="115824"/>
                </a:lnTo>
                <a:lnTo>
                  <a:pt x="170084" y="0"/>
                </a:lnTo>
                <a:lnTo>
                  <a:pt x="0" y="0"/>
                </a:lnTo>
                <a:lnTo>
                  <a:pt x="0" y="11582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67" y="1828800"/>
            <a:ext cx="147955" cy="1595755"/>
          </a:xfrm>
          <a:custGeom>
            <a:avLst/>
            <a:gdLst/>
            <a:ahLst/>
            <a:cxnLst/>
            <a:rect l="l" t="t" r="r" b="b"/>
            <a:pathLst>
              <a:path w="147955" h="1595754">
                <a:moveTo>
                  <a:pt x="0" y="1595627"/>
                </a:moveTo>
                <a:lnTo>
                  <a:pt x="147828" y="1595627"/>
                </a:lnTo>
                <a:lnTo>
                  <a:pt x="147828" y="0"/>
                </a:lnTo>
                <a:lnTo>
                  <a:pt x="0" y="0"/>
                </a:lnTo>
                <a:lnTo>
                  <a:pt x="0" y="1595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67071" y="5257800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43200" y="5257800"/>
            <a:ext cx="1748155" cy="147955"/>
          </a:xfrm>
          <a:custGeom>
            <a:avLst/>
            <a:gdLst/>
            <a:ahLst/>
            <a:cxnLst/>
            <a:rect l="l" t="t" r="r" b="b"/>
            <a:pathLst>
              <a:path w="1748154" h="147954">
                <a:moveTo>
                  <a:pt x="0" y="147828"/>
                </a:moveTo>
                <a:lnTo>
                  <a:pt x="1748027" y="147828"/>
                </a:lnTo>
                <a:lnTo>
                  <a:pt x="17480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43200" y="3429000"/>
            <a:ext cx="147955" cy="1824355"/>
          </a:xfrm>
          <a:custGeom>
            <a:avLst/>
            <a:gdLst/>
            <a:ahLst/>
            <a:cxnLst/>
            <a:rect l="l" t="t" r="r" b="b"/>
            <a:pathLst>
              <a:path w="147955" h="1824354">
                <a:moveTo>
                  <a:pt x="0" y="1824227"/>
                </a:moveTo>
                <a:lnTo>
                  <a:pt x="147827" y="1824227"/>
                </a:lnTo>
                <a:lnTo>
                  <a:pt x="147827" y="0"/>
                </a:lnTo>
                <a:lnTo>
                  <a:pt x="0" y="0"/>
                </a:lnTo>
                <a:lnTo>
                  <a:pt x="0" y="18242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29200" y="47244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4" h="147954">
                <a:moveTo>
                  <a:pt x="0" y="147827"/>
                </a:moveTo>
                <a:lnTo>
                  <a:pt x="452627" y="147827"/>
                </a:lnTo>
                <a:lnTo>
                  <a:pt x="452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84772" y="3886200"/>
            <a:ext cx="954405" cy="147955"/>
          </a:xfrm>
          <a:custGeom>
            <a:avLst/>
            <a:gdLst/>
            <a:ahLst/>
            <a:cxnLst/>
            <a:rect l="l" t="t" r="r" b="b"/>
            <a:pathLst>
              <a:path w="954404" h="147954">
                <a:moveTo>
                  <a:pt x="0" y="147827"/>
                </a:moveTo>
                <a:lnTo>
                  <a:pt x="954255" y="147827"/>
                </a:lnTo>
                <a:lnTo>
                  <a:pt x="9542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6814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3380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38800" y="4594859"/>
            <a:ext cx="300355" cy="146685"/>
          </a:xfrm>
          <a:custGeom>
            <a:avLst/>
            <a:gdLst/>
            <a:ahLst/>
            <a:cxnLst/>
            <a:rect l="l" t="t" r="r" b="b"/>
            <a:pathLst>
              <a:path w="300354" h="146685">
                <a:moveTo>
                  <a:pt x="0" y="146304"/>
                </a:moveTo>
                <a:lnTo>
                  <a:pt x="300227" y="146304"/>
                </a:lnTo>
                <a:lnTo>
                  <a:pt x="300227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00800" y="4191000"/>
            <a:ext cx="239395" cy="147955"/>
          </a:xfrm>
          <a:custGeom>
            <a:avLst/>
            <a:gdLst/>
            <a:ahLst/>
            <a:cxnLst/>
            <a:rect l="l" t="t" r="r" b="b"/>
            <a:pathLst>
              <a:path w="239395" h="147954">
                <a:moveTo>
                  <a:pt x="0" y="147827"/>
                </a:moveTo>
                <a:lnTo>
                  <a:pt x="239268" y="147827"/>
                </a:lnTo>
                <a:lnTo>
                  <a:pt x="23926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40068" y="4191000"/>
            <a:ext cx="137160" cy="403860"/>
          </a:xfrm>
          <a:custGeom>
            <a:avLst/>
            <a:gdLst/>
            <a:ahLst/>
            <a:cxnLst/>
            <a:rect l="l" t="t" r="r" b="b"/>
            <a:pathLst>
              <a:path w="137159" h="403860">
                <a:moveTo>
                  <a:pt x="0" y="403859"/>
                </a:moveTo>
                <a:lnTo>
                  <a:pt x="137159" y="403859"/>
                </a:lnTo>
                <a:lnTo>
                  <a:pt x="137159" y="0"/>
                </a:lnTo>
                <a:lnTo>
                  <a:pt x="0" y="0"/>
                </a:lnTo>
                <a:lnTo>
                  <a:pt x="0" y="403859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629400" y="4594859"/>
            <a:ext cx="376555" cy="125095"/>
          </a:xfrm>
          <a:custGeom>
            <a:avLst/>
            <a:gdLst/>
            <a:ahLst/>
            <a:cxnLst/>
            <a:rect l="l" t="t" r="r" b="b"/>
            <a:pathLst>
              <a:path w="376554" h="125095">
                <a:moveTo>
                  <a:pt x="0" y="124968"/>
                </a:moveTo>
                <a:lnTo>
                  <a:pt x="376427" y="124968"/>
                </a:lnTo>
                <a:lnTo>
                  <a:pt x="376427" y="0"/>
                </a:lnTo>
                <a:lnTo>
                  <a:pt x="0" y="0"/>
                </a:lnTo>
                <a:lnTo>
                  <a:pt x="0" y="124968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56931" y="2537460"/>
            <a:ext cx="224154" cy="125095"/>
          </a:xfrm>
          <a:custGeom>
            <a:avLst/>
            <a:gdLst/>
            <a:ahLst/>
            <a:cxnLst/>
            <a:rect l="l" t="t" r="r" b="b"/>
            <a:pathLst>
              <a:path w="224154" h="125094">
                <a:moveTo>
                  <a:pt x="0" y="124967"/>
                </a:moveTo>
                <a:lnTo>
                  <a:pt x="224027" y="124967"/>
                </a:lnTo>
                <a:lnTo>
                  <a:pt x="2240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351532" y="3276600"/>
            <a:ext cx="1976755" cy="147955"/>
          </a:xfrm>
          <a:custGeom>
            <a:avLst/>
            <a:gdLst/>
            <a:ahLst/>
            <a:cxnLst/>
            <a:rect l="l" t="t" r="r" b="b"/>
            <a:pathLst>
              <a:path w="1976754" h="147954">
                <a:moveTo>
                  <a:pt x="0" y="147827"/>
                </a:moveTo>
                <a:lnTo>
                  <a:pt x="1976627" y="147827"/>
                </a:lnTo>
                <a:lnTo>
                  <a:pt x="1976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94147" y="4777740"/>
            <a:ext cx="147955" cy="605155"/>
          </a:xfrm>
          <a:custGeom>
            <a:avLst/>
            <a:gdLst/>
            <a:ahLst/>
            <a:cxnLst/>
            <a:rect l="l" t="t" r="r" b="b"/>
            <a:pathLst>
              <a:path w="147954" h="605154">
                <a:moveTo>
                  <a:pt x="0" y="605028"/>
                </a:moveTo>
                <a:lnTo>
                  <a:pt x="147827" y="605028"/>
                </a:lnTo>
                <a:lnTo>
                  <a:pt x="147827" y="0"/>
                </a:lnTo>
                <a:lnTo>
                  <a:pt x="0" y="0"/>
                </a:lnTo>
                <a:lnTo>
                  <a:pt x="0" y="6050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43000" y="2656332"/>
            <a:ext cx="605155" cy="147955"/>
          </a:xfrm>
          <a:custGeom>
            <a:avLst/>
            <a:gdLst/>
            <a:ahLst/>
            <a:cxnLst/>
            <a:rect l="l" t="t" r="r" b="b"/>
            <a:pathLst>
              <a:path w="605155" h="147955">
                <a:moveTo>
                  <a:pt x="0" y="147827"/>
                </a:moveTo>
                <a:lnTo>
                  <a:pt x="605027" y="147827"/>
                </a:lnTo>
                <a:lnTo>
                  <a:pt x="6050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859876" y="3435310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91609" y="4384402"/>
            <a:ext cx="169545" cy="591820"/>
          </a:xfrm>
          <a:custGeom>
            <a:avLst/>
            <a:gdLst/>
            <a:ahLst/>
            <a:cxnLst/>
            <a:rect l="l" t="t" r="r" b="b"/>
            <a:pathLst>
              <a:path w="169545" h="591820">
                <a:moveTo>
                  <a:pt x="0" y="591556"/>
                </a:moveTo>
                <a:lnTo>
                  <a:pt x="169070" y="469647"/>
                </a:lnTo>
                <a:lnTo>
                  <a:pt x="169070" y="131540"/>
                </a:lnTo>
                <a:lnTo>
                  <a:pt x="0" y="0"/>
                </a:lnTo>
              </a:path>
            </a:pathLst>
          </a:custGeom>
          <a:ln w="56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535224" y="4746093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7303332" y="2318983"/>
            <a:ext cx="169545" cy="469900"/>
          </a:xfrm>
          <a:custGeom>
            <a:avLst/>
            <a:gdLst/>
            <a:ahLst/>
            <a:cxnLst/>
            <a:rect l="l" t="t" r="r" b="b"/>
            <a:pathLst>
              <a:path w="169545" h="469900">
                <a:moveTo>
                  <a:pt x="169070" y="469572"/>
                </a:moveTo>
                <a:lnTo>
                  <a:pt x="169070" y="131415"/>
                </a:lnTo>
                <a:lnTo>
                  <a:pt x="0" y="0"/>
                </a:lnTo>
              </a:path>
            </a:pathLst>
          </a:custGeom>
          <a:ln w="56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5" name="object 175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89" name="object 2"/>
          <p:cNvSpPr/>
          <p:nvPr/>
        </p:nvSpPr>
        <p:spPr>
          <a:xfrm>
            <a:off x="5436096" y="4221088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2"/>
          <p:cNvSpPr/>
          <p:nvPr/>
        </p:nvSpPr>
        <p:spPr>
          <a:xfrm>
            <a:off x="7206828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94" name="object 18"/>
          <p:cNvSpPr txBox="1"/>
          <p:nvPr/>
        </p:nvSpPr>
        <p:spPr>
          <a:xfrm>
            <a:off x="-324544" y="6373869"/>
            <a:ext cx="7025640" cy="29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92400"/>
              </a:lnSpc>
              <a:buClr>
                <a:srgbClr val="211C1F"/>
              </a:buClr>
              <a:tabLst>
                <a:tab pos="320040" algn="l"/>
              </a:tabLst>
            </a:pP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Datapath</a:t>
            </a:r>
            <a:r>
              <a:rPr lang="it-IT" sz="2050" b="0" spc="114" dirty="0">
                <a:solidFill>
                  <a:srgbClr val="FF0000"/>
                </a:solidFill>
                <a:latin typeface="+mn-lt"/>
                <a:cs typeface="Arial"/>
              </a:rPr>
              <a:t> dell’ istruzione </a:t>
            </a: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sw</a:t>
            </a:r>
            <a:endParaRPr lang="it-IT" sz="2050" b="0" spc="114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195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196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pic>
        <p:nvPicPr>
          <p:cNvPr id="197" name="Immagine 1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59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4680860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2"/>
          <p:cNvSpPr/>
          <p:nvPr/>
        </p:nvSpPr>
        <p:spPr>
          <a:xfrm>
            <a:off x="7278836" y="2132856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94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63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6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sp>
        <p:nvSpPr>
          <p:cNvPr id="157" name="object 7"/>
          <p:cNvSpPr txBox="1"/>
          <p:nvPr/>
        </p:nvSpPr>
        <p:spPr>
          <a:xfrm>
            <a:off x="6012160" y="6381328"/>
            <a:ext cx="294703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be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q 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r1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,r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2,offs</a:t>
            </a:r>
            <a:r>
              <a:rPr sz="2400" b="1" spc="-1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endParaRPr sz="2400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pic>
        <p:nvPicPr>
          <p:cNvPr id="164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sp>
        <p:nvSpPr>
          <p:cNvPr id="165" name="object 54"/>
          <p:cNvSpPr txBox="1"/>
          <p:nvPr/>
        </p:nvSpPr>
        <p:spPr>
          <a:xfrm>
            <a:off x="2859876" y="3432262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 dirty="0">
              <a:latin typeface="Arial"/>
              <a:cs typeface="Arial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5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012160" y="6381328"/>
            <a:ext cx="29470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be</a:t>
            </a:r>
            <a:r>
              <a:rPr sz="2400" b="1" dirty="0">
                <a:latin typeface="Courier New"/>
                <a:cs typeface="Courier New"/>
              </a:rPr>
              <a:t>q </a:t>
            </a:r>
            <a:r>
              <a:rPr sz="2400" b="1" spc="-5" dirty="0">
                <a:latin typeface="Courier New"/>
                <a:cs typeface="Courier New"/>
              </a:rPr>
              <a:t>r1</a:t>
            </a:r>
            <a:r>
              <a:rPr sz="2400" b="1" spc="-15" dirty="0">
                <a:latin typeface="Courier New"/>
                <a:cs typeface="Courier New"/>
              </a:rPr>
              <a:t>,r</a:t>
            </a:r>
            <a:r>
              <a:rPr sz="2400" b="1" spc="-5" dirty="0">
                <a:latin typeface="Courier New"/>
                <a:cs typeface="Courier New"/>
              </a:rPr>
              <a:t>2,offs</a:t>
            </a:r>
            <a:r>
              <a:rPr sz="2400" b="1" spc="-15" dirty="0">
                <a:latin typeface="Courier New"/>
                <a:cs typeface="Courier New"/>
              </a:rPr>
              <a:t>e</a:t>
            </a:r>
            <a:r>
              <a:rPr sz="2400" b="1" dirty="0">
                <a:latin typeface="Courier New"/>
                <a:cs typeface="Courier New"/>
              </a:rPr>
              <a:t>t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3000" y="2656332"/>
            <a:ext cx="605155" cy="147955"/>
          </a:xfrm>
          <a:custGeom>
            <a:avLst/>
            <a:gdLst/>
            <a:ahLst/>
            <a:cxnLst/>
            <a:rect l="l" t="t" r="r" b="b"/>
            <a:pathLst>
              <a:path w="605155" h="147955">
                <a:moveTo>
                  <a:pt x="0" y="147827"/>
                </a:moveTo>
                <a:lnTo>
                  <a:pt x="605027" y="147827"/>
                </a:lnTo>
                <a:lnTo>
                  <a:pt x="6050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33600" y="2383535"/>
            <a:ext cx="4415155" cy="203200"/>
          </a:xfrm>
          <a:custGeom>
            <a:avLst/>
            <a:gdLst/>
            <a:ahLst/>
            <a:cxnLst/>
            <a:rect l="l" t="t" r="r" b="b"/>
            <a:pathLst>
              <a:path w="4415155" h="203200">
                <a:moveTo>
                  <a:pt x="0" y="202691"/>
                </a:moveTo>
                <a:lnTo>
                  <a:pt x="4415028" y="202691"/>
                </a:lnTo>
                <a:lnTo>
                  <a:pt x="4415028" y="0"/>
                </a:lnTo>
                <a:lnTo>
                  <a:pt x="0" y="0"/>
                </a:lnTo>
                <a:lnTo>
                  <a:pt x="0" y="202691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4672" y="2080260"/>
            <a:ext cx="943610" cy="125095"/>
          </a:xfrm>
          <a:custGeom>
            <a:avLst/>
            <a:gdLst/>
            <a:ahLst/>
            <a:cxnLst/>
            <a:rect l="l" t="t" r="r" b="b"/>
            <a:pathLst>
              <a:path w="943610" h="125094">
                <a:moveTo>
                  <a:pt x="0" y="124967"/>
                </a:moveTo>
                <a:lnTo>
                  <a:pt x="943355" y="124967"/>
                </a:lnTo>
                <a:lnTo>
                  <a:pt x="943355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5800" y="32766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5" h="147954">
                <a:moveTo>
                  <a:pt x="0" y="147827"/>
                </a:moveTo>
                <a:lnTo>
                  <a:pt x="452628" y="147827"/>
                </a:lnTo>
                <a:lnTo>
                  <a:pt x="452628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6195" y="2100072"/>
            <a:ext cx="180340" cy="1290955"/>
          </a:xfrm>
          <a:custGeom>
            <a:avLst/>
            <a:gdLst/>
            <a:ahLst/>
            <a:cxnLst/>
            <a:rect l="l" t="t" r="r" b="b"/>
            <a:pathLst>
              <a:path w="180340" h="1290954">
                <a:moveTo>
                  <a:pt x="0" y="1290827"/>
                </a:moveTo>
                <a:lnTo>
                  <a:pt x="179832" y="1290827"/>
                </a:lnTo>
                <a:lnTo>
                  <a:pt x="179832" y="0"/>
                </a:lnTo>
                <a:lnTo>
                  <a:pt x="0" y="0"/>
                </a:lnTo>
                <a:lnTo>
                  <a:pt x="0" y="1290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72200" y="3005327"/>
            <a:ext cx="376555" cy="114300"/>
          </a:xfrm>
          <a:custGeom>
            <a:avLst/>
            <a:gdLst/>
            <a:ahLst/>
            <a:cxnLst/>
            <a:rect l="l" t="t" r="r" b="b"/>
            <a:pathLst>
              <a:path w="376554" h="114300">
                <a:moveTo>
                  <a:pt x="0" y="114300"/>
                </a:moveTo>
                <a:lnTo>
                  <a:pt x="376427" y="114300"/>
                </a:lnTo>
                <a:lnTo>
                  <a:pt x="376427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34200" y="2720339"/>
            <a:ext cx="376555" cy="114300"/>
          </a:xfrm>
          <a:custGeom>
            <a:avLst/>
            <a:gdLst/>
            <a:ahLst/>
            <a:cxnLst/>
            <a:rect l="l" t="t" r="r" b="b"/>
            <a:pathLst>
              <a:path w="376554" h="114300">
                <a:moveTo>
                  <a:pt x="0" y="114300"/>
                </a:moveTo>
                <a:lnTo>
                  <a:pt x="376427" y="114300"/>
                </a:lnTo>
                <a:lnTo>
                  <a:pt x="376427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8495" y="3308603"/>
            <a:ext cx="170180" cy="116205"/>
          </a:xfrm>
          <a:custGeom>
            <a:avLst/>
            <a:gdLst/>
            <a:ahLst/>
            <a:cxnLst/>
            <a:rect l="l" t="t" r="r" b="b"/>
            <a:pathLst>
              <a:path w="170179" h="116204">
                <a:moveTo>
                  <a:pt x="0" y="115824"/>
                </a:moveTo>
                <a:lnTo>
                  <a:pt x="170084" y="115824"/>
                </a:lnTo>
                <a:lnTo>
                  <a:pt x="170084" y="0"/>
                </a:lnTo>
                <a:lnTo>
                  <a:pt x="0" y="0"/>
                </a:lnTo>
                <a:lnTo>
                  <a:pt x="0" y="11582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667" y="1828800"/>
            <a:ext cx="147955" cy="1595755"/>
          </a:xfrm>
          <a:custGeom>
            <a:avLst/>
            <a:gdLst/>
            <a:ahLst/>
            <a:cxnLst/>
            <a:rect l="l" t="t" r="r" b="b"/>
            <a:pathLst>
              <a:path w="147955" h="1595754">
                <a:moveTo>
                  <a:pt x="0" y="1595627"/>
                </a:moveTo>
                <a:lnTo>
                  <a:pt x="147828" y="1595627"/>
                </a:lnTo>
                <a:lnTo>
                  <a:pt x="147828" y="0"/>
                </a:lnTo>
                <a:lnTo>
                  <a:pt x="0" y="0"/>
                </a:lnTo>
                <a:lnTo>
                  <a:pt x="0" y="15956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1687067"/>
            <a:ext cx="7556500" cy="147955"/>
          </a:xfrm>
          <a:custGeom>
            <a:avLst/>
            <a:gdLst/>
            <a:ahLst/>
            <a:cxnLst/>
            <a:rect l="l" t="t" r="r" b="b"/>
            <a:pathLst>
              <a:path w="7556500" h="147955">
                <a:moveTo>
                  <a:pt x="0" y="147827"/>
                </a:moveTo>
                <a:lnTo>
                  <a:pt x="7555992" y="147827"/>
                </a:lnTo>
                <a:lnTo>
                  <a:pt x="7555992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67600" y="2537460"/>
            <a:ext cx="88900" cy="125095"/>
          </a:xfrm>
          <a:custGeom>
            <a:avLst/>
            <a:gdLst/>
            <a:ahLst/>
            <a:cxnLst/>
            <a:rect l="l" t="t" r="r" b="b"/>
            <a:pathLst>
              <a:path w="88900" h="125094">
                <a:moveTo>
                  <a:pt x="0" y="124967"/>
                </a:moveTo>
                <a:lnTo>
                  <a:pt x="88392" y="124967"/>
                </a:lnTo>
                <a:lnTo>
                  <a:pt x="88392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55992" y="1676400"/>
            <a:ext cx="135890" cy="986155"/>
          </a:xfrm>
          <a:custGeom>
            <a:avLst/>
            <a:gdLst/>
            <a:ahLst/>
            <a:cxnLst/>
            <a:rect l="l" t="t" r="r" b="b"/>
            <a:pathLst>
              <a:path w="135890" h="986155">
                <a:moveTo>
                  <a:pt x="0" y="986027"/>
                </a:moveTo>
                <a:lnTo>
                  <a:pt x="135635" y="986027"/>
                </a:lnTo>
                <a:lnTo>
                  <a:pt x="135635" y="0"/>
                </a:lnTo>
                <a:lnTo>
                  <a:pt x="0" y="0"/>
                </a:lnTo>
                <a:lnTo>
                  <a:pt x="0" y="986027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18532" y="3130295"/>
            <a:ext cx="147955" cy="756285"/>
          </a:xfrm>
          <a:custGeom>
            <a:avLst/>
            <a:gdLst/>
            <a:ahLst/>
            <a:cxnLst/>
            <a:rect l="l" t="t" r="r" b="b"/>
            <a:pathLst>
              <a:path w="147954" h="756285">
                <a:moveTo>
                  <a:pt x="0" y="755903"/>
                </a:moveTo>
                <a:lnTo>
                  <a:pt x="147827" y="755903"/>
                </a:lnTo>
                <a:lnTo>
                  <a:pt x="147827" y="0"/>
                </a:lnTo>
                <a:lnTo>
                  <a:pt x="0" y="0"/>
                </a:lnTo>
                <a:lnTo>
                  <a:pt x="0" y="755903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18532" y="4034028"/>
            <a:ext cx="147955" cy="386080"/>
          </a:xfrm>
          <a:custGeom>
            <a:avLst/>
            <a:gdLst/>
            <a:ahLst/>
            <a:cxnLst/>
            <a:rect l="l" t="t" r="r" b="b"/>
            <a:pathLst>
              <a:path w="147954" h="386079">
                <a:moveTo>
                  <a:pt x="0" y="385572"/>
                </a:moveTo>
                <a:lnTo>
                  <a:pt x="147827" y="385572"/>
                </a:lnTo>
                <a:lnTo>
                  <a:pt x="147827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18532" y="4567428"/>
            <a:ext cx="147955" cy="690880"/>
          </a:xfrm>
          <a:custGeom>
            <a:avLst/>
            <a:gdLst/>
            <a:ahLst/>
            <a:cxnLst/>
            <a:rect l="l" t="t" r="r" b="b"/>
            <a:pathLst>
              <a:path w="147954" h="690879">
                <a:moveTo>
                  <a:pt x="0" y="690372"/>
                </a:moveTo>
                <a:lnTo>
                  <a:pt x="147827" y="690372"/>
                </a:lnTo>
                <a:lnTo>
                  <a:pt x="147827" y="0"/>
                </a:lnTo>
                <a:lnTo>
                  <a:pt x="0" y="0"/>
                </a:lnTo>
                <a:lnTo>
                  <a:pt x="0" y="690372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00600" y="5257800"/>
            <a:ext cx="376555" cy="147955"/>
          </a:xfrm>
          <a:custGeom>
            <a:avLst/>
            <a:gdLst/>
            <a:ahLst/>
            <a:cxnLst/>
            <a:rect l="l" t="t" r="r" b="b"/>
            <a:pathLst>
              <a:path w="376554" h="147954">
                <a:moveTo>
                  <a:pt x="0" y="147828"/>
                </a:moveTo>
                <a:lnTo>
                  <a:pt x="376427" y="147828"/>
                </a:lnTo>
                <a:lnTo>
                  <a:pt x="3764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18532" y="3005327"/>
            <a:ext cx="757555" cy="125095"/>
          </a:xfrm>
          <a:custGeom>
            <a:avLst/>
            <a:gdLst/>
            <a:ahLst/>
            <a:cxnLst/>
            <a:rect l="l" t="t" r="r" b="b"/>
            <a:pathLst>
              <a:path w="757554" h="125094">
                <a:moveTo>
                  <a:pt x="0" y="124967"/>
                </a:moveTo>
                <a:lnTo>
                  <a:pt x="757427" y="124967"/>
                </a:lnTo>
                <a:lnTo>
                  <a:pt x="757427" y="0"/>
                </a:lnTo>
                <a:lnTo>
                  <a:pt x="0" y="0"/>
                </a:lnTo>
                <a:lnTo>
                  <a:pt x="0" y="12496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43200" y="5257800"/>
            <a:ext cx="1748155" cy="147955"/>
          </a:xfrm>
          <a:custGeom>
            <a:avLst/>
            <a:gdLst/>
            <a:ahLst/>
            <a:cxnLst/>
            <a:rect l="l" t="t" r="r" b="b"/>
            <a:pathLst>
              <a:path w="1748154" h="147954">
                <a:moveTo>
                  <a:pt x="0" y="147828"/>
                </a:moveTo>
                <a:lnTo>
                  <a:pt x="1748027" y="147828"/>
                </a:lnTo>
                <a:lnTo>
                  <a:pt x="1748027" y="0"/>
                </a:lnTo>
                <a:lnTo>
                  <a:pt x="0" y="0"/>
                </a:lnTo>
                <a:lnTo>
                  <a:pt x="0" y="14782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43200" y="3429000"/>
            <a:ext cx="147955" cy="1824355"/>
          </a:xfrm>
          <a:custGeom>
            <a:avLst/>
            <a:gdLst/>
            <a:ahLst/>
            <a:cxnLst/>
            <a:rect l="l" t="t" r="r" b="b"/>
            <a:pathLst>
              <a:path w="147955" h="1824354">
                <a:moveTo>
                  <a:pt x="0" y="1824227"/>
                </a:moveTo>
                <a:lnTo>
                  <a:pt x="147827" y="1824227"/>
                </a:lnTo>
                <a:lnTo>
                  <a:pt x="147827" y="0"/>
                </a:lnTo>
                <a:lnTo>
                  <a:pt x="0" y="0"/>
                </a:lnTo>
                <a:lnTo>
                  <a:pt x="0" y="18242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84772" y="4419600"/>
            <a:ext cx="497205" cy="147955"/>
          </a:xfrm>
          <a:custGeom>
            <a:avLst/>
            <a:gdLst/>
            <a:ahLst/>
            <a:cxnLst/>
            <a:rect l="l" t="t" r="r" b="b"/>
            <a:pathLst>
              <a:path w="497204" h="147954">
                <a:moveTo>
                  <a:pt x="0" y="147827"/>
                </a:moveTo>
                <a:lnTo>
                  <a:pt x="497055" y="147827"/>
                </a:lnTo>
                <a:lnTo>
                  <a:pt x="4970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84772" y="3886200"/>
            <a:ext cx="954405" cy="147955"/>
          </a:xfrm>
          <a:custGeom>
            <a:avLst/>
            <a:gdLst/>
            <a:ahLst/>
            <a:cxnLst/>
            <a:rect l="l" t="t" r="r" b="b"/>
            <a:pathLst>
              <a:path w="954404" h="147954">
                <a:moveTo>
                  <a:pt x="0" y="147827"/>
                </a:moveTo>
                <a:lnTo>
                  <a:pt x="954255" y="147827"/>
                </a:lnTo>
                <a:lnTo>
                  <a:pt x="954255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6814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33800" y="3424428"/>
            <a:ext cx="147955" cy="250190"/>
          </a:xfrm>
          <a:custGeom>
            <a:avLst/>
            <a:gdLst/>
            <a:ahLst/>
            <a:cxnLst/>
            <a:rect l="l" t="t" r="r" b="b"/>
            <a:pathLst>
              <a:path w="147954" h="250189">
                <a:moveTo>
                  <a:pt x="0" y="249936"/>
                </a:moveTo>
                <a:lnTo>
                  <a:pt x="147827" y="249936"/>
                </a:lnTo>
                <a:lnTo>
                  <a:pt x="147827" y="0"/>
                </a:lnTo>
                <a:lnTo>
                  <a:pt x="0" y="0"/>
                </a:lnTo>
                <a:lnTo>
                  <a:pt x="0" y="249936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51532" y="3276600"/>
            <a:ext cx="1976755" cy="147955"/>
          </a:xfrm>
          <a:custGeom>
            <a:avLst/>
            <a:gdLst/>
            <a:ahLst/>
            <a:cxnLst/>
            <a:rect l="l" t="t" r="r" b="b"/>
            <a:pathLst>
              <a:path w="1976754" h="147954">
                <a:moveTo>
                  <a:pt x="0" y="147827"/>
                </a:moveTo>
                <a:lnTo>
                  <a:pt x="1976627" y="147827"/>
                </a:lnTo>
                <a:lnTo>
                  <a:pt x="1976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28132" y="4594859"/>
            <a:ext cx="300355" cy="146685"/>
          </a:xfrm>
          <a:custGeom>
            <a:avLst/>
            <a:gdLst/>
            <a:ahLst/>
            <a:cxnLst/>
            <a:rect l="l" t="t" r="r" b="b"/>
            <a:pathLst>
              <a:path w="300354" h="146685">
                <a:moveTo>
                  <a:pt x="0" y="146304"/>
                </a:moveTo>
                <a:lnTo>
                  <a:pt x="300227" y="146304"/>
                </a:lnTo>
                <a:lnTo>
                  <a:pt x="300227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00800" y="3962400"/>
            <a:ext cx="452755" cy="147955"/>
          </a:xfrm>
          <a:custGeom>
            <a:avLst/>
            <a:gdLst/>
            <a:ahLst/>
            <a:cxnLst/>
            <a:rect l="l" t="t" r="r" b="b"/>
            <a:pathLst>
              <a:path w="452754" h="147954">
                <a:moveTo>
                  <a:pt x="0" y="147827"/>
                </a:moveTo>
                <a:lnTo>
                  <a:pt x="452627" y="147827"/>
                </a:lnTo>
                <a:lnTo>
                  <a:pt x="452627" y="0"/>
                </a:lnTo>
                <a:lnTo>
                  <a:pt x="0" y="0"/>
                </a:lnTo>
                <a:lnTo>
                  <a:pt x="0" y="147827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54625" y="3699231"/>
            <a:ext cx="1530350" cy="1192530"/>
          </a:xfrm>
          <a:custGeom>
            <a:avLst/>
            <a:gdLst/>
            <a:ahLst/>
            <a:cxnLst/>
            <a:rect l="l" t="t" r="r" b="b"/>
            <a:pathLst>
              <a:path w="1530350" h="1192529">
                <a:moveTo>
                  <a:pt x="0" y="1192344"/>
                </a:moveTo>
                <a:lnTo>
                  <a:pt x="1530146" y="1192344"/>
                </a:lnTo>
                <a:lnTo>
                  <a:pt x="1530146" y="0"/>
                </a:lnTo>
                <a:lnTo>
                  <a:pt x="0" y="0"/>
                </a:lnTo>
                <a:lnTo>
                  <a:pt x="0" y="1192344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41870" y="4243618"/>
            <a:ext cx="132080" cy="113030"/>
          </a:xfrm>
          <a:custGeom>
            <a:avLst/>
            <a:gdLst/>
            <a:ahLst/>
            <a:cxnLst/>
            <a:rect l="l" t="t" r="r" b="b"/>
            <a:pathLst>
              <a:path w="132079" h="113029">
                <a:moveTo>
                  <a:pt x="0" y="0"/>
                </a:moveTo>
                <a:lnTo>
                  <a:pt x="0" y="112927"/>
                </a:lnTo>
                <a:lnTo>
                  <a:pt x="131527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26120" y="4300082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45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54848" y="35959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4" h="113029">
                <a:moveTo>
                  <a:pt x="94108" y="0"/>
                </a:moveTo>
                <a:lnTo>
                  <a:pt x="0" y="0"/>
                </a:lnTo>
                <a:lnTo>
                  <a:pt x="47054" y="112677"/>
                </a:lnTo>
                <a:lnTo>
                  <a:pt x="941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01902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177588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24266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764234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836257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186848" y="3417650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258621" y="3397834"/>
            <a:ext cx="8826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15" dirty="0">
                <a:latin typeface="Arial"/>
                <a:cs typeface="Arial"/>
              </a:rPr>
              <a:t>5</a:t>
            </a:r>
            <a:endParaRPr sz="8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788103" y="3455126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472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859876" y="3435310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224266" y="4891575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7054" y="0"/>
                </a:moveTo>
                <a:lnTo>
                  <a:pt x="0" y="112602"/>
                </a:lnTo>
                <a:lnTo>
                  <a:pt x="93983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71321" y="4929114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47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507626" y="3720501"/>
            <a:ext cx="1431925" cy="66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975">
              <a:lnSpc>
                <a:spcPct val="100000"/>
              </a:lnSpc>
              <a:tabLst>
                <a:tab pos="603885" algn="l"/>
                <a:tab pos="1026160" algn="l"/>
              </a:tabLst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1</a:t>
            </a:r>
            <a:r>
              <a:rPr sz="1000" b="1" dirty="0">
                <a:latin typeface="Arial"/>
                <a:cs typeface="Arial"/>
              </a:rPr>
              <a:t>	</a:t>
            </a: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N</a:t>
            </a:r>
            <a:r>
              <a:rPr sz="1000" b="1" spc="15" dirty="0">
                <a:latin typeface="Arial"/>
                <a:cs typeface="Arial"/>
              </a:rPr>
              <a:t>2</a:t>
            </a:r>
            <a:r>
              <a:rPr sz="1000" b="1" dirty="0">
                <a:latin typeface="Arial"/>
                <a:cs typeface="Arial"/>
              </a:rPr>
              <a:t>	WN</a:t>
            </a:r>
            <a:endParaRPr sz="1000" dirty="0">
              <a:latin typeface="Arial"/>
              <a:cs typeface="Arial"/>
            </a:endParaRPr>
          </a:p>
          <a:p>
            <a:pPr marR="5080" algn="r">
              <a:lnSpc>
                <a:spcPts val="1005"/>
              </a:lnSpc>
              <a:spcBef>
                <a:spcPts val="130"/>
              </a:spcBef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1</a:t>
            </a:r>
            <a:endParaRPr sz="1000" dirty="0">
              <a:latin typeface="Arial"/>
              <a:cs typeface="Arial"/>
            </a:endParaRPr>
          </a:p>
          <a:p>
            <a:pPr marL="162560">
              <a:lnSpc>
                <a:spcPts val="1365"/>
              </a:lnSpc>
            </a:pPr>
            <a:r>
              <a:rPr sz="1300" b="1" spc="15" dirty="0">
                <a:latin typeface="Arial"/>
                <a:cs typeface="Arial"/>
              </a:rPr>
              <a:t>R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gi</a:t>
            </a:r>
            <a:r>
              <a:rPr sz="1300" b="1" dirty="0">
                <a:latin typeface="Arial"/>
                <a:cs typeface="Arial"/>
              </a:rPr>
              <a:t>s</a:t>
            </a:r>
            <a:r>
              <a:rPr sz="1300" b="1" spc="5" dirty="0">
                <a:latin typeface="Arial"/>
                <a:cs typeface="Arial"/>
              </a:rPr>
              <a:t>t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r </a:t>
            </a:r>
            <a:r>
              <a:rPr sz="1300" b="1" spc="5" dirty="0">
                <a:latin typeface="Arial"/>
                <a:cs typeface="Arial"/>
              </a:rPr>
              <a:t>Fi</a:t>
            </a:r>
            <a:r>
              <a:rPr sz="1300" b="1" spc="-75" dirty="0">
                <a:latin typeface="Arial"/>
                <a:cs typeface="Arial"/>
              </a:rPr>
              <a:t>l</a:t>
            </a:r>
            <a:r>
              <a:rPr sz="1300" b="1" spc="10" dirty="0">
                <a:latin typeface="Arial"/>
                <a:cs typeface="Arial"/>
              </a:rPr>
              <a:t>e</a:t>
            </a:r>
            <a:endParaRPr sz="1300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WD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43567" y="4565457"/>
            <a:ext cx="29591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R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1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929991" y="4706366"/>
            <a:ext cx="60579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0" y="0"/>
                </a:move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  <a:lnTo>
                  <a:pt x="506961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904588" y="3699219"/>
            <a:ext cx="507365" cy="1183640"/>
          </a:xfrm>
          <a:custGeom>
            <a:avLst/>
            <a:gdLst/>
            <a:ahLst/>
            <a:cxnLst/>
            <a:rect l="l" t="t" r="r" b="b"/>
            <a:pathLst>
              <a:path w="507364" h="1183639">
                <a:moveTo>
                  <a:pt x="506961" y="929276"/>
                </a:moveTo>
                <a:lnTo>
                  <a:pt x="506961" y="253461"/>
                </a:lnTo>
                <a:lnTo>
                  <a:pt x="0" y="0"/>
                </a:lnTo>
                <a:lnTo>
                  <a:pt x="0" y="506798"/>
                </a:lnTo>
                <a:lnTo>
                  <a:pt x="84723" y="591493"/>
                </a:lnTo>
                <a:lnTo>
                  <a:pt x="0" y="675939"/>
                </a:lnTo>
                <a:lnTo>
                  <a:pt x="0" y="1183050"/>
                </a:lnTo>
                <a:lnTo>
                  <a:pt x="506961" y="929276"/>
                </a:lnTo>
              </a:path>
            </a:pathLst>
          </a:custGeom>
          <a:ln w="56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792082" y="3905836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984772" y="3961924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87301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0935" y="4300082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4">
                <a:moveTo>
                  <a:pt x="3378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120713" y="3727451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679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167392" y="3539447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08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730794" y="3999525"/>
            <a:ext cx="113030" cy="93980"/>
          </a:xfrm>
          <a:custGeom>
            <a:avLst/>
            <a:gdLst/>
            <a:ahLst/>
            <a:cxnLst/>
            <a:rect l="l" t="t" r="r" b="b"/>
            <a:pathLst>
              <a:path w="113029" h="93979">
                <a:moveTo>
                  <a:pt x="0" y="0"/>
                </a:moveTo>
                <a:lnTo>
                  <a:pt x="0" y="93939"/>
                </a:lnTo>
                <a:lnTo>
                  <a:pt x="112505" y="47094"/>
                </a:lnTo>
                <a:lnTo>
                  <a:pt x="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420935" y="4046620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5">
                <a:moveTo>
                  <a:pt x="384945" y="0"/>
                </a:moveTo>
                <a:lnTo>
                  <a:pt x="0" y="0"/>
                </a:lnTo>
              </a:path>
            </a:pathLst>
          </a:custGeom>
          <a:ln w="18656">
            <a:solidFill>
              <a:srgbClr val="00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816801" y="3373100"/>
            <a:ext cx="6591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2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at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40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985871" y="3999948"/>
            <a:ext cx="3733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5" dirty="0">
                <a:latin typeface="Arial"/>
                <a:cs typeface="Arial"/>
              </a:rPr>
              <a:t>A</a:t>
            </a:r>
            <a:r>
              <a:rPr sz="1300" b="1" spc="5" dirty="0">
                <a:latin typeface="Arial"/>
                <a:cs typeface="Arial"/>
              </a:rPr>
              <a:t>L</a:t>
            </a:r>
            <a:r>
              <a:rPr sz="1300" b="1" spc="15" dirty="0">
                <a:latin typeface="Arial"/>
                <a:cs typeface="Arial"/>
              </a:rPr>
              <a:t>U</a:t>
            </a:r>
            <a:endParaRPr sz="13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126120" y="6074613"/>
            <a:ext cx="5914390" cy="0"/>
          </a:xfrm>
          <a:custGeom>
            <a:avLst/>
            <a:gdLst/>
            <a:ahLst/>
            <a:cxnLst/>
            <a:rect l="l" t="t" r="r" b="b"/>
            <a:pathLst>
              <a:path w="5914390">
                <a:moveTo>
                  <a:pt x="59138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039969" y="5191845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6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126120" y="4300082"/>
            <a:ext cx="0" cy="1774825"/>
          </a:xfrm>
          <a:custGeom>
            <a:avLst/>
            <a:gdLst/>
            <a:ahLst/>
            <a:cxnLst/>
            <a:rect l="l" t="t" r="r" b="b"/>
            <a:pathLst>
              <a:path h="1774825">
                <a:moveTo>
                  <a:pt x="0" y="0"/>
                </a:moveTo>
                <a:lnTo>
                  <a:pt x="0" y="1774531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365489" y="3370431"/>
            <a:ext cx="2281555" cy="0"/>
          </a:xfrm>
          <a:custGeom>
            <a:avLst/>
            <a:gdLst/>
            <a:ahLst/>
            <a:cxnLst/>
            <a:rect l="l" t="t" r="r" b="b"/>
            <a:pathLst>
              <a:path w="2281554">
                <a:moveTo>
                  <a:pt x="228139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130099" y="3586291"/>
            <a:ext cx="84455" cy="85090"/>
          </a:xfrm>
          <a:custGeom>
            <a:avLst/>
            <a:gdLst/>
            <a:ahLst/>
            <a:cxnLst/>
            <a:rect l="l" t="t" r="r" b="b"/>
            <a:pathLst>
              <a:path w="84454" h="85089">
                <a:moveTo>
                  <a:pt x="84347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6201746" y="3566606"/>
            <a:ext cx="88900" cy="139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369467" y="445947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984772" y="4515942"/>
            <a:ext cx="450850" cy="0"/>
          </a:xfrm>
          <a:custGeom>
            <a:avLst/>
            <a:gdLst/>
            <a:ahLst/>
            <a:cxnLst/>
            <a:rect l="l" t="t" r="r" b="b"/>
            <a:pathLst>
              <a:path w="450850">
                <a:moveTo>
                  <a:pt x="45039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369467" y="4750791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64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116300" y="4806880"/>
            <a:ext cx="319405" cy="0"/>
          </a:xfrm>
          <a:custGeom>
            <a:avLst/>
            <a:gdLst/>
            <a:ahLst/>
            <a:cxnLst/>
            <a:rect l="l" t="t" r="r" b="b"/>
            <a:pathLst>
              <a:path w="319404">
                <a:moveTo>
                  <a:pt x="31886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116300" y="3079493"/>
            <a:ext cx="0" cy="2281555"/>
          </a:xfrm>
          <a:custGeom>
            <a:avLst/>
            <a:gdLst/>
            <a:ahLst/>
            <a:cxnLst/>
            <a:rect l="l" t="t" r="r" b="b"/>
            <a:pathLst>
              <a:path h="2281554">
                <a:moveTo>
                  <a:pt x="0" y="0"/>
                </a:moveTo>
                <a:lnTo>
                  <a:pt x="0" y="2281392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515479" y="4966640"/>
            <a:ext cx="300355" cy="770255"/>
          </a:xfrm>
          <a:custGeom>
            <a:avLst/>
            <a:gdLst/>
            <a:ahLst/>
            <a:cxnLst/>
            <a:rect l="l" t="t" r="r" b="b"/>
            <a:pathLst>
              <a:path w="300354" h="770254">
                <a:moveTo>
                  <a:pt x="0" y="600825"/>
                </a:moveTo>
                <a:lnTo>
                  <a:pt x="0" y="621663"/>
                </a:lnTo>
                <a:lnTo>
                  <a:pt x="0" y="631691"/>
                </a:lnTo>
                <a:lnTo>
                  <a:pt x="0" y="641718"/>
                </a:lnTo>
                <a:lnTo>
                  <a:pt x="0" y="660846"/>
                </a:lnTo>
                <a:lnTo>
                  <a:pt x="0" y="678905"/>
                </a:lnTo>
                <a:lnTo>
                  <a:pt x="0" y="695752"/>
                </a:lnTo>
                <a:lnTo>
                  <a:pt x="0" y="711244"/>
                </a:lnTo>
                <a:lnTo>
                  <a:pt x="0" y="725239"/>
                </a:lnTo>
                <a:lnTo>
                  <a:pt x="0" y="737593"/>
                </a:lnTo>
                <a:lnTo>
                  <a:pt x="0" y="748163"/>
                </a:lnTo>
                <a:lnTo>
                  <a:pt x="0" y="756808"/>
                </a:lnTo>
                <a:lnTo>
                  <a:pt x="0" y="763383"/>
                </a:lnTo>
                <a:lnTo>
                  <a:pt x="0" y="767747"/>
                </a:lnTo>
                <a:lnTo>
                  <a:pt x="0" y="769756"/>
                </a:lnTo>
                <a:lnTo>
                  <a:pt x="300222" y="769878"/>
                </a:lnTo>
                <a:lnTo>
                  <a:pt x="300222" y="768631"/>
                </a:lnTo>
                <a:lnTo>
                  <a:pt x="300222" y="767420"/>
                </a:lnTo>
                <a:lnTo>
                  <a:pt x="300222" y="764985"/>
                </a:lnTo>
                <a:lnTo>
                  <a:pt x="300222" y="759041"/>
                </a:lnTo>
                <a:lnTo>
                  <a:pt x="300222" y="759194"/>
                </a:lnTo>
                <a:lnTo>
                  <a:pt x="300222" y="751067"/>
                </a:lnTo>
                <a:lnTo>
                  <a:pt x="300222" y="745919"/>
                </a:lnTo>
                <a:lnTo>
                  <a:pt x="300222" y="741081"/>
                </a:lnTo>
                <a:lnTo>
                  <a:pt x="300222" y="729881"/>
                </a:lnTo>
                <a:lnTo>
                  <a:pt x="300222" y="729267"/>
                </a:lnTo>
                <a:lnTo>
                  <a:pt x="300222" y="729967"/>
                </a:lnTo>
                <a:lnTo>
                  <a:pt x="300222" y="715768"/>
                </a:lnTo>
                <a:lnTo>
                  <a:pt x="300222" y="707639"/>
                </a:lnTo>
                <a:lnTo>
                  <a:pt x="300222" y="700727"/>
                </a:lnTo>
                <a:lnTo>
                  <a:pt x="300222" y="686076"/>
                </a:lnTo>
                <a:lnTo>
                  <a:pt x="300222" y="684287"/>
                </a:lnTo>
                <a:lnTo>
                  <a:pt x="300222" y="682272"/>
                </a:lnTo>
                <a:lnTo>
                  <a:pt x="300222" y="666590"/>
                </a:lnTo>
                <a:lnTo>
                  <a:pt x="300222" y="658545"/>
                </a:lnTo>
                <a:lnTo>
                  <a:pt x="300222" y="647779"/>
                </a:lnTo>
                <a:lnTo>
                  <a:pt x="300222" y="624255"/>
                </a:lnTo>
                <a:lnTo>
                  <a:pt x="300222" y="627997"/>
                </a:lnTo>
                <a:lnTo>
                  <a:pt x="300222" y="624094"/>
                </a:lnTo>
                <a:lnTo>
                  <a:pt x="300222" y="607387"/>
                </a:lnTo>
                <a:lnTo>
                  <a:pt x="300222" y="387052"/>
                </a:lnTo>
                <a:lnTo>
                  <a:pt x="300222" y="169053"/>
                </a:lnTo>
                <a:lnTo>
                  <a:pt x="300222" y="152337"/>
                </a:lnTo>
                <a:lnTo>
                  <a:pt x="300222" y="148217"/>
                </a:lnTo>
                <a:lnTo>
                  <a:pt x="300222" y="100723"/>
                </a:lnTo>
                <a:lnTo>
                  <a:pt x="300222" y="90978"/>
                </a:lnTo>
                <a:lnTo>
                  <a:pt x="300222" y="74950"/>
                </a:lnTo>
                <a:lnTo>
                  <a:pt x="300222" y="74131"/>
                </a:lnTo>
                <a:lnTo>
                  <a:pt x="300222" y="72671"/>
                </a:lnTo>
                <a:lnTo>
                  <a:pt x="300222" y="58639"/>
                </a:lnTo>
                <a:lnTo>
                  <a:pt x="300222" y="71339"/>
                </a:lnTo>
                <a:lnTo>
                  <a:pt x="300222" y="44644"/>
                </a:lnTo>
                <a:lnTo>
                  <a:pt x="300222" y="32549"/>
                </a:lnTo>
                <a:lnTo>
                  <a:pt x="300222" y="32289"/>
                </a:lnTo>
                <a:lnTo>
                  <a:pt x="300222" y="31853"/>
                </a:lnTo>
                <a:lnTo>
                  <a:pt x="300222" y="21718"/>
                </a:lnTo>
                <a:lnTo>
                  <a:pt x="300222" y="13219"/>
                </a:lnTo>
                <a:lnTo>
                  <a:pt x="300222" y="13072"/>
                </a:lnTo>
                <a:lnTo>
                  <a:pt x="300222" y="6496"/>
                </a:lnTo>
                <a:lnTo>
                  <a:pt x="300222" y="-2245"/>
                </a:lnTo>
                <a:lnTo>
                  <a:pt x="300222" y="2132"/>
                </a:lnTo>
                <a:lnTo>
                  <a:pt x="300222" y="122"/>
                </a:lnTo>
                <a:lnTo>
                  <a:pt x="0" y="0"/>
                </a:lnTo>
                <a:lnTo>
                  <a:pt x="0" y="1247"/>
                </a:lnTo>
                <a:lnTo>
                  <a:pt x="0" y="3070"/>
                </a:lnTo>
                <a:lnTo>
                  <a:pt x="0" y="4893"/>
                </a:lnTo>
                <a:lnTo>
                  <a:pt x="0" y="10796"/>
                </a:lnTo>
                <a:lnTo>
                  <a:pt x="0" y="18813"/>
                </a:lnTo>
                <a:lnTo>
                  <a:pt x="0" y="28800"/>
                </a:lnTo>
                <a:lnTo>
                  <a:pt x="0" y="40615"/>
                </a:lnTo>
                <a:lnTo>
                  <a:pt x="0" y="54115"/>
                </a:lnTo>
                <a:lnTo>
                  <a:pt x="0" y="69156"/>
                </a:lnTo>
                <a:lnTo>
                  <a:pt x="0" y="85597"/>
                </a:lnTo>
                <a:lnTo>
                  <a:pt x="0" y="103294"/>
                </a:lnTo>
                <a:lnTo>
                  <a:pt x="0" y="122104"/>
                </a:lnTo>
                <a:lnTo>
                  <a:pt x="0" y="141884"/>
                </a:lnTo>
                <a:lnTo>
                  <a:pt x="0" y="162491"/>
                </a:lnTo>
                <a:lnTo>
                  <a:pt x="0" y="600825"/>
                </a:lnTo>
              </a:path>
            </a:pathLst>
          </a:custGeom>
          <a:ln w="560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4615159" y="5007128"/>
            <a:ext cx="120650" cy="683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86200"/>
              </a:lnSpc>
            </a:pPr>
            <a:r>
              <a:rPr sz="1000" b="1" spc="15" dirty="0">
                <a:latin typeface="Arial"/>
                <a:cs typeface="Arial"/>
              </a:rPr>
              <a:t>E X T N D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4224266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421156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16</a:t>
            </a:r>
            <a:endParaRPr sz="85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4355669" y="5304734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151"/>
                </a:lnTo>
                <a:lnTo>
                  <a:pt x="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834907" y="5360886"/>
            <a:ext cx="1586865" cy="0"/>
          </a:xfrm>
          <a:custGeom>
            <a:avLst/>
            <a:gdLst/>
            <a:ahLst/>
            <a:cxnLst/>
            <a:rect l="l" t="t" r="r" b="b"/>
            <a:pathLst>
              <a:path w="1586864">
                <a:moveTo>
                  <a:pt x="158646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00049" y="531405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84723" y="0"/>
                </a:moveTo>
                <a:lnTo>
                  <a:pt x="0" y="8437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4850056" y="5172378"/>
            <a:ext cx="156845" cy="13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50" spc="30" dirty="0">
                <a:latin typeface="Arial"/>
                <a:cs typeface="Arial"/>
              </a:rPr>
              <a:t>32</a:t>
            </a:r>
            <a:endParaRPr sz="85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4815701" y="5360886"/>
            <a:ext cx="300990" cy="0"/>
          </a:xfrm>
          <a:custGeom>
            <a:avLst/>
            <a:gdLst/>
            <a:ahLst/>
            <a:cxnLst/>
            <a:rect l="l" t="t" r="r" b="b"/>
            <a:pathLst>
              <a:path w="300989">
                <a:moveTo>
                  <a:pt x="30059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834907" y="3370431"/>
            <a:ext cx="0" cy="1990725"/>
          </a:xfrm>
          <a:custGeom>
            <a:avLst/>
            <a:gdLst/>
            <a:ahLst/>
            <a:cxnLst/>
            <a:rect l="l" t="t" r="r" b="b"/>
            <a:pathLst>
              <a:path h="1990725">
                <a:moveTo>
                  <a:pt x="0" y="0"/>
                </a:moveTo>
                <a:lnTo>
                  <a:pt x="0" y="1990455"/>
                </a:lnTo>
              </a:path>
            </a:pathLst>
          </a:custGeom>
          <a:ln w="28034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6858882" y="3973963"/>
            <a:ext cx="30353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30" dirty="0">
                <a:solidFill>
                  <a:srgbClr val="003399"/>
                </a:solidFill>
                <a:latin typeface="Arial"/>
                <a:cs typeface="Arial"/>
              </a:rPr>
              <a:t>Z</a:t>
            </a:r>
            <a:r>
              <a:rPr sz="1000" b="1" spc="25" dirty="0">
                <a:solidFill>
                  <a:srgbClr val="003399"/>
                </a:solidFill>
                <a:latin typeface="Arial"/>
                <a:cs typeface="Arial"/>
              </a:rPr>
              <a:t>e</a:t>
            </a:r>
            <a:r>
              <a:rPr sz="1000" b="1" spc="-25" dirty="0">
                <a:solidFill>
                  <a:srgbClr val="0033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3399"/>
                </a:solidFill>
                <a:latin typeface="Arial"/>
                <a:cs typeface="Arial"/>
              </a:rPr>
              <a:t>o</a:t>
            </a:r>
            <a:endParaRPr sz="100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7002984" y="4421966"/>
            <a:ext cx="1276985" cy="1193165"/>
          </a:xfrm>
          <a:custGeom>
            <a:avLst/>
            <a:gdLst/>
            <a:ahLst/>
            <a:cxnLst/>
            <a:rect l="l" t="t" r="r" b="b"/>
            <a:pathLst>
              <a:path w="1276984" h="1193164">
                <a:moveTo>
                  <a:pt x="0" y="1192644"/>
                </a:moveTo>
                <a:lnTo>
                  <a:pt x="1276603" y="1192644"/>
                </a:lnTo>
                <a:lnTo>
                  <a:pt x="1276603" y="0"/>
                </a:lnTo>
                <a:lnTo>
                  <a:pt x="0" y="0"/>
                </a:lnTo>
                <a:lnTo>
                  <a:pt x="0" y="1192644"/>
                </a:lnTo>
              </a:path>
            </a:pathLst>
          </a:custGeom>
          <a:ln w="560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786800" y="5191845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25316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8022856" y="4950434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056111" y="5241384"/>
            <a:ext cx="2406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WD</a:t>
            </a:r>
            <a:endParaRPr sz="10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7641224" y="5614610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47054" y="0"/>
                </a:moveTo>
                <a:lnTo>
                  <a:pt x="0" y="112602"/>
                </a:lnTo>
                <a:lnTo>
                  <a:pt x="94108" y="11260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688278" y="5652148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7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328301" y="5429351"/>
            <a:ext cx="64071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-50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271860" y="4807353"/>
            <a:ext cx="682625" cy="364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9860">
              <a:lnSpc>
                <a:spcPts val="1330"/>
              </a:lnSpc>
            </a:pPr>
            <a:r>
              <a:rPr sz="1300" b="1" spc="5" dirty="0">
                <a:latin typeface="Arial"/>
                <a:cs typeface="Arial"/>
              </a:rPr>
              <a:t>D</a:t>
            </a:r>
            <a:r>
              <a:rPr sz="1300" b="1" spc="75" dirty="0">
                <a:latin typeface="Arial"/>
                <a:cs typeface="Arial"/>
              </a:rPr>
              <a:t>a</a:t>
            </a:r>
            <a:r>
              <a:rPr sz="1300" b="1" spc="10" dirty="0">
                <a:latin typeface="Arial"/>
                <a:cs typeface="Arial"/>
              </a:rPr>
              <a:t>ta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6890354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758826" y="4684958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4">
                <a:moveTo>
                  <a:pt x="19722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641224" y="4318694"/>
            <a:ext cx="94615" cy="113030"/>
          </a:xfrm>
          <a:custGeom>
            <a:avLst/>
            <a:gdLst/>
            <a:ahLst/>
            <a:cxnLst/>
            <a:rect l="l" t="t" r="r" b="b"/>
            <a:pathLst>
              <a:path w="94615" h="113029">
                <a:moveTo>
                  <a:pt x="94108" y="0"/>
                </a:moveTo>
                <a:lnTo>
                  <a:pt x="0" y="0"/>
                </a:lnTo>
                <a:lnTo>
                  <a:pt x="47054" y="112927"/>
                </a:lnTo>
                <a:lnTo>
                  <a:pt x="9410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688278" y="4177910"/>
            <a:ext cx="0" cy="216535"/>
          </a:xfrm>
          <a:custGeom>
            <a:avLst/>
            <a:gdLst/>
            <a:ahLst/>
            <a:cxnLst/>
            <a:rect l="l" t="t" r="r" b="b"/>
            <a:pathLst>
              <a:path h="216535">
                <a:moveTo>
                  <a:pt x="0" y="0"/>
                </a:moveTo>
                <a:lnTo>
                  <a:pt x="0" y="216110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7056111" y="4452904"/>
            <a:ext cx="924560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 algn="l">
              <a:lnSpc>
                <a:spcPct val="1046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90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W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85" dirty="0">
                <a:solidFill>
                  <a:srgbClr val="009999"/>
                </a:solidFill>
                <a:latin typeface="Arial"/>
                <a:cs typeface="Arial"/>
              </a:rPr>
              <a:t>i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758826" y="4300082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7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609212" y="3417650"/>
            <a:ext cx="84455" cy="84455"/>
          </a:xfrm>
          <a:custGeom>
            <a:avLst/>
            <a:gdLst/>
            <a:ahLst/>
            <a:cxnLst/>
            <a:rect l="l" t="t" r="r" b="b"/>
            <a:pathLst>
              <a:path w="84454" h="84454">
                <a:moveTo>
                  <a:pt x="84347" y="0"/>
                </a:moveTo>
                <a:lnTo>
                  <a:pt x="0" y="84320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599826" y="359591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7054" y="112677"/>
                </a:lnTo>
                <a:lnTo>
                  <a:pt x="937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646881" y="3370431"/>
            <a:ext cx="0" cy="300990"/>
          </a:xfrm>
          <a:custGeom>
            <a:avLst/>
            <a:gdLst/>
            <a:ahLst/>
            <a:cxnLst/>
            <a:rect l="l" t="t" r="r" b="b"/>
            <a:pathLst>
              <a:path h="300989">
                <a:moveTo>
                  <a:pt x="0" y="0"/>
                </a:moveTo>
                <a:lnTo>
                  <a:pt x="0" y="300556"/>
                </a:lnTo>
              </a:path>
            </a:pathLst>
          </a:custGeom>
          <a:ln w="18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792082" y="462849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707359" y="4684958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42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2540631" y="3117385"/>
            <a:ext cx="909955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2496891" y="3332955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723" y="0"/>
                </a:moveTo>
                <a:lnTo>
                  <a:pt x="0" y="84695"/>
                </a:lnTo>
              </a:path>
            </a:pathLst>
          </a:custGeom>
          <a:ln w="93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491609" y="4384402"/>
            <a:ext cx="169545" cy="591820"/>
          </a:xfrm>
          <a:custGeom>
            <a:avLst/>
            <a:gdLst/>
            <a:ahLst/>
            <a:cxnLst/>
            <a:rect l="l" t="t" r="r" b="b"/>
            <a:pathLst>
              <a:path w="169545" h="591820">
                <a:moveTo>
                  <a:pt x="0" y="591556"/>
                </a:moveTo>
                <a:lnTo>
                  <a:pt x="169070" y="469647"/>
                </a:lnTo>
                <a:lnTo>
                  <a:pt x="169070" y="131540"/>
                </a:lnTo>
                <a:lnTo>
                  <a:pt x="0" y="0"/>
                </a:lnTo>
              </a:path>
            </a:pathLst>
          </a:custGeom>
          <a:ln w="56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5525839" y="4520863"/>
            <a:ext cx="104139" cy="34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890"/>
              </a:lnSpc>
            </a:pPr>
            <a:r>
              <a:rPr sz="750" b="1" spc="-5" dirty="0">
                <a:latin typeface="Arial"/>
                <a:cs typeface="Arial"/>
              </a:rPr>
              <a:t>M U X</a:t>
            </a:r>
            <a:endParaRPr sz="750">
              <a:latin typeface="Arial"/>
              <a:cs typeface="Arial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8495588" y="4966640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602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279713" y="5023091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8495588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411115" y="5314053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15017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890354" y="525760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889"/>
                </a:lnTo>
                <a:lnTo>
                  <a:pt x="131402" y="56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38065" y="5314053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09">
                <a:moveTo>
                  <a:pt x="1717989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238065" y="4515942"/>
            <a:ext cx="0" cy="798195"/>
          </a:xfrm>
          <a:custGeom>
            <a:avLst/>
            <a:gdLst/>
            <a:ahLst/>
            <a:cxnLst/>
            <a:rect l="l" t="t" r="r" b="b"/>
            <a:pathLst>
              <a:path h="798195">
                <a:moveTo>
                  <a:pt x="0" y="0"/>
                </a:moveTo>
                <a:lnTo>
                  <a:pt x="0" y="798110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43" y="0"/>
                </a:move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210033" y="4479584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23" y="46497"/>
                </a:moveTo>
                <a:lnTo>
                  <a:pt x="46161" y="36007"/>
                </a:lnTo>
                <a:lnTo>
                  <a:pt x="44669" y="17396"/>
                </a:lnTo>
                <a:lnTo>
                  <a:pt x="38805" y="5758"/>
                </a:lnTo>
                <a:lnTo>
                  <a:pt x="28643" y="0"/>
                </a:lnTo>
                <a:lnTo>
                  <a:pt x="13522" y="1924"/>
                </a:lnTo>
                <a:lnTo>
                  <a:pt x="4072" y="9701"/>
                </a:lnTo>
                <a:lnTo>
                  <a:pt x="140" y="23219"/>
                </a:lnTo>
                <a:lnTo>
                  <a:pt x="0" y="27114"/>
                </a:lnTo>
                <a:lnTo>
                  <a:pt x="3451" y="44240"/>
                </a:lnTo>
                <a:lnTo>
                  <a:pt x="11853" y="53490"/>
                </a:lnTo>
                <a:lnTo>
                  <a:pt x="29581" y="52412"/>
                </a:lnTo>
                <a:lnTo>
                  <a:pt x="40723" y="46497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529278" y="4938420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46679" y="0"/>
                </a:moveTo>
                <a:lnTo>
                  <a:pt x="0" y="112602"/>
                </a:lnTo>
                <a:lnTo>
                  <a:pt x="93733" y="112602"/>
                </a:lnTo>
                <a:lnTo>
                  <a:pt x="46679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575957" y="4975959"/>
            <a:ext cx="0" cy="169545"/>
          </a:xfrm>
          <a:custGeom>
            <a:avLst/>
            <a:gdLst/>
            <a:ahLst/>
            <a:cxnLst/>
            <a:rect l="l" t="t" r="r" b="b"/>
            <a:pathLst>
              <a:path h="169545">
                <a:moveTo>
                  <a:pt x="0" y="0"/>
                </a:moveTo>
                <a:lnTo>
                  <a:pt x="0" y="169041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5347382" y="5128794"/>
            <a:ext cx="51308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L</a:t>
            </a:r>
            <a:r>
              <a:rPr sz="1000" b="1" spc="5" dirty="0">
                <a:solidFill>
                  <a:srgbClr val="009999"/>
                </a:solidFill>
                <a:latin typeface="Arial"/>
                <a:cs typeface="Arial"/>
              </a:rPr>
              <a:t>U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8655273" y="4825868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29">
                <a:moveTo>
                  <a:pt x="93733" y="0"/>
                </a:moveTo>
                <a:lnTo>
                  <a:pt x="0" y="0"/>
                </a:lnTo>
                <a:lnTo>
                  <a:pt x="46804" y="112552"/>
                </a:lnTo>
                <a:lnTo>
                  <a:pt x="93733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702077" y="4722559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22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8360747" y="4556456"/>
            <a:ext cx="69786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-85" dirty="0">
                <a:solidFill>
                  <a:srgbClr val="009999"/>
                </a:solidFill>
                <a:latin typeface="Arial"/>
                <a:cs typeface="Arial"/>
              </a:rPr>
              <a:t>m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t</a:t>
            </a:r>
            <a:r>
              <a:rPr sz="1000" b="1" spc="45" dirty="0">
                <a:solidFill>
                  <a:srgbClr val="009999"/>
                </a:solidFill>
                <a:latin typeface="Arial"/>
                <a:cs typeface="Arial"/>
              </a:rPr>
              <a:t>o</a:t>
            </a:r>
            <a:r>
              <a:rPr sz="1000" b="1" spc="10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25" dirty="0">
                <a:solidFill>
                  <a:srgbClr val="009999"/>
                </a:solidFill>
                <a:latin typeface="Arial"/>
                <a:cs typeface="Arial"/>
              </a:rPr>
              <a:t>e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6758826" y="5905560"/>
            <a:ext cx="1652905" cy="0"/>
          </a:xfrm>
          <a:custGeom>
            <a:avLst/>
            <a:gdLst/>
            <a:ahLst/>
            <a:cxnLst/>
            <a:rect l="l" t="t" r="r" b="b"/>
            <a:pathLst>
              <a:path w="1652904">
                <a:moveTo>
                  <a:pt x="165228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8411115" y="5314053"/>
            <a:ext cx="0" cy="591820"/>
          </a:xfrm>
          <a:custGeom>
            <a:avLst/>
            <a:gdLst/>
            <a:ahLst/>
            <a:cxnLst/>
            <a:rect l="l" t="t" r="r" b="b"/>
            <a:pathLst>
              <a:path h="591820">
                <a:moveTo>
                  <a:pt x="0" y="0"/>
                </a:moveTo>
                <a:lnTo>
                  <a:pt x="0" y="591506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43032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214446" y="3079493"/>
            <a:ext cx="281940" cy="0"/>
          </a:xfrm>
          <a:custGeom>
            <a:avLst/>
            <a:gdLst/>
            <a:ahLst/>
            <a:cxnLst/>
            <a:rect l="l" t="t" r="r" b="b"/>
            <a:pathLst>
              <a:path w="281939">
                <a:moveTo>
                  <a:pt x="28157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817568" y="2901108"/>
            <a:ext cx="396875" cy="292735"/>
          </a:xfrm>
          <a:custGeom>
            <a:avLst/>
            <a:gdLst/>
            <a:ahLst/>
            <a:cxnLst/>
            <a:rect l="l" t="t" r="r" b="b"/>
            <a:pathLst>
              <a:path w="396875" h="292735">
                <a:moveTo>
                  <a:pt x="353261" y="292190"/>
                </a:moveTo>
                <a:lnTo>
                  <a:pt x="377050" y="258376"/>
                </a:lnTo>
                <a:lnTo>
                  <a:pt x="392038" y="219034"/>
                </a:lnTo>
                <a:lnTo>
                  <a:pt x="396877" y="169141"/>
                </a:lnTo>
                <a:lnTo>
                  <a:pt x="396250" y="154313"/>
                </a:lnTo>
                <a:lnTo>
                  <a:pt x="387240" y="112266"/>
                </a:lnTo>
                <a:lnTo>
                  <a:pt x="368610" y="74934"/>
                </a:lnTo>
                <a:lnTo>
                  <a:pt x="341729" y="43679"/>
                </a:lnTo>
                <a:lnTo>
                  <a:pt x="307972" y="19866"/>
                </a:lnTo>
                <a:lnTo>
                  <a:pt x="268710" y="4859"/>
                </a:lnTo>
                <a:lnTo>
                  <a:pt x="254637" y="2049"/>
                </a:lnTo>
                <a:lnTo>
                  <a:pt x="240155" y="419"/>
                </a:lnTo>
              </a:path>
              <a:path w="396875" h="292735">
                <a:moveTo>
                  <a:pt x="133948" y="0"/>
                </a:moveTo>
                <a:lnTo>
                  <a:pt x="90760" y="5501"/>
                </a:lnTo>
                <a:lnTo>
                  <a:pt x="51804" y="21096"/>
                </a:lnTo>
                <a:lnTo>
                  <a:pt x="18449" y="45418"/>
                </a:lnTo>
                <a:lnTo>
                  <a:pt x="8812" y="55229"/>
                </a:lnTo>
                <a:lnTo>
                  <a:pt x="0" y="65808"/>
                </a:lnTo>
              </a:path>
            </a:pathLst>
          </a:custGeom>
          <a:ln w="560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430321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159000" y="2487999"/>
            <a:ext cx="4337050" cy="0"/>
          </a:xfrm>
          <a:custGeom>
            <a:avLst/>
            <a:gdLst/>
            <a:ahLst/>
            <a:cxnLst/>
            <a:rect l="l" t="t" r="r" b="b"/>
            <a:pathLst>
              <a:path w="4337050">
                <a:moveTo>
                  <a:pt x="433702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7190827" y="272272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677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974702" y="2778937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281826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135877" y="3107737"/>
            <a:ext cx="1229995" cy="1192530"/>
          </a:xfrm>
          <a:custGeom>
            <a:avLst/>
            <a:gdLst/>
            <a:ahLst/>
            <a:cxnLst/>
            <a:rect l="l" t="t" r="r" b="b"/>
            <a:pathLst>
              <a:path w="1229995" h="1192529">
                <a:moveTo>
                  <a:pt x="0" y="1192344"/>
                </a:moveTo>
                <a:lnTo>
                  <a:pt x="1229623" y="1192344"/>
                </a:lnTo>
                <a:lnTo>
                  <a:pt x="1229623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ln w="560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28580" y="2769580"/>
            <a:ext cx="347345" cy="1192530"/>
          </a:xfrm>
          <a:custGeom>
            <a:avLst/>
            <a:gdLst/>
            <a:ahLst/>
            <a:cxnLst/>
            <a:rect l="l" t="t" r="r" b="b"/>
            <a:pathLst>
              <a:path w="347345" h="1192529">
                <a:moveTo>
                  <a:pt x="0" y="1192344"/>
                </a:moveTo>
                <a:lnTo>
                  <a:pt x="347277" y="1192344"/>
                </a:lnTo>
                <a:lnTo>
                  <a:pt x="347277" y="0"/>
                </a:lnTo>
                <a:lnTo>
                  <a:pt x="0" y="0"/>
                </a:lnTo>
                <a:lnTo>
                  <a:pt x="0" y="1192344"/>
                </a:lnTo>
                <a:close/>
              </a:path>
            </a:pathLst>
          </a:custGeom>
          <a:solidFill>
            <a:schemeClr val="bg1"/>
          </a:solidFill>
          <a:ln w="560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15837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29">
                <a:moveTo>
                  <a:pt x="0" y="0"/>
                </a:moveTo>
                <a:lnTo>
                  <a:pt x="0" y="112552"/>
                </a:lnTo>
                <a:lnTo>
                  <a:pt x="131439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84406" y="3370431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>
                <a:moveTo>
                  <a:pt x="19714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023134" y="3314342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29">
                <a:moveTo>
                  <a:pt x="0" y="0"/>
                </a:moveTo>
                <a:lnTo>
                  <a:pt x="0" y="112552"/>
                </a:lnTo>
                <a:lnTo>
                  <a:pt x="131427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75857" y="3370431"/>
            <a:ext cx="413384" cy="0"/>
          </a:xfrm>
          <a:custGeom>
            <a:avLst/>
            <a:gdLst/>
            <a:ahLst/>
            <a:cxnLst/>
            <a:rect l="l" t="t" r="r" b="b"/>
            <a:pathLst>
              <a:path w="413384">
                <a:moveTo>
                  <a:pt x="41299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614619" y="2093753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0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91695" y="2149842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788625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614619" y="2685247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4" h="113030">
                <a:moveTo>
                  <a:pt x="0" y="0"/>
                </a:moveTo>
                <a:lnTo>
                  <a:pt x="0" y="112552"/>
                </a:lnTo>
                <a:lnTo>
                  <a:pt x="131402" y="562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314272" y="274146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366048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727375" y="1924737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4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493"/>
                </a:lnTo>
                <a:lnTo>
                  <a:pt x="0" y="1013971"/>
                </a:lnTo>
                <a:lnTo>
                  <a:pt x="422238" y="760509"/>
                </a:lnTo>
                <a:lnTo>
                  <a:pt x="422238" y="253336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91695" y="2149842"/>
            <a:ext cx="0" cy="1221105"/>
          </a:xfrm>
          <a:custGeom>
            <a:avLst/>
            <a:gdLst/>
            <a:ahLst/>
            <a:cxnLst/>
            <a:rect l="l" t="t" r="r" b="b"/>
            <a:pathLst>
              <a:path h="1221104">
                <a:moveTo>
                  <a:pt x="0" y="0"/>
                </a:moveTo>
                <a:lnTo>
                  <a:pt x="0" y="1220588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4406" y="1764965"/>
            <a:ext cx="0" cy="1605915"/>
          </a:xfrm>
          <a:custGeom>
            <a:avLst/>
            <a:gdLst/>
            <a:ahLst/>
            <a:cxnLst/>
            <a:rect l="l" t="t" r="r" b="b"/>
            <a:pathLst>
              <a:path h="1605914">
                <a:moveTo>
                  <a:pt x="0" y="0"/>
                </a:moveTo>
                <a:lnTo>
                  <a:pt x="0" y="160546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4406" y="1764965"/>
            <a:ext cx="7566659" cy="0"/>
          </a:xfrm>
          <a:custGeom>
            <a:avLst/>
            <a:gdLst/>
            <a:ahLst/>
            <a:cxnLst/>
            <a:rect l="l" t="t" r="r" b="b"/>
            <a:pathLst>
              <a:path w="7566659">
                <a:moveTo>
                  <a:pt x="7566453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650860" y="1764965"/>
            <a:ext cx="0" cy="845185"/>
          </a:xfrm>
          <a:custGeom>
            <a:avLst/>
            <a:gdLst/>
            <a:ahLst/>
            <a:cxnLst/>
            <a:rect l="l" t="t" r="r" b="b"/>
            <a:pathLst>
              <a:path h="845185">
                <a:moveTo>
                  <a:pt x="0" y="0"/>
                </a:moveTo>
                <a:lnTo>
                  <a:pt x="0" y="844955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6543077" y="2262769"/>
            <a:ext cx="422275" cy="1014094"/>
          </a:xfrm>
          <a:custGeom>
            <a:avLst/>
            <a:gdLst/>
            <a:ahLst/>
            <a:cxnLst/>
            <a:rect l="l" t="t" r="r" b="b"/>
            <a:pathLst>
              <a:path w="422275" h="1014095">
                <a:moveTo>
                  <a:pt x="0" y="0"/>
                </a:moveTo>
                <a:lnTo>
                  <a:pt x="0" y="422477"/>
                </a:lnTo>
                <a:lnTo>
                  <a:pt x="84347" y="506798"/>
                </a:lnTo>
                <a:lnTo>
                  <a:pt x="0" y="591243"/>
                </a:lnTo>
                <a:lnTo>
                  <a:pt x="0" y="1013971"/>
                </a:lnTo>
                <a:lnTo>
                  <a:pt x="422238" y="760260"/>
                </a:lnTo>
                <a:lnTo>
                  <a:pt x="422238" y="253461"/>
                </a:lnTo>
                <a:lnTo>
                  <a:pt x="0" y="0"/>
                </a:lnTo>
              </a:path>
            </a:pathLst>
          </a:custGeom>
          <a:ln w="5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 txBox="1"/>
          <p:nvPr/>
        </p:nvSpPr>
        <p:spPr>
          <a:xfrm>
            <a:off x="5816801" y="2989352"/>
            <a:ext cx="33528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25" dirty="0">
                <a:latin typeface="Courier New"/>
                <a:cs typeface="Courier New"/>
              </a:rPr>
              <a:t>&lt;&lt;2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2155686" y="3298392"/>
            <a:ext cx="21399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RD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179543" y="3298392"/>
            <a:ext cx="1000760" cy="56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>
              <a:lnSpc>
                <a:spcPct val="100000"/>
              </a:lnSpc>
            </a:pPr>
            <a:r>
              <a:rPr sz="1000" b="1" spc="5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R</a:t>
            </a:r>
            <a:endParaRPr sz="1000" dirty="0">
              <a:latin typeface="Arial"/>
              <a:cs typeface="Arial"/>
            </a:endParaRPr>
          </a:p>
          <a:p>
            <a:pPr marL="237490" marR="5080" indent="-131445" algn="l">
              <a:lnSpc>
                <a:spcPts val="1330"/>
              </a:lnSpc>
              <a:spcBef>
                <a:spcPts val="505"/>
              </a:spcBef>
            </a:pPr>
            <a:r>
              <a:rPr sz="1300" b="1" spc="5" dirty="0">
                <a:latin typeface="Arial"/>
                <a:cs typeface="Arial"/>
              </a:rPr>
              <a:t>Inst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5" dirty="0">
                <a:latin typeface="Arial"/>
                <a:cs typeface="Arial"/>
              </a:rPr>
              <a:t>uct</a:t>
            </a:r>
            <a:r>
              <a:rPr sz="1300" b="1" dirty="0">
                <a:latin typeface="Arial"/>
                <a:cs typeface="Arial"/>
              </a:rPr>
              <a:t>io</a:t>
            </a:r>
            <a:r>
              <a:rPr sz="1300" b="1" spc="15" dirty="0">
                <a:latin typeface="Arial"/>
                <a:cs typeface="Arial"/>
              </a:rPr>
              <a:t>n</a:t>
            </a:r>
            <a:r>
              <a:rPr sz="1300" b="1" spc="5" dirty="0">
                <a:latin typeface="Arial"/>
                <a:cs typeface="Arial"/>
              </a:rPr>
              <a:t> 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75" dirty="0">
                <a:latin typeface="Arial"/>
                <a:cs typeface="Arial"/>
              </a:rPr>
              <a:t>e</a:t>
            </a:r>
            <a:r>
              <a:rPr sz="1300" b="1" spc="10" dirty="0">
                <a:latin typeface="Arial"/>
                <a:cs typeface="Arial"/>
              </a:rPr>
              <a:t>m</a:t>
            </a:r>
            <a:r>
              <a:rPr sz="1300" b="1" spc="-65" dirty="0">
                <a:latin typeface="Arial"/>
                <a:cs typeface="Arial"/>
              </a:rPr>
              <a:t>o</a:t>
            </a:r>
            <a:r>
              <a:rPr sz="1300" b="1" spc="75" dirty="0">
                <a:latin typeface="Arial"/>
                <a:cs typeface="Arial"/>
              </a:rPr>
              <a:t>r</a:t>
            </a:r>
            <a:r>
              <a:rPr sz="1300" b="1" spc="10" dirty="0">
                <a:latin typeface="Arial"/>
                <a:cs typeface="Arial"/>
              </a:rPr>
              <a:t>y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381594" y="2985976"/>
            <a:ext cx="26035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spc="10" dirty="0">
                <a:latin typeface="Arial"/>
                <a:cs typeface="Arial"/>
              </a:rPr>
              <a:t>PC</a:t>
            </a:r>
            <a:endParaRPr sz="1300"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1141862" y="2650066"/>
            <a:ext cx="9906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5" dirty="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770990" y="2181111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3" name="object 163"/>
          <p:cNvSpPr/>
          <p:nvPr/>
        </p:nvSpPr>
        <p:spPr>
          <a:xfrm>
            <a:off x="5623011" y="3023029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5116300" y="3079493"/>
            <a:ext cx="572770" cy="0"/>
          </a:xfrm>
          <a:custGeom>
            <a:avLst/>
            <a:gdLst/>
            <a:ahLst/>
            <a:cxnLst/>
            <a:rect l="l" t="t" r="r" b="b"/>
            <a:pathLst>
              <a:path w="572770">
                <a:moveTo>
                  <a:pt x="572412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7303332" y="2318983"/>
            <a:ext cx="169545" cy="469900"/>
          </a:xfrm>
          <a:custGeom>
            <a:avLst/>
            <a:gdLst/>
            <a:ahLst/>
            <a:cxnLst/>
            <a:rect l="l" t="t" r="r" b="b"/>
            <a:pathLst>
              <a:path w="169545" h="469900">
                <a:moveTo>
                  <a:pt x="169070" y="469572"/>
                </a:moveTo>
                <a:lnTo>
                  <a:pt x="169070" y="131415"/>
                </a:lnTo>
                <a:lnTo>
                  <a:pt x="0" y="0"/>
                </a:lnTo>
              </a:path>
            </a:pathLst>
          </a:custGeom>
          <a:ln w="56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 txBox="1"/>
          <p:nvPr/>
        </p:nvSpPr>
        <p:spPr>
          <a:xfrm>
            <a:off x="7337562" y="2455444"/>
            <a:ext cx="104139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M</a:t>
            </a:r>
            <a:endParaRPr sz="750">
              <a:latin typeface="Arial"/>
              <a:cs typeface="Arial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7337562" y="2567996"/>
            <a:ext cx="9398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10" dirty="0">
                <a:latin typeface="Arial"/>
                <a:cs typeface="Arial"/>
              </a:rPr>
              <a:t>U</a:t>
            </a:r>
            <a:endParaRPr sz="750">
              <a:latin typeface="Arial"/>
              <a:cs typeface="Arial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7346947" y="2680549"/>
            <a:ext cx="88900" cy="120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b="1" spc="-5" dirty="0">
                <a:latin typeface="Arial"/>
                <a:cs typeface="Arial"/>
              </a:rPr>
              <a:t>X</a:t>
            </a:r>
            <a:endParaRPr sz="750">
              <a:latin typeface="Arial"/>
              <a:cs typeface="Arial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7350262" y="2863632"/>
            <a:ext cx="93980" cy="113030"/>
          </a:xfrm>
          <a:custGeom>
            <a:avLst/>
            <a:gdLst/>
            <a:ahLst/>
            <a:cxnLst/>
            <a:rect l="l" t="t" r="r" b="b"/>
            <a:pathLst>
              <a:path w="93979" h="113030">
                <a:moveTo>
                  <a:pt x="47054" y="0"/>
                </a:moveTo>
                <a:lnTo>
                  <a:pt x="0" y="112552"/>
                </a:lnTo>
                <a:lnTo>
                  <a:pt x="93858" y="112552"/>
                </a:lnTo>
                <a:lnTo>
                  <a:pt x="4705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7397316" y="2901108"/>
            <a:ext cx="0" cy="178435"/>
          </a:xfrm>
          <a:custGeom>
            <a:avLst/>
            <a:gdLst/>
            <a:ahLst/>
            <a:cxnLst/>
            <a:rect l="l" t="t" r="r" b="b"/>
            <a:pathLst>
              <a:path h="178435">
                <a:moveTo>
                  <a:pt x="0" y="0"/>
                </a:moveTo>
                <a:lnTo>
                  <a:pt x="0" y="178385"/>
                </a:lnTo>
              </a:path>
            </a:pathLst>
          </a:custGeom>
          <a:ln w="1869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7159105" y="3063300"/>
            <a:ext cx="419100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P</a:t>
            </a:r>
            <a:r>
              <a:rPr sz="1000" b="1" spc="7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r>
              <a:rPr sz="1000" b="1" spc="-10" dirty="0">
                <a:solidFill>
                  <a:srgbClr val="009999"/>
                </a:solidFill>
                <a:latin typeface="Arial"/>
                <a:cs typeface="Arial"/>
              </a:rPr>
              <a:t>S</a:t>
            </a:r>
            <a:r>
              <a:rPr sz="1000" b="1" spc="-25" dirty="0">
                <a:solidFill>
                  <a:srgbClr val="009999"/>
                </a:solidFill>
                <a:latin typeface="Arial"/>
                <a:cs typeface="Arial"/>
              </a:rPr>
              <a:t>r</a:t>
            </a:r>
            <a:r>
              <a:rPr sz="1000" b="1" spc="15" dirty="0">
                <a:solidFill>
                  <a:srgbClr val="009999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7190827" y="2431535"/>
            <a:ext cx="131445" cy="113030"/>
          </a:xfrm>
          <a:custGeom>
            <a:avLst/>
            <a:gdLst/>
            <a:ahLst/>
            <a:cxnLst/>
            <a:rect l="l" t="t" r="r" b="b"/>
            <a:pathLst>
              <a:path w="131445" h="113030">
                <a:moveTo>
                  <a:pt x="0" y="0"/>
                </a:moveTo>
                <a:lnTo>
                  <a:pt x="0" y="112927"/>
                </a:lnTo>
                <a:lnTo>
                  <a:pt x="131402" y="564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096843" y="2487999"/>
            <a:ext cx="160020" cy="0"/>
          </a:xfrm>
          <a:custGeom>
            <a:avLst/>
            <a:gdLst/>
            <a:ahLst/>
            <a:cxnLst/>
            <a:rect l="l" t="t" r="r" b="b"/>
            <a:pathLst>
              <a:path w="160020">
                <a:moveTo>
                  <a:pt x="159684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096843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5998571" y="2149842"/>
            <a:ext cx="0" cy="338455"/>
          </a:xfrm>
          <a:custGeom>
            <a:avLst/>
            <a:gdLst/>
            <a:ahLst/>
            <a:cxnLst/>
            <a:rect l="l" t="t" r="r" b="b"/>
            <a:pathLst>
              <a:path h="338455">
                <a:moveTo>
                  <a:pt x="0" y="0"/>
                </a:moveTo>
                <a:lnTo>
                  <a:pt x="0" y="338157"/>
                </a:lnTo>
              </a:path>
            </a:pathLst>
          </a:custGeom>
          <a:ln w="280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2841" y="0"/>
                </a:move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078631" y="4781547"/>
            <a:ext cx="56515" cy="44450"/>
          </a:xfrm>
          <a:custGeom>
            <a:avLst/>
            <a:gdLst/>
            <a:ahLst/>
            <a:cxnLst/>
            <a:rect l="l" t="t" r="r" b="b"/>
            <a:pathLst>
              <a:path w="56514" h="44450">
                <a:moveTo>
                  <a:pt x="41875" y="41691"/>
                </a:moveTo>
                <a:lnTo>
                  <a:pt x="51872" y="33852"/>
                </a:lnTo>
                <a:lnTo>
                  <a:pt x="56105" y="20740"/>
                </a:lnTo>
                <a:lnTo>
                  <a:pt x="52894" y="8110"/>
                </a:lnTo>
                <a:lnTo>
                  <a:pt x="42841" y="0"/>
                </a:lnTo>
                <a:lnTo>
                  <a:pt x="20932" y="263"/>
                </a:lnTo>
                <a:lnTo>
                  <a:pt x="7639" y="4204"/>
                </a:lnTo>
                <a:lnTo>
                  <a:pt x="1263" y="10510"/>
                </a:lnTo>
                <a:lnTo>
                  <a:pt x="0" y="16089"/>
                </a:lnTo>
                <a:lnTo>
                  <a:pt x="2839" y="31255"/>
                </a:lnTo>
                <a:lnTo>
                  <a:pt x="11388" y="40640"/>
                </a:lnTo>
                <a:lnTo>
                  <a:pt x="25698" y="44270"/>
                </a:lnTo>
                <a:lnTo>
                  <a:pt x="41875" y="41691"/>
                </a:lnTo>
              </a:path>
            </a:pathLst>
          </a:custGeom>
          <a:ln w="560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28699" y="0"/>
                </a:move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close/>
              </a:path>
            </a:pathLst>
          </a:custGeom>
          <a:solidFill>
            <a:srgbClr val="44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970289" y="2451491"/>
            <a:ext cx="46355" cy="53975"/>
          </a:xfrm>
          <a:custGeom>
            <a:avLst/>
            <a:gdLst/>
            <a:ahLst/>
            <a:cxnLst/>
            <a:rect l="l" t="t" r="r" b="b"/>
            <a:pathLst>
              <a:path w="46354" h="53975">
                <a:moveTo>
                  <a:pt x="40715" y="46584"/>
                </a:moveTo>
                <a:lnTo>
                  <a:pt x="46151" y="36088"/>
                </a:lnTo>
                <a:lnTo>
                  <a:pt x="44658" y="17440"/>
                </a:lnTo>
                <a:lnTo>
                  <a:pt x="38801" y="5766"/>
                </a:lnTo>
                <a:lnTo>
                  <a:pt x="28699" y="0"/>
                </a:lnTo>
                <a:lnTo>
                  <a:pt x="13713" y="1963"/>
                </a:lnTo>
                <a:lnTo>
                  <a:pt x="4184" y="9768"/>
                </a:lnTo>
                <a:lnTo>
                  <a:pt x="147" y="23242"/>
                </a:lnTo>
                <a:lnTo>
                  <a:pt x="0" y="27139"/>
                </a:lnTo>
                <a:lnTo>
                  <a:pt x="3510" y="44183"/>
                </a:lnTo>
                <a:lnTo>
                  <a:pt x="11987" y="53521"/>
                </a:lnTo>
                <a:lnTo>
                  <a:pt x="29614" y="52498"/>
                </a:lnTo>
                <a:lnTo>
                  <a:pt x="40715" y="46584"/>
                </a:lnTo>
              </a:path>
            </a:pathLst>
          </a:custGeom>
          <a:ln w="5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998571" y="2149842"/>
            <a:ext cx="1098550" cy="0"/>
          </a:xfrm>
          <a:custGeom>
            <a:avLst/>
            <a:gdLst/>
            <a:ahLst/>
            <a:cxnLst/>
            <a:rect l="l" t="t" r="r" b="b"/>
            <a:pathLst>
              <a:path w="1098550">
                <a:moveTo>
                  <a:pt x="1098271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7481789" y="2609920"/>
            <a:ext cx="169545" cy="0"/>
          </a:xfrm>
          <a:custGeom>
            <a:avLst/>
            <a:gdLst/>
            <a:ahLst/>
            <a:cxnLst/>
            <a:rect l="l" t="t" r="r" b="b"/>
            <a:pathLst>
              <a:path w="169545">
                <a:moveTo>
                  <a:pt x="169070" y="0"/>
                </a:moveTo>
                <a:lnTo>
                  <a:pt x="0" y="0"/>
                </a:lnTo>
              </a:path>
            </a:pathLst>
          </a:custGeom>
          <a:ln w="27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228184" y="3512041"/>
            <a:ext cx="144016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4</a:t>
            </a:r>
          </a:p>
        </p:txBody>
      </p:sp>
      <p:sp>
        <p:nvSpPr>
          <p:cNvPr id="183" name="object 2"/>
          <p:cNvSpPr/>
          <p:nvPr/>
        </p:nvSpPr>
        <p:spPr>
          <a:xfrm>
            <a:off x="5478636" y="4246984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2"/>
          <p:cNvSpPr/>
          <p:nvPr/>
        </p:nvSpPr>
        <p:spPr>
          <a:xfrm>
            <a:off x="7278836" y="2060848"/>
            <a:ext cx="317500" cy="838200"/>
          </a:xfrm>
          <a:prstGeom prst="rect">
            <a:avLst/>
          </a:prstGeom>
          <a:blipFill>
            <a:blip r:embed="rId3" cstate="print"/>
            <a:srcRect/>
            <a:stretch>
              <a:fillRect l="-1019357" t="-126397" r="-1109287" b="-18451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2"/>
          <p:cNvSpPr/>
          <p:nvPr/>
        </p:nvSpPr>
        <p:spPr>
          <a:xfrm>
            <a:off x="5779492" y="2780928"/>
            <a:ext cx="520700" cy="571500"/>
          </a:xfrm>
          <a:prstGeom prst="rect">
            <a:avLst/>
          </a:prstGeom>
          <a:blipFill>
            <a:blip r:embed="rId4" cstate="print"/>
            <a:srcRect/>
            <a:stretch>
              <a:fillRect l="-727203" t="-187531" r="-554536" b="-468527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"/>
          <p:cNvSpPr txBox="1"/>
          <p:nvPr/>
        </p:nvSpPr>
        <p:spPr>
          <a:xfrm>
            <a:off x="-324544" y="6445877"/>
            <a:ext cx="7025640" cy="29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92400"/>
              </a:lnSpc>
              <a:buClr>
                <a:srgbClr val="211C1F"/>
              </a:buClr>
              <a:tabLst>
                <a:tab pos="320040" algn="l"/>
              </a:tabLst>
            </a:pP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Datapath</a:t>
            </a:r>
            <a:r>
              <a:rPr lang="it-IT" sz="2050" b="0" spc="114" dirty="0">
                <a:solidFill>
                  <a:srgbClr val="FF0000"/>
                </a:solidFill>
                <a:latin typeface="+mn-lt"/>
                <a:cs typeface="Arial"/>
              </a:rPr>
              <a:t> dell’ istruzione </a:t>
            </a:r>
            <a:r>
              <a:rPr lang="it-IT" sz="2050" b="0" spc="114" dirty="0" err="1">
                <a:solidFill>
                  <a:srgbClr val="FF0000"/>
                </a:solidFill>
                <a:latin typeface="+mn-lt"/>
                <a:cs typeface="Arial"/>
              </a:rPr>
              <a:t>beq</a:t>
            </a:r>
            <a:endParaRPr lang="it-IT" sz="2050" b="0" spc="114" dirty="0">
              <a:solidFill>
                <a:srgbClr val="FF0000"/>
              </a:solidFill>
              <a:latin typeface="+mn-lt"/>
              <a:cs typeface="Arial"/>
            </a:endParaRPr>
          </a:p>
        </p:txBody>
      </p:sp>
      <p:sp>
        <p:nvSpPr>
          <p:cNvPr id="190" name="object 159"/>
          <p:cNvSpPr txBox="1"/>
          <p:nvPr/>
        </p:nvSpPr>
        <p:spPr>
          <a:xfrm>
            <a:off x="6558121" y="2479432"/>
            <a:ext cx="318135" cy="15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10" dirty="0">
                <a:latin typeface="Arial"/>
                <a:cs typeface="Arial"/>
              </a:rPr>
              <a:t>A</a:t>
            </a:r>
            <a:r>
              <a:rPr sz="1000" b="1" spc="75" dirty="0">
                <a:latin typeface="Arial"/>
                <a:cs typeface="Arial"/>
              </a:rPr>
              <a:t>D</a:t>
            </a:r>
            <a:r>
              <a:rPr sz="1000" b="1" spc="20" dirty="0">
                <a:latin typeface="Arial"/>
                <a:cs typeface="Arial"/>
              </a:rPr>
              <a:t>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7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188" name="Picture 5" descr="Schermata 2017-09-08 alle 19.21.16.p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2" r="4980" b="24556"/>
          <a:stretch/>
        </p:blipFill>
        <p:spPr>
          <a:xfrm>
            <a:off x="548259" y="5480722"/>
            <a:ext cx="2450435" cy="442355"/>
          </a:xfrm>
          <a:prstGeom prst="rect">
            <a:avLst/>
          </a:prstGeom>
        </p:spPr>
      </p:pic>
      <p:pic>
        <p:nvPicPr>
          <p:cNvPr id="191" name="Immagine 1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260" y="4883968"/>
            <a:ext cx="261212" cy="70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78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628800"/>
            <a:ext cx="80772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18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44824"/>
            <a:ext cx="850582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847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628800"/>
            <a:ext cx="8077200" cy="5124450"/>
          </a:xfrm>
          <a:prstGeom prst="rect">
            <a:avLst/>
          </a:prstGeom>
        </p:spPr>
      </p:pic>
      <p:sp>
        <p:nvSpPr>
          <p:cNvPr id="15" name="Rettangolo 14"/>
          <p:cNvSpPr/>
          <p:nvPr/>
        </p:nvSpPr>
        <p:spPr bwMode="auto">
          <a:xfrm>
            <a:off x="2525440" y="4713262"/>
            <a:ext cx="1368152" cy="2784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2525440" y="4991690"/>
            <a:ext cx="538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  <a:latin typeface="+mn-lt"/>
              </a:rPr>
              <a:t>add</a:t>
            </a:r>
            <a:endParaRPr lang="it-IT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7" name="Rettangolo 16"/>
          <p:cNvSpPr/>
          <p:nvPr/>
        </p:nvSpPr>
        <p:spPr bwMode="auto">
          <a:xfrm>
            <a:off x="2525440" y="4293096"/>
            <a:ext cx="1368152" cy="182656"/>
          </a:xfrm>
          <a:prstGeom prst="rect">
            <a:avLst/>
          </a:prstGeom>
          <a:solidFill>
            <a:srgbClr val="0000FF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18" name="CasellaDiTesto 17"/>
          <p:cNvSpPr txBox="1"/>
          <p:nvPr/>
        </p:nvSpPr>
        <p:spPr>
          <a:xfrm>
            <a:off x="2575652" y="4415626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0000FF"/>
                </a:solidFill>
                <a:latin typeface="+mn-lt"/>
              </a:rPr>
              <a:t>lw</a:t>
            </a:r>
            <a:endParaRPr lang="it-IT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9" name="Rettangolo 18"/>
          <p:cNvSpPr/>
          <p:nvPr/>
        </p:nvSpPr>
        <p:spPr bwMode="auto">
          <a:xfrm>
            <a:off x="4052385" y="4487634"/>
            <a:ext cx="705303" cy="36004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0" name="Rettangolo 19"/>
          <p:cNvSpPr/>
          <p:nvPr/>
        </p:nvSpPr>
        <p:spPr bwMode="auto">
          <a:xfrm>
            <a:off x="4052385" y="4415626"/>
            <a:ext cx="705303" cy="360040"/>
          </a:xfrm>
          <a:prstGeom prst="rect">
            <a:avLst/>
          </a:prstGeom>
          <a:solidFill>
            <a:srgbClr val="0000FF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1" name="Rettangolo 20"/>
          <p:cNvSpPr/>
          <p:nvPr/>
        </p:nvSpPr>
        <p:spPr bwMode="auto">
          <a:xfrm>
            <a:off x="2555776" y="4055586"/>
            <a:ext cx="2088232" cy="216024"/>
          </a:xfrm>
          <a:prstGeom prst="rect">
            <a:avLst/>
          </a:prstGeom>
          <a:solidFill>
            <a:srgbClr val="33CC33">
              <a:alpha val="50000"/>
            </a:srgbClr>
          </a:solidFill>
          <a:ln w="9525" cap="flat" cmpd="sng" algn="ctr">
            <a:noFill/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108" charset="0"/>
            </a:endParaRPr>
          </a:p>
        </p:txBody>
      </p:sp>
      <p:sp>
        <p:nvSpPr>
          <p:cNvPr id="22" name="CasellaDiTesto 21"/>
          <p:cNvSpPr txBox="1"/>
          <p:nvPr/>
        </p:nvSpPr>
        <p:spPr>
          <a:xfrm>
            <a:off x="2499173" y="3717032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33CC33"/>
                </a:solidFill>
                <a:latin typeface="+mn-lt"/>
              </a:rPr>
              <a:t>sw</a:t>
            </a:r>
            <a:r>
              <a:rPr lang="it-IT" dirty="0">
                <a:solidFill>
                  <a:srgbClr val="33CC33"/>
                </a:solidFill>
                <a:latin typeface="+mn-lt"/>
              </a:rPr>
              <a:t> e </a:t>
            </a:r>
            <a:r>
              <a:rPr lang="it-IT" u="sng" dirty="0" err="1">
                <a:solidFill>
                  <a:srgbClr val="33CC33"/>
                </a:solidFill>
                <a:latin typeface="+mn-lt"/>
              </a:rPr>
              <a:t>beq</a:t>
            </a:r>
            <a:endParaRPr lang="it-IT" u="sng" dirty="0">
              <a:solidFill>
                <a:srgbClr val="33CC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275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/>
          <p:cNvSpPr txBox="1">
            <a:spLocks/>
          </p:cNvSpPr>
          <p:nvPr/>
        </p:nvSpPr>
        <p:spPr>
          <a:xfrm>
            <a:off x="406400" y="-143504"/>
            <a:ext cx="8356600" cy="2132344"/>
          </a:xfrm>
          <a:prstGeom prst="rect">
            <a:avLst/>
          </a:prstGeom>
        </p:spPr>
        <p:txBody>
          <a:bodyPr vert="horz" wrap="square" lIns="0" tIns="161002" rIns="0" bIns="0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+mj-lt"/>
                <a:ea typeface="ＭＳ Ｐゴシック" pitchFamily="-108" charset="-128"/>
                <a:cs typeface="ＭＳ Ｐゴシック" pitchFamily="-108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 Black" pitchFamily="-108" charset="0"/>
              </a:defRPr>
            </a:lvl9pPr>
          </a:lstStyle>
          <a:p>
            <a:pPr marL="12700"/>
            <a:r>
              <a:rPr lang="en-US" sz="4400" spc="-25" dirty="0" err="1">
                <a:solidFill>
                  <a:srgbClr val="000000"/>
                </a:solidFill>
                <a:cs typeface="Comic Sans MS"/>
              </a:rPr>
              <a:t>Implem</a:t>
            </a:r>
            <a:r>
              <a:rPr lang="en-US" sz="4400" spc="-5" dirty="0" err="1">
                <a:solidFill>
                  <a:srgbClr val="000000"/>
                </a:solidFill>
                <a:cs typeface="Comic Sans MS"/>
              </a:rPr>
              <a:t>e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ntazione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a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Ciclo</a:t>
            </a:r>
            <a:r>
              <a:rPr lang="en-US" sz="4400" spc="-20" dirty="0">
                <a:solidFill>
                  <a:srgbClr val="000000"/>
                </a:solidFill>
                <a:cs typeface="Comic Sans MS"/>
              </a:rPr>
              <a:t> </a:t>
            </a:r>
            <a:r>
              <a:rPr lang="en-US" sz="4400" spc="-20" dirty="0" err="1">
                <a:solidFill>
                  <a:srgbClr val="000000"/>
                </a:solidFill>
                <a:cs typeface="Comic Sans MS"/>
              </a:rPr>
              <a:t>Singolo</a:t>
            </a:r>
            <a:br>
              <a:rPr lang="en-US" sz="4400" spc="-20" dirty="0">
                <a:solidFill>
                  <a:srgbClr val="000000"/>
                </a:solidFill>
                <a:cs typeface="Comic Sans MS"/>
              </a:rPr>
            </a:br>
            <a:endParaRPr lang="en-US" dirty="0">
              <a:solidFill>
                <a:srgbClr val="000000"/>
              </a:solidFill>
              <a:cs typeface="Comic Sans MS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91" y="1409740"/>
            <a:ext cx="7087217" cy="540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72102"/>
      </p:ext>
    </p:extLst>
  </p:cSld>
  <p:clrMapOvr>
    <a:masterClrMapping/>
  </p:clrMapOvr>
</p:sld>
</file>

<file path=ppt/theme/theme1.xml><?xml version="1.0" encoding="utf-8"?>
<a:theme xmlns:a="http://schemas.openxmlformats.org/drawingml/2006/main" name="korea">
  <a:themeElements>
    <a:clrScheme name="korea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korea">
      <a:majorFont>
        <a:latin typeface="Arial Black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lnDef>
  </a:objectDefaults>
  <a:extraClrSchemeLst>
    <a:extraClrScheme>
      <a:clrScheme name="korea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stelvio</Template>
  <TotalTime>274663</TotalTime>
  <Words>1586</Words>
  <Application>Microsoft Office PowerPoint</Application>
  <PresentationFormat>Presentazione su schermo (4:3)</PresentationFormat>
  <Paragraphs>570</Paragraphs>
  <Slides>34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8" baseType="lpstr">
      <vt:lpstr>MS PGothic</vt:lpstr>
      <vt:lpstr>MS PGothic</vt:lpstr>
      <vt:lpstr>Arial</vt:lpstr>
      <vt:lpstr>Arial Black</vt:lpstr>
      <vt:lpstr>Calibri</vt:lpstr>
      <vt:lpstr>Cambria Math</vt:lpstr>
      <vt:lpstr>Century Gothic</vt:lpstr>
      <vt:lpstr>Comic Sans MS</vt:lpstr>
      <vt:lpstr>Courier New</vt:lpstr>
      <vt:lpstr>Symbol</vt:lpstr>
      <vt:lpstr>Tahoma</vt:lpstr>
      <vt:lpstr>Times New Roman</vt:lpstr>
      <vt:lpstr>Wingdings</vt:lpstr>
      <vt:lpstr>korea</vt:lpstr>
      <vt:lpstr>Architettura degli Elaboratori</vt:lpstr>
      <vt:lpstr>Su cosa  ci esercitiamo oggi?</vt:lpstr>
      <vt:lpstr>Esercizio 1</vt:lpstr>
      <vt:lpstr>Esercizio 1: Soluzione</vt:lpstr>
      <vt:lpstr>Presentazione standard di PowerPoint</vt:lpstr>
      <vt:lpstr>Esercizio 1: Soluzione</vt:lpstr>
      <vt:lpstr>Esercizio 1: Soluzione</vt:lpstr>
      <vt:lpstr>Esercizio 1: Soluzione</vt:lpstr>
      <vt:lpstr>Esercizio 2</vt:lpstr>
      <vt:lpstr>Presentazione standard di PowerPoint</vt:lpstr>
      <vt:lpstr>Esercizio 2: Soluzione</vt:lpstr>
      <vt:lpstr>Esercizio 2: Soluzione</vt:lpstr>
      <vt:lpstr>Presentazione standard di PowerPoint</vt:lpstr>
      <vt:lpstr>Esercizio 4</vt:lpstr>
      <vt:lpstr>Presentazione standard di PowerPoint</vt:lpstr>
      <vt:lpstr>Esercizio 4.a</vt:lpstr>
      <vt:lpstr>Presentazione standard di PowerPoint</vt:lpstr>
      <vt:lpstr>Esercizio 4.b</vt:lpstr>
      <vt:lpstr>Presentazione standard di PowerPoint</vt:lpstr>
      <vt:lpstr>Su cosa  ci esercitiamo oggi?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>Dipartimento di Informatica -- Università di Salerno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</dc:title>
  <dc:subject/>
  <dc:creator>Barbara Masucci</dc:creator>
  <cp:keywords/>
  <dc:description/>
  <cp:lastModifiedBy>Domenico ROSSI</cp:lastModifiedBy>
  <cp:revision>2841</cp:revision>
  <cp:lastPrinted>2018-11-20T12:52:50Z</cp:lastPrinted>
  <dcterms:created xsi:type="dcterms:W3CDTF">2013-04-23T09:51:04Z</dcterms:created>
  <dcterms:modified xsi:type="dcterms:W3CDTF">2025-11-28T14:32:04Z</dcterms:modified>
  <cp:category/>
</cp:coreProperties>
</file>