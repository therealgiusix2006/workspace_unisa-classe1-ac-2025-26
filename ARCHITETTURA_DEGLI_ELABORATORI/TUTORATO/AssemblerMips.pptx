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80" r:id="rId1"/>
  </p:sldMasterIdLst>
  <p:notesMasterIdLst>
    <p:notesMasterId r:id="rId43"/>
  </p:notesMasterIdLst>
  <p:handoutMasterIdLst>
    <p:handoutMasterId r:id="rId44"/>
  </p:handoutMasterIdLst>
  <p:sldIdLst>
    <p:sldId id="2336" r:id="rId2"/>
    <p:sldId id="2168" r:id="rId3"/>
    <p:sldId id="2317" r:id="rId4"/>
    <p:sldId id="2337" r:id="rId5"/>
    <p:sldId id="2339" r:id="rId6"/>
    <p:sldId id="2325" r:id="rId7"/>
    <p:sldId id="2331" r:id="rId8"/>
    <p:sldId id="2338" r:id="rId9"/>
    <p:sldId id="2332" r:id="rId10"/>
    <p:sldId id="2340" r:id="rId11"/>
    <p:sldId id="2329" r:id="rId12"/>
    <p:sldId id="2330" r:id="rId13"/>
    <p:sldId id="2341" r:id="rId14"/>
    <p:sldId id="2326" r:id="rId15"/>
    <p:sldId id="2327" r:id="rId16"/>
    <p:sldId id="2328" r:id="rId17"/>
    <p:sldId id="2365" r:id="rId18"/>
    <p:sldId id="2366" r:id="rId19"/>
    <p:sldId id="2367" r:id="rId20"/>
    <p:sldId id="2368" r:id="rId21"/>
    <p:sldId id="2346" r:id="rId22"/>
    <p:sldId id="2347" r:id="rId23"/>
    <p:sldId id="2369" r:id="rId24"/>
    <p:sldId id="2370" r:id="rId25"/>
    <p:sldId id="2342" r:id="rId26"/>
    <p:sldId id="2343" r:id="rId27"/>
    <p:sldId id="2344" r:id="rId28"/>
    <p:sldId id="2345" r:id="rId29"/>
    <p:sldId id="2371" r:id="rId30"/>
    <p:sldId id="2318" r:id="rId31"/>
    <p:sldId id="2319" r:id="rId32"/>
    <p:sldId id="2320" r:id="rId33"/>
    <p:sldId id="2321" r:id="rId34"/>
    <p:sldId id="2322" r:id="rId35"/>
    <p:sldId id="2323" r:id="rId36"/>
    <p:sldId id="2324" r:id="rId37"/>
    <p:sldId id="2372" r:id="rId38"/>
    <p:sldId id="2373" r:id="rId39"/>
    <p:sldId id="2374" r:id="rId40"/>
    <p:sldId id="2375" r:id="rId41"/>
    <p:sldId id="2335" r:id="rId42"/>
  </p:sldIdLst>
  <p:sldSz cx="9144000" cy="6858000" type="screen4x3"/>
  <p:notesSz cx="7099300" cy="10234613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2pPr>
    <a:lvl3pPr marL="914400"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3pPr>
    <a:lvl4pPr marL="1371600"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4pPr>
    <a:lvl5pPr marL="1828800"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33CC33"/>
    <a:srgbClr val="993366"/>
    <a:srgbClr val="FF9966"/>
    <a:srgbClr val="FFFF00"/>
    <a:srgbClr val="6666FF"/>
    <a:srgbClr val="FF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54" autoAdjust="0"/>
    <p:restoredTop sz="94434" autoAdjust="0"/>
  </p:normalViewPr>
  <p:slideViewPr>
    <p:cSldViewPr>
      <p:cViewPr>
        <p:scale>
          <a:sx n="100" d="100"/>
          <a:sy n="100" d="100"/>
        </p:scale>
        <p:origin x="888" y="-6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2412" y="-8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algn="l"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r>
              <a:rPr lang="it-IT"/>
              <a:t>Elementi di Crittografia</a:t>
            </a:r>
          </a:p>
        </p:txBody>
      </p:sp>
      <p:sp>
        <p:nvSpPr>
          <p:cNvPr id="3778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r>
              <a:rPr lang="it-IT"/>
              <a:t>05-05-2016</a:t>
            </a:r>
          </a:p>
        </p:txBody>
      </p:sp>
      <p:sp>
        <p:nvSpPr>
          <p:cNvPr id="3778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algn="l" defTabSz="950913">
              <a:spcBef>
                <a:spcPct val="20000"/>
              </a:spcBef>
              <a:buFontTx/>
              <a:buChar char="•"/>
              <a:defRPr sz="1200" b="0">
                <a:latin typeface="Tahoma" pitchFamily="-10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778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fld id="{EACE7C25-D304-BE4D-9C1F-2702F5306DF6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196253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algn="l"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r>
              <a:rPr lang="it-IT"/>
              <a:t>Elementi di Crittografia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r>
              <a:rPr lang="it-IT"/>
              <a:t>05-05-2016</a:t>
            </a:r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02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0"/>
            <a:r>
              <a:rPr lang="it-IT" noProof="0"/>
              <a:t>Secondo livello</a:t>
            </a:r>
          </a:p>
          <a:p>
            <a:pPr lvl="0"/>
            <a:r>
              <a:rPr lang="it-IT" noProof="0"/>
              <a:t>Terzo livello</a:t>
            </a:r>
          </a:p>
          <a:p>
            <a:pPr lvl="0"/>
            <a:r>
              <a:rPr lang="it-IT" noProof="0"/>
              <a:t>Quarto livello</a:t>
            </a:r>
          </a:p>
          <a:p>
            <a:pPr lvl="0"/>
            <a:r>
              <a:rPr lang="it-IT" noProof="0"/>
              <a:t>Quinto livello</a:t>
            </a:r>
          </a:p>
        </p:txBody>
      </p:sp>
      <p:sp>
        <p:nvSpPr>
          <p:cNvPr id="402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algn="l" defTabSz="950913">
              <a:spcBef>
                <a:spcPct val="20000"/>
              </a:spcBef>
              <a:buFontTx/>
              <a:buChar char="•"/>
              <a:defRPr sz="1200" b="0">
                <a:latin typeface="Tahoma" pitchFamily="-10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02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fld id="{6AE8E824-1F88-FB47-BC5C-B6033AAF8800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2317406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ＭＳ Ｐゴシック" pitchFamily="-108" charset="-128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it-IT" sz="1200" b="0">
                <a:latin typeface="Tahoma" charset="0"/>
              </a:rPr>
              <a:t>05-05-2016</a:t>
            </a:r>
          </a:p>
        </p:txBody>
      </p:sp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F6A8D13-7514-B24E-9A26-496D76200EAD}" type="slidenum">
              <a:rPr lang="it-IT" sz="1200" b="0">
                <a:latin typeface="Tahoma" charset="0"/>
              </a:rPr>
              <a:pPr/>
              <a:t>0</a:t>
            </a:fld>
            <a:endParaRPr lang="it-IT" sz="1200" b="0">
              <a:latin typeface="Tahoma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3588"/>
            <a:ext cx="5094288" cy="3821112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2338" y="4840288"/>
            <a:ext cx="5226050" cy="4668837"/>
          </a:xfrm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8437" name="Segnaposto intestazione 5"/>
          <p:cNvSpPr>
            <a:spLocks noGrp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it-IT" sz="1200" b="0">
                <a:latin typeface="Tahoma" charset="0"/>
              </a:rPr>
              <a:t>Elementi di Crittografia</a:t>
            </a:r>
          </a:p>
        </p:txBody>
      </p:sp>
    </p:spTree>
    <p:extLst>
      <p:ext uri="{BB962C8B-B14F-4D97-AF65-F5344CB8AC3E}">
        <p14:creationId xmlns:p14="http://schemas.microsoft.com/office/powerpoint/2010/main" val="416866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1BF9A9-75D2-5A4A-8BC4-C713BC08A5A3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136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paint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0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609600"/>
            <a:ext cx="8178800" cy="1295400"/>
          </a:xfrm>
        </p:spPr>
        <p:txBody>
          <a:bodyPr/>
          <a:lstStyle>
            <a:lvl1pPr>
              <a:defRPr b="1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200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886200"/>
            <a:ext cx="6400800" cy="1771650"/>
          </a:xfrm>
        </p:spPr>
        <p:txBody>
          <a:bodyPr/>
          <a:lstStyle>
            <a:lvl1pPr marL="0" indent="0">
              <a:defRPr>
                <a:latin typeface="Arial Black" pitchFamily="-108" charset="0"/>
              </a:defRPr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11200" y="6229350"/>
            <a:ext cx="1930400" cy="5143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 b="0">
                <a:solidFill>
                  <a:srgbClr val="5E574E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9600" y="6229350"/>
            <a:ext cx="2844800" cy="514350"/>
          </a:xfrm>
        </p:spPr>
        <p:txBody>
          <a:bodyPr/>
          <a:lstStyle>
            <a:lvl1pPr algn="ctr">
              <a:defRPr sz="1400">
                <a:solidFill>
                  <a:srgbClr val="5E574E"/>
                </a:solidFill>
              </a:defRPr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04000" y="6229350"/>
            <a:ext cx="1828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pPr>
              <a:defRPr/>
            </a:pPr>
            <a:fld id="{6E642E82-7D8A-3A41-B235-D0E8CAF0ACF2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7920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CC7E84-1A74-C448-82DC-88951075EFE9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910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7BC418-7B45-AB48-81FE-BC17BE879B8E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981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228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50F877-E422-9843-95AA-365F1B5192D1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273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5F48D5-374E-6847-9E0D-3AB5A5454504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073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CEC335-BEF5-6A4F-A2EC-55E3DBE011C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575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4ECDD0-321D-5E40-B951-9EFC4C6791A3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0299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67A00E-4E6A-094F-9691-35F63ECD4D75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9572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D833F9-DFB2-4C4C-9C97-F5B2E8C95175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007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8C3F7-1F86-5C43-B954-F7148FB6CDF3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694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73850" y="228600"/>
            <a:ext cx="2089150" cy="5829300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06400" y="228600"/>
            <a:ext cx="6115050" cy="582930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CC145-3297-FA40-830F-481A8FD46C14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887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8356600" cy="1143000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457200" y="1885950"/>
            <a:ext cx="8178800" cy="4171950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251193-0834-4640-A98B-28558B3C8042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4517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blurRad="63500" dist="107763" dir="2700000" algn="ctr" rotWithShape="0">
            <a:srgbClr val="000000">
              <a:alpha val="74998"/>
            </a:srgbClr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304800" y="1371600"/>
            <a:ext cx="381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3" dist="85194" dir="12393903">
              <a:srgbClr val="F4792E">
                <a:alpha val="74997"/>
              </a:srgbClr>
            </a:prstShdw>
          </a:effectLst>
        </p:spPr>
        <p:txBody>
          <a:bodyPr wrap="none" anchor="ctr"/>
          <a:lstStyle/>
          <a:p>
            <a:endParaRPr lang="it-IT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28600"/>
            <a:ext cx="835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85950"/>
            <a:ext cx="8178800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it-IT"/>
          </a:p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200602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43000" y="6096000"/>
            <a:ext cx="5805488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b="0">
                <a:solidFill>
                  <a:schemeClr val="bg2"/>
                </a:solidFill>
                <a:latin typeface="Arial" pitchFamily="-10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200602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6248400"/>
            <a:ext cx="1092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b="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fld id="{11A4DE33-46B0-8940-BB01-66AF5FC5DA8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  <p:pic>
        <p:nvPicPr>
          <p:cNvPr id="1031" name="Picture 8" descr="paint"/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1445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9"/>
          <p:cNvSpPr>
            <a:spLocks noChangeShapeType="1"/>
          </p:cNvSpPr>
          <p:nvPr/>
        </p:nvSpPr>
        <p:spPr bwMode="auto">
          <a:xfrm flipV="1">
            <a:off x="457200" y="457200"/>
            <a:ext cx="0" cy="556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3" name="Line 10"/>
          <p:cNvSpPr>
            <a:spLocks noChangeShapeType="1"/>
          </p:cNvSpPr>
          <p:nvPr/>
        </p:nvSpPr>
        <p:spPr bwMode="auto">
          <a:xfrm>
            <a:off x="228600" y="15240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34" name="Picture 11" descr="logo1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92825"/>
            <a:ext cx="677863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+mj-lt"/>
          <a:ea typeface="ＭＳ Ｐゴシック" pitchFamily="-108" charset="-128"/>
          <a:cs typeface="ＭＳ Ｐゴシック" pitchFamily="-108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  <a:ea typeface="ＭＳ Ｐゴシック" pitchFamily="-108" charset="-128"/>
          <a:cs typeface="ＭＳ Ｐゴシック" pitchFamily="-108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  <a:ea typeface="ＭＳ Ｐゴシック" pitchFamily="-108" charset="-128"/>
          <a:cs typeface="ＭＳ Ｐゴシック" pitchFamily="-108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  <a:ea typeface="ＭＳ Ｐゴシック" pitchFamily="-108" charset="-128"/>
          <a:cs typeface="ＭＳ Ｐゴシック" pitchFamily="-108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  <a:ea typeface="ＭＳ Ｐゴシック" pitchFamily="-108" charset="-128"/>
          <a:cs typeface="ＭＳ Ｐゴシック" pitchFamily="-108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defRPr kumimoji="1" sz="3200">
          <a:solidFill>
            <a:schemeClr val="tx1"/>
          </a:solidFill>
          <a:latin typeface="+mn-lt"/>
          <a:ea typeface="ＭＳ Ｐゴシック" pitchFamily="-108" charset="-128"/>
          <a:cs typeface="ＭＳ Ｐゴシック" pitchFamily="-108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Ø"/>
        <a:defRPr kumimoji="1" sz="28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Ø"/>
        <a:defRPr kumimoji="1" sz="2400">
          <a:solidFill>
            <a:schemeClr val="tx1"/>
          </a:solidFill>
          <a:latin typeface="+mn-lt"/>
          <a:ea typeface="ＭＳ Ｐゴシック" pitchFamily="-108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-108" charset="2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-108" charset="2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-108" charset="2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-108" charset="2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549275"/>
            <a:ext cx="8893175" cy="1143000"/>
          </a:xfrm>
          <a:noFill/>
        </p:spPr>
        <p:txBody>
          <a:bodyPr anchor="ctr"/>
          <a:lstStyle/>
          <a:p>
            <a:r>
              <a:rPr lang="en-US" sz="5400" dirty="0" err="1">
                <a:latin typeface="Arial Black" charset="0"/>
                <a:ea typeface="ＭＳ Ｐゴシック" charset="0"/>
                <a:cs typeface="ＭＳ Ｐゴシック" charset="0"/>
              </a:rPr>
              <a:t>Architettura</a:t>
            </a:r>
            <a:br>
              <a:rPr lang="en-US" sz="5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5400" dirty="0" err="1">
                <a:latin typeface="Arial Black" charset="0"/>
                <a:ea typeface="ＭＳ Ｐゴシック" charset="0"/>
                <a:cs typeface="ＭＳ Ｐゴシック" charset="0"/>
              </a:rPr>
              <a:t>degli</a:t>
            </a:r>
            <a:r>
              <a:rPr lang="en-US" sz="5400" dirty="0">
                <a:latin typeface="Arial Black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5400" dirty="0" err="1">
                <a:latin typeface="Arial Black" charset="0"/>
                <a:ea typeface="ＭＳ Ｐゴシック" charset="0"/>
                <a:cs typeface="ＭＳ Ｐゴシック" charset="0"/>
              </a:rPr>
              <a:t>Elaboratori</a:t>
            </a:r>
            <a:endParaRPr lang="en-US" sz="3600" dirty="0"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685800" y="152400"/>
            <a:ext cx="77724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charset="0"/>
              <a:buNone/>
            </a:pPr>
            <a:endParaRPr lang="en-US" sz="2000">
              <a:solidFill>
                <a:srgbClr val="FF0066"/>
              </a:solidFill>
              <a:latin typeface="Comic Sans MS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charset="0"/>
              <a:buNone/>
            </a:pPr>
            <a:endParaRPr lang="en-US" sz="1400" b="0">
              <a:solidFill>
                <a:srgbClr val="0000CC"/>
              </a:solidFill>
              <a:latin typeface="Comic Sans MS" charset="0"/>
            </a:endParaRPr>
          </a:p>
        </p:txBody>
      </p:sp>
      <p:pic>
        <p:nvPicPr>
          <p:cNvPr id="7" name="Picture 1" descr="logodi-eps-converted-to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692" y="5259660"/>
            <a:ext cx="712470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FullSizeRender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2793636"/>
            <a:ext cx="3960440" cy="2795604"/>
          </a:xfrm>
          <a:prstGeom prst="rect">
            <a:avLst/>
          </a:prstGeom>
        </p:spPr>
      </p:pic>
      <p:sp>
        <p:nvSpPr>
          <p:cNvPr id="174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67744" y="4916760"/>
            <a:ext cx="6190456" cy="1752600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endParaRPr lang="en-US" sz="1800" b="1" dirty="0">
              <a:solidFill>
                <a:srgbClr val="FF0066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CC0000"/>
                </a:solidFill>
                <a:latin typeface="Century Gothic" charset="0"/>
                <a:ea typeface="ＭＳ Ｐゴシック" charset="0"/>
                <a:cs typeface="ＭＳ Ｐゴシック" charset="0"/>
              </a:rPr>
              <a:t>Domenico Rossi</a:t>
            </a:r>
            <a:endParaRPr lang="en-US" sz="1400" dirty="0">
              <a:solidFill>
                <a:schemeClr val="accent2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50000"/>
              </a:lnSpc>
            </a:pPr>
            <a:endParaRPr lang="en-US" sz="1400" b="1" dirty="0">
              <a:solidFill>
                <a:schemeClr val="accent2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120000"/>
              </a:lnSpc>
            </a:pPr>
            <a:endParaRPr lang="en-US" sz="1200" dirty="0">
              <a:solidFill>
                <a:srgbClr val="CC3399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627784" y="1704611"/>
            <a:ext cx="4104456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>
              <a:lnSpc>
                <a:spcPct val="90000"/>
              </a:lnSpc>
            </a:pPr>
            <a:endParaRPr lang="en-US" sz="2400" b="1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endParaRPr lang="en-US" sz="1800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 algn="ctr">
              <a:lnSpc>
                <a:spcPct val="4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 err="1">
                <a:solidFill>
                  <a:srgbClr val="0000FF"/>
                </a:solidFill>
                <a:latin typeface="Century Gothic" charset="0"/>
                <a:ea typeface="ＭＳ Ｐゴシック" charset="0"/>
                <a:cs typeface="ＭＳ Ｐゴシック" charset="0"/>
              </a:rPr>
              <a:t>Tutorato</a:t>
            </a:r>
            <a:endParaRPr lang="en-US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50000"/>
              </a:lnSpc>
            </a:pPr>
            <a:endParaRPr lang="en-US" sz="1800" b="1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0000FF"/>
                </a:solidFill>
                <a:latin typeface="Century Gothic" charset="0"/>
                <a:ea typeface="ＭＳ Ｐゴシック" charset="0"/>
                <a:cs typeface="ＭＳ Ｐゴシック" charset="0"/>
              </a:rPr>
              <a:t> 7/11/25</a:t>
            </a:r>
          </a:p>
        </p:txBody>
      </p:sp>
    </p:spTree>
    <p:extLst>
      <p:ext uri="{BB962C8B-B14F-4D97-AF65-F5344CB8AC3E}">
        <p14:creationId xmlns:p14="http://schemas.microsoft.com/office/powerpoint/2010/main" val="74251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341784"/>
            <a:ext cx="8356600" cy="1143000"/>
          </a:xfrm>
        </p:spPr>
        <p:txBody>
          <a:bodyPr/>
          <a:lstStyle/>
          <a:p>
            <a:r>
              <a:rPr lang="it-IT" sz="4800" dirty="0"/>
              <a:t>Su cosa </a:t>
            </a:r>
            <a:br>
              <a:rPr lang="it-IT" sz="4800" dirty="0"/>
            </a:br>
            <a:r>
              <a:rPr lang="it-IT" sz="4800" dirty="0"/>
              <a:t>ci esercitiamo oggi?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73224" y="1705322"/>
            <a:ext cx="8363272" cy="4171950"/>
          </a:xfrm>
        </p:spPr>
        <p:txBody>
          <a:bodyPr/>
          <a:lstStyle/>
          <a:p>
            <a:pPr marL="457200" indent="-457200">
              <a:buFont typeface="Wingdings" charset="2"/>
              <a:buChar char="Ø"/>
            </a:pPr>
            <a:r>
              <a:rPr lang="it-IT" sz="2800" dirty="0">
                <a:ea typeface="MS PGothic" charset="-128"/>
              </a:rPr>
              <a:t>Ancora istruzioni MIPS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>
                <a:ea typeface="MS PGothic" charset="-128"/>
              </a:rPr>
              <a:t>Istruzioni per prendere decisioni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altLang="it-IT" sz="2400" dirty="0"/>
              <a:t>Cicli</a:t>
            </a:r>
          </a:p>
          <a:p>
            <a:pPr marL="857250" lvl="1" indent="-457200">
              <a:buFont typeface="Wingdings" charset="2"/>
              <a:buChar char="Ø"/>
            </a:pPr>
            <a:endParaRPr lang="it-IT" sz="2400" dirty="0">
              <a:ea typeface="MS PGothic" charset="-128"/>
            </a:endParaRPr>
          </a:p>
          <a:p>
            <a:pPr marL="857250" lvl="1" indent="-457200">
              <a:buFont typeface="Wingdings" charset="2"/>
              <a:buChar char="Ø"/>
            </a:pPr>
            <a:endParaRPr lang="it-IT" sz="2400" dirty="0">
              <a:ea typeface="MS PGothic" charset="-128"/>
            </a:endParaRPr>
          </a:p>
          <a:p>
            <a:pPr marL="857250" lvl="1" indent="-457200">
              <a:buFont typeface="Wingdings" charset="2"/>
              <a:buChar char="Ø"/>
            </a:pPr>
            <a:r>
              <a:rPr lang="it-IT" sz="2400" i="1" dirty="0">
                <a:ea typeface="MS PGothic" charset="-128"/>
              </a:rPr>
              <a:t>Suggerimento per la seconda prova intercorso:</a:t>
            </a:r>
            <a:r>
              <a:rPr lang="it-IT" sz="2400" dirty="0">
                <a:ea typeface="MS PGothic" charset="-128"/>
              </a:rPr>
              <a:t> ripassate gli esercizi sull’ALU con la tavola di verità (tutte le operazioni viste, incluse </a:t>
            </a:r>
            <a:r>
              <a:rPr lang="it-IT" sz="2400" dirty="0" err="1">
                <a:ea typeface="MS PGothic" charset="-128"/>
              </a:rPr>
              <a:t>slt</a:t>
            </a:r>
            <a:r>
              <a:rPr lang="it-IT" sz="2400" dirty="0">
                <a:ea typeface="MS PGothic" charset="-128"/>
              </a:rPr>
              <a:t> e </a:t>
            </a:r>
            <a:r>
              <a:rPr lang="it-IT" sz="2400" dirty="0" err="1">
                <a:ea typeface="MS PGothic" charset="-128"/>
              </a:rPr>
              <a:t>bne</a:t>
            </a:r>
            <a:r>
              <a:rPr lang="it-IT" sz="2400" dirty="0">
                <a:ea typeface="MS PGothic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6786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1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2" y="1628800"/>
            <a:ext cx="856895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Scrivere 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corrispondente alla seguente istruzione in C: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br>
              <a:rPr lang="it-IT" sz="2800" b="0" dirty="0">
                <a:latin typeface="+mn-lt"/>
                <a:cs typeface="Calibri"/>
              </a:rPr>
            </a:br>
            <a:r>
              <a:rPr lang="it-IT" sz="2800" b="0" dirty="0">
                <a:latin typeface="+mn-lt"/>
                <a:cs typeface="Calibri"/>
              </a:rPr>
              <a:t>		</a:t>
            </a:r>
            <a:r>
              <a:rPr lang="en-US" sz="2800" b="0" dirty="0">
                <a:solidFill>
                  <a:srgbClr val="0000FF"/>
                </a:solidFill>
                <a:latin typeface="+mn-lt"/>
                <a:cs typeface="Arial" charset="0"/>
              </a:rPr>
              <a:t>if (a!=b)  d = c+2; else d = c*4;</a:t>
            </a:r>
            <a:endParaRPr lang="it-IT" sz="2800" b="0" dirty="0">
              <a:solidFill>
                <a:srgbClr val="0000FF"/>
              </a:solidFill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Si suppone che: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$s0 contiene a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$s1 contiene b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$s2 contiene c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$s3 contiene d</a:t>
            </a:r>
          </a:p>
        </p:txBody>
      </p:sp>
    </p:spTree>
    <p:extLst>
      <p:ext uri="{BB962C8B-B14F-4D97-AF65-F5344CB8AC3E}">
        <p14:creationId xmlns:p14="http://schemas.microsoft.com/office/powerpoint/2010/main" val="2944563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 err="1"/>
              <a:t>Lez</a:t>
            </a:r>
            <a:r>
              <a:rPr lang="it-IT" sz="4800" dirty="0"/>
              <a:t>. 13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371600"/>
            <a:ext cx="7685379" cy="547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11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1</a:t>
            </a:r>
            <a:r>
              <a:rPr lang="it-IT" sz="4800"/>
              <a:t>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496" y="1772816"/>
            <a:ext cx="9108504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dell’istruzione 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	</a:t>
            </a:r>
            <a:r>
              <a:rPr lang="en-US" sz="2800" b="0" dirty="0">
                <a:solidFill>
                  <a:srgbClr val="0000FF"/>
                </a:solidFill>
                <a:latin typeface="+mn-lt"/>
                <a:cs typeface="Calibri"/>
              </a:rPr>
              <a:t>if (a!=b)  d = c+2; else d = c*4;</a:t>
            </a:r>
            <a:r>
              <a:rPr lang="en-US" sz="2800" b="0" dirty="0">
                <a:latin typeface="+mn-lt"/>
                <a:cs typeface="Calibri"/>
              </a:rPr>
              <a:t> </a:t>
            </a:r>
            <a:r>
              <a:rPr lang="it-IT" sz="2800" b="0" dirty="0">
                <a:latin typeface="+mn-lt"/>
                <a:cs typeface="Arial" charset="0"/>
              </a:rPr>
              <a:t>è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  <a:endParaRPr lang="it-IT" sz="2400" b="0" dirty="0">
              <a:solidFill>
                <a:srgbClr val="33CC33"/>
              </a:solidFill>
              <a:latin typeface="+mn-lt"/>
              <a:cs typeface="Arial" charset="0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691680" y="6093296"/>
            <a:ext cx="4032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algn="l" eaLnBrk="1" hangingPunct="1">
              <a:buClr>
                <a:schemeClr val="accent2"/>
              </a:buClr>
            </a:pPr>
            <a:r>
              <a:rPr lang="pt-BR" sz="2000" b="0" dirty="0">
                <a:latin typeface="+mn-lt"/>
                <a:cs typeface="Calibri"/>
              </a:rPr>
              <a:t>$s0 contiene a, $s1 contiene b</a:t>
            </a:r>
          </a:p>
          <a:p>
            <a:pPr marL="57150" algn="l" eaLnBrk="1" hangingPunct="1">
              <a:buClr>
                <a:schemeClr val="accent2"/>
              </a:buClr>
            </a:pPr>
            <a:r>
              <a:rPr lang="pt-BR" sz="2000" b="0" dirty="0">
                <a:latin typeface="+mn-lt"/>
                <a:cs typeface="Calibri"/>
              </a:rPr>
              <a:t>$s2 contiene c, $s3 contiene d</a:t>
            </a:r>
          </a:p>
        </p:txBody>
      </p:sp>
    </p:spTree>
    <p:extLst>
      <p:ext uri="{BB962C8B-B14F-4D97-AF65-F5344CB8AC3E}">
        <p14:creationId xmlns:p14="http://schemas.microsoft.com/office/powerpoint/2010/main" val="321530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1</a:t>
            </a:r>
            <a:r>
              <a:rPr lang="it-IT" sz="4800"/>
              <a:t>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496" y="1772816"/>
            <a:ext cx="9108504" cy="32932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dell’istruzione 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	</a:t>
            </a:r>
            <a:r>
              <a:rPr lang="en-US" sz="2800" b="0" dirty="0">
                <a:solidFill>
                  <a:srgbClr val="0000FF"/>
                </a:solidFill>
                <a:latin typeface="+mn-lt"/>
                <a:cs typeface="Calibri"/>
              </a:rPr>
              <a:t>if (a!=b)  d = c+2; else d = c*4;</a:t>
            </a:r>
            <a:r>
              <a:rPr lang="en-US" sz="2800" b="0" dirty="0">
                <a:latin typeface="+mn-lt"/>
                <a:cs typeface="Calibri"/>
              </a:rPr>
              <a:t> </a:t>
            </a:r>
            <a:r>
              <a:rPr lang="it-IT" sz="2800" b="0" dirty="0">
                <a:latin typeface="+mn-lt"/>
                <a:cs typeface="Arial" charset="0"/>
              </a:rPr>
              <a:t>è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beq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$s0, $s1, ELSE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#salta a ELSE se a = b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addi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$s3, $s2, 2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#calcola d=c+2 (se a ≠ b)</a:t>
            </a:r>
          </a:p>
          <a:p>
            <a:pPr marL="57150" indent="0" algn="l" eaLnBrk="1" hangingPunct="1"/>
            <a:r>
              <a:rPr lang="pt-BR" sz="2400" b="0" dirty="0">
                <a:solidFill>
                  <a:srgbClr val="FF0000"/>
                </a:solidFill>
                <a:latin typeface="+mn-lt"/>
                <a:cs typeface="Arial" charset="0"/>
              </a:rPr>
              <a:t>	   j ESCI </a:t>
            </a:r>
            <a:r>
              <a:rPr lang="pt-BR" sz="2400" b="0" dirty="0">
                <a:solidFill>
                  <a:srgbClr val="33CC33"/>
                </a:solidFill>
                <a:latin typeface="+mn-lt"/>
                <a:cs typeface="Arial" charset="0"/>
              </a:rPr>
              <a:t>#vai a ESCI</a:t>
            </a:r>
          </a:p>
          <a:p>
            <a:pPr marL="57150" indent="0"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ELSE: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sll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$s3, $s2, 2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#calcola d=c*4 (se a = b)</a:t>
            </a:r>
          </a:p>
          <a:p>
            <a:pPr marL="57150" indent="0" algn="l" eaLnBrk="1" hangingPunct="1"/>
            <a:r>
              <a:rPr lang="pt-BR" sz="2400" b="0" dirty="0">
                <a:solidFill>
                  <a:srgbClr val="FF0000"/>
                </a:solidFill>
                <a:latin typeface="+mn-lt"/>
                <a:cs typeface="Arial" charset="0"/>
              </a:rPr>
              <a:t>ESCI:   ...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#segna la fine della decisione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1691680" y="6093296"/>
            <a:ext cx="4032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algn="l" eaLnBrk="1" hangingPunct="1">
              <a:buClr>
                <a:schemeClr val="accent2"/>
              </a:buClr>
            </a:pPr>
            <a:r>
              <a:rPr lang="pt-BR" sz="2000" b="0" dirty="0">
                <a:latin typeface="+mn-lt"/>
                <a:cs typeface="Calibri"/>
              </a:rPr>
              <a:t>$s0 contiene a, $s1 contiene b</a:t>
            </a:r>
          </a:p>
          <a:p>
            <a:pPr marL="57150" algn="l" eaLnBrk="1" hangingPunct="1">
              <a:buClr>
                <a:schemeClr val="accent2"/>
              </a:buClr>
            </a:pPr>
            <a:r>
              <a:rPr lang="pt-BR" sz="2000" b="0" dirty="0">
                <a:latin typeface="+mn-lt"/>
                <a:cs typeface="Calibri"/>
              </a:rPr>
              <a:t>$s2 contiene c, $s3 contiene d</a:t>
            </a:r>
          </a:p>
        </p:txBody>
      </p:sp>
    </p:spTree>
    <p:extLst>
      <p:ext uri="{BB962C8B-B14F-4D97-AF65-F5344CB8AC3E}">
        <p14:creationId xmlns:p14="http://schemas.microsoft.com/office/powerpoint/2010/main" val="60664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2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2" y="1628800"/>
            <a:ext cx="856895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Scrivere 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corrispondente alla seguente istruzione in C: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br>
              <a:rPr lang="it-IT" sz="2800" b="0" dirty="0">
                <a:latin typeface="+mn-lt"/>
                <a:cs typeface="Calibri"/>
              </a:rPr>
            </a:br>
            <a:r>
              <a:rPr lang="it-IT" sz="2800" b="0" dirty="0">
                <a:latin typeface="+mn-lt"/>
                <a:cs typeface="Calibri"/>
              </a:rPr>
              <a:t>		</a:t>
            </a:r>
            <a:r>
              <a:rPr lang="en-US" sz="2800" b="0" dirty="0">
                <a:solidFill>
                  <a:srgbClr val="0000FF"/>
                </a:solidFill>
                <a:latin typeface="+mn-lt"/>
                <a:cs typeface="Arial" charset="0"/>
              </a:rPr>
              <a:t>if (a&gt;b)  d = c+2; else d = c*3;</a:t>
            </a:r>
            <a:endParaRPr lang="it-IT" sz="2800" b="0" dirty="0">
              <a:solidFill>
                <a:srgbClr val="0000FF"/>
              </a:solidFill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Si suppone che: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$s0 contiene a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$s1 contiene b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$s2 contiene c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$s3 contiene d</a:t>
            </a:r>
          </a:p>
        </p:txBody>
      </p:sp>
    </p:spTree>
    <p:extLst>
      <p:ext uri="{BB962C8B-B14F-4D97-AF65-F5344CB8AC3E}">
        <p14:creationId xmlns:p14="http://schemas.microsoft.com/office/powerpoint/2010/main" val="932128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 err="1"/>
              <a:t>Lez</a:t>
            </a:r>
            <a:r>
              <a:rPr lang="it-IT" sz="4800" dirty="0"/>
              <a:t>. 13 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7791205" cy="54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524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2: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496" y="1772816"/>
            <a:ext cx="9108504" cy="390876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dell’istruzione 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	</a:t>
            </a:r>
            <a:r>
              <a:rPr lang="en-US" sz="2800" b="0" dirty="0">
                <a:solidFill>
                  <a:srgbClr val="0000FF"/>
                </a:solidFill>
                <a:latin typeface="+mn-lt"/>
                <a:cs typeface="Calibri"/>
              </a:rPr>
              <a:t>if (a&gt;b)  d = c+2; else d = c*3;</a:t>
            </a:r>
            <a:r>
              <a:rPr lang="en-US" sz="2800" b="0" dirty="0">
                <a:latin typeface="+mn-lt"/>
                <a:cs typeface="Calibri"/>
              </a:rPr>
              <a:t> </a:t>
            </a:r>
            <a:r>
              <a:rPr lang="it-IT" sz="2800" b="0" dirty="0">
                <a:latin typeface="+mn-lt"/>
                <a:cs typeface="Arial" charset="0"/>
              </a:rPr>
              <a:t>è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endParaRPr lang="it-IT" sz="2800" b="0" dirty="0">
              <a:solidFill>
                <a:srgbClr val="33CC33"/>
              </a:solidFill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endParaRPr lang="it-IT" sz="2800" b="0" dirty="0">
              <a:solidFill>
                <a:srgbClr val="33CC33"/>
              </a:solidFill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endParaRPr lang="it-IT" sz="2800" b="0" dirty="0">
              <a:solidFill>
                <a:srgbClr val="33CC33"/>
              </a:solidFill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endParaRPr lang="it-IT" sz="2800" b="0" dirty="0">
              <a:solidFill>
                <a:srgbClr val="33CC33"/>
              </a:solidFill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endParaRPr lang="it-IT" sz="2400" b="0" dirty="0">
              <a:solidFill>
                <a:srgbClr val="33CC33"/>
              </a:solidFill>
              <a:latin typeface="+mn-lt"/>
              <a:cs typeface="Arial" charset="0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691680" y="6093296"/>
            <a:ext cx="4032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algn="l" eaLnBrk="1" hangingPunct="1">
              <a:buClr>
                <a:schemeClr val="accent2"/>
              </a:buClr>
            </a:pPr>
            <a:r>
              <a:rPr lang="pt-BR" sz="2000" b="0" dirty="0">
                <a:latin typeface="+mn-lt"/>
                <a:cs typeface="Calibri"/>
              </a:rPr>
              <a:t>$s0 contiene a, $s1 contiene b</a:t>
            </a:r>
          </a:p>
          <a:p>
            <a:pPr marL="57150" algn="l" eaLnBrk="1" hangingPunct="1">
              <a:buClr>
                <a:schemeClr val="accent2"/>
              </a:buClr>
            </a:pPr>
            <a:r>
              <a:rPr lang="pt-BR" sz="2000" b="0" dirty="0">
                <a:latin typeface="+mn-lt"/>
                <a:cs typeface="Calibri"/>
              </a:rPr>
              <a:t>$s2 contiene c, $s3 contiene d</a:t>
            </a:r>
          </a:p>
        </p:txBody>
      </p:sp>
    </p:spTree>
    <p:extLst>
      <p:ext uri="{BB962C8B-B14F-4D97-AF65-F5344CB8AC3E}">
        <p14:creationId xmlns:p14="http://schemas.microsoft.com/office/powerpoint/2010/main" val="106229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2: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496" y="1772816"/>
            <a:ext cx="9108504" cy="403187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dell’istruzione 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	</a:t>
            </a:r>
            <a:r>
              <a:rPr lang="en-US" sz="2800" b="0" dirty="0">
                <a:solidFill>
                  <a:srgbClr val="0000FF"/>
                </a:solidFill>
                <a:latin typeface="+mn-lt"/>
                <a:cs typeface="Calibri"/>
              </a:rPr>
              <a:t>if (a&gt;b)  d = c+2; else d = c*3;</a:t>
            </a:r>
            <a:r>
              <a:rPr lang="en-US" sz="2800" b="0" dirty="0">
                <a:latin typeface="+mn-lt"/>
                <a:cs typeface="Calibri"/>
              </a:rPr>
              <a:t> </a:t>
            </a:r>
            <a:r>
              <a:rPr lang="it-IT" sz="2800" b="0" dirty="0">
                <a:latin typeface="+mn-lt"/>
                <a:cs typeface="Arial" charset="0"/>
              </a:rPr>
              <a:t>è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slt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$t0, $s1, $s0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#setta $t0=1 se b &lt; a  (cioè se a &gt; b)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beq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$t0, $zero, ELSE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#salta a ELSE se b ≥ a  (a ≤ b)</a:t>
            </a:r>
            <a:endParaRPr lang="it-IT" sz="24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addi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$s3, $s2, 2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#calcola d=c+2 (se a &gt; b)</a:t>
            </a:r>
          </a:p>
          <a:p>
            <a:pPr marL="57150" indent="0" algn="l" eaLnBrk="1" hangingPunct="1"/>
            <a:r>
              <a:rPr lang="pt-BR" sz="2400" b="0" dirty="0">
                <a:solidFill>
                  <a:srgbClr val="FF0000"/>
                </a:solidFill>
                <a:latin typeface="+mn-lt"/>
                <a:cs typeface="Arial" charset="0"/>
              </a:rPr>
              <a:t>	   j ESCI </a:t>
            </a:r>
            <a:r>
              <a:rPr lang="pt-BR" sz="2400" b="0" dirty="0">
                <a:solidFill>
                  <a:srgbClr val="33CC33"/>
                </a:solidFill>
                <a:latin typeface="+mn-lt"/>
                <a:cs typeface="Arial" charset="0"/>
              </a:rPr>
              <a:t>#vai a ESCI</a:t>
            </a:r>
          </a:p>
          <a:p>
            <a:pPr marL="57150" indent="0"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ELSE: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sll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$s3, $s2, 2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#calcola d=c*4 (se a ≤ b)</a:t>
            </a:r>
          </a:p>
          <a:p>
            <a:pPr marL="57150" indent="0" algn="l" eaLnBrk="1" hangingPunct="1"/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	   </a:t>
            </a:r>
            <a:r>
              <a:rPr lang="pt-BR" sz="2400" b="0" dirty="0">
                <a:solidFill>
                  <a:srgbClr val="FF0000"/>
                </a:solidFill>
                <a:latin typeface="+mn-lt"/>
                <a:cs typeface="Arial" charset="0"/>
              </a:rPr>
              <a:t>sub $s3, $s3, $s2 </a:t>
            </a:r>
            <a:r>
              <a:rPr lang="pt-BR" sz="2400" b="0" dirty="0">
                <a:solidFill>
                  <a:srgbClr val="33CC33"/>
                </a:solidFill>
                <a:latin typeface="+mn-lt"/>
                <a:cs typeface="Arial" charset="0"/>
              </a:rPr>
              <a:t>#calcola d=d-c, cioè d=c*3</a:t>
            </a:r>
            <a:endParaRPr lang="it-IT" sz="2400" b="0" dirty="0">
              <a:solidFill>
                <a:srgbClr val="33CC33"/>
              </a:solidFill>
              <a:latin typeface="+mn-lt"/>
              <a:cs typeface="Arial" charset="0"/>
            </a:endParaRPr>
          </a:p>
          <a:p>
            <a:pPr marL="57150" indent="0" algn="l" eaLnBrk="1" hangingPunct="1"/>
            <a:r>
              <a:rPr lang="pt-BR" sz="2400" b="0" dirty="0">
                <a:solidFill>
                  <a:srgbClr val="FF0000"/>
                </a:solidFill>
                <a:latin typeface="+mn-lt"/>
                <a:cs typeface="Arial" charset="0"/>
              </a:rPr>
              <a:t>ESCI:   ...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#segna la fine della decisione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1691680" y="6093296"/>
            <a:ext cx="4032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algn="l" eaLnBrk="1" hangingPunct="1">
              <a:buClr>
                <a:schemeClr val="accent2"/>
              </a:buClr>
            </a:pPr>
            <a:r>
              <a:rPr lang="pt-BR" sz="2000" b="0" dirty="0">
                <a:latin typeface="+mn-lt"/>
                <a:cs typeface="Calibri"/>
              </a:rPr>
              <a:t>$s0 contiene a, $s1 contiene b</a:t>
            </a:r>
          </a:p>
          <a:p>
            <a:pPr marL="57150" algn="l" eaLnBrk="1" hangingPunct="1">
              <a:buClr>
                <a:schemeClr val="accent2"/>
              </a:buClr>
            </a:pPr>
            <a:r>
              <a:rPr lang="pt-BR" sz="2000" b="0" dirty="0">
                <a:latin typeface="+mn-lt"/>
                <a:cs typeface="Calibri"/>
              </a:rPr>
              <a:t>$s2 contiene c, $s3 contiene d</a:t>
            </a:r>
          </a:p>
        </p:txBody>
      </p:sp>
    </p:spTree>
    <p:extLst>
      <p:ext uri="{BB962C8B-B14F-4D97-AF65-F5344CB8AC3E}">
        <p14:creationId xmlns:p14="http://schemas.microsoft.com/office/powerpoint/2010/main" val="257312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3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2" y="1628800"/>
            <a:ext cx="856895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Scrivere 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corrispondente alla seguente istruzione in C: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br>
              <a:rPr lang="it-IT" sz="2800" b="0" dirty="0">
                <a:latin typeface="+mn-lt"/>
                <a:cs typeface="Calibri"/>
              </a:rPr>
            </a:br>
            <a:r>
              <a:rPr lang="it-IT" sz="2800" b="0" dirty="0">
                <a:latin typeface="+mn-lt"/>
                <a:cs typeface="Calibri"/>
              </a:rPr>
              <a:t>		</a:t>
            </a:r>
            <a:r>
              <a:rPr lang="en-US" sz="2800" b="0" dirty="0">
                <a:solidFill>
                  <a:srgbClr val="0000FF"/>
                </a:solidFill>
                <a:latin typeface="+mn-lt"/>
                <a:cs typeface="Arial" charset="0"/>
              </a:rPr>
              <a:t>if (a&lt;=b)  d = c*3; else d = c*4;</a:t>
            </a:r>
            <a:endParaRPr lang="it-IT" sz="2800" b="0" dirty="0">
              <a:solidFill>
                <a:srgbClr val="0000FF"/>
              </a:solidFill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Si suppone che: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$s0 contiene a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$s1 contiene b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$s2 contiene c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$s3 contiene d</a:t>
            </a:r>
          </a:p>
        </p:txBody>
      </p:sp>
    </p:spTree>
    <p:extLst>
      <p:ext uri="{BB962C8B-B14F-4D97-AF65-F5344CB8AC3E}">
        <p14:creationId xmlns:p14="http://schemas.microsoft.com/office/powerpoint/2010/main" val="3638305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3: Soluzione A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496" y="1772816"/>
            <a:ext cx="9108504" cy="390876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dell’istruzione 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	</a:t>
            </a:r>
            <a:r>
              <a:rPr lang="en-US" sz="2800" b="0" dirty="0">
                <a:solidFill>
                  <a:srgbClr val="0000FF"/>
                </a:solidFill>
                <a:latin typeface="+mn-lt"/>
                <a:cs typeface="Calibri"/>
              </a:rPr>
              <a:t>if (a&lt;=b)  d = c*3; else d = c*4;</a:t>
            </a:r>
            <a:r>
              <a:rPr lang="en-US" sz="2800" b="0" dirty="0">
                <a:latin typeface="+mn-lt"/>
                <a:cs typeface="Calibri"/>
              </a:rPr>
              <a:t> </a:t>
            </a:r>
            <a:r>
              <a:rPr lang="it-IT" sz="2800" b="0" dirty="0">
                <a:latin typeface="+mn-lt"/>
                <a:cs typeface="Arial" charset="0"/>
              </a:rPr>
              <a:t>è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endParaRPr lang="it-IT" sz="2800" b="0" dirty="0">
              <a:solidFill>
                <a:srgbClr val="33CC33"/>
              </a:solidFill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endParaRPr lang="it-IT" sz="2800" b="0" dirty="0">
              <a:solidFill>
                <a:srgbClr val="33CC33"/>
              </a:solidFill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endParaRPr lang="it-IT" sz="2800" b="0" dirty="0">
              <a:solidFill>
                <a:srgbClr val="33CC33"/>
              </a:solidFill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endParaRPr lang="it-IT" sz="2800" b="0" dirty="0">
              <a:solidFill>
                <a:srgbClr val="33CC33"/>
              </a:solidFill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endParaRPr lang="it-IT" sz="2400" b="0" dirty="0">
              <a:solidFill>
                <a:srgbClr val="33CC33"/>
              </a:solidFill>
              <a:latin typeface="+mn-lt"/>
              <a:cs typeface="Arial" charset="0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691680" y="6093296"/>
            <a:ext cx="4032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algn="l" eaLnBrk="1" hangingPunct="1">
              <a:buClr>
                <a:schemeClr val="accent2"/>
              </a:buClr>
            </a:pPr>
            <a:r>
              <a:rPr lang="pt-BR" sz="2000" b="0" dirty="0">
                <a:latin typeface="+mn-lt"/>
                <a:cs typeface="Calibri"/>
              </a:rPr>
              <a:t>$s0 contiene a, $s1 contiene b</a:t>
            </a:r>
          </a:p>
          <a:p>
            <a:pPr marL="57150" algn="l" eaLnBrk="1" hangingPunct="1">
              <a:buClr>
                <a:schemeClr val="accent2"/>
              </a:buClr>
            </a:pPr>
            <a:r>
              <a:rPr lang="pt-BR" sz="2000" b="0" dirty="0">
                <a:latin typeface="+mn-lt"/>
                <a:cs typeface="Calibri"/>
              </a:rPr>
              <a:t>$s2 contiene c, $s3 contiene d</a:t>
            </a:r>
          </a:p>
        </p:txBody>
      </p:sp>
    </p:spTree>
    <p:extLst>
      <p:ext uri="{BB962C8B-B14F-4D97-AF65-F5344CB8AC3E}">
        <p14:creationId xmlns:p14="http://schemas.microsoft.com/office/powerpoint/2010/main" val="143217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3: Soluzione A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496" y="1772816"/>
            <a:ext cx="9108504" cy="403187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dell’istruzione 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	</a:t>
            </a:r>
            <a:r>
              <a:rPr lang="en-US" sz="2800" b="0" dirty="0">
                <a:solidFill>
                  <a:srgbClr val="0000FF"/>
                </a:solidFill>
                <a:latin typeface="+mn-lt"/>
                <a:cs typeface="Calibri"/>
              </a:rPr>
              <a:t>if (a&lt;=b)  d = c*3; else d = c*4;</a:t>
            </a:r>
            <a:r>
              <a:rPr lang="en-US" sz="2800" b="0" dirty="0">
                <a:latin typeface="+mn-lt"/>
                <a:cs typeface="Calibri"/>
              </a:rPr>
              <a:t> </a:t>
            </a:r>
            <a:r>
              <a:rPr lang="it-IT" sz="2800" b="0" dirty="0">
                <a:latin typeface="+mn-lt"/>
                <a:cs typeface="Arial" charset="0"/>
              </a:rPr>
              <a:t>è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slt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$t0, $s1, $s0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#setta $t0=1 se b &lt; a  (cioè se a &gt; b)</a:t>
            </a:r>
          </a:p>
          <a:p>
            <a:pPr marL="57150" indent="0"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bne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$t0, $zero, ELSE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#salta a ELSE se $t0=1 (a &gt; b)</a:t>
            </a:r>
          </a:p>
          <a:p>
            <a:pPr marL="57150" indent="0"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sll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$s3, $s2, 2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#calcola d=c*4 (se a ≤ b)</a:t>
            </a:r>
          </a:p>
          <a:p>
            <a:pPr marL="57150" indent="0" algn="l" eaLnBrk="1" hangingPunct="1"/>
            <a:r>
              <a:rPr lang="pt-BR" sz="2400" b="0" dirty="0">
                <a:solidFill>
                  <a:srgbClr val="FF0000"/>
                </a:solidFill>
                <a:latin typeface="+mn-lt"/>
                <a:cs typeface="Arial" charset="0"/>
              </a:rPr>
              <a:t>	   sub $s3, $s3, $s2 </a:t>
            </a:r>
            <a:r>
              <a:rPr lang="pt-BR" sz="2400" b="0" dirty="0">
                <a:solidFill>
                  <a:srgbClr val="33CC33"/>
                </a:solidFill>
                <a:latin typeface="+mn-lt"/>
                <a:cs typeface="Arial" charset="0"/>
              </a:rPr>
              <a:t>#calcola d=d-c, cioè d=c*3</a:t>
            </a:r>
          </a:p>
          <a:p>
            <a:pPr marL="57150" indent="0" algn="l" eaLnBrk="1" hangingPunct="1"/>
            <a:r>
              <a:rPr lang="pt-BR" sz="2400" b="0" dirty="0">
                <a:solidFill>
                  <a:srgbClr val="FF0000"/>
                </a:solidFill>
                <a:latin typeface="+mn-lt"/>
                <a:cs typeface="Arial" charset="0"/>
              </a:rPr>
              <a:t>	   j ESCI </a:t>
            </a:r>
            <a:r>
              <a:rPr lang="pt-BR" sz="2400" b="0" dirty="0">
                <a:solidFill>
                  <a:srgbClr val="33CC33"/>
                </a:solidFill>
                <a:latin typeface="+mn-lt"/>
                <a:cs typeface="Arial" charset="0"/>
              </a:rPr>
              <a:t>#vai a ESCI</a:t>
            </a:r>
          </a:p>
          <a:p>
            <a:pPr marL="57150" indent="0"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ELSE: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sll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$s3, $s2, 2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#calcola d=c*4 (se a &gt; b)</a:t>
            </a:r>
          </a:p>
          <a:p>
            <a:pPr marL="57150" indent="0" algn="l" eaLnBrk="1" hangingPunct="1"/>
            <a:r>
              <a:rPr lang="pt-BR" sz="2400" b="0" dirty="0">
                <a:solidFill>
                  <a:srgbClr val="FF0000"/>
                </a:solidFill>
                <a:latin typeface="+mn-lt"/>
                <a:cs typeface="Arial" charset="0"/>
              </a:rPr>
              <a:t>ESCI:   ...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#segna la fine della decisione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1691680" y="6093296"/>
            <a:ext cx="4032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algn="l" eaLnBrk="1" hangingPunct="1">
              <a:buClr>
                <a:schemeClr val="accent2"/>
              </a:buClr>
            </a:pPr>
            <a:r>
              <a:rPr lang="pt-BR" sz="2000" b="0" dirty="0">
                <a:latin typeface="+mn-lt"/>
                <a:cs typeface="Calibri"/>
              </a:rPr>
              <a:t>$s0 contiene a, $s1 contiene b</a:t>
            </a:r>
          </a:p>
          <a:p>
            <a:pPr marL="57150" algn="l" eaLnBrk="1" hangingPunct="1">
              <a:buClr>
                <a:schemeClr val="accent2"/>
              </a:buClr>
            </a:pPr>
            <a:r>
              <a:rPr lang="pt-BR" sz="2000" b="0" dirty="0">
                <a:latin typeface="+mn-lt"/>
                <a:cs typeface="Calibri"/>
              </a:rPr>
              <a:t>$s2 contiene c, $s3 contiene d</a:t>
            </a:r>
          </a:p>
        </p:txBody>
      </p:sp>
    </p:spTree>
    <p:extLst>
      <p:ext uri="{BB962C8B-B14F-4D97-AF65-F5344CB8AC3E}">
        <p14:creationId xmlns:p14="http://schemas.microsoft.com/office/powerpoint/2010/main" val="305517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3: Soluzione B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36512" y="1772816"/>
            <a:ext cx="9180512" cy="403187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dell’istruzione 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	</a:t>
            </a:r>
            <a:r>
              <a:rPr lang="en-US" sz="2800" b="0" dirty="0">
                <a:solidFill>
                  <a:srgbClr val="0000FF"/>
                </a:solidFill>
                <a:latin typeface="+mn-lt"/>
                <a:cs typeface="Calibri"/>
              </a:rPr>
              <a:t>if (a&lt;=b)  d = c*3; else d = c*4;</a:t>
            </a:r>
            <a:r>
              <a:rPr lang="en-US" sz="2800" b="0" dirty="0">
                <a:latin typeface="+mn-lt"/>
                <a:cs typeface="Calibri"/>
              </a:rPr>
              <a:t> </a:t>
            </a:r>
            <a:r>
              <a:rPr lang="it-IT" sz="2800" b="0" dirty="0">
                <a:latin typeface="+mn-lt"/>
                <a:cs typeface="Arial" charset="0"/>
              </a:rPr>
              <a:t>è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slt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$t0, $s1, $s0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#setta $t0=1 se b &lt; a  (cioè se a &gt; b)</a:t>
            </a:r>
          </a:p>
          <a:p>
            <a:pPr marL="57150" indent="0"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beq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$t0, $zero, THEN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#salta a THEN se $t0=0 (a ≤ b)</a:t>
            </a:r>
          </a:p>
          <a:p>
            <a:pPr marL="57150" indent="0"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sll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$s3, $s2, 2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#calcola d=c*4 (se a &gt; b)</a:t>
            </a:r>
          </a:p>
          <a:p>
            <a:pPr marL="57150" indent="0" algn="l" eaLnBrk="1" hangingPunct="1"/>
            <a:r>
              <a:rPr lang="pt-BR" sz="2400" b="0" dirty="0">
                <a:solidFill>
                  <a:srgbClr val="FF0000"/>
                </a:solidFill>
                <a:latin typeface="+mn-lt"/>
                <a:cs typeface="Arial" charset="0"/>
              </a:rPr>
              <a:t>	   j ESCI </a:t>
            </a:r>
            <a:r>
              <a:rPr lang="pt-BR" sz="2400" b="0" dirty="0">
                <a:solidFill>
                  <a:srgbClr val="33CC33"/>
                </a:solidFill>
                <a:latin typeface="+mn-lt"/>
                <a:cs typeface="Arial" charset="0"/>
              </a:rPr>
              <a:t>#vai a ESCI</a:t>
            </a:r>
          </a:p>
          <a:p>
            <a:pPr marL="57150" indent="0"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THEN: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sll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$s3, $s2, 2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#calcola d=c*4 (se a ≤ b)</a:t>
            </a:r>
          </a:p>
          <a:p>
            <a:pPr marL="57150" indent="0"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   </a:t>
            </a:r>
            <a:r>
              <a:rPr lang="pt-BR" sz="2400" b="0" dirty="0">
                <a:solidFill>
                  <a:srgbClr val="FF0000"/>
                </a:solidFill>
                <a:latin typeface="+mn-lt"/>
                <a:cs typeface="Arial" charset="0"/>
              </a:rPr>
              <a:t>sub $s3, $s3, $s2 </a:t>
            </a:r>
            <a:r>
              <a:rPr lang="pt-BR" sz="2400" b="0" dirty="0">
                <a:solidFill>
                  <a:srgbClr val="33CC33"/>
                </a:solidFill>
                <a:latin typeface="+mn-lt"/>
                <a:cs typeface="Arial" charset="0"/>
              </a:rPr>
              <a:t>#calcola d=d-c, cioè d=c*3</a:t>
            </a:r>
          </a:p>
          <a:p>
            <a:pPr marL="57150" indent="0" algn="l" eaLnBrk="1" hangingPunct="1"/>
            <a:r>
              <a:rPr lang="pt-BR" sz="2400" b="0" dirty="0">
                <a:solidFill>
                  <a:srgbClr val="FF0000"/>
                </a:solidFill>
                <a:latin typeface="+mn-lt"/>
                <a:cs typeface="Arial" charset="0"/>
              </a:rPr>
              <a:t>ESCI:   ...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#segna la fine della </a:t>
            </a:r>
            <a:r>
              <a:rPr lang="it-IT" sz="2400" b="0" dirty="0" err="1">
                <a:solidFill>
                  <a:srgbClr val="33CC33"/>
                </a:solidFill>
                <a:latin typeface="+mn-lt"/>
                <a:cs typeface="Arial" charset="0"/>
              </a:rPr>
              <a:t>deisione</a:t>
            </a:r>
            <a:endParaRPr lang="it-IT" sz="2400" b="0" dirty="0">
              <a:solidFill>
                <a:srgbClr val="33CC33"/>
              </a:solidFill>
              <a:latin typeface="+mn-lt"/>
              <a:cs typeface="Arial" charset="0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691680" y="6093296"/>
            <a:ext cx="4032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algn="l" eaLnBrk="1" hangingPunct="1">
              <a:buClr>
                <a:schemeClr val="accent2"/>
              </a:buClr>
            </a:pPr>
            <a:r>
              <a:rPr lang="pt-BR" sz="2000" b="0" dirty="0">
                <a:latin typeface="+mn-lt"/>
                <a:cs typeface="Calibri"/>
              </a:rPr>
              <a:t>$s0 contiene a, $s1 contiene b</a:t>
            </a:r>
          </a:p>
          <a:p>
            <a:pPr marL="57150" algn="l" eaLnBrk="1" hangingPunct="1">
              <a:buClr>
                <a:schemeClr val="accent2"/>
              </a:buClr>
            </a:pPr>
            <a:r>
              <a:rPr lang="pt-BR" sz="2000" b="0" dirty="0">
                <a:latin typeface="+mn-lt"/>
                <a:cs typeface="Calibri"/>
              </a:rPr>
              <a:t>$s2 contiene c, $s3 contiene d</a:t>
            </a:r>
          </a:p>
        </p:txBody>
      </p:sp>
    </p:spTree>
    <p:extLst>
      <p:ext uri="{BB962C8B-B14F-4D97-AF65-F5344CB8AC3E}">
        <p14:creationId xmlns:p14="http://schemas.microsoft.com/office/powerpoint/2010/main" val="56961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3: Soluzione C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36512" y="1772816"/>
            <a:ext cx="9180512" cy="37240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dell’istruzione 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	</a:t>
            </a:r>
            <a:r>
              <a:rPr lang="en-US" sz="2800" b="0" dirty="0">
                <a:solidFill>
                  <a:srgbClr val="0000FF"/>
                </a:solidFill>
                <a:latin typeface="+mn-lt"/>
                <a:cs typeface="Calibri"/>
              </a:rPr>
              <a:t>if (a&lt;=b)  d = c*3; else d = c*4;</a:t>
            </a:r>
            <a:r>
              <a:rPr lang="en-US" sz="2800" b="0" dirty="0">
                <a:latin typeface="+mn-lt"/>
                <a:cs typeface="Calibri"/>
              </a:rPr>
              <a:t> </a:t>
            </a:r>
            <a:r>
              <a:rPr lang="it-IT" sz="2800" b="0" dirty="0">
                <a:latin typeface="+mn-lt"/>
                <a:cs typeface="Arial" charset="0"/>
              </a:rPr>
              <a:t>è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	    </a:t>
            </a:r>
            <a:r>
              <a:rPr lang="pt-BR" sz="2400" b="0" dirty="0">
                <a:solidFill>
                  <a:srgbClr val="FF0000"/>
                </a:solidFill>
                <a:latin typeface="+mn-lt"/>
                <a:cs typeface="Arial" charset="0"/>
              </a:rPr>
              <a:t>sll $s3, $s2, 2 </a:t>
            </a:r>
            <a:r>
              <a:rPr lang="pt-BR" sz="2400" b="0" dirty="0">
                <a:solidFill>
                  <a:srgbClr val="33CC33"/>
                </a:solidFill>
                <a:latin typeface="+mn-lt"/>
                <a:cs typeface="Arial" charset="0"/>
              </a:rPr>
              <a:t>#calcola d=c*4 (in qualunque caso)</a:t>
            </a:r>
            <a:endParaRPr lang="it-IT" sz="2400" b="0" dirty="0">
              <a:solidFill>
                <a:srgbClr val="33CC33"/>
              </a:solidFill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solidFill>
                  <a:srgbClr val="FF0000"/>
                </a:solidFill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slt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$t0, $s1, $s0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#setta $t0=1 se b &lt; a (cioè se a &gt; b)</a:t>
            </a:r>
            <a:endParaRPr lang="pt-BR" sz="2400" b="0" dirty="0">
              <a:solidFill>
                <a:srgbClr val="33CC33"/>
              </a:solidFill>
              <a:latin typeface="+mn-lt"/>
              <a:cs typeface="Arial" charset="0"/>
            </a:endParaRPr>
          </a:p>
          <a:p>
            <a:pPr marL="57150" indent="0"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beq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$t0, $zero, THEN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#salta a THEN se $t0=0 (a ≤ b)</a:t>
            </a:r>
          </a:p>
          <a:p>
            <a:pPr marL="57150" indent="0" algn="l" eaLnBrk="1" hangingPunct="1"/>
            <a:r>
              <a:rPr lang="pt-BR" sz="2400" b="0" dirty="0">
                <a:solidFill>
                  <a:srgbClr val="FF0000"/>
                </a:solidFill>
                <a:latin typeface="+mn-lt"/>
                <a:cs typeface="Arial" charset="0"/>
              </a:rPr>
              <a:t>	   j ESCI </a:t>
            </a:r>
            <a:r>
              <a:rPr lang="pt-BR" sz="2400" b="0" dirty="0">
                <a:solidFill>
                  <a:srgbClr val="33CC33"/>
                </a:solidFill>
                <a:latin typeface="+mn-lt"/>
                <a:cs typeface="Arial" charset="0"/>
              </a:rPr>
              <a:t>#vai a ESCI</a:t>
            </a:r>
          </a:p>
          <a:p>
            <a:pPr marL="57150" indent="0"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THEN:  </a:t>
            </a:r>
            <a:r>
              <a:rPr lang="pt-BR" sz="2400" b="0" dirty="0">
                <a:solidFill>
                  <a:srgbClr val="FF0000"/>
                </a:solidFill>
                <a:latin typeface="+mn-lt"/>
                <a:cs typeface="Arial" charset="0"/>
              </a:rPr>
              <a:t>sub $s3, $s3, $s2 </a:t>
            </a:r>
            <a:r>
              <a:rPr lang="pt-BR" sz="2400" b="0" dirty="0">
                <a:solidFill>
                  <a:srgbClr val="33CC33"/>
                </a:solidFill>
                <a:latin typeface="+mn-lt"/>
                <a:cs typeface="Arial" charset="0"/>
              </a:rPr>
              <a:t>#calcola d=d-c, cioè d=c*3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</a:t>
            </a:r>
            <a:endParaRPr lang="pt-BR" sz="2400" b="0" dirty="0">
              <a:solidFill>
                <a:srgbClr val="33CC33"/>
              </a:solidFill>
              <a:latin typeface="+mn-lt"/>
              <a:cs typeface="Arial" charset="0"/>
            </a:endParaRPr>
          </a:p>
          <a:p>
            <a:pPr marL="57150" indent="0" algn="l" eaLnBrk="1" hangingPunct="1"/>
            <a:r>
              <a:rPr lang="pt-BR" sz="2400" b="0" dirty="0">
                <a:solidFill>
                  <a:srgbClr val="FF0000"/>
                </a:solidFill>
                <a:latin typeface="+mn-lt"/>
                <a:cs typeface="Arial" charset="0"/>
              </a:rPr>
              <a:t>ESCI:   ...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#segna la fine della decisione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1691680" y="6093296"/>
            <a:ext cx="4032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algn="l" eaLnBrk="1" hangingPunct="1">
              <a:buClr>
                <a:schemeClr val="accent2"/>
              </a:buClr>
            </a:pPr>
            <a:r>
              <a:rPr lang="pt-BR" sz="2000" b="0" dirty="0">
                <a:latin typeface="+mn-lt"/>
                <a:cs typeface="Calibri"/>
              </a:rPr>
              <a:t>$s0 contiene a, $s1 contiene b</a:t>
            </a:r>
          </a:p>
          <a:p>
            <a:pPr marL="57150" algn="l" eaLnBrk="1" hangingPunct="1">
              <a:buClr>
                <a:schemeClr val="accent2"/>
              </a:buClr>
            </a:pPr>
            <a:r>
              <a:rPr lang="pt-BR" sz="2000" b="0" dirty="0">
                <a:latin typeface="+mn-lt"/>
                <a:cs typeface="Calibri"/>
              </a:rPr>
              <a:t>$s2 contiene c, $s3 contiene d</a:t>
            </a:r>
          </a:p>
        </p:txBody>
      </p:sp>
    </p:spTree>
    <p:extLst>
      <p:ext uri="{BB962C8B-B14F-4D97-AF65-F5344CB8AC3E}">
        <p14:creationId xmlns:p14="http://schemas.microsoft.com/office/powerpoint/2010/main" val="3682659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3: Soluzione D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496" y="1772816"/>
            <a:ext cx="9108504" cy="32932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dell’istruzione 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	</a:t>
            </a:r>
            <a:r>
              <a:rPr lang="en-US" sz="2800" b="0" dirty="0">
                <a:solidFill>
                  <a:srgbClr val="0000FF"/>
                </a:solidFill>
                <a:latin typeface="+mn-lt"/>
                <a:cs typeface="Calibri"/>
              </a:rPr>
              <a:t>if (a&lt;=b)  d = c*3; else d = c*4;</a:t>
            </a:r>
            <a:r>
              <a:rPr lang="en-US" sz="2800" b="0" dirty="0">
                <a:latin typeface="+mn-lt"/>
                <a:cs typeface="Calibri"/>
              </a:rPr>
              <a:t> </a:t>
            </a:r>
            <a:r>
              <a:rPr lang="it-IT" sz="2800" b="0" dirty="0">
                <a:latin typeface="+mn-lt"/>
                <a:cs typeface="Arial" charset="0"/>
              </a:rPr>
              <a:t>è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sll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$s3, $s2, 2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#calcola d=c*4 (in qualunque caso)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slt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$t0, $s1, $s0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#setta $t0=1 se b &lt; a  (cioè se a &gt; b)</a:t>
            </a:r>
          </a:p>
          <a:p>
            <a:pPr marL="57150" indent="0"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bne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$t0, $zero, ESCI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#salta a ESCI se $t0=1 (a &gt; b)</a:t>
            </a:r>
          </a:p>
          <a:p>
            <a:pPr marL="57150" indent="0"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  </a:t>
            </a:r>
            <a:r>
              <a:rPr lang="pt-BR" sz="2400" b="0" dirty="0">
                <a:solidFill>
                  <a:srgbClr val="FF0000"/>
                </a:solidFill>
                <a:latin typeface="+mn-lt"/>
                <a:cs typeface="Arial" charset="0"/>
              </a:rPr>
              <a:t>	   sub $s3, $s3, $s2 </a:t>
            </a:r>
            <a:r>
              <a:rPr lang="pt-BR" sz="2400" b="0" dirty="0">
                <a:solidFill>
                  <a:srgbClr val="33CC33"/>
                </a:solidFill>
                <a:latin typeface="+mn-lt"/>
                <a:cs typeface="Arial" charset="0"/>
              </a:rPr>
              <a:t>#calcola d=d-c, cioè d=c*3</a:t>
            </a:r>
          </a:p>
          <a:p>
            <a:pPr marL="57150" indent="0" algn="l" eaLnBrk="1" hangingPunct="1"/>
            <a:r>
              <a:rPr lang="pt-BR" sz="2400" b="0" dirty="0">
                <a:solidFill>
                  <a:srgbClr val="FF0000"/>
                </a:solidFill>
                <a:latin typeface="+mn-lt"/>
                <a:cs typeface="Arial" charset="0"/>
              </a:rPr>
              <a:t>ESCI:   ...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#segna la fine della decisione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1691680" y="6093296"/>
            <a:ext cx="4032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algn="l" eaLnBrk="1" hangingPunct="1">
              <a:buClr>
                <a:schemeClr val="accent2"/>
              </a:buClr>
            </a:pPr>
            <a:r>
              <a:rPr lang="pt-BR" sz="2000" b="0" dirty="0">
                <a:latin typeface="+mn-lt"/>
                <a:cs typeface="Calibri"/>
              </a:rPr>
              <a:t>$s0 contiene a, $s1 contiene b</a:t>
            </a:r>
          </a:p>
          <a:p>
            <a:pPr marL="57150" algn="l" eaLnBrk="1" hangingPunct="1">
              <a:buClr>
                <a:schemeClr val="accent2"/>
              </a:buClr>
            </a:pPr>
            <a:r>
              <a:rPr lang="pt-BR" sz="2000" b="0" dirty="0">
                <a:latin typeface="+mn-lt"/>
                <a:cs typeface="Calibri"/>
              </a:rPr>
              <a:t>$s2 contiene c, $s3 contiene d</a:t>
            </a:r>
          </a:p>
        </p:txBody>
      </p:sp>
    </p:spTree>
    <p:extLst>
      <p:ext uri="{BB962C8B-B14F-4D97-AF65-F5344CB8AC3E}">
        <p14:creationId xmlns:p14="http://schemas.microsoft.com/office/powerpoint/2010/main" val="3623119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4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2" y="1628800"/>
            <a:ext cx="8568952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Scrivere 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corrispondente alla seguente istruzione in C: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br>
              <a:rPr lang="it-IT" sz="2800" b="0" dirty="0">
                <a:latin typeface="+mn-lt"/>
                <a:cs typeface="Calibri"/>
              </a:rPr>
            </a:br>
            <a:r>
              <a:rPr lang="it-IT" sz="2800" b="0" dirty="0">
                <a:latin typeface="+mn-lt"/>
                <a:cs typeface="Calibri"/>
              </a:rPr>
              <a:t>			</a:t>
            </a:r>
            <a:r>
              <a:rPr lang="it-IT" sz="2800" b="0" dirty="0">
                <a:solidFill>
                  <a:srgbClr val="0000FF"/>
                </a:solidFill>
                <a:latin typeface="+mn-lt"/>
                <a:cs typeface="Arial" charset="0"/>
              </a:rPr>
              <a:t>i=1;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solidFill>
                  <a:srgbClr val="0000FF"/>
                </a:solidFill>
                <a:latin typeface="+mn-lt"/>
                <a:cs typeface="Arial" charset="0"/>
              </a:rPr>
              <a:t> 			j=V[7];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solidFill>
                  <a:srgbClr val="0000FF"/>
                </a:solidFill>
                <a:latin typeface="+mn-lt"/>
                <a:cs typeface="Arial" charset="0"/>
              </a:rPr>
              <a:t>			</a:t>
            </a:r>
            <a:r>
              <a:rPr lang="it-IT" sz="2800" b="0" dirty="0" err="1">
                <a:solidFill>
                  <a:srgbClr val="0000FF"/>
                </a:solidFill>
                <a:latin typeface="+mn-lt"/>
                <a:cs typeface="Arial" charset="0"/>
              </a:rPr>
              <a:t>while</a:t>
            </a:r>
            <a:r>
              <a:rPr lang="it-IT" sz="2800" b="0" dirty="0">
                <a:solidFill>
                  <a:srgbClr val="0000FF"/>
                </a:solidFill>
                <a:latin typeface="+mn-lt"/>
                <a:cs typeface="Arial" charset="0"/>
              </a:rPr>
              <a:t>  (i != j)  i=7*i;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endParaRPr lang="it-IT" sz="2800" b="0" dirty="0"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Si suppone che: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$s0 contiene i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$s1 contiene j 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$s2 contiene indirizzo base vettore V</a:t>
            </a:r>
          </a:p>
        </p:txBody>
      </p:sp>
    </p:spTree>
    <p:extLst>
      <p:ext uri="{BB962C8B-B14F-4D97-AF65-F5344CB8AC3E}">
        <p14:creationId xmlns:p14="http://schemas.microsoft.com/office/powerpoint/2010/main" val="3639262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4: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5016" y="1628800"/>
            <a:ext cx="858348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</a:t>
            </a:r>
            <a:r>
              <a:rPr lang="it-IT" sz="2800" b="0" dirty="0">
                <a:latin typeface="+mn-lt"/>
                <a:cs typeface="Arial" charset="0"/>
              </a:rPr>
              <a:t>è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addi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$s0, $zero, 1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#assegna ad i il valore 1 </a:t>
            </a:r>
          </a:p>
          <a:p>
            <a:pPr marL="57150" indent="0"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lw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$s1, 28($s2)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#carica in $s1 il contenuto di V[7]</a:t>
            </a:r>
          </a:p>
          <a:p>
            <a:pPr marL="57150" indent="0"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CICLO: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beq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$s0, $s1, ESCI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#salta ad ESCI se i==j</a:t>
            </a:r>
          </a:p>
          <a:p>
            <a:pPr marL="57150" indent="0"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sll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$t0, $s0, 3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#calcola $t0=i*8</a:t>
            </a:r>
          </a:p>
          <a:p>
            <a:pPr marL="57150" indent="0"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   </a:t>
            </a:r>
            <a:r>
              <a:rPr lang="pt-BR" sz="2400" b="0" dirty="0">
                <a:solidFill>
                  <a:srgbClr val="FF0000"/>
                </a:solidFill>
                <a:latin typeface="+mn-lt"/>
                <a:cs typeface="Arial" charset="0"/>
              </a:rPr>
              <a:t>sub $s0, $t0, $s0 </a:t>
            </a:r>
            <a:r>
              <a:rPr lang="pt-BR" sz="2400" b="0" dirty="0">
                <a:solidFill>
                  <a:srgbClr val="33CC33"/>
                </a:solidFill>
                <a:latin typeface="+mn-lt"/>
                <a:cs typeface="Arial" charset="0"/>
              </a:rPr>
              <a:t>#calcola i=$t0-i, cioè i=7*i</a:t>
            </a:r>
          </a:p>
          <a:p>
            <a:pPr marL="57150" indent="0" algn="l" eaLnBrk="1" hangingPunct="1"/>
            <a:r>
              <a:rPr lang="pt-BR" sz="2400" b="0" dirty="0">
                <a:solidFill>
                  <a:srgbClr val="FF0000"/>
                </a:solidFill>
                <a:latin typeface="+mn-lt"/>
                <a:cs typeface="Arial" charset="0"/>
              </a:rPr>
              <a:t>	   j CICLO </a:t>
            </a:r>
            <a:r>
              <a:rPr lang="pt-BR" sz="2400" b="0" dirty="0">
                <a:solidFill>
                  <a:srgbClr val="33CC33"/>
                </a:solidFill>
                <a:latin typeface="+mn-lt"/>
                <a:cs typeface="Arial" charset="0"/>
              </a:rPr>
              <a:t>#vai a CICLO</a:t>
            </a:r>
          </a:p>
          <a:p>
            <a:pPr marL="57150" indent="0" algn="l" eaLnBrk="1" hangingPunct="1"/>
            <a:r>
              <a:rPr lang="pt-BR" sz="2400" b="0" dirty="0">
                <a:solidFill>
                  <a:srgbClr val="FF0000"/>
                </a:solidFill>
                <a:latin typeface="+mn-lt"/>
                <a:cs typeface="Arial" charset="0"/>
              </a:rPr>
              <a:t>ESCI:   ...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#segna la fine del ciclo</a:t>
            </a:r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>
          <a:xfrm>
            <a:off x="1452137" y="5560821"/>
            <a:ext cx="2880320" cy="1231692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127000" lvl="1" indent="0">
              <a:buNone/>
              <a:tabLst>
                <a:tab pos="355600" algn="l"/>
              </a:tabLst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i=1;</a:t>
            </a:r>
          </a:p>
          <a:p>
            <a:pPr marL="127000" lvl="1" indent="0">
              <a:buNone/>
              <a:tabLst>
                <a:tab pos="355600" algn="l"/>
              </a:tabLst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	j=V[7];</a:t>
            </a:r>
          </a:p>
          <a:p>
            <a:pPr marL="127000" lvl="1" indent="0">
              <a:buNone/>
              <a:tabLst>
                <a:tab pos="355600" algn="l"/>
              </a:tabLst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while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 (i != j)  i=7*i;</a:t>
            </a: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 </a:t>
            </a:r>
            <a:endParaRPr lang="pl-PL" sz="2400" b="0" dirty="0">
              <a:solidFill>
                <a:srgbClr val="0000FF"/>
              </a:solidFill>
              <a:cs typeface="Arial" charset="0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4355976" y="5589240"/>
            <a:ext cx="44070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algn="l" eaLnBrk="1" hangingPunct="1">
              <a:buClr>
                <a:schemeClr val="accent2"/>
              </a:buClr>
            </a:pPr>
            <a:r>
              <a:rPr lang="it-IT" sz="2000" b="0" dirty="0">
                <a:latin typeface="+mn-lt"/>
                <a:cs typeface="Calibri"/>
              </a:rPr>
              <a:t>$s0  contiene i</a:t>
            </a:r>
          </a:p>
          <a:p>
            <a:pPr marL="57150" algn="l" eaLnBrk="1" hangingPunct="1">
              <a:buClr>
                <a:schemeClr val="accent2"/>
              </a:buClr>
            </a:pPr>
            <a:r>
              <a:rPr lang="it-IT" sz="2000" b="0" dirty="0">
                <a:latin typeface="+mn-lt"/>
                <a:cs typeface="Calibri"/>
              </a:rPr>
              <a:t>$s1  contiene j</a:t>
            </a:r>
          </a:p>
          <a:p>
            <a:pPr marL="57150" algn="l" eaLnBrk="1" hangingPunct="1">
              <a:buClr>
                <a:schemeClr val="accent2"/>
              </a:buClr>
            </a:pPr>
            <a:r>
              <a:rPr lang="it-IT" sz="2000" b="0" dirty="0">
                <a:latin typeface="+mn-lt"/>
                <a:cs typeface="Calibri"/>
              </a:rPr>
              <a:t>$s2  contiene indirizzo base di V</a:t>
            </a:r>
          </a:p>
        </p:txBody>
      </p:sp>
    </p:spTree>
    <p:extLst>
      <p:ext uri="{BB962C8B-B14F-4D97-AF65-F5344CB8AC3E}">
        <p14:creationId xmlns:p14="http://schemas.microsoft.com/office/powerpoint/2010/main" val="1633066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5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2" y="1628800"/>
            <a:ext cx="8568952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Scrivere 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corrispondente alla seguente istruzione in C: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br>
              <a:rPr lang="it-IT" sz="2800" b="0" dirty="0">
                <a:latin typeface="+mn-lt"/>
                <a:cs typeface="Calibri"/>
              </a:rPr>
            </a:br>
            <a:r>
              <a:rPr lang="nn-NO" sz="2800" b="0" dirty="0">
                <a:solidFill>
                  <a:srgbClr val="0000FF"/>
                </a:solidFill>
                <a:latin typeface="+mn-lt"/>
                <a:cs typeface="Calibri"/>
              </a:rPr>
              <a:t>	  for (i=0; i&lt;50; i++) {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nn-NO" sz="2800" b="0" dirty="0">
                <a:solidFill>
                  <a:srgbClr val="0000FF"/>
                </a:solidFill>
                <a:latin typeface="+mn-lt"/>
                <a:cs typeface="Calibri"/>
              </a:rPr>
              <a:t>		somma += V[i];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nn-NO" sz="2800" b="0" dirty="0">
                <a:solidFill>
                  <a:srgbClr val="0000FF"/>
                </a:solidFill>
                <a:latin typeface="+mn-lt"/>
                <a:cs typeface="Calibri"/>
              </a:rPr>
              <a:t>	  }	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endParaRPr lang="it-IT" sz="2800" b="0" dirty="0"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Si suppone che: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$s0 contiene i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$s1 contiene somma 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$s2 contiene indirizzo base vettore V</a:t>
            </a:r>
          </a:p>
        </p:txBody>
      </p:sp>
    </p:spTree>
    <p:extLst>
      <p:ext uri="{BB962C8B-B14F-4D97-AF65-F5344CB8AC3E}">
        <p14:creationId xmlns:p14="http://schemas.microsoft.com/office/powerpoint/2010/main" val="3741002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5: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700222"/>
            <a:ext cx="88715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</a:t>
            </a:r>
            <a:r>
              <a:rPr lang="it-IT" sz="2800" b="0" dirty="0">
                <a:latin typeface="+mn-lt"/>
                <a:cs typeface="Arial" charset="0"/>
              </a:rPr>
              <a:t>è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0" lvl="1" algn="l">
              <a:buClr>
                <a:schemeClr val="accent2"/>
              </a:buClr>
            </a:pPr>
            <a:r>
              <a:rPr lang="it-IT" sz="2800" b="0" dirty="0"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addi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$s0, $zero, 0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#assegna ad i il valore 0</a:t>
            </a:r>
          </a:p>
          <a:p>
            <a:pPr marL="0" lvl="1" algn="l">
              <a:buClr>
                <a:schemeClr val="accent2"/>
              </a:buClr>
              <a:tabLst>
                <a:tab pos="0" algn="l"/>
              </a:tabLst>
            </a:pP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CICLO: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lw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$t0, 0($s2)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#carica in $t0 il contenuto di V[i]</a:t>
            </a:r>
          </a:p>
          <a:p>
            <a:pPr marL="57150" indent="0"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add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$s1, $s1, $t0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#somma=</a:t>
            </a:r>
            <a:r>
              <a:rPr lang="it-IT" sz="2400" b="0" dirty="0" err="1">
                <a:solidFill>
                  <a:srgbClr val="33CC33"/>
                </a:solidFill>
                <a:latin typeface="+mn-lt"/>
                <a:cs typeface="Arial" charset="0"/>
              </a:rPr>
              <a:t>somma+V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[i]</a:t>
            </a:r>
            <a:endParaRPr lang="it-IT" sz="24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marL="57150" indent="0"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addi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$s2, $s2, 4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#indirizzo di V+4 (word successiva)</a:t>
            </a:r>
            <a:endParaRPr lang="it-IT" sz="24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marL="57150" indent="0"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addi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$s0, $s0, 1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#i=i+1</a:t>
            </a:r>
            <a:endParaRPr lang="it-IT" sz="24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slti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$t1, $s0, 50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#setta $t1=1 se $s0 &lt; 50  (se i&lt;50)</a:t>
            </a:r>
          </a:p>
          <a:p>
            <a:pPr algn="l" eaLnBrk="1" hangingPunct="1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	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bne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$t1, $zero, CICLO  </a:t>
            </a:r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#se $t1≠0 (cioè se i&lt;50)</a:t>
            </a:r>
          </a:p>
          <a:p>
            <a:pPr algn="l" eaLnBrk="1" hangingPunct="1"/>
            <a:r>
              <a:rPr lang="it-IT" sz="2400" b="0" dirty="0">
                <a:solidFill>
                  <a:srgbClr val="33CC33"/>
                </a:solidFill>
                <a:latin typeface="+mn-lt"/>
                <a:cs typeface="Arial" charset="0"/>
              </a:rPr>
              <a:t>					#salta a CICLO</a:t>
            </a:r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>
          <a:xfrm>
            <a:off x="1452137" y="5560821"/>
            <a:ext cx="2880320" cy="1231692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127000" lvl="1" indent="0">
              <a:buNone/>
              <a:tabLst>
                <a:tab pos="355600" algn="l"/>
              </a:tabLst>
            </a:pPr>
            <a:r>
              <a:rPr lang="nn-NO" sz="2000" b="0" dirty="0">
                <a:solidFill>
                  <a:srgbClr val="0000FF"/>
                </a:solidFill>
                <a:cs typeface="Calibri"/>
              </a:rPr>
              <a:t>for (i=0; i&lt;50; i++){</a:t>
            </a:r>
          </a:p>
          <a:p>
            <a:pPr marL="127000" lvl="1" indent="0">
              <a:buNone/>
              <a:tabLst>
                <a:tab pos="355600" algn="l"/>
              </a:tabLst>
            </a:pPr>
            <a:r>
              <a:rPr lang="nn-NO" sz="2000" b="0" dirty="0">
                <a:solidFill>
                  <a:srgbClr val="0000FF"/>
                </a:solidFill>
                <a:cs typeface="Calibri"/>
              </a:rPr>
              <a:t>	   somma += V[i];</a:t>
            </a:r>
          </a:p>
          <a:p>
            <a:pPr marL="127000" lvl="1" indent="0">
              <a:buNone/>
              <a:tabLst>
                <a:tab pos="355600" algn="l"/>
              </a:tabLst>
            </a:pPr>
            <a:r>
              <a:rPr lang="nn-NO" sz="2000" b="0" dirty="0">
                <a:solidFill>
                  <a:srgbClr val="0000FF"/>
                </a:solidFill>
                <a:cs typeface="Calibri"/>
              </a:rPr>
              <a:t>}		</a:t>
            </a: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 </a:t>
            </a:r>
            <a:endParaRPr lang="pl-PL" sz="2400" b="0" dirty="0">
              <a:solidFill>
                <a:srgbClr val="0000FF"/>
              </a:solidFill>
              <a:cs typeface="Arial" charset="0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4355976" y="5589240"/>
            <a:ext cx="44070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algn="l" eaLnBrk="1" hangingPunct="1">
              <a:buClr>
                <a:schemeClr val="accent2"/>
              </a:buClr>
            </a:pPr>
            <a:r>
              <a:rPr lang="it-IT" sz="2000" b="0" dirty="0">
                <a:latin typeface="+mn-lt"/>
                <a:cs typeface="Calibri"/>
              </a:rPr>
              <a:t>$s0  contiene i</a:t>
            </a:r>
          </a:p>
          <a:p>
            <a:pPr marL="57150" algn="l" eaLnBrk="1" hangingPunct="1">
              <a:buClr>
                <a:schemeClr val="accent2"/>
              </a:buClr>
            </a:pPr>
            <a:r>
              <a:rPr lang="it-IT" sz="2000" b="0" dirty="0">
                <a:latin typeface="+mn-lt"/>
                <a:cs typeface="Calibri"/>
              </a:rPr>
              <a:t>$s1  contiene somma</a:t>
            </a:r>
          </a:p>
          <a:p>
            <a:pPr marL="57150" algn="l" eaLnBrk="1" hangingPunct="1">
              <a:buClr>
                <a:schemeClr val="accent2"/>
              </a:buClr>
            </a:pPr>
            <a:r>
              <a:rPr lang="it-IT" sz="2000" b="0" dirty="0">
                <a:latin typeface="+mn-lt"/>
                <a:cs typeface="Calibri"/>
              </a:rPr>
              <a:t>$s2  contiene indirizzo base di V</a:t>
            </a:r>
          </a:p>
        </p:txBody>
      </p:sp>
    </p:spTree>
    <p:extLst>
      <p:ext uri="{BB962C8B-B14F-4D97-AF65-F5344CB8AC3E}">
        <p14:creationId xmlns:p14="http://schemas.microsoft.com/office/powerpoint/2010/main" val="364204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6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671191"/>
            <a:ext cx="8784976" cy="3724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consideri il seguente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frammento</a:t>
            </a:r>
            <a:r>
              <a:rPr lang="it-IT" sz="2400" b="0" dirty="0">
                <a:latin typeface="+mn-lt"/>
                <a:cs typeface="Calibri"/>
              </a:rPr>
              <a:t> in assembly MIPS</a:t>
            </a:r>
          </a:p>
          <a:p>
            <a:pPr marL="971550" lvl="1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en-US" sz="2000" b="0" dirty="0">
              <a:latin typeface="+mn-lt"/>
              <a:cs typeface="Calibri"/>
            </a:endParaRPr>
          </a:p>
          <a:p>
            <a:pPr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	</a:t>
            </a:r>
            <a:r>
              <a:rPr kumimoji="1" lang="en-US" sz="2000" b="0" dirty="0" err="1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slt</a:t>
            </a:r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 $t0, $s0, $s1</a:t>
            </a:r>
          </a:p>
          <a:p>
            <a:pPr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	</a:t>
            </a:r>
            <a:r>
              <a:rPr kumimoji="1" lang="en-US" sz="2000" b="0" dirty="0" err="1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bne</a:t>
            </a:r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 $t0, $s1, LABEL</a:t>
            </a:r>
          </a:p>
          <a:p>
            <a:pPr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	</a:t>
            </a:r>
            <a:r>
              <a:rPr kumimoji="1" lang="nb-NO" sz="2000" b="0" dirty="0" err="1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add</a:t>
            </a:r>
            <a:r>
              <a:rPr kumimoji="1" lang="nb-NO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 $s0, $s0, $s1</a:t>
            </a:r>
          </a:p>
          <a:p>
            <a:pPr algn="l"/>
            <a:r>
              <a:rPr kumimoji="1" lang="nb-NO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</a:t>
            </a:r>
            <a:r>
              <a:rPr kumimoji="1" lang="sv-SE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LABEL: </a:t>
            </a:r>
            <a:r>
              <a:rPr kumimoji="1" lang="sv-SE" sz="2000" b="0" dirty="0" err="1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sll</a:t>
            </a:r>
            <a:r>
              <a:rPr kumimoji="1" lang="sv-SE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 $s0, $s0, 1</a:t>
            </a:r>
            <a:endParaRPr kumimoji="1" lang="en-US" sz="2000" b="0" dirty="0">
              <a:solidFill>
                <a:srgbClr val="0000FF"/>
              </a:solidFill>
              <a:latin typeface="+mn-lt"/>
              <a:ea typeface="ＭＳ Ｐゴシック" pitchFamily="-108" charset="-128"/>
              <a:cs typeface="Arial" charset="0"/>
            </a:endParaRPr>
          </a:p>
          <a:p>
            <a:pPr algn="l"/>
            <a:r>
              <a:rPr lang="it-IT" sz="2400" b="0" dirty="0">
                <a:latin typeface="+mn-lt"/>
                <a:cs typeface="Calibri"/>
              </a:rPr>
              <a:t>	</a:t>
            </a:r>
          </a:p>
          <a:p>
            <a:pPr marL="342900" lvl="1" indent="-342900" algn="l">
              <a:buClr>
                <a:schemeClr val="accent2"/>
              </a:buClr>
              <a:buFont typeface="Wingdings" charset="2"/>
              <a:buChar char="Ø"/>
            </a:pPr>
            <a:r>
              <a:rPr lang="en-US" sz="2400" b="0" dirty="0">
                <a:latin typeface="+mn-lt"/>
                <a:cs typeface="Calibri"/>
              </a:rPr>
              <a:t>Si </a:t>
            </a:r>
            <a:r>
              <a:rPr lang="en-US" sz="2400" b="0" dirty="0" err="1">
                <a:latin typeface="+mn-lt"/>
                <a:cs typeface="Calibri"/>
              </a:rPr>
              <a:t>supponga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che</a:t>
            </a:r>
            <a:r>
              <a:rPr lang="en-US" sz="2400" b="0" dirty="0">
                <a:latin typeface="+mn-lt"/>
                <a:cs typeface="Calibri"/>
              </a:rPr>
              <a:t> $s0 </a:t>
            </a:r>
            <a:r>
              <a:rPr lang="en-US" sz="2400" b="0" dirty="0" err="1">
                <a:latin typeface="+mn-lt"/>
                <a:cs typeface="Calibri"/>
              </a:rPr>
              <a:t>contenga</a:t>
            </a:r>
            <a:r>
              <a:rPr lang="en-US" sz="2400" b="0" dirty="0">
                <a:latin typeface="+mn-lt"/>
                <a:cs typeface="Calibri"/>
              </a:rPr>
              <a:t> 1 </a:t>
            </a:r>
            <a:r>
              <a:rPr lang="en-US" sz="2400" b="0" dirty="0" err="1">
                <a:latin typeface="+mn-lt"/>
                <a:cs typeface="Calibri"/>
              </a:rPr>
              <a:t>ed</a:t>
            </a:r>
            <a:r>
              <a:rPr lang="en-US" sz="2400" b="0" dirty="0">
                <a:latin typeface="+mn-lt"/>
                <a:cs typeface="Calibri"/>
              </a:rPr>
              <a:t> $s1 </a:t>
            </a:r>
            <a:r>
              <a:rPr lang="en-US" sz="2400" b="0" dirty="0" err="1">
                <a:latin typeface="+mn-lt"/>
                <a:cs typeface="Calibri"/>
              </a:rPr>
              <a:t>contenga</a:t>
            </a:r>
            <a:r>
              <a:rPr lang="en-US" sz="2400" b="0" dirty="0">
                <a:latin typeface="+mn-lt"/>
                <a:cs typeface="Calibri"/>
              </a:rPr>
              <a:t> 20</a:t>
            </a:r>
          </a:p>
          <a:p>
            <a:pPr marL="342900" lvl="1" indent="-342900" algn="l">
              <a:buClr>
                <a:schemeClr val="accent2"/>
              </a:buClr>
              <a:buFont typeface="Wingdings" charset="2"/>
              <a:buChar char="Ø"/>
            </a:pPr>
            <a:r>
              <a:rPr lang="en-US" sz="2400" b="0" dirty="0" err="1">
                <a:latin typeface="+mn-lt"/>
                <a:cs typeface="Calibri"/>
              </a:rPr>
              <a:t>Quali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sarà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il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solidFill>
                  <a:srgbClr val="FF3300"/>
                </a:solidFill>
                <a:latin typeface="+mn-lt"/>
                <a:cs typeface="Calibri"/>
              </a:rPr>
              <a:t>contenuto</a:t>
            </a:r>
            <a:r>
              <a:rPr lang="en-US" sz="2400" b="0" dirty="0">
                <a:solidFill>
                  <a:srgbClr val="FF3300"/>
                </a:solidFill>
                <a:latin typeface="+mn-lt"/>
                <a:cs typeface="Calibri"/>
              </a:rPr>
              <a:t> </a:t>
            </a:r>
            <a:r>
              <a:rPr lang="en-US" sz="2400" b="0" dirty="0">
                <a:latin typeface="+mn-lt"/>
                <a:cs typeface="Calibri"/>
              </a:rPr>
              <a:t>di $s0 al </a:t>
            </a:r>
            <a:r>
              <a:rPr lang="en-US" sz="2400" b="0" dirty="0" err="1">
                <a:latin typeface="+mn-lt"/>
                <a:cs typeface="Calibri"/>
              </a:rPr>
              <a:t>termine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della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sequenza</a:t>
            </a:r>
            <a:r>
              <a:rPr lang="en-US" sz="2400" b="0" dirty="0">
                <a:latin typeface="+mn-lt"/>
                <a:cs typeface="Calibri"/>
              </a:rPr>
              <a:t>?</a:t>
            </a:r>
            <a:endParaRPr lang="it-IT" sz="2400" b="0" dirty="0">
              <a:latin typeface="+mn-lt"/>
              <a:cs typeface="Calibri"/>
            </a:endParaRPr>
          </a:p>
          <a:p>
            <a:pPr algn="l"/>
            <a:r>
              <a:rPr lang="it-IT" sz="2000" b="0" dirty="0">
                <a:latin typeface="+mn-lt"/>
                <a:cs typeface="Calibri"/>
              </a:rPr>
              <a:t>	A. 21	 		C. 42</a:t>
            </a:r>
          </a:p>
          <a:p>
            <a:pPr algn="l"/>
            <a:r>
              <a:rPr lang="it-IT" sz="2000" b="0" dirty="0">
                <a:latin typeface="+mn-lt"/>
                <a:cs typeface="Calibri"/>
              </a:rPr>
              <a:t>	B. 2 			D. Nessuna delle risposte precedenti.</a:t>
            </a:r>
          </a:p>
        </p:txBody>
      </p:sp>
    </p:spTree>
    <p:extLst>
      <p:ext uri="{BB962C8B-B14F-4D97-AF65-F5344CB8AC3E}">
        <p14:creationId xmlns:p14="http://schemas.microsoft.com/office/powerpoint/2010/main" val="983027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6: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671191"/>
            <a:ext cx="878497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consideri il seguente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frammento</a:t>
            </a:r>
            <a:r>
              <a:rPr lang="it-IT" sz="2400" b="0" dirty="0">
                <a:latin typeface="+mn-lt"/>
                <a:cs typeface="Calibri"/>
              </a:rPr>
              <a:t> in assembly MIPS</a:t>
            </a:r>
          </a:p>
          <a:p>
            <a:pPr marL="971550" lvl="1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en-US" sz="2000" b="0" dirty="0">
              <a:latin typeface="+mn-lt"/>
              <a:cs typeface="Calibri"/>
            </a:endParaRPr>
          </a:p>
          <a:p>
            <a:pPr marL="0" lvl="2"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	</a:t>
            </a:r>
            <a:r>
              <a:rPr kumimoji="1" lang="en-US" sz="2000" b="0" dirty="0" err="1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slt</a:t>
            </a:r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 $t0, $s0, $s1</a:t>
            </a:r>
            <a:r>
              <a:rPr lang="it-IT" sz="2000" b="0" dirty="0">
                <a:solidFill>
                  <a:srgbClr val="33CC33"/>
                </a:solidFill>
                <a:latin typeface="+mn-lt"/>
                <a:cs typeface="Arial" charset="0"/>
              </a:rPr>
              <a:t>#$t0=1 perché 1 &lt; 20</a:t>
            </a:r>
            <a:endParaRPr kumimoji="1" lang="en-US" sz="2000" b="0" dirty="0">
              <a:solidFill>
                <a:srgbClr val="0000FF"/>
              </a:solidFill>
              <a:latin typeface="+mn-lt"/>
              <a:ea typeface="ＭＳ Ｐゴシック" pitchFamily="-108" charset="-128"/>
              <a:cs typeface="Arial" charset="0"/>
            </a:endParaRPr>
          </a:p>
          <a:p>
            <a:pPr marL="0" lvl="2"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	</a:t>
            </a:r>
            <a:r>
              <a:rPr kumimoji="1" lang="en-US" sz="2000" b="0" dirty="0" err="1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bne</a:t>
            </a:r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 $t0, $s1, LABEL</a:t>
            </a:r>
            <a:r>
              <a:rPr lang="it-IT" sz="2000" b="0" dirty="0">
                <a:solidFill>
                  <a:srgbClr val="33CC33"/>
                </a:solidFill>
                <a:latin typeface="+mn-lt"/>
                <a:cs typeface="Arial" charset="0"/>
              </a:rPr>
              <a:t>#esegue il salto perché 1 ≠ 20</a:t>
            </a:r>
            <a:endParaRPr kumimoji="1" lang="en-US" sz="2000" b="0" dirty="0">
              <a:solidFill>
                <a:srgbClr val="0000FF"/>
              </a:solidFill>
              <a:latin typeface="+mn-lt"/>
              <a:ea typeface="ＭＳ Ｐゴシック" pitchFamily="-108" charset="-128"/>
              <a:cs typeface="Arial" charset="0"/>
            </a:endParaRPr>
          </a:p>
          <a:p>
            <a:pPr marL="0" lvl="2"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	</a:t>
            </a:r>
            <a:r>
              <a:rPr kumimoji="1" lang="nb-NO" sz="2000" b="0" dirty="0" err="1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add</a:t>
            </a:r>
            <a:r>
              <a:rPr kumimoji="1" lang="nb-NO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 $s0, $s0, $s1</a:t>
            </a:r>
            <a:r>
              <a:rPr lang="it-IT" sz="2000" b="0" dirty="0">
                <a:solidFill>
                  <a:srgbClr val="33CC33"/>
                </a:solidFill>
                <a:latin typeface="+mn-lt"/>
                <a:cs typeface="Arial" charset="0"/>
              </a:rPr>
              <a:t>#non eseguita</a:t>
            </a:r>
            <a:endParaRPr kumimoji="1" lang="nb-NO" sz="2000" b="0" dirty="0">
              <a:solidFill>
                <a:srgbClr val="0000FF"/>
              </a:solidFill>
              <a:latin typeface="+mn-lt"/>
              <a:ea typeface="ＭＳ Ｐゴシック" pitchFamily="-108" charset="-128"/>
              <a:cs typeface="Arial" charset="0"/>
            </a:endParaRPr>
          </a:p>
          <a:p>
            <a:pPr marL="0" lvl="2" algn="l"/>
            <a:r>
              <a:rPr kumimoji="1" lang="nb-NO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</a:t>
            </a:r>
            <a:r>
              <a:rPr kumimoji="1" lang="sv-SE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LABEL: </a:t>
            </a:r>
            <a:r>
              <a:rPr kumimoji="1" lang="sv-SE" sz="2000" b="0" dirty="0" err="1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sll</a:t>
            </a:r>
            <a:r>
              <a:rPr kumimoji="1" lang="sv-SE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 $s0, $s0, 1</a:t>
            </a:r>
            <a:r>
              <a:rPr lang="it-IT" sz="2000" b="0" dirty="0">
                <a:solidFill>
                  <a:srgbClr val="33CC33"/>
                </a:solidFill>
                <a:latin typeface="+mn-lt"/>
                <a:cs typeface="Arial" charset="0"/>
              </a:rPr>
              <a:t>#$s0 viene shiftato a </a:t>
            </a:r>
            <a:r>
              <a:rPr lang="it-IT" sz="2000" b="0" dirty="0" err="1">
                <a:solidFill>
                  <a:srgbClr val="33CC33"/>
                </a:solidFill>
                <a:latin typeface="+mn-lt"/>
                <a:cs typeface="Arial" charset="0"/>
              </a:rPr>
              <a:t>sx</a:t>
            </a:r>
            <a:r>
              <a:rPr lang="it-IT" sz="2000" b="0" dirty="0">
                <a:solidFill>
                  <a:srgbClr val="33CC33"/>
                </a:solidFill>
                <a:latin typeface="+mn-lt"/>
                <a:cs typeface="Arial" charset="0"/>
              </a:rPr>
              <a:t> di un posto</a:t>
            </a:r>
          </a:p>
          <a:p>
            <a:pPr algn="l"/>
            <a:endParaRPr kumimoji="1" lang="en-US" sz="2000" b="0" dirty="0">
              <a:solidFill>
                <a:srgbClr val="0000FF"/>
              </a:solidFill>
              <a:latin typeface="+mn-lt"/>
              <a:ea typeface="ＭＳ Ｐゴシック" pitchFamily="-108" charset="-128"/>
              <a:cs typeface="Arial" charset="0"/>
            </a:endParaRPr>
          </a:p>
          <a:p>
            <a:pPr algn="l"/>
            <a:r>
              <a:rPr lang="it-IT" sz="2400" b="0" dirty="0">
                <a:latin typeface="+mn-lt"/>
                <a:cs typeface="Calibri"/>
              </a:rPr>
              <a:t>	</a:t>
            </a:r>
          </a:p>
          <a:p>
            <a:pPr marL="342900" lvl="1" indent="-342900" algn="l">
              <a:buClr>
                <a:schemeClr val="accent2"/>
              </a:buClr>
              <a:buFont typeface="Wingdings" charset="2"/>
              <a:buChar char="Ø"/>
            </a:pPr>
            <a:r>
              <a:rPr lang="en-US" sz="2400" b="0" dirty="0">
                <a:latin typeface="+mn-lt"/>
                <a:cs typeface="Calibri"/>
              </a:rPr>
              <a:t>Si </a:t>
            </a:r>
            <a:r>
              <a:rPr lang="en-US" sz="2400" b="0" dirty="0" err="1">
                <a:latin typeface="+mn-lt"/>
                <a:cs typeface="Calibri"/>
              </a:rPr>
              <a:t>supponga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che</a:t>
            </a:r>
            <a:r>
              <a:rPr lang="en-US" sz="2400" b="0" dirty="0">
                <a:latin typeface="+mn-lt"/>
                <a:cs typeface="Calibri"/>
              </a:rPr>
              <a:t> $s0 </a:t>
            </a:r>
            <a:r>
              <a:rPr lang="en-US" sz="2400" b="0" dirty="0" err="1">
                <a:latin typeface="+mn-lt"/>
                <a:cs typeface="Calibri"/>
              </a:rPr>
              <a:t>contenga</a:t>
            </a:r>
            <a:r>
              <a:rPr lang="en-US" sz="2400" b="0" dirty="0">
                <a:latin typeface="+mn-lt"/>
                <a:cs typeface="Calibri"/>
              </a:rPr>
              <a:t> 1 </a:t>
            </a:r>
            <a:r>
              <a:rPr lang="en-US" sz="2400" b="0" dirty="0" err="1">
                <a:latin typeface="+mn-lt"/>
                <a:cs typeface="Calibri"/>
              </a:rPr>
              <a:t>ed</a:t>
            </a:r>
            <a:r>
              <a:rPr lang="en-US" sz="2400" b="0" dirty="0">
                <a:latin typeface="+mn-lt"/>
                <a:cs typeface="Calibri"/>
              </a:rPr>
              <a:t> $s1 </a:t>
            </a:r>
            <a:r>
              <a:rPr lang="en-US" sz="2400" b="0" dirty="0" err="1">
                <a:latin typeface="+mn-lt"/>
                <a:cs typeface="Calibri"/>
              </a:rPr>
              <a:t>contenga</a:t>
            </a:r>
            <a:r>
              <a:rPr lang="en-US" sz="2400" b="0" dirty="0">
                <a:latin typeface="+mn-lt"/>
                <a:cs typeface="Calibri"/>
              </a:rPr>
              <a:t> 20</a:t>
            </a:r>
          </a:p>
          <a:p>
            <a:pPr marL="342900" lvl="1" indent="-342900" algn="l">
              <a:buClr>
                <a:schemeClr val="accent2"/>
              </a:buClr>
              <a:buFont typeface="Wingdings" charset="2"/>
              <a:buChar char="Ø"/>
            </a:pPr>
            <a:r>
              <a:rPr lang="en-US" sz="2400" b="0" dirty="0">
                <a:latin typeface="+mn-lt"/>
                <a:cs typeface="Calibri"/>
              </a:rPr>
              <a:t>Al </a:t>
            </a:r>
            <a:r>
              <a:rPr lang="en-US" sz="2400" b="0" dirty="0" err="1">
                <a:latin typeface="+mn-lt"/>
                <a:cs typeface="Calibri"/>
              </a:rPr>
              <a:t>termine</a:t>
            </a:r>
            <a:r>
              <a:rPr lang="en-US" sz="2400" b="0" dirty="0">
                <a:latin typeface="+mn-lt"/>
                <a:cs typeface="Calibri"/>
              </a:rPr>
              <a:t> del </a:t>
            </a:r>
            <a:r>
              <a:rPr lang="en-US" sz="2400" b="0" dirty="0" err="1">
                <a:latin typeface="+mn-lt"/>
                <a:cs typeface="Calibri"/>
              </a:rPr>
              <a:t>frammento</a:t>
            </a:r>
            <a:r>
              <a:rPr lang="en-US" sz="2400" b="0" dirty="0">
                <a:latin typeface="+mn-lt"/>
                <a:cs typeface="Calibri"/>
              </a:rPr>
              <a:t> di </a:t>
            </a:r>
            <a:r>
              <a:rPr lang="en-US" sz="2400" b="0" dirty="0" err="1">
                <a:latin typeface="+mn-lt"/>
                <a:cs typeface="Calibri"/>
              </a:rPr>
              <a:t>codice</a:t>
            </a:r>
            <a:r>
              <a:rPr lang="en-US" sz="2400" b="0" dirty="0">
                <a:latin typeface="+mn-lt"/>
                <a:cs typeface="Calibri"/>
              </a:rPr>
              <a:t>, $s0 </a:t>
            </a:r>
            <a:r>
              <a:rPr lang="en-US" sz="2400" b="0" dirty="0" err="1">
                <a:latin typeface="+mn-lt"/>
                <a:cs typeface="Calibri"/>
              </a:rPr>
              <a:t>contiene</a:t>
            </a:r>
            <a:r>
              <a:rPr lang="en-US" sz="2400" b="0" dirty="0">
                <a:latin typeface="+mn-lt"/>
                <a:cs typeface="Calibri"/>
              </a:rPr>
              <a:t> 2</a:t>
            </a:r>
          </a:p>
          <a:p>
            <a:pPr marL="342900" lvl="1" indent="-342900" algn="l">
              <a:buClr>
                <a:schemeClr val="accent2"/>
              </a:buClr>
              <a:buFont typeface="Wingdings" charset="2"/>
              <a:buChar char="Ø"/>
            </a:pPr>
            <a:r>
              <a:rPr lang="en-US" sz="2400" b="0" dirty="0">
                <a:latin typeface="+mn-lt"/>
                <a:cs typeface="Calibri"/>
              </a:rPr>
              <a:t>La </a:t>
            </a:r>
            <a:r>
              <a:rPr lang="en-US" sz="2400" b="0" dirty="0" err="1">
                <a:latin typeface="+mn-lt"/>
                <a:cs typeface="Calibri"/>
              </a:rPr>
              <a:t>risposta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esatta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è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>
                <a:solidFill>
                  <a:srgbClr val="FF3300"/>
                </a:solidFill>
                <a:latin typeface="+mn-lt"/>
                <a:cs typeface="Calibri"/>
              </a:rPr>
              <a:t>B</a:t>
            </a:r>
            <a:endParaRPr lang="en-US" sz="2400" b="0" dirty="0">
              <a:latin typeface="+mn-lt"/>
              <a:cs typeface="Calibri"/>
            </a:endParaRPr>
          </a:p>
          <a:p>
            <a:pPr algn="l"/>
            <a:r>
              <a:rPr lang="it-IT" sz="2000" b="0" dirty="0">
                <a:latin typeface="+mn-lt"/>
                <a:cs typeface="Calibri"/>
              </a:rPr>
              <a:t>	A. 21	 		C. 42</a:t>
            </a:r>
          </a:p>
          <a:p>
            <a:pPr algn="l"/>
            <a:r>
              <a:rPr lang="it-IT" sz="2000" b="0" dirty="0">
                <a:latin typeface="+mn-lt"/>
                <a:cs typeface="Calibri"/>
              </a:rPr>
              <a:t>	B. 2 			D. Nessuna delle risposte precedenti.</a:t>
            </a:r>
          </a:p>
        </p:txBody>
      </p:sp>
    </p:spTree>
    <p:extLst>
      <p:ext uri="{BB962C8B-B14F-4D97-AF65-F5344CB8AC3E}">
        <p14:creationId xmlns:p14="http://schemas.microsoft.com/office/powerpoint/2010/main" val="4013292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7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671191"/>
            <a:ext cx="878497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consideri il seguente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ciclo</a:t>
            </a:r>
            <a:r>
              <a:rPr lang="it-IT" sz="2400" b="0" dirty="0">
                <a:latin typeface="+mn-lt"/>
                <a:cs typeface="Calibri"/>
              </a:rPr>
              <a:t> in assembly MIPS</a:t>
            </a:r>
          </a:p>
          <a:p>
            <a:pPr marL="971550" lvl="1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en-US" sz="2000" b="0" dirty="0">
              <a:latin typeface="+mn-lt"/>
              <a:cs typeface="Calibri"/>
            </a:endParaRPr>
          </a:p>
          <a:p>
            <a:pPr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	LOOP:  </a:t>
            </a:r>
            <a:r>
              <a:rPr kumimoji="1" lang="en-US" sz="2000" b="0" dirty="0" err="1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beq</a:t>
            </a:r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 $s0, $s1, EXIT</a:t>
            </a:r>
          </a:p>
          <a:p>
            <a:pPr algn="l"/>
            <a:r>
              <a:rPr kumimoji="1" lang="is-I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		addi $s0, $s0, 1</a:t>
            </a:r>
          </a:p>
          <a:p>
            <a:pPr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		j LOOP</a:t>
            </a:r>
          </a:p>
          <a:p>
            <a:pPr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	EXIT:…</a:t>
            </a:r>
          </a:p>
          <a:p>
            <a:pPr algn="l"/>
            <a:r>
              <a:rPr lang="it-IT" sz="2400" b="0" dirty="0">
                <a:latin typeface="+mn-lt"/>
                <a:cs typeface="Calibri"/>
              </a:rPr>
              <a:t>	</a:t>
            </a:r>
          </a:p>
          <a:p>
            <a:pPr marL="342900" lvl="1" indent="-342900" algn="l">
              <a:buClr>
                <a:schemeClr val="accent2"/>
              </a:buClr>
              <a:buFont typeface="Wingdings" charset="2"/>
              <a:buChar char="Ø"/>
            </a:pPr>
            <a:r>
              <a:rPr lang="en-US" sz="2400" b="0" dirty="0">
                <a:latin typeface="+mn-lt"/>
                <a:cs typeface="Calibri"/>
              </a:rPr>
              <a:t>Si </a:t>
            </a:r>
            <a:r>
              <a:rPr lang="en-US" sz="2400" b="0" dirty="0" err="1">
                <a:latin typeface="+mn-lt"/>
                <a:cs typeface="Calibri"/>
              </a:rPr>
              <a:t>supponga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che</a:t>
            </a:r>
            <a:r>
              <a:rPr lang="en-US" sz="2400" b="0" dirty="0">
                <a:latin typeface="+mn-lt"/>
                <a:cs typeface="Calibri"/>
              </a:rPr>
              <a:t> $s0 </a:t>
            </a:r>
            <a:r>
              <a:rPr lang="en-US" sz="2400" b="0" dirty="0" err="1">
                <a:latin typeface="+mn-lt"/>
                <a:cs typeface="Calibri"/>
              </a:rPr>
              <a:t>contenga</a:t>
            </a:r>
            <a:r>
              <a:rPr lang="en-US" sz="2400" b="0" dirty="0">
                <a:latin typeface="+mn-lt"/>
                <a:cs typeface="Calibri"/>
              </a:rPr>
              <a:t> 2 </a:t>
            </a:r>
            <a:r>
              <a:rPr lang="en-US" sz="2400" b="0" dirty="0" err="1">
                <a:latin typeface="+mn-lt"/>
                <a:cs typeface="Calibri"/>
              </a:rPr>
              <a:t>ed</a:t>
            </a:r>
            <a:r>
              <a:rPr lang="en-US" sz="2400" b="0" dirty="0">
                <a:latin typeface="+mn-lt"/>
                <a:cs typeface="Calibri"/>
              </a:rPr>
              <a:t> $s1 </a:t>
            </a:r>
            <a:r>
              <a:rPr lang="en-US" sz="2400" b="0" dirty="0" err="1">
                <a:latin typeface="+mn-lt"/>
                <a:cs typeface="Calibri"/>
              </a:rPr>
              <a:t>contenga</a:t>
            </a:r>
            <a:r>
              <a:rPr lang="en-US" sz="2400" b="0" dirty="0">
                <a:latin typeface="+mn-lt"/>
                <a:cs typeface="Calibri"/>
              </a:rPr>
              <a:t> 6</a:t>
            </a:r>
          </a:p>
          <a:p>
            <a:pPr marL="342900" lvl="1" indent="-342900" algn="l">
              <a:buClr>
                <a:schemeClr val="accent2"/>
              </a:buClr>
              <a:buFont typeface="Wingdings" charset="2"/>
              <a:buChar char="Ø"/>
            </a:pPr>
            <a:r>
              <a:rPr lang="en-US" sz="2400" b="0" dirty="0" err="1">
                <a:latin typeface="+mn-lt"/>
                <a:cs typeface="Calibri"/>
              </a:rPr>
              <a:t>Quali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saranno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i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solidFill>
                  <a:srgbClr val="FF3300"/>
                </a:solidFill>
                <a:latin typeface="+mn-lt"/>
                <a:cs typeface="Calibri"/>
              </a:rPr>
              <a:t>contenuti</a:t>
            </a:r>
            <a:r>
              <a:rPr lang="en-US" sz="2400" b="0" dirty="0">
                <a:solidFill>
                  <a:srgbClr val="FF3300"/>
                </a:solidFill>
                <a:latin typeface="+mn-lt"/>
                <a:cs typeface="Calibri"/>
              </a:rPr>
              <a:t> </a:t>
            </a:r>
            <a:r>
              <a:rPr lang="en-US" sz="2400" b="0" dirty="0" err="1">
                <a:solidFill>
                  <a:srgbClr val="FF3300"/>
                </a:solidFill>
                <a:latin typeface="+mn-lt"/>
                <a:cs typeface="Calibri"/>
              </a:rPr>
              <a:t>finali</a:t>
            </a:r>
            <a:r>
              <a:rPr lang="en-US" sz="2400" b="0" dirty="0">
                <a:solidFill>
                  <a:srgbClr val="FF3300"/>
                </a:solidFill>
                <a:latin typeface="+mn-lt"/>
                <a:cs typeface="Calibri"/>
              </a:rPr>
              <a:t> </a:t>
            </a:r>
            <a:r>
              <a:rPr lang="en-US" sz="2400" b="0" dirty="0">
                <a:latin typeface="+mn-lt"/>
                <a:cs typeface="Calibri"/>
              </a:rPr>
              <a:t>di $s0 e di $s1 al </a:t>
            </a:r>
            <a:br>
              <a:rPr lang="en-US" sz="2400" b="0" dirty="0">
                <a:latin typeface="+mn-lt"/>
                <a:cs typeface="Calibri"/>
              </a:rPr>
            </a:br>
            <a:r>
              <a:rPr lang="en-US" sz="2400" b="0" dirty="0" err="1">
                <a:latin typeface="+mn-lt"/>
                <a:cs typeface="Calibri"/>
              </a:rPr>
              <a:t>termine</a:t>
            </a:r>
            <a:r>
              <a:rPr lang="en-US" sz="2400" b="0" dirty="0">
                <a:latin typeface="+mn-lt"/>
                <a:cs typeface="Calibri"/>
              </a:rPr>
              <a:t> del </a:t>
            </a:r>
            <a:r>
              <a:rPr lang="en-US" sz="2400" b="0" dirty="0" err="1">
                <a:latin typeface="+mn-lt"/>
                <a:cs typeface="Calibri"/>
              </a:rPr>
              <a:t>ciclo</a:t>
            </a:r>
            <a:r>
              <a:rPr lang="en-US" sz="2400" b="0" dirty="0">
                <a:latin typeface="+mn-lt"/>
                <a:cs typeface="Calibri"/>
              </a:rPr>
              <a:t>?</a:t>
            </a:r>
            <a:endParaRPr lang="it-IT" sz="2400" b="0" dirty="0">
              <a:latin typeface="+mn-lt"/>
              <a:cs typeface="Calibri"/>
            </a:endParaRPr>
          </a:p>
          <a:p>
            <a:pPr algn="l"/>
            <a:r>
              <a:rPr lang="it-IT" sz="2000" b="0" dirty="0">
                <a:latin typeface="+mn-lt"/>
                <a:cs typeface="Calibri"/>
              </a:rPr>
              <a:t>	A. 2 e 6 		C. 2 e 2</a:t>
            </a:r>
          </a:p>
          <a:p>
            <a:pPr algn="l"/>
            <a:r>
              <a:rPr lang="it-IT" sz="2000" b="0" dirty="0">
                <a:latin typeface="+mn-lt"/>
                <a:cs typeface="Calibri"/>
              </a:rPr>
              <a:t>	B. 6 e 2 		D. Nessuna delle risposte precedenti.</a:t>
            </a:r>
          </a:p>
        </p:txBody>
      </p:sp>
    </p:spTree>
    <p:extLst>
      <p:ext uri="{BB962C8B-B14F-4D97-AF65-F5344CB8AC3E}">
        <p14:creationId xmlns:p14="http://schemas.microsoft.com/office/powerpoint/2010/main" val="2211022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7: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671191"/>
            <a:ext cx="878497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consideri il seguente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ciclo</a:t>
            </a:r>
            <a:r>
              <a:rPr lang="it-IT" sz="2400" b="0" dirty="0">
                <a:latin typeface="+mn-lt"/>
                <a:cs typeface="Calibri"/>
              </a:rPr>
              <a:t> in assembly MIPS</a:t>
            </a:r>
          </a:p>
          <a:p>
            <a:pPr marL="971550" lvl="1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en-US" sz="2000" b="0" dirty="0">
              <a:latin typeface="+mn-lt"/>
              <a:cs typeface="Calibri"/>
            </a:endParaRPr>
          </a:p>
          <a:p>
            <a:pPr marL="0" lvl="2"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LOOP:  </a:t>
            </a:r>
            <a:r>
              <a:rPr kumimoji="1" lang="en-US" sz="2000" b="0" dirty="0" err="1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beq</a:t>
            </a:r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 $s0, $s1, EXIT</a:t>
            </a:r>
            <a:r>
              <a:rPr lang="it-IT" sz="2000" b="0" dirty="0">
                <a:solidFill>
                  <a:srgbClr val="33CC33"/>
                </a:solidFill>
                <a:latin typeface="+mn-lt"/>
                <a:cs typeface="Arial" charset="0"/>
              </a:rPr>
              <a:t>#non esegue il salto perché 2 ≠ 6</a:t>
            </a:r>
          </a:p>
          <a:p>
            <a:pPr marL="0" lvl="2" algn="l"/>
            <a:r>
              <a:rPr kumimoji="1" lang="is-I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	addi $s0, $s0, 1</a:t>
            </a:r>
            <a:r>
              <a:rPr lang="it-IT" sz="2000" b="0" dirty="0">
                <a:solidFill>
                  <a:srgbClr val="33CC33"/>
                </a:solidFill>
                <a:latin typeface="+mn-lt"/>
                <a:cs typeface="Arial" charset="0"/>
              </a:rPr>
              <a:t>#$s0 contiene 3</a:t>
            </a:r>
            <a:endParaRPr kumimoji="1" lang="is-IS" sz="2000" b="0" dirty="0">
              <a:solidFill>
                <a:srgbClr val="0000FF"/>
              </a:solidFill>
              <a:latin typeface="+mn-lt"/>
              <a:ea typeface="ＭＳ Ｐゴシック" pitchFamily="-108" charset="-128"/>
              <a:cs typeface="Arial" charset="0"/>
            </a:endParaRPr>
          </a:p>
          <a:p>
            <a:pPr marL="0" lvl="2"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	j LOOP</a:t>
            </a:r>
            <a:r>
              <a:rPr lang="it-IT" sz="2000" b="0" dirty="0">
                <a:solidFill>
                  <a:srgbClr val="33CC33"/>
                </a:solidFill>
                <a:latin typeface="+mn-lt"/>
                <a:cs typeface="Arial" charset="0"/>
              </a:rPr>
              <a:t>#torna all’inizio del ciclo</a:t>
            </a:r>
            <a:endParaRPr kumimoji="1" lang="en-US" sz="2000" b="0" dirty="0">
              <a:solidFill>
                <a:srgbClr val="0000FF"/>
              </a:solidFill>
              <a:latin typeface="+mn-lt"/>
              <a:ea typeface="ＭＳ Ｐゴシック" pitchFamily="-108" charset="-128"/>
              <a:cs typeface="Arial" charset="0"/>
            </a:endParaRPr>
          </a:p>
          <a:p>
            <a:pPr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EXIT:…</a:t>
            </a:r>
          </a:p>
          <a:p>
            <a:pPr algn="l"/>
            <a:r>
              <a:rPr lang="it-IT" sz="2400" b="0" dirty="0">
                <a:latin typeface="+mn-lt"/>
                <a:cs typeface="Calibri"/>
              </a:rPr>
              <a:t>	</a:t>
            </a:r>
          </a:p>
          <a:p>
            <a:pPr marL="342900" lvl="1" indent="-342900" algn="l">
              <a:buClr>
                <a:schemeClr val="accent2"/>
              </a:buClr>
              <a:buFont typeface="Wingdings" charset="2"/>
              <a:buChar char="Ø"/>
            </a:pPr>
            <a:r>
              <a:rPr lang="en-US" sz="2400" b="0" dirty="0">
                <a:latin typeface="+mn-lt"/>
                <a:cs typeface="Calibri"/>
              </a:rPr>
              <a:t>Si </a:t>
            </a:r>
            <a:r>
              <a:rPr lang="en-US" sz="2400" b="0" dirty="0" err="1">
                <a:latin typeface="+mn-lt"/>
                <a:cs typeface="Calibri"/>
              </a:rPr>
              <a:t>supponga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che</a:t>
            </a:r>
            <a:r>
              <a:rPr lang="en-US" sz="2400" b="0" dirty="0">
                <a:latin typeface="+mn-lt"/>
                <a:cs typeface="Calibri"/>
              </a:rPr>
              <a:t> $s0 </a:t>
            </a:r>
            <a:r>
              <a:rPr lang="en-US" sz="2400" b="0" dirty="0" err="1">
                <a:latin typeface="+mn-lt"/>
                <a:cs typeface="Calibri"/>
              </a:rPr>
              <a:t>contenga</a:t>
            </a:r>
            <a:r>
              <a:rPr lang="en-US" sz="2400" b="0" dirty="0">
                <a:latin typeface="+mn-lt"/>
                <a:cs typeface="Calibri"/>
              </a:rPr>
              <a:t> 2 </a:t>
            </a:r>
            <a:r>
              <a:rPr lang="en-US" sz="2400" b="0" dirty="0" err="1">
                <a:latin typeface="+mn-lt"/>
                <a:cs typeface="Calibri"/>
              </a:rPr>
              <a:t>ed</a:t>
            </a:r>
            <a:r>
              <a:rPr lang="en-US" sz="2400" b="0" dirty="0">
                <a:latin typeface="+mn-lt"/>
                <a:cs typeface="Calibri"/>
              </a:rPr>
              <a:t> $s1 </a:t>
            </a:r>
            <a:r>
              <a:rPr lang="en-US" sz="2400" b="0" dirty="0" err="1">
                <a:latin typeface="+mn-lt"/>
                <a:cs typeface="Calibri"/>
              </a:rPr>
              <a:t>contenga</a:t>
            </a:r>
            <a:r>
              <a:rPr lang="en-US" sz="2400" b="0" dirty="0">
                <a:latin typeface="+mn-lt"/>
                <a:cs typeface="Calibri"/>
              </a:rPr>
              <a:t> a 6</a:t>
            </a:r>
          </a:p>
          <a:p>
            <a:pPr marL="342900" lvl="1" indent="-342900" algn="l">
              <a:buClr>
                <a:schemeClr val="accent2"/>
              </a:buClr>
              <a:buFont typeface="Wingdings" charset="2"/>
              <a:buChar char="Ø"/>
            </a:pPr>
            <a:r>
              <a:rPr lang="en-US" sz="2400" b="0" dirty="0" err="1">
                <a:latin typeface="+mn-lt"/>
                <a:cs typeface="Calibri"/>
              </a:rPr>
              <a:t>Quali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saranno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i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solidFill>
                  <a:srgbClr val="FF3300"/>
                </a:solidFill>
                <a:latin typeface="+mn-lt"/>
                <a:cs typeface="Calibri"/>
              </a:rPr>
              <a:t>contenuti</a:t>
            </a:r>
            <a:r>
              <a:rPr lang="en-US" sz="2400" b="0" dirty="0">
                <a:solidFill>
                  <a:srgbClr val="FF3300"/>
                </a:solidFill>
                <a:latin typeface="+mn-lt"/>
                <a:cs typeface="Calibri"/>
              </a:rPr>
              <a:t> </a:t>
            </a:r>
            <a:r>
              <a:rPr lang="en-US" sz="2400" b="0" dirty="0" err="1">
                <a:solidFill>
                  <a:srgbClr val="FF3300"/>
                </a:solidFill>
                <a:latin typeface="+mn-lt"/>
                <a:cs typeface="Calibri"/>
              </a:rPr>
              <a:t>finali</a:t>
            </a:r>
            <a:r>
              <a:rPr lang="en-US" sz="2400" b="0" dirty="0">
                <a:solidFill>
                  <a:srgbClr val="FF3300"/>
                </a:solidFill>
                <a:latin typeface="+mn-lt"/>
                <a:cs typeface="Calibri"/>
              </a:rPr>
              <a:t> </a:t>
            </a:r>
            <a:r>
              <a:rPr lang="en-US" sz="2400" b="0" dirty="0">
                <a:latin typeface="+mn-lt"/>
                <a:cs typeface="Calibri"/>
              </a:rPr>
              <a:t>di $s0 e di $s1 al </a:t>
            </a:r>
            <a:br>
              <a:rPr lang="en-US" sz="2400" b="0" dirty="0">
                <a:latin typeface="+mn-lt"/>
                <a:cs typeface="Calibri"/>
              </a:rPr>
            </a:br>
            <a:r>
              <a:rPr lang="en-US" sz="2400" b="0" dirty="0" err="1">
                <a:latin typeface="+mn-lt"/>
                <a:cs typeface="Calibri"/>
              </a:rPr>
              <a:t>termine</a:t>
            </a:r>
            <a:r>
              <a:rPr lang="en-US" sz="2400" b="0" dirty="0">
                <a:latin typeface="+mn-lt"/>
                <a:cs typeface="Calibri"/>
              </a:rPr>
              <a:t> del </a:t>
            </a:r>
            <a:r>
              <a:rPr lang="en-US" sz="2400" b="0" dirty="0" err="1">
                <a:latin typeface="+mn-lt"/>
                <a:cs typeface="Calibri"/>
              </a:rPr>
              <a:t>ciclo</a:t>
            </a:r>
            <a:r>
              <a:rPr lang="en-US" sz="2400" b="0" dirty="0">
                <a:latin typeface="+mn-lt"/>
                <a:cs typeface="Calibri"/>
              </a:rPr>
              <a:t>?</a:t>
            </a:r>
            <a:endParaRPr lang="it-IT" sz="2400" b="0" dirty="0">
              <a:latin typeface="+mn-lt"/>
              <a:cs typeface="Calibri"/>
            </a:endParaRPr>
          </a:p>
          <a:p>
            <a:pPr algn="l"/>
            <a:r>
              <a:rPr lang="it-IT" sz="2000" b="0" dirty="0">
                <a:latin typeface="+mn-lt"/>
                <a:cs typeface="Calibri"/>
              </a:rPr>
              <a:t>	A. 2 e 6 		C. 2 e 2</a:t>
            </a:r>
          </a:p>
          <a:p>
            <a:pPr algn="l"/>
            <a:r>
              <a:rPr lang="it-IT" sz="2000" b="0" dirty="0">
                <a:latin typeface="+mn-lt"/>
                <a:cs typeface="Calibri"/>
              </a:rPr>
              <a:t>	B. 6 e 2 		D. Nessuna delle risposte precedenti.</a:t>
            </a:r>
          </a:p>
        </p:txBody>
      </p:sp>
    </p:spTree>
    <p:extLst>
      <p:ext uri="{BB962C8B-B14F-4D97-AF65-F5344CB8AC3E}">
        <p14:creationId xmlns:p14="http://schemas.microsoft.com/office/powerpoint/2010/main" val="295528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7: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671191"/>
            <a:ext cx="878497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consideri il seguente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ciclo</a:t>
            </a:r>
            <a:r>
              <a:rPr lang="it-IT" sz="2400" b="0" dirty="0">
                <a:latin typeface="+mn-lt"/>
                <a:cs typeface="Calibri"/>
              </a:rPr>
              <a:t> in assembly MIPS</a:t>
            </a:r>
          </a:p>
          <a:p>
            <a:pPr marL="971550" lvl="1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en-US" sz="2000" b="0" dirty="0">
              <a:latin typeface="+mn-lt"/>
              <a:cs typeface="Calibri"/>
            </a:endParaRPr>
          </a:p>
          <a:p>
            <a:pPr marL="0" lvl="2"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LOOP:  </a:t>
            </a:r>
            <a:r>
              <a:rPr kumimoji="1" lang="en-US" sz="2000" b="0" dirty="0" err="1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beq</a:t>
            </a:r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 $s0, $s1, EXIT</a:t>
            </a:r>
            <a:r>
              <a:rPr lang="it-IT" sz="2000" b="0" dirty="0">
                <a:solidFill>
                  <a:srgbClr val="33CC33"/>
                </a:solidFill>
                <a:latin typeface="+mn-lt"/>
                <a:cs typeface="Arial" charset="0"/>
              </a:rPr>
              <a:t>#non esegue il salto perché 3 ≠ 6</a:t>
            </a:r>
          </a:p>
          <a:p>
            <a:pPr marL="0" lvl="2" algn="l"/>
            <a:r>
              <a:rPr kumimoji="1" lang="is-I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	addi $s0, $s0, 1</a:t>
            </a:r>
            <a:r>
              <a:rPr lang="it-IT" sz="2000" b="0" dirty="0">
                <a:solidFill>
                  <a:srgbClr val="33CC33"/>
                </a:solidFill>
                <a:latin typeface="+mn-lt"/>
                <a:cs typeface="Arial" charset="0"/>
              </a:rPr>
              <a:t>#$s0 contiene 4</a:t>
            </a:r>
            <a:endParaRPr kumimoji="1" lang="is-IS" sz="2000" b="0" dirty="0">
              <a:solidFill>
                <a:srgbClr val="0000FF"/>
              </a:solidFill>
              <a:latin typeface="+mn-lt"/>
              <a:ea typeface="ＭＳ Ｐゴシック" pitchFamily="-108" charset="-128"/>
              <a:cs typeface="Arial" charset="0"/>
            </a:endParaRPr>
          </a:p>
          <a:p>
            <a:pPr marL="0" lvl="2"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	j LOOP</a:t>
            </a:r>
            <a:r>
              <a:rPr lang="it-IT" sz="2000" b="0" dirty="0">
                <a:solidFill>
                  <a:srgbClr val="33CC33"/>
                </a:solidFill>
                <a:latin typeface="+mn-lt"/>
                <a:cs typeface="Arial" charset="0"/>
              </a:rPr>
              <a:t>#torna all’inizio del ciclo</a:t>
            </a:r>
            <a:endParaRPr kumimoji="1" lang="en-US" sz="2000" b="0" dirty="0">
              <a:solidFill>
                <a:srgbClr val="0000FF"/>
              </a:solidFill>
              <a:latin typeface="+mn-lt"/>
              <a:ea typeface="ＭＳ Ｐゴシック" pitchFamily="-108" charset="-128"/>
              <a:cs typeface="Arial" charset="0"/>
            </a:endParaRPr>
          </a:p>
          <a:p>
            <a:pPr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EXIT:…</a:t>
            </a:r>
          </a:p>
          <a:p>
            <a:pPr algn="l"/>
            <a:r>
              <a:rPr lang="it-IT" sz="2400" b="0" dirty="0">
                <a:latin typeface="+mn-lt"/>
                <a:cs typeface="Calibri"/>
              </a:rPr>
              <a:t>	</a:t>
            </a:r>
          </a:p>
          <a:p>
            <a:pPr marL="342900" lvl="1" indent="-342900" algn="l">
              <a:buClr>
                <a:schemeClr val="accent2"/>
              </a:buClr>
              <a:buFont typeface="Wingdings" charset="2"/>
              <a:buChar char="Ø"/>
            </a:pPr>
            <a:r>
              <a:rPr lang="en-US" sz="2400" b="0" dirty="0">
                <a:latin typeface="+mn-lt"/>
                <a:cs typeface="Calibri"/>
              </a:rPr>
              <a:t>Si </a:t>
            </a:r>
            <a:r>
              <a:rPr lang="en-US" sz="2400" b="0" dirty="0" err="1">
                <a:latin typeface="+mn-lt"/>
                <a:cs typeface="Calibri"/>
              </a:rPr>
              <a:t>supponga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che</a:t>
            </a:r>
            <a:r>
              <a:rPr lang="en-US" sz="2400" b="0" dirty="0">
                <a:latin typeface="+mn-lt"/>
                <a:cs typeface="Calibri"/>
              </a:rPr>
              <a:t> $s0 </a:t>
            </a:r>
            <a:r>
              <a:rPr lang="en-US" sz="2400" b="0" dirty="0" err="1">
                <a:latin typeface="+mn-lt"/>
                <a:cs typeface="Calibri"/>
              </a:rPr>
              <a:t>contenga</a:t>
            </a:r>
            <a:r>
              <a:rPr lang="en-US" sz="2400" b="0" dirty="0">
                <a:latin typeface="+mn-lt"/>
                <a:cs typeface="Calibri"/>
              </a:rPr>
              <a:t> 2 </a:t>
            </a:r>
            <a:r>
              <a:rPr lang="en-US" sz="2400" b="0" dirty="0" err="1">
                <a:latin typeface="+mn-lt"/>
                <a:cs typeface="Calibri"/>
              </a:rPr>
              <a:t>ed</a:t>
            </a:r>
            <a:r>
              <a:rPr lang="en-US" sz="2400" b="0" dirty="0">
                <a:latin typeface="+mn-lt"/>
                <a:cs typeface="Calibri"/>
              </a:rPr>
              <a:t> $s1 </a:t>
            </a:r>
            <a:r>
              <a:rPr lang="en-US" sz="2400" b="0" dirty="0" err="1">
                <a:latin typeface="+mn-lt"/>
                <a:cs typeface="Calibri"/>
              </a:rPr>
              <a:t>contenga</a:t>
            </a:r>
            <a:r>
              <a:rPr lang="en-US" sz="2400" b="0" dirty="0">
                <a:latin typeface="+mn-lt"/>
                <a:cs typeface="Calibri"/>
              </a:rPr>
              <a:t> a 6</a:t>
            </a:r>
          </a:p>
          <a:p>
            <a:pPr marL="342900" lvl="1" indent="-342900" algn="l">
              <a:buClr>
                <a:schemeClr val="accent2"/>
              </a:buClr>
              <a:buFont typeface="Wingdings" charset="2"/>
              <a:buChar char="Ø"/>
            </a:pPr>
            <a:r>
              <a:rPr lang="en-US" sz="2400" b="0" dirty="0" err="1">
                <a:latin typeface="+mn-lt"/>
                <a:cs typeface="Calibri"/>
              </a:rPr>
              <a:t>Quali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saranno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i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solidFill>
                  <a:srgbClr val="FF3300"/>
                </a:solidFill>
                <a:latin typeface="+mn-lt"/>
                <a:cs typeface="Calibri"/>
              </a:rPr>
              <a:t>contenuti</a:t>
            </a:r>
            <a:r>
              <a:rPr lang="en-US" sz="2400" b="0" dirty="0">
                <a:solidFill>
                  <a:srgbClr val="FF3300"/>
                </a:solidFill>
                <a:latin typeface="+mn-lt"/>
                <a:cs typeface="Calibri"/>
              </a:rPr>
              <a:t> </a:t>
            </a:r>
            <a:r>
              <a:rPr lang="en-US" sz="2400" b="0" dirty="0" err="1">
                <a:solidFill>
                  <a:srgbClr val="FF3300"/>
                </a:solidFill>
                <a:latin typeface="+mn-lt"/>
                <a:cs typeface="Calibri"/>
              </a:rPr>
              <a:t>finali</a:t>
            </a:r>
            <a:r>
              <a:rPr lang="en-US" sz="2400" b="0" dirty="0">
                <a:solidFill>
                  <a:srgbClr val="FF3300"/>
                </a:solidFill>
                <a:latin typeface="+mn-lt"/>
                <a:cs typeface="Calibri"/>
              </a:rPr>
              <a:t> </a:t>
            </a:r>
            <a:r>
              <a:rPr lang="en-US" sz="2400" b="0" dirty="0">
                <a:latin typeface="+mn-lt"/>
                <a:cs typeface="Calibri"/>
              </a:rPr>
              <a:t>di $s0 e di $s1 al </a:t>
            </a:r>
            <a:br>
              <a:rPr lang="en-US" sz="2400" b="0" dirty="0">
                <a:latin typeface="+mn-lt"/>
                <a:cs typeface="Calibri"/>
              </a:rPr>
            </a:br>
            <a:r>
              <a:rPr lang="en-US" sz="2400" b="0" dirty="0" err="1">
                <a:latin typeface="+mn-lt"/>
                <a:cs typeface="Calibri"/>
              </a:rPr>
              <a:t>termine</a:t>
            </a:r>
            <a:r>
              <a:rPr lang="en-US" sz="2400" b="0" dirty="0">
                <a:latin typeface="+mn-lt"/>
                <a:cs typeface="Calibri"/>
              </a:rPr>
              <a:t> del </a:t>
            </a:r>
            <a:r>
              <a:rPr lang="en-US" sz="2400" b="0" dirty="0" err="1">
                <a:latin typeface="+mn-lt"/>
                <a:cs typeface="Calibri"/>
              </a:rPr>
              <a:t>ciclo</a:t>
            </a:r>
            <a:r>
              <a:rPr lang="en-US" sz="2400" b="0" dirty="0">
                <a:latin typeface="+mn-lt"/>
                <a:cs typeface="Calibri"/>
              </a:rPr>
              <a:t>?</a:t>
            </a:r>
            <a:endParaRPr lang="it-IT" sz="2400" b="0" dirty="0">
              <a:latin typeface="+mn-lt"/>
              <a:cs typeface="Calibri"/>
            </a:endParaRPr>
          </a:p>
          <a:p>
            <a:pPr algn="l"/>
            <a:r>
              <a:rPr lang="it-IT" sz="2000" b="0" dirty="0">
                <a:latin typeface="+mn-lt"/>
                <a:cs typeface="Calibri"/>
              </a:rPr>
              <a:t>	A. 2 e 6 		C. 2 e 2</a:t>
            </a:r>
          </a:p>
          <a:p>
            <a:pPr algn="l"/>
            <a:r>
              <a:rPr lang="it-IT" sz="2000" b="0" dirty="0">
                <a:latin typeface="+mn-lt"/>
                <a:cs typeface="Calibri"/>
              </a:rPr>
              <a:t>	B. 6 e 2 		D. Nessuna delle risposte precedenti.</a:t>
            </a:r>
          </a:p>
        </p:txBody>
      </p:sp>
    </p:spTree>
    <p:extLst>
      <p:ext uri="{BB962C8B-B14F-4D97-AF65-F5344CB8AC3E}">
        <p14:creationId xmlns:p14="http://schemas.microsoft.com/office/powerpoint/2010/main" val="443531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7: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671191"/>
            <a:ext cx="878497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consideri il seguente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ciclo</a:t>
            </a:r>
            <a:r>
              <a:rPr lang="it-IT" sz="2400" b="0" dirty="0">
                <a:latin typeface="+mn-lt"/>
                <a:cs typeface="Calibri"/>
              </a:rPr>
              <a:t> in assembly MIPS</a:t>
            </a:r>
          </a:p>
          <a:p>
            <a:pPr marL="971550" lvl="1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en-US" sz="2000" b="0" dirty="0">
              <a:latin typeface="+mn-lt"/>
              <a:cs typeface="Calibri"/>
            </a:endParaRPr>
          </a:p>
          <a:p>
            <a:pPr marL="0" lvl="2"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LOOP:  </a:t>
            </a:r>
            <a:r>
              <a:rPr kumimoji="1" lang="en-US" sz="2000" b="0" dirty="0" err="1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beq</a:t>
            </a:r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 $s0, $s1, EXIT</a:t>
            </a:r>
            <a:r>
              <a:rPr lang="it-IT" sz="2000" b="0" dirty="0">
                <a:solidFill>
                  <a:srgbClr val="33CC33"/>
                </a:solidFill>
                <a:latin typeface="+mn-lt"/>
                <a:cs typeface="Arial" charset="0"/>
              </a:rPr>
              <a:t>#non esegue il salto perché 4 ≠ 6</a:t>
            </a:r>
          </a:p>
          <a:p>
            <a:pPr marL="0" lvl="2" algn="l"/>
            <a:r>
              <a:rPr kumimoji="1" lang="is-I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	addi $s0, $s0, 1</a:t>
            </a:r>
            <a:r>
              <a:rPr lang="it-IT" sz="2000" b="0" dirty="0">
                <a:solidFill>
                  <a:srgbClr val="33CC33"/>
                </a:solidFill>
                <a:latin typeface="+mn-lt"/>
                <a:cs typeface="Arial" charset="0"/>
              </a:rPr>
              <a:t>#$s0 contiene 5</a:t>
            </a:r>
            <a:endParaRPr kumimoji="1" lang="is-IS" sz="2000" b="0" dirty="0">
              <a:solidFill>
                <a:srgbClr val="0000FF"/>
              </a:solidFill>
              <a:latin typeface="+mn-lt"/>
              <a:ea typeface="ＭＳ Ｐゴシック" pitchFamily="-108" charset="-128"/>
              <a:cs typeface="Arial" charset="0"/>
            </a:endParaRPr>
          </a:p>
          <a:p>
            <a:pPr marL="0" lvl="2"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	j LOOP</a:t>
            </a:r>
            <a:r>
              <a:rPr lang="it-IT" sz="2000" b="0" dirty="0">
                <a:solidFill>
                  <a:srgbClr val="33CC33"/>
                </a:solidFill>
                <a:latin typeface="+mn-lt"/>
                <a:cs typeface="Arial" charset="0"/>
              </a:rPr>
              <a:t>#torna all’inizio del ciclo</a:t>
            </a:r>
            <a:endParaRPr kumimoji="1" lang="en-US" sz="2000" b="0" dirty="0">
              <a:solidFill>
                <a:srgbClr val="0000FF"/>
              </a:solidFill>
              <a:latin typeface="+mn-lt"/>
              <a:ea typeface="ＭＳ Ｐゴシック" pitchFamily="-108" charset="-128"/>
              <a:cs typeface="Arial" charset="0"/>
            </a:endParaRPr>
          </a:p>
          <a:p>
            <a:pPr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EXIT:…</a:t>
            </a:r>
          </a:p>
          <a:p>
            <a:pPr algn="l"/>
            <a:r>
              <a:rPr lang="it-IT" sz="2400" b="0" dirty="0">
                <a:latin typeface="+mn-lt"/>
                <a:cs typeface="Calibri"/>
              </a:rPr>
              <a:t>	</a:t>
            </a:r>
          </a:p>
          <a:p>
            <a:pPr marL="342900" lvl="1" indent="-342900" algn="l">
              <a:buClr>
                <a:schemeClr val="accent2"/>
              </a:buClr>
              <a:buFont typeface="Wingdings" charset="2"/>
              <a:buChar char="Ø"/>
            </a:pPr>
            <a:r>
              <a:rPr lang="en-US" sz="2400" b="0" dirty="0">
                <a:latin typeface="+mn-lt"/>
                <a:cs typeface="Calibri"/>
              </a:rPr>
              <a:t>Si </a:t>
            </a:r>
            <a:r>
              <a:rPr lang="en-US" sz="2400" b="0" dirty="0" err="1">
                <a:latin typeface="+mn-lt"/>
                <a:cs typeface="Calibri"/>
              </a:rPr>
              <a:t>supponga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che</a:t>
            </a:r>
            <a:r>
              <a:rPr lang="en-US" sz="2400" b="0" dirty="0">
                <a:latin typeface="+mn-lt"/>
                <a:cs typeface="Calibri"/>
              </a:rPr>
              <a:t> $s0 </a:t>
            </a:r>
            <a:r>
              <a:rPr lang="en-US" sz="2400" b="0" dirty="0" err="1">
                <a:latin typeface="+mn-lt"/>
                <a:cs typeface="Calibri"/>
              </a:rPr>
              <a:t>contenga</a:t>
            </a:r>
            <a:r>
              <a:rPr lang="en-US" sz="2400" b="0" dirty="0">
                <a:latin typeface="+mn-lt"/>
                <a:cs typeface="Calibri"/>
              </a:rPr>
              <a:t> 2 </a:t>
            </a:r>
            <a:r>
              <a:rPr lang="en-US" sz="2400" b="0" dirty="0" err="1">
                <a:latin typeface="+mn-lt"/>
                <a:cs typeface="Calibri"/>
              </a:rPr>
              <a:t>ed</a:t>
            </a:r>
            <a:r>
              <a:rPr lang="en-US" sz="2400" b="0" dirty="0">
                <a:latin typeface="+mn-lt"/>
                <a:cs typeface="Calibri"/>
              </a:rPr>
              <a:t> $s1 </a:t>
            </a:r>
            <a:r>
              <a:rPr lang="en-US" sz="2400" b="0" dirty="0" err="1">
                <a:latin typeface="+mn-lt"/>
                <a:cs typeface="Calibri"/>
              </a:rPr>
              <a:t>contenga</a:t>
            </a:r>
            <a:r>
              <a:rPr lang="en-US" sz="2400" b="0" dirty="0">
                <a:latin typeface="+mn-lt"/>
                <a:cs typeface="Calibri"/>
              </a:rPr>
              <a:t> a 6</a:t>
            </a:r>
          </a:p>
          <a:p>
            <a:pPr marL="342900" lvl="1" indent="-342900" algn="l">
              <a:buClr>
                <a:schemeClr val="accent2"/>
              </a:buClr>
              <a:buFont typeface="Wingdings" charset="2"/>
              <a:buChar char="Ø"/>
            </a:pPr>
            <a:r>
              <a:rPr lang="en-US" sz="2400" b="0" dirty="0" err="1">
                <a:latin typeface="+mn-lt"/>
                <a:cs typeface="Calibri"/>
              </a:rPr>
              <a:t>Quali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saranno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i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solidFill>
                  <a:srgbClr val="FF3300"/>
                </a:solidFill>
                <a:latin typeface="+mn-lt"/>
                <a:cs typeface="Calibri"/>
              </a:rPr>
              <a:t>contenuti</a:t>
            </a:r>
            <a:r>
              <a:rPr lang="en-US" sz="2400" b="0" dirty="0">
                <a:solidFill>
                  <a:srgbClr val="FF3300"/>
                </a:solidFill>
                <a:latin typeface="+mn-lt"/>
                <a:cs typeface="Calibri"/>
              </a:rPr>
              <a:t> </a:t>
            </a:r>
            <a:r>
              <a:rPr lang="en-US" sz="2400" b="0" dirty="0" err="1">
                <a:solidFill>
                  <a:srgbClr val="FF3300"/>
                </a:solidFill>
                <a:latin typeface="+mn-lt"/>
                <a:cs typeface="Calibri"/>
              </a:rPr>
              <a:t>finali</a:t>
            </a:r>
            <a:r>
              <a:rPr lang="en-US" sz="2400" b="0" dirty="0">
                <a:solidFill>
                  <a:srgbClr val="FF3300"/>
                </a:solidFill>
                <a:latin typeface="+mn-lt"/>
                <a:cs typeface="Calibri"/>
              </a:rPr>
              <a:t> </a:t>
            </a:r>
            <a:r>
              <a:rPr lang="en-US" sz="2400" b="0" dirty="0">
                <a:latin typeface="+mn-lt"/>
                <a:cs typeface="Calibri"/>
              </a:rPr>
              <a:t>di $s0 e di $s1 al </a:t>
            </a:r>
            <a:br>
              <a:rPr lang="en-US" sz="2400" b="0" dirty="0">
                <a:latin typeface="+mn-lt"/>
                <a:cs typeface="Calibri"/>
              </a:rPr>
            </a:br>
            <a:r>
              <a:rPr lang="en-US" sz="2400" b="0" dirty="0" err="1">
                <a:latin typeface="+mn-lt"/>
                <a:cs typeface="Calibri"/>
              </a:rPr>
              <a:t>termine</a:t>
            </a:r>
            <a:r>
              <a:rPr lang="en-US" sz="2400" b="0" dirty="0">
                <a:latin typeface="+mn-lt"/>
                <a:cs typeface="Calibri"/>
              </a:rPr>
              <a:t> del </a:t>
            </a:r>
            <a:r>
              <a:rPr lang="en-US" sz="2400" b="0" dirty="0" err="1">
                <a:latin typeface="+mn-lt"/>
                <a:cs typeface="Calibri"/>
              </a:rPr>
              <a:t>ciclo</a:t>
            </a:r>
            <a:r>
              <a:rPr lang="en-US" sz="2400" b="0" dirty="0">
                <a:latin typeface="+mn-lt"/>
                <a:cs typeface="Calibri"/>
              </a:rPr>
              <a:t>?</a:t>
            </a:r>
            <a:endParaRPr lang="it-IT" sz="2400" b="0" dirty="0">
              <a:latin typeface="+mn-lt"/>
              <a:cs typeface="Calibri"/>
            </a:endParaRPr>
          </a:p>
          <a:p>
            <a:pPr algn="l"/>
            <a:r>
              <a:rPr lang="it-IT" sz="2000" b="0" dirty="0">
                <a:latin typeface="+mn-lt"/>
                <a:cs typeface="Calibri"/>
              </a:rPr>
              <a:t>	A. 2 e 6 		C. 2 e 2</a:t>
            </a:r>
          </a:p>
          <a:p>
            <a:pPr algn="l"/>
            <a:r>
              <a:rPr lang="it-IT" sz="2000" b="0" dirty="0">
                <a:latin typeface="+mn-lt"/>
                <a:cs typeface="Calibri"/>
              </a:rPr>
              <a:t>	B. 6 e 2 		D. Nessuna delle risposte precedenti.</a:t>
            </a:r>
          </a:p>
        </p:txBody>
      </p:sp>
    </p:spTree>
    <p:extLst>
      <p:ext uri="{BB962C8B-B14F-4D97-AF65-F5344CB8AC3E}">
        <p14:creationId xmlns:p14="http://schemas.microsoft.com/office/powerpoint/2010/main" val="2696781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7: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671191"/>
            <a:ext cx="878497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consideri il seguente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ciclo</a:t>
            </a:r>
            <a:r>
              <a:rPr lang="it-IT" sz="2400" b="0" dirty="0">
                <a:latin typeface="+mn-lt"/>
                <a:cs typeface="Calibri"/>
              </a:rPr>
              <a:t> in assembly MIPS</a:t>
            </a:r>
          </a:p>
          <a:p>
            <a:pPr marL="971550" lvl="1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en-US" sz="2000" b="0" dirty="0">
              <a:latin typeface="+mn-lt"/>
              <a:cs typeface="Calibri"/>
            </a:endParaRPr>
          </a:p>
          <a:p>
            <a:pPr marL="0" lvl="2"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LOOP:  </a:t>
            </a:r>
            <a:r>
              <a:rPr kumimoji="1" lang="en-US" sz="2000" b="0" dirty="0" err="1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beq</a:t>
            </a:r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 $s0, $s1, EXIT</a:t>
            </a:r>
            <a:r>
              <a:rPr lang="it-IT" sz="2000" b="0" dirty="0">
                <a:solidFill>
                  <a:srgbClr val="33CC33"/>
                </a:solidFill>
                <a:latin typeface="+mn-lt"/>
                <a:cs typeface="Arial" charset="0"/>
              </a:rPr>
              <a:t>#non esegue il salto perché 5 ≠ 6</a:t>
            </a:r>
          </a:p>
          <a:p>
            <a:pPr marL="0" lvl="2" algn="l"/>
            <a:r>
              <a:rPr kumimoji="1" lang="is-I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	addi $s0, $s0, 1</a:t>
            </a:r>
            <a:r>
              <a:rPr lang="it-IT" sz="2000" b="0" dirty="0">
                <a:solidFill>
                  <a:srgbClr val="33CC33"/>
                </a:solidFill>
                <a:latin typeface="+mn-lt"/>
                <a:cs typeface="Arial" charset="0"/>
              </a:rPr>
              <a:t>#$s0 contiene 6</a:t>
            </a:r>
            <a:endParaRPr kumimoji="1" lang="is-IS" sz="2000" b="0" dirty="0">
              <a:solidFill>
                <a:srgbClr val="0000FF"/>
              </a:solidFill>
              <a:latin typeface="+mn-lt"/>
              <a:ea typeface="ＭＳ Ｐゴシック" pitchFamily="-108" charset="-128"/>
              <a:cs typeface="Arial" charset="0"/>
            </a:endParaRPr>
          </a:p>
          <a:p>
            <a:pPr marL="0" lvl="2"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	j LOOP</a:t>
            </a:r>
            <a:r>
              <a:rPr lang="it-IT" sz="2000" b="0" dirty="0">
                <a:solidFill>
                  <a:srgbClr val="33CC33"/>
                </a:solidFill>
                <a:latin typeface="+mn-lt"/>
                <a:cs typeface="Arial" charset="0"/>
              </a:rPr>
              <a:t>#torna all’inizio del ciclo</a:t>
            </a:r>
            <a:endParaRPr kumimoji="1" lang="en-US" sz="2000" b="0" dirty="0">
              <a:solidFill>
                <a:srgbClr val="0000FF"/>
              </a:solidFill>
              <a:latin typeface="+mn-lt"/>
              <a:ea typeface="ＭＳ Ｐゴシック" pitchFamily="-108" charset="-128"/>
              <a:cs typeface="Arial" charset="0"/>
            </a:endParaRPr>
          </a:p>
          <a:p>
            <a:pPr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EXIT:…</a:t>
            </a:r>
          </a:p>
          <a:p>
            <a:pPr algn="l"/>
            <a:r>
              <a:rPr lang="it-IT" sz="2400" b="0" dirty="0">
                <a:latin typeface="+mn-lt"/>
                <a:cs typeface="Calibri"/>
              </a:rPr>
              <a:t>	</a:t>
            </a:r>
          </a:p>
          <a:p>
            <a:pPr marL="342900" lvl="1" indent="-342900" algn="l">
              <a:buClr>
                <a:schemeClr val="accent2"/>
              </a:buClr>
              <a:buFont typeface="Wingdings" charset="2"/>
              <a:buChar char="Ø"/>
            </a:pPr>
            <a:r>
              <a:rPr lang="en-US" sz="2400" b="0" dirty="0">
                <a:latin typeface="+mn-lt"/>
                <a:cs typeface="Calibri"/>
              </a:rPr>
              <a:t>Si </a:t>
            </a:r>
            <a:r>
              <a:rPr lang="en-US" sz="2400" b="0" dirty="0" err="1">
                <a:latin typeface="+mn-lt"/>
                <a:cs typeface="Calibri"/>
              </a:rPr>
              <a:t>supponga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che</a:t>
            </a:r>
            <a:r>
              <a:rPr lang="en-US" sz="2400" b="0" dirty="0">
                <a:latin typeface="+mn-lt"/>
                <a:cs typeface="Calibri"/>
              </a:rPr>
              <a:t> $s0 </a:t>
            </a:r>
            <a:r>
              <a:rPr lang="en-US" sz="2400" b="0" dirty="0" err="1">
                <a:latin typeface="+mn-lt"/>
                <a:cs typeface="Calibri"/>
              </a:rPr>
              <a:t>contenga</a:t>
            </a:r>
            <a:r>
              <a:rPr lang="en-US" sz="2400" b="0" dirty="0">
                <a:latin typeface="+mn-lt"/>
                <a:cs typeface="Calibri"/>
              </a:rPr>
              <a:t> 2 </a:t>
            </a:r>
            <a:r>
              <a:rPr lang="en-US" sz="2400" b="0" dirty="0" err="1">
                <a:latin typeface="+mn-lt"/>
                <a:cs typeface="Calibri"/>
              </a:rPr>
              <a:t>ed</a:t>
            </a:r>
            <a:r>
              <a:rPr lang="en-US" sz="2400" b="0" dirty="0">
                <a:latin typeface="+mn-lt"/>
                <a:cs typeface="Calibri"/>
              </a:rPr>
              <a:t> $s1 </a:t>
            </a:r>
            <a:r>
              <a:rPr lang="en-US" sz="2400" b="0" dirty="0" err="1">
                <a:latin typeface="+mn-lt"/>
                <a:cs typeface="Calibri"/>
              </a:rPr>
              <a:t>contenga</a:t>
            </a:r>
            <a:r>
              <a:rPr lang="en-US" sz="2400" b="0" dirty="0">
                <a:latin typeface="+mn-lt"/>
                <a:cs typeface="Calibri"/>
              </a:rPr>
              <a:t> a 6</a:t>
            </a:r>
          </a:p>
          <a:p>
            <a:pPr marL="342900" lvl="1" indent="-342900" algn="l">
              <a:buClr>
                <a:schemeClr val="accent2"/>
              </a:buClr>
              <a:buFont typeface="Wingdings" charset="2"/>
              <a:buChar char="Ø"/>
            </a:pPr>
            <a:r>
              <a:rPr lang="en-US" sz="2400" b="0" dirty="0" err="1">
                <a:latin typeface="+mn-lt"/>
                <a:cs typeface="Calibri"/>
              </a:rPr>
              <a:t>Quali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saranno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i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solidFill>
                  <a:srgbClr val="FF3300"/>
                </a:solidFill>
                <a:latin typeface="+mn-lt"/>
                <a:cs typeface="Calibri"/>
              </a:rPr>
              <a:t>contenuti</a:t>
            </a:r>
            <a:r>
              <a:rPr lang="en-US" sz="2400" b="0" dirty="0">
                <a:solidFill>
                  <a:srgbClr val="FF3300"/>
                </a:solidFill>
                <a:latin typeface="+mn-lt"/>
                <a:cs typeface="Calibri"/>
              </a:rPr>
              <a:t> </a:t>
            </a:r>
            <a:r>
              <a:rPr lang="en-US" sz="2400" b="0" dirty="0" err="1">
                <a:solidFill>
                  <a:srgbClr val="FF3300"/>
                </a:solidFill>
                <a:latin typeface="+mn-lt"/>
                <a:cs typeface="Calibri"/>
              </a:rPr>
              <a:t>finali</a:t>
            </a:r>
            <a:r>
              <a:rPr lang="en-US" sz="2400" b="0" dirty="0">
                <a:solidFill>
                  <a:srgbClr val="FF3300"/>
                </a:solidFill>
                <a:latin typeface="+mn-lt"/>
                <a:cs typeface="Calibri"/>
              </a:rPr>
              <a:t> </a:t>
            </a:r>
            <a:r>
              <a:rPr lang="en-US" sz="2400" b="0" dirty="0">
                <a:latin typeface="+mn-lt"/>
                <a:cs typeface="Calibri"/>
              </a:rPr>
              <a:t>di $s0 e di $s1 al </a:t>
            </a:r>
            <a:br>
              <a:rPr lang="en-US" sz="2400" b="0" dirty="0">
                <a:latin typeface="+mn-lt"/>
                <a:cs typeface="Calibri"/>
              </a:rPr>
            </a:br>
            <a:r>
              <a:rPr lang="en-US" sz="2400" b="0" dirty="0" err="1">
                <a:latin typeface="+mn-lt"/>
                <a:cs typeface="Calibri"/>
              </a:rPr>
              <a:t>termine</a:t>
            </a:r>
            <a:r>
              <a:rPr lang="en-US" sz="2400" b="0" dirty="0">
                <a:latin typeface="+mn-lt"/>
                <a:cs typeface="Calibri"/>
              </a:rPr>
              <a:t> del </a:t>
            </a:r>
            <a:r>
              <a:rPr lang="en-US" sz="2400" b="0" dirty="0" err="1">
                <a:latin typeface="+mn-lt"/>
                <a:cs typeface="Calibri"/>
              </a:rPr>
              <a:t>ciclo</a:t>
            </a:r>
            <a:r>
              <a:rPr lang="en-US" sz="2400" b="0" dirty="0">
                <a:latin typeface="+mn-lt"/>
                <a:cs typeface="Calibri"/>
              </a:rPr>
              <a:t>?</a:t>
            </a:r>
            <a:endParaRPr lang="it-IT" sz="2400" b="0" dirty="0">
              <a:latin typeface="+mn-lt"/>
              <a:cs typeface="Calibri"/>
            </a:endParaRPr>
          </a:p>
          <a:p>
            <a:pPr algn="l"/>
            <a:r>
              <a:rPr lang="it-IT" sz="2000" b="0" dirty="0">
                <a:latin typeface="+mn-lt"/>
                <a:cs typeface="Calibri"/>
              </a:rPr>
              <a:t>	A. 2 e 6 		C. 2 e 2</a:t>
            </a:r>
          </a:p>
          <a:p>
            <a:pPr algn="l"/>
            <a:r>
              <a:rPr lang="it-IT" sz="2000" b="0" dirty="0">
                <a:latin typeface="+mn-lt"/>
                <a:cs typeface="Calibri"/>
              </a:rPr>
              <a:t>	B. 6 e 2 		D. Nessuna delle risposte precedenti.</a:t>
            </a:r>
          </a:p>
        </p:txBody>
      </p:sp>
    </p:spTree>
    <p:extLst>
      <p:ext uri="{BB962C8B-B14F-4D97-AF65-F5344CB8AC3E}">
        <p14:creationId xmlns:p14="http://schemas.microsoft.com/office/powerpoint/2010/main" val="39160293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7: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671191"/>
            <a:ext cx="878497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consideri il seguente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ciclo</a:t>
            </a:r>
            <a:r>
              <a:rPr lang="it-IT" sz="2400" b="0" dirty="0">
                <a:latin typeface="+mn-lt"/>
                <a:cs typeface="Calibri"/>
              </a:rPr>
              <a:t> in assembly MIPS</a:t>
            </a:r>
          </a:p>
          <a:p>
            <a:pPr marL="971550" lvl="1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en-US" sz="2000" b="0" dirty="0">
              <a:latin typeface="+mn-lt"/>
              <a:cs typeface="Calibri"/>
            </a:endParaRPr>
          </a:p>
          <a:p>
            <a:pPr marL="0" lvl="2"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LOOP:  </a:t>
            </a:r>
            <a:r>
              <a:rPr kumimoji="1" lang="en-US" sz="2000" b="0" dirty="0" err="1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beq</a:t>
            </a:r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 $s0, $s1, EXIT</a:t>
            </a:r>
            <a:r>
              <a:rPr lang="it-IT" sz="2000" b="0" dirty="0">
                <a:solidFill>
                  <a:srgbClr val="33CC33"/>
                </a:solidFill>
                <a:latin typeface="+mn-lt"/>
                <a:cs typeface="Arial" charset="0"/>
              </a:rPr>
              <a:t>#esegue il salto perché 6 = 6</a:t>
            </a:r>
          </a:p>
          <a:p>
            <a:pPr marL="0" lvl="2" algn="l"/>
            <a:r>
              <a:rPr kumimoji="1" lang="is-I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	addi $s0, $s0, 1</a:t>
            </a:r>
            <a:r>
              <a:rPr lang="it-IT" sz="2000" b="0" dirty="0">
                <a:solidFill>
                  <a:srgbClr val="33CC33"/>
                </a:solidFill>
                <a:latin typeface="+mn-lt"/>
                <a:cs typeface="Arial" charset="0"/>
              </a:rPr>
              <a:t>#non eseguita</a:t>
            </a:r>
            <a:endParaRPr kumimoji="1" lang="is-IS" sz="2000" b="0" dirty="0">
              <a:solidFill>
                <a:srgbClr val="0000FF"/>
              </a:solidFill>
              <a:latin typeface="+mn-lt"/>
              <a:ea typeface="ＭＳ Ｐゴシック" pitchFamily="-108" charset="-128"/>
              <a:cs typeface="Arial" charset="0"/>
            </a:endParaRPr>
          </a:p>
          <a:p>
            <a:pPr marL="0" lvl="2"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	j LOOP</a:t>
            </a:r>
            <a:r>
              <a:rPr lang="it-IT" sz="2000" b="0" dirty="0">
                <a:solidFill>
                  <a:srgbClr val="33CC33"/>
                </a:solidFill>
                <a:latin typeface="+mn-lt"/>
                <a:cs typeface="Arial" charset="0"/>
              </a:rPr>
              <a:t>#non eseguita</a:t>
            </a:r>
            <a:endParaRPr kumimoji="1" lang="en-US" sz="2000" b="0" dirty="0">
              <a:solidFill>
                <a:srgbClr val="0000FF"/>
              </a:solidFill>
              <a:latin typeface="+mn-lt"/>
              <a:ea typeface="ＭＳ Ｐゴシック" pitchFamily="-108" charset="-128"/>
              <a:cs typeface="Arial" charset="0"/>
            </a:endParaRPr>
          </a:p>
          <a:p>
            <a:pPr algn="l"/>
            <a:r>
              <a:rPr kumimoji="1" lang="en-US" sz="2000" b="0" dirty="0">
                <a:solidFill>
                  <a:srgbClr val="0000FF"/>
                </a:solidFill>
                <a:latin typeface="+mn-lt"/>
                <a:ea typeface="ＭＳ Ｐゴシック" pitchFamily="-108" charset="-128"/>
                <a:cs typeface="Arial" charset="0"/>
              </a:rPr>
              <a:t>	EXIT:…</a:t>
            </a:r>
          </a:p>
          <a:p>
            <a:pPr algn="l"/>
            <a:r>
              <a:rPr lang="it-IT" sz="2400" b="0" dirty="0">
                <a:latin typeface="+mn-lt"/>
                <a:cs typeface="Calibri"/>
              </a:rPr>
              <a:t>	</a:t>
            </a:r>
          </a:p>
          <a:p>
            <a:pPr marL="342900" lvl="1" indent="-342900" algn="l">
              <a:buClr>
                <a:schemeClr val="accent2"/>
              </a:buClr>
              <a:buFont typeface="Wingdings" charset="2"/>
              <a:buChar char="Ø"/>
            </a:pPr>
            <a:r>
              <a:rPr lang="en-US" sz="2400" b="0" dirty="0" err="1">
                <a:latin typeface="+mn-lt"/>
                <a:cs typeface="Calibri"/>
              </a:rPr>
              <a:t>Quindi</a:t>
            </a:r>
            <a:r>
              <a:rPr lang="en-US" sz="2400" b="0" dirty="0">
                <a:latin typeface="+mn-lt"/>
                <a:cs typeface="Calibri"/>
              </a:rPr>
              <a:t> al </a:t>
            </a:r>
            <a:r>
              <a:rPr lang="en-US" sz="2400" b="0" dirty="0" err="1">
                <a:latin typeface="+mn-lt"/>
                <a:cs typeface="Calibri"/>
              </a:rPr>
              <a:t>termine</a:t>
            </a:r>
            <a:r>
              <a:rPr lang="en-US" sz="2400" b="0" dirty="0">
                <a:latin typeface="+mn-lt"/>
                <a:cs typeface="Calibri"/>
              </a:rPr>
              <a:t> del </a:t>
            </a:r>
            <a:r>
              <a:rPr lang="en-US" sz="2400" b="0" dirty="0" err="1">
                <a:latin typeface="+mn-lt"/>
                <a:cs typeface="Calibri"/>
              </a:rPr>
              <a:t>ciclo</a:t>
            </a:r>
            <a:r>
              <a:rPr lang="en-US" sz="2400" b="0" dirty="0">
                <a:latin typeface="+mn-lt"/>
                <a:cs typeface="Calibri"/>
              </a:rPr>
              <a:t>, $s0 </a:t>
            </a:r>
            <a:r>
              <a:rPr lang="en-US" sz="2400" b="0" dirty="0" err="1">
                <a:latin typeface="+mn-lt"/>
                <a:cs typeface="Calibri"/>
              </a:rPr>
              <a:t>contiene</a:t>
            </a:r>
            <a:r>
              <a:rPr lang="en-US" sz="2400" b="0" dirty="0">
                <a:latin typeface="+mn-lt"/>
                <a:cs typeface="Calibri"/>
              </a:rPr>
              <a:t> 6 </a:t>
            </a:r>
            <a:r>
              <a:rPr lang="en-US" sz="2400" b="0" dirty="0" err="1">
                <a:latin typeface="+mn-lt"/>
                <a:cs typeface="Calibri"/>
              </a:rPr>
              <a:t>ed</a:t>
            </a:r>
            <a:r>
              <a:rPr lang="en-US" sz="2400" b="0" dirty="0">
                <a:latin typeface="+mn-lt"/>
                <a:cs typeface="Calibri"/>
              </a:rPr>
              <a:t> $s1 </a:t>
            </a:r>
            <a:r>
              <a:rPr lang="en-US" sz="2400" b="0" dirty="0" err="1">
                <a:latin typeface="+mn-lt"/>
                <a:cs typeface="Calibri"/>
              </a:rPr>
              <a:t>contiene</a:t>
            </a:r>
            <a:r>
              <a:rPr lang="en-US" sz="2400" b="0" dirty="0">
                <a:latin typeface="+mn-lt"/>
                <a:cs typeface="Calibri"/>
              </a:rPr>
              <a:t>  6</a:t>
            </a:r>
          </a:p>
          <a:p>
            <a:pPr marL="342900" lvl="1" indent="-342900" algn="l">
              <a:buClr>
                <a:schemeClr val="accent2"/>
              </a:buClr>
              <a:buFont typeface="Wingdings" charset="2"/>
              <a:buChar char="Ø"/>
            </a:pPr>
            <a:r>
              <a:rPr lang="en-US" sz="2400" b="0" dirty="0">
                <a:latin typeface="+mn-lt"/>
                <a:cs typeface="Calibri"/>
              </a:rPr>
              <a:t>La </a:t>
            </a:r>
            <a:r>
              <a:rPr lang="en-US" sz="2400" b="0" dirty="0" err="1">
                <a:latin typeface="+mn-lt"/>
                <a:cs typeface="Calibri"/>
              </a:rPr>
              <a:t>risposta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esatta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 err="1">
                <a:latin typeface="+mn-lt"/>
                <a:cs typeface="Calibri"/>
              </a:rPr>
              <a:t>è</a:t>
            </a:r>
            <a:r>
              <a:rPr lang="en-US" sz="2400" b="0" dirty="0">
                <a:latin typeface="+mn-lt"/>
                <a:cs typeface="Calibri"/>
              </a:rPr>
              <a:t> </a:t>
            </a:r>
            <a:r>
              <a:rPr lang="en-US" sz="2400" b="0" dirty="0">
                <a:solidFill>
                  <a:srgbClr val="FF3300"/>
                </a:solidFill>
                <a:latin typeface="+mn-lt"/>
                <a:cs typeface="Calibri"/>
              </a:rPr>
              <a:t>D</a:t>
            </a:r>
          </a:p>
          <a:p>
            <a:pPr algn="l"/>
            <a:r>
              <a:rPr lang="it-IT" sz="2000" b="0" dirty="0">
                <a:latin typeface="+mn-lt"/>
                <a:cs typeface="Calibri"/>
              </a:rPr>
              <a:t>	A. 2 e 6 		C. 2 e 2</a:t>
            </a:r>
          </a:p>
          <a:p>
            <a:pPr algn="l"/>
            <a:r>
              <a:rPr lang="it-IT" sz="2000" b="0" dirty="0">
                <a:latin typeface="+mn-lt"/>
                <a:cs typeface="Calibri"/>
              </a:rPr>
              <a:t>	B. 6 e 2 		D. Nessuna delle risposte precedenti.</a:t>
            </a:r>
          </a:p>
        </p:txBody>
      </p:sp>
    </p:spTree>
    <p:extLst>
      <p:ext uri="{BB962C8B-B14F-4D97-AF65-F5344CB8AC3E}">
        <p14:creationId xmlns:p14="http://schemas.microsoft.com/office/powerpoint/2010/main" val="24863560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8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671191"/>
            <a:ext cx="87849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consideri il seguente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ciclo</a:t>
            </a:r>
            <a:r>
              <a:rPr lang="it-IT" sz="2400" b="0" dirty="0">
                <a:latin typeface="+mn-lt"/>
                <a:cs typeface="Calibri"/>
              </a:rPr>
              <a:t> in assembly MIPS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7150" algn="l" eaLnBrk="1" hangingPunct="1">
              <a:buClr>
                <a:schemeClr val="accent2"/>
              </a:buClr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supponga che $t1 contenga il valore 10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Quale sarà il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contenuto finale di $s2</a:t>
            </a:r>
            <a:r>
              <a:rPr lang="it-IT" sz="2400" b="0" dirty="0">
                <a:latin typeface="+mn-lt"/>
                <a:cs typeface="Calibri"/>
              </a:rPr>
              <a:t>, supponendo che il suo valore iniziale sia 0? </a:t>
            </a:r>
            <a:endParaRPr lang="it-IT" sz="2000" b="0" dirty="0">
              <a:latin typeface="+mn-lt"/>
              <a:cs typeface="Calibri"/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>
          <a:xfrm>
            <a:off x="2195736" y="2060848"/>
            <a:ext cx="4608512" cy="2016224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514350" indent="-457200" algn="ctr" eaLnBrk="1" hangingPunct="1"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CICLO: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slt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$t1</a:t>
            </a: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beq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FINE</a:t>
            </a: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$t1, $t1, -1</a:t>
            </a: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$s2, $s2, 2</a:t>
            </a: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j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CICLO</a:t>
            </a: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FINE:</a:t>
            </a: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	</a:t>
            </a:r>
            <a:endParaRPr lang="pl-PL" sz="2400" b="0" dirty="0">
              <a:solidFill>
                <a:srgbClr val="0000FF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0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8: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671191"/>
            <a:ext cx="87849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consideri il seguente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ciclo</a:t>
            </a:r>
            <a:r>
              <a:rPr lang="it-IT" sz="2400" b="0" dirty="0">
                <a:latin typeface="+mn-lt"/>
                <a:cs typeface="Calibri"/>
              </a:rPr>
              <a:t> in assembly MIPS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7150" algn="l" eaLnBrk="1" hangingPunct="1">
              <a:buClr>
                <a:schemeClr val="accent2"/>
              </a:buClr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supponga che $t1 contenga il valore 10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Quale sarà il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contenuto finale di $s2</a:t>
            </a:r>
            <a:r>
              <a:rPr lang="it-IT" sz="2400" b="0" dirty="0">
                <a:latin typeface="+mn-lt"/>
                <a:cs typeface="Calibri"/>
              </a:rPr>
              <a:t>, supponendo che il suo valore iniziale sia 0? </a:t>
            </a:r>
            <a:endParaRPr lang="it-IT" sz="2000" b="0" dirty="0">
              <a:latin typeface="+mn-lt"/>
              <a:cs typeface="Calibri"/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>
          <a:xfrm>
            <a:off x="899592" y="1844824"/>
            <a:ext cx="7848872" cy="3024336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514350" indent="-457200" algn="ctr" eaLnBrk="1" hangingPunct="1"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CICLO: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slt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$t1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#all’inizio del ciclo $t2 contiene 1 			        #perché 0&lt;10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beq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FINE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#$t2≠0, quindi non esegue il 					    salto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$t1, $t1, -1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#$t1 contiene 9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$s2, $s2, 2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#$s2 contiene 2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j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CICLO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#$torna all’inizio del ciclo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FINE:</a:t>
            </a: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	</a:t>
            </a:r>
            <a:endParaRPr lang="pl-PL" sz="2400" b="0" dirty="0">
              <a:solidFill>
                <a:srgbClr val="0000FF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65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8: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671191"/>
            <a:ext cx="87849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consideri il seguente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ciclo</a:t>
            </a:r>
            <a:r>
              <a:rPr lang="it-IT" sz="2400" b="0" dirty="0">
                <a:latin typeface="+mn-lt"/>
                <a:cs typeface="Calibri"/>
              </a:rPr>
              <a:t> in assembly MIPS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7150" algn="l" eaLnBrk="1" hangingPunct="1">
              <a:buClr>
                <a:schemeClr val="accent2"/>
              </a:buClr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supponga che $t1 contenga il valore 10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Quale sarà il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contenuto finale di $s2</a:t>
            </a:r>
            <a:r>
              <a:rPr lang="it-IT" sz="2400" b="0" dirty="0">
                <a:latin typeface="+mn-lt"/>
                <a:cs typeface="Calibri"/>
              </a:rPr>
              <a:t>, supponendo che il suo valore iniziale sia 0? </a:t>
            </a:r>
            <a:endParaRPr lang="it-IT" sz="2000" b="0" dirty="0">
              <a:latin typeface="+mn-lt"/>
              <a:cs typeface="Calibri"/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>
          <a:xfrm>
            <a:off x="899592" y="2060848"/>
            <a:ext cx="7848872" cy="2592288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514350" indent="-457200" algn="ctr" eaLnBrk="1" hangingPunct="1"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CICLO: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slt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$t1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 contiene 1 perché 0&lt;9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beq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FINE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#$t2≠0, quindi non esegue il 					     salto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$t1, $t1, -1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#$t1 contiene 8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$s2, $s2, 2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#$s2 contiene 4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j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CICLO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#$torna all’inizio del ciclo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FINE:</a:t>
            </a: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	</a:t>
            </a:r>
            <a:endParaRPr lang="pl-PL" sz="2400" b="0" dirty="0">
              <a:solidFill>
                <a:srgbClr val="0000FF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66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8: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671191"/>
            <a:ext cx="87849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consideri il seguente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ciclo</a:t>
            </a:r>
            <a:r>
              <a:rPr lang="it-IT" sz="2400" b="0" dirty="0">
                <a:latin typeface="+mn-lt"/>
                <a:cs typeface="Calibri"/>
              </a:rPr>
              <a:t> in assembly MIPS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7150" algn="l" eaLnBrk="1" hangingPunct="1">
              <a:buClr>
                <a:schemeClr val="accent2"/>
              </a:buClr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supponga che $t1 contenga il valore 10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Quale sarà il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contenuto finale di $s2</a:t>
            </a:r>
            <a:r>
              <a:rPr lang="it-IT" sz="2400" b="0" dirty="0">
                <a:latin typeface="+mn-lt"/>
                <a:cs typeface="Calibri"/>
              </a:rPr>
              <a:t>, supponendo che il suo valore iniziale sia 0? </a:t>
            </a:r>
            <a:endParaRPr lang="it-IT" sz="2000" b="0" dirty="0">
              <a:latin typeface="+mn-lt"/>
              <a:cs typeface="Calibri"/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>
          <a:xfrm>
            <a:off x="899592" y="2060848"/>
            <a:ext cx="7848872" cy="2592288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514350" indent="-457200" algn="ctr" eaLnBrk="1" hangingPunct="1"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CICLO: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slt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$t1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 contiene 1 perché 0&lt;8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beq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FINE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#$t2≠0, quindi non esegue il 					    salto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$t1, $t1, -1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#$t1 contiene 7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$s2, $s2, 2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#$s2 contiene 6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j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CICLO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#$torna all’inizio del ciclo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FINE:</a:t>
            </a: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	</a:t>
            </a:r>
            <a:endParaRPr lang="pl-PL" sz="2400" b="0" dirty="0">
              <a:solidFill>
                <a:srgbClr val="0000FF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72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8: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671191"/>
            <a:ext cx="87849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consideri il seguente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ciclo</a:t>
            </a:r>
            <a:r>
              <a:rPr lang="it-IT" sz="2400" b="0" dirty="0">
                <a:latin typeface="+mn-lt"/>
                <a:cs typeface="Calibri"/>
              </a:rPr>
              <a:t> in assembly MIPS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7150" algn="l" eaLnBrk="1" hangingPunct="1">
              <a:buClr>
                <a:schemeClr val="accent2"/>
              </a:buClr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supponga che $t1 contenga il valore 10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Quale sarà il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contenuto finale di $s2</a:t>
            </a:r>
            <a:r>
              <a:rPr lang="it-IT" sz="2400" b="0" dirty="0">
                <a:latin typeface="+mn-lt"/>
                <a:cs typeface="Calibri"/>
              </a:rPr>
              <a:t>, supponendo che il suo valore iniziale sia 0? </a:t>
            </a:r>
            <a:endParaRPr lang="it-IT" sz="2000" b="0" dirty="0">
              <a:latin typeface="+mn-lt"/>
              <a:cs typeface="Calibri"/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>
          <a:xfrm>
            <a:off x="899592" y="2060848"/>
            <a:ext cx="7848872" cy="2592288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514350" indent="-457200" algn="ctr" eaLnBrk="1" hangingPunct="1"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CICLO: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slt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$t1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 contiene 1 perché 0&lt;7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beq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FINE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#$t2≠0, quindi non esegue il 					    salto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$t1, $t1, -1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#$t1 contiene 6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$s2, $s2, 2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#$s2 contiene 8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j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CICLO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#$torna all’inizio del ciclo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FINE:</a:t>
            </a: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	</a:t>
            </a:r>
            <a:endParaRPr lang="pl-PL" sz="2400" b="0" dirty="0">
              <a:solidFill>
                <a:srgbClr val="0000FF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313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8: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671191"/>
            <a:ext cx="87849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consideri il seguente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ciclo</a:t>
            </a:r>
            <a:r>
              <a:rPr lang="it-IT" sz="2400" b="0" dirty="0">
                <a:latin typeface="+mn-lt"/>
                <a:cs typeface="Calibri"/>
              </a:rPr>
              <a:t> in assembly MIPS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7150" algn="l" eaLnBrk="1" hangingPunct="1">
              <a:buClr>
                <a:schemeClr val="accent2"/>
              </a:buClr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supponga che $t1 contenga il valore 10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Quale sarà il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contenuto finale di $s2</a:t>
            </a:r>
            <a:r>
              <a:rPr lang="it-IT" sz="2400" b="0" dirty="0">
                <a:latin typeface="+mn-lt"/>
                <a:cs typeface="Calibri"/>
              </a:rPr>
              <a:t>, supponendo che il suo valore iniziale sia 0? </a:t>
            </a:r>
            <a:endParaRPr lang="it-IT" sz="2000" b="0" dirty="0">
              <a:latin typeface="+mn-lt"/>
              <a:cs typeface="Calibri"/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>
          <a:xfrm>
            <a:off x="899592" y="2060848"/>
            <a:ext cx="7848872" cy="2592288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514350" indent="-457200" algn="ctr" eaLnBrk="1" hangingPunct="1"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CICLO: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slt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$t1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 contiene 1 perché 0&lt;6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beq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FINE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#$t2≠0, quindi non esegue il 					    salto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$t1, $t1, -1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#$t1 contiene 5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$s2, $s2, 2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#$s2 contiene 10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j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CICLO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#$torna all’inizio del ciclo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FINE:</a:t>
            </a: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	</a:t>
            </a:r>
            <a:endParaRPr lang="pl-PL" sz="2400" b="0" dirty="0">
              <a:solidFill>
                <a:srgbClr val="0000FF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96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8: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671191"/>
            <a:ext cx="87849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consideri il seguente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ciclo</a:t>
            </a:r>
            <a:r>
              <a:rPr lang="it-IT" sz="2400" b="0" dirty="0">
                <a:latin typeface="+mn-lt"/>
                <a:cs typeface="Calibri"/>
              </a:rPr>
              <a:t> in assembly MIPS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7150" algn="l" eaLnBrk="1" hangingPunct="1">
              <a:buClr>
                <a:schemeClr val="accent2"/>
              </a:buClr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supponga che $t1 contenga il valore 10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Quale sarà il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contenuto finale di $s2</a:t>
            </a:r>
            <a:r>
              <a:rPr lang="it-IT" sz="2400" b="0" dirty="0">
                <a:latin typeface="+mn-lt"/>
                <a:cs typeface="Calibri"/>
              </a:rPr>
              <a:t>, supponendo che il suo valore iniziale sia 0? </a:t>
            </a:r>
            <a:endParaRPr lang="it-IT" sz="2000" b="0" dirty="0">
              <a:latin typeface="+mn-lt"/>
              <a:cs typeface="Calibri"/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>
          <a:xfrm>
            <a:off x="899592" y="2060848"/>
            <a:ext cx="7848872" cy="2592288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514350" indent="-457200" algn="ctr" eaLnBrk="1" hangingPunct="1"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CICLO: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slt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$t1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 contiene 1 perché 0&lt;5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beq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FINE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#$t2≠0, quindi non esegue il 					    salto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$t1, $t1, -1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#$t1 contiene 4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$s2, $s2, 2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#$s2 contiene 12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j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CICLO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#$torna all’inizio del ciclo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FINE:</a:t>
            </a: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	</a:t>
            </a:r>
            <a:endParaRPr lang="pl-PL" sz="2400" b="0" dirty="0">
              <a:solidFill>
                <a:srgbClr val="0000FF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24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8: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671191"/>
            <a:ext cx="87849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consideri il seguente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ciclo</a:t>
            </a:r>
            <a:r>
              <a:rPr lang="it-IT" sz="2400" b="0" dirty="0">
                <a:latin typeface="+mn-lt"/>
                <a:cs typeface="Calibri"/>
              </a:rPr>
              <a:t> in assembly MIPS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7150" algn="l" eaLnBrk="1" hangingPunct="1">
              <a:buClr>
                <a:schemeClr val="accent2"/>
              </a:buClr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supponga che $t1 contenga il valore 10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Quale sarà il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contenuto finale di $s2</a:t>
            </a:r>
            <a:r>
              <a:rPr lang="it-IT" sz="2400" b="0" dirty="0">
                <a:latin typeface="+mn-lt"/>
                <a:cs typeface="Calibri"/>
              </a:rPr>
              <a:t>, supponendo che il suo valore iniziale sia 0? </a:t>
            </a:r>
            <a:endParaRPr lang="it-IT" sz="2000" b="0" dirty="0">
              <a:latin typeface="+mn-lt"/>
              <a:cs typeface="Calibri"/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>
          <a:xfrm>
            <a:off x="899592" y="2060848"/>
            <a:ext cx="7848872" cy="2592288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514350" indent="-457200" algn="ctr" eaLnBrk="1" hangingPunct="1"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CICLO: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slt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$t1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 contiene 1 perché 0&lt;4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beq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FINE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#$t2≠0, quindi non esegue il 					    salto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$t1, $t1, -1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#$t1 contiene 3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$s2, $s2, 2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#$s2 contiene 14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j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CICLO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#$torna all’inizio del ciclo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FINE:</a:t>
            </a: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	</a:t>
            </a:r>
            <a:endParaRPr lang="pl-PL" sz="2400" b="0" dirty="0">
              <a:solidFill>
                <a:srgbClr val="0000FF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96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8: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671191"/>
            <a:ext cx="87849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consideri il seguente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ciclo</a:t>
            </a:r>
            <a:r>
              <a:rPr lang="it-IT" sz="2400" b="0" dirty="0">
                <a:latin typeface="+mn-lt"/>
                <a:cs typeface="Calibri"/>
              </a:rPr>
              <a:t> in assembly MIPS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7150" algn="l" eaLnBrk="1" hangingPunct="1">
              <a:buClr>
                <a:schemeClr val="accent2"/>
              </a:buClr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supponga che $t1 contenga il valore 10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Quale sarà il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contenuto finale di $s2</a:t>
            </a:r>
            <a:r>
              <a:rPr lang="it-IT" sz="2400" b="0" dirty="0">
                <a:latin typeface="+mn-lt"/>
                <a:cs typeface="Calibri"/>
              </a:rPr>
              <a:t>, supponendo che il suo valore iniziale sia 0? </a:t>
            </a:r>
            <a:endParaRPr lang="it-IT" sz="2000" b="0" dirty="0">
              <a:latin typeface="+mn-lt"/>
              <a:cs typeface="Calibri"/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>
          <a:xfrm>
            <a:off x="899592" y="2060848"/>
            <a:ext cx="7848872" cy="2592288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514350" indent="-457200" algn="ctr" eaLnBrk="1" hangingPunct="1"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CICLO: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slt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$t1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 contiene 1 perché 0&lt;3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beq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FINE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#$t2≠0, quindi non esegue il 					    salto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$t1, $t1, -1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#$t1 contiene 2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$s2, $s2, 2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#$s2 contiene 16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j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CICLO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#$torna all’inizio del ciclo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FINE:</a:t>
            </a: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	</a:t>
            </a:r>
            <a:endParaRPr lang="pl-PL" sz="2400" b="0" dirty="0">
              <a:solidFill>
                <a:srgbClr val="0000FF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40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8: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671191"/>
            <a:ext cx="87849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consideri il seguente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ciclo</a:t>
            </a:r>
            <a:r>
              <a:rPr lang="it-IT" sz="2400" b="0" dirty="0">
                <a:latin typeface="+mn-lt"/>
                <a:cs typeface="Calibri"/>
              </a:rPr>
              <a:t> in assembly MIPS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7150" algn="l" eaLnBrk="1" hangingPunct="1">
              <a:buClr>
                <a:schemeClr val="accent2"/>
              </a:buClr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supponga che $t1 contenga il valore 10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Quale sarà il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contenuto finale di $s2</a:t>
            </a:r>
            <a:r>
              <a:rPr lang="it-IT" sz="2400" b="0" dirty="0">
                <a:latin typeface="+mn-lt"/>
                <a:cs typeface="Calibri"/>
              </a:rPr>
              <a:t>, supponendo che il suo valore iniziale sia 0? </a:t>
            </a:r>
            <a:endParaRPr lang="it-IT" sz="2000" b="0" dirty="0">
              <a:latin typeface="+mn-lt"/>
              <a:cs typeface="Calibri"/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>
          <a:xfrm>
            <a:off x="899592" y="2060848"/>
            <a:ext cx="7848872" cy="2592288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514350" indent="-457200" algn="ctr" eaLnBrk="1" hangingPunct="1"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CICLO: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slt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$t1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 contiene 1 perché 0&lt;2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beq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FINE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#$t2≠0, quindi non esegue il 					    salto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$t1, $t1, -1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#$t1 contiene 1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$s2, $s2, 2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#$s2 contiene 18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j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CICLO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#$torna all’inizio del ciclo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FINE:</a:t>
            </a: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	</a:t>
            </a:r>
            <a:endParaRPr lang="pl-PL" sz="2400" b="0" dirty="0">
              <a:solidFill>
                <a:srgbClr val="0000FF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06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8: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671191"/>
            <a:ext cx="87849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consideri il seguente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ciclo</a:t>
            </a:r>
            <a:r>
              <a:rPr lang="it-IT" sz="2400" b="0" dirty="0">
                <a:latin typeface="+mn-lt"/>
                <a:cs typeface="Calibri"/>
              </a:rPr>
              <a:t> in assembly MIPS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7150" algn="l" eaLnBrk="1" hangingPunct="1">
              <a:buClr>
                <a:schemeClr val="accent2"/>
              </a:buClr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supponga che $t1 contenga il valore 10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Quale sarà il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contenuto finale di $s2</a:t>
            </a:r>
            <a:r>
              <a:rPr lang="it-IT" sz="2400" b="0" dirty="0">
                <a:latin typeface="+mn-lt"/>
                <a:cs typeface="Calibri"/>
              </a:rPr>
              <a:t>, supponendo che il suo valore iniziale sia 0? </a:t>
            </a:r>
            <a:endParaRPr lang="it-IT" sz="2000" b="0" dirty="0">
              <a:latin typeface="+mn-lt"/>
              <a:cs typeface="Calibri"/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>
          <a:xfrm>
            <a:off x="899592" y="2060848"/>
            <a:ext cx="7848872" cy="2592288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514350" indent="-457200" algn="ctr" eaLnBrk="1" hangingPunct="1"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CICLO: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slt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$t1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 contiene 1 perché 0&lt;1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beq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FINE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#$t2≠0, quindi non esegue il 					    salto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$t1, $t1, -1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#$t1 contiene 0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$s2, $s2, 2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#$s2 contiene 20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j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CICLO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#$torna all’inizio del ciclo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FINE:</a:t>
            </a: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	</a:t>
            </a:r>
            <a:endParaRPr lang="pl-PL" sz="2400" b="0" dirty="0">
              <a:solidFill>
                <a:srgbClr val="0000FF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83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8: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671191"/>
            <a:ext cx="878497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Si consideri il seguente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ciclo</a:t>
            </a:r>
            <a:r>
              <a:rPr lang="it-IT" sz="2400" b="0" dirty="0">
                <a:latin typeface="+mn-lt"/>
                <a:cs typeface="Calibri"/>
              </a:rPr>
              <a:t> in assembly MIPS</a:t>
            </a: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7150" algn="l" eaLnBrk="1" hangingPunct="1">
              <a:buClr>
                <a:schemeClr val="accent2"/>
              </a:buClr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cs typeface="Calibri"/>
            </a:endParaRPr>
          </a:p>
          <a:p>
            <a:pPr marL="514350" indent="-457200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Il 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contenuto finale di $s2</a:t>
            </a:r>
            <a:r>
              <a:rPr lang="it-IT" sz="2400" b="0" dirty="0">
                <a:latin typeface="+mn-lt"/>
                <a:cs typeface="Calibri"/>
              </a:rPr>
              <a:t> è 20</a:t>
            </a:r>
            <a:endParaRPr lang="it-IT" sz="2000" b="0" dirty="0">
              <a:latin typeface="+mn-lt"/>
              <a:cs typeface="Calibri"/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>
          <a:xfrm>
            <a:off x="899592" y="2060848"/>
            <a:ext cx="7848872" cy="2592288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514350" indent="-457200" algn="ctr" eaLnBrk="1" hangingPunct="1"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CICLO: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slt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$t1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 contiene 0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beq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$t2, $zero, FINE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#$t2=0, quindi salta a FINE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$t1, $t1, -1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#non eseguita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addi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$s2, $s2, 2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#non eseguita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  </a:t>
            </a:r>
            <a:r>
              <a:rPr lang="it-IT" sz="2000" b="0" dirty="0" err="1">
                <a:solidFill>
                  <a:srgbClr val="0000FF"/>
                </a:solidFill>
                <a:cs typeface="Arial" charset="0"/>
              </a:rPr>
              <a:t>j</a:t>
            </a: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 CICLO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#non eseguita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lvl="2" indent="0" eaLnBrk="1" hangingPunct="1">
              <a:buNone/>
            </a:pPr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FINE: </a:t>
            </a:r>
            <a:r>
              <a:rPr lang="it-IT" sz="2000" b="0" dirty="0">
                <a:solidFill>
                  <a:srgbClr val="33CC33"/>
                </a:solidFill>
                <a:cs typeface="Arial" charset="0"/>
              </a:rPr>
              <a:t>#esci dal ciclo</a:t>
            </a:r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indent="0" eaLnBrk="1" hangingPunct="1"/>
            <a:endParaRPr lang="it-IT" sz="2000" b="0" dirty="0">
              <a:solidFill>
                <a:srgbClr val="0000FF"/>
              </a:solidFill>
              <a:cs typeface="Arial" charset="0"/>
            </a:endParaRPr>
          </a:p>
          <a:p>
            <a:pPr marL="57150" indent="0" eaLnBrk="1" hangingPunct="1"/>
            <a:r>
              <a:rPr lang="it-IT" sz="2000" b="0" dirty="0">
                <a:solidFill>
                  <a:srgbClr val="0000FF"/>
                </a:solidFill>
                <a:cs typeface="Arial" charset="0"/>
              </a:rPr>
              <a:t>		</a:t>
            </a:r>
            <a:endParaRPr lang="pl-PL" sz="2400" b="0" dirty="0">
              <a:solidFill>
                <a:srgbClr val="0000FF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257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356600" cy="1143000"/>
          </a:xfrm>
        </p:spPr>
        <p:txBody>
          <a:bodyPr/>
          <a:lstStyle/>
          <a:p>
            <a:pPr algn="ctr"/>
            <a:r>
              <a:rPr lang="it-IT" altLang="it-IT" dirty="0"/>
              <a:t>Riepilogo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57200" y="1885950"/>
            <a:ext cx="8305800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457200" indent="-457200">
              <a:buFont typeface="Wingdings" charset="2"/>
              <a:buChar char="Ø"/>
            </a:pPr>
            <a:r>
              <a:rPr lang="it-IT" b="0" kern="0" dirty="0"/>
              <a:t>istruzioni MIPS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b="0" kern="0" dirty="0"/>
              <a:t>Istruzioni per prendere decisioni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b="0" kern="0" dirty="0"/>
              <a:t>Cicli</a:t>
            </a:r>
          </a:p>
          <a:p>
            <a:pPr marL="457200" indent="-457200" algn="ctr">
              <a:buFont typeface="Wingdings" charset="2"/>
              <a:buChar char="Ø"/>
            </a:pPr>
            <a:endParaRPr lang="it-IT" altLang="it-IT" b="0" kern="0" dirty="0"/>
          </a:p>
          <a:p>
            <a:pPr marL="457200" indent="-457200">
              <a:buFont typeface="Wingdings" charset="2"/>
              <a:buChar char="Ø"/>
            </a:pPr>
            <a:endParaRPr lang="it-IT" altLang="it-IT" b="0" kern="0" dirty="0"/>
          </a:p>
        </p:txBody>
      </p:sp>
    </p:spTree>
    <p:extLst>
      <p:ext uri="{BB962C8B-B14F-4D97-AF65-F5344CB8AC3E}">
        <p14:creationId xmlns:p14="http://schemas.microsoft.com/office/powerpoint/2010/main" val="1342486083"/>
      </p:ext>
    </p:extLst>
  </p:cSld>
  <p:clrMapOvr>
    <a:masterClrMapping/>
  </p:clrMapOvr>
</p:sld>
</file>

<file path=ppt/theme/theme1.xml><?xml version="1.0" encoding="utf-8"?>
<a:theme xmlns:a="http://schemas.openxmlformats.org/drawingml/2006/main" name="korea">
  <a:themeElements>
    <a:clrScheme name="korea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korea">
      <a:majorFont>
        <a:latin typeface="Arial Black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miter lim="800000"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miter lim="800000"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108" charset="0"/>
          </a:defRPr>
        </a:defPPr>
      </a:lstStyle>
    </a:lnDef>
  </a:objectDefaults>
  <a:extraClrSchemeLst>
    <a:extraClrScheme>
      <a:clrScheme name="korea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rea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rea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rea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rea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rea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rea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stelvio</Template>
  <TotalTime>198994</TotalTime>
  <Words>4235</Words>
  <Application>Microsoft Office PowerPoint</Application>
  <PresentationFormat>Presentazione su schermo (4:3)</PresentationFormat>
  <Paragraphs>545</Paragraphs>
  <Slides>41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41</vt:i4>
      </vt:variant>
    </vt:vector>
  </HeadingPairs>
  <TitlesOfParts>
    <vt:vector size="52" baseType="lpstr">
      <vt:lpstr>MS PGothic</vt:lpstr>
      <vt:lpstr>Arial</vt:lpstr>
      <vt:lpstr>Arial Black</vt:lpstr>
      <vt:lpstr>Calibri</vt:lpstr>
      <vt:lpstr>Cambria Math</vt:lpstr>
      <vt:lpstr>Century Gothic</vt:lpstr>
      <vt:lpstr>Comic Sans MS</vt:lpstr>
      <vt:lpstr>Tahoma</vt:lpstr>
      <vt:lpstr>Times New Roman</vt:lpstr>
      <vt:lpstr>Wingdings</vt:lpstr>
      <vt:lpstr>korea</vt:lpstr>
      <vt:lpstr>Architettura degli Elaboratori</vt:lpstr>
      <vt:lpstr>Su cosa  ci esercitiamo oggi?</vt:lpstr>
      <vt:lpstr>Esercizio 1</vt:lpstr>
      <vt:lpstr>Lez. 13</vt:lpstr>
      <vt:lpstr>Esercizio 1: Soluzione</vt:lpstr>
      <vt:lpstr>Esercizio 1: Soluzione</vt:lpstr>
      <vt:lpstr>Esercizio 2</vt:lpstr>
      <vt:lpstr>Lez. 13 </vt:lpstr>
      <vt:lpstr>Esercizio 2: Soluzione</vt:lpstr>
      <vt:lpstr>Esercizio 2: Soluzione</vt:lpstr>
      <vt:lpstr>Esercizio 3</vt:lpstr>
      <vt:lpstr>Esercizio 3: Soluzione A</vt:lpstr>
      <vt:lpstr>Esercizio 3: Soluzione A</vt:lpstr>
      <vt:lpstr>Esercizio 3: Soluzione B</vt:lpstr>
      <vt:lpstr>Esercizio 3: Soluzione C</vt:lpstr>
      <vt:lpstr>Esercizio 3: Soluzione D</vt:lpstr>
      <vt:lpstr>Esercizio 4</vt:lpstr>
      <vt:lpstr>Esercizio 4: Soluzione</vt:lpstr>
      <vt:lpstr>Esercizio 5</vt:lpstr>
      <vt:lpstr>Esercizio 5: Soluzione</vt:lpstr>
      <vt:lpstr>Esercizio 6</vt:lpstr>
      <vt:lpstr>Esercizio 6: Soluzione</vt:lpstr>
      <vt:lpstr>Esercizio 7</vt:lpstr>
      <vt:lpstr>Esercizio 7: Soluzione</vt:lpstr>
      <vt:lpstr>Esercizio 7: Soluzione</vt:lpstr>
      <vt:lpstr>Esercizio 7: Soluzione</vt:lpstr>
      <vt:lpstr>Esercizio 7: Soluzione</vt:lpstr>
      <vt:lpstr>Esercizio 7: Soluzione</vt:lpstr>
      <vt:lpstr>Esercizio 8</vt:lpstr>
      <vt:lpstr>Esercizio 8: Soluzione</vt:lpstr>
      <vt:lpstr>Esercizio 8: Soluzione</vt:lpstr>
      <vt:lpstr>Esercizio 8: Soluzione</vt:lpstr>
      <vt:lpstr>Esercizio 8: Soluzione</vt:lpstr>
      <vt:lpstr>Esercizio 8: Soluzione</vt:lpstr>
      <vt:lpstr>Esercizio 8: Soluzione</vt:lpstr>
      <vt:lpstr>Esercizio 8: Soluzione</vt:lpstr>
      <vt:lpstr>Esercizio 8: Soluzione</vt:lpstr>
      <vt:lpstr>Esercizio 8: Soluzione</vt:lpstr>
      <vt:lpstr>Esercizio 8: Soluzione</vt:lpstr>
      <vt:lpstr>Esercizio 8: Soluzione</vt:lpstr>
      <vt:lpstr>Riepilogo</vt:lpstr>
    </vt:vector>
  </TitlesOfParts>
  <Manager/>
  <Company>Dipartimento di Informatica -- Università di Salerno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Introduzione</dc:title>
  <dc:subject/>
  <dc:creator>Barbara Masucci</dc:creator>
  <cp:keywords/>
  <dc:description/>
  <cp:lastModifiedBy>Domenico ROSSI</cp:lastModifiedBy>
  <cp:revision>2281</cp:revision>
  <cp:lastPrinted>2017-10-23T11:20:27Z</cp:lastPrinted>
  <dcterms:created xsi:type="dcterms:W3CDTF">2017-10-12T15:20:42Z</dcterms:created>
  <dcterms:modified xsi:type="dcterms:W3CDTF">2025-11-07T16:31:43Z</dcterms:modified>
  <cp:category/>
</cp:coreProperties>
</file>