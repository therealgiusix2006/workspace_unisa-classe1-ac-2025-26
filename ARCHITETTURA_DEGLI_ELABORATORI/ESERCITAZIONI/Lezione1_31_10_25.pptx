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media/image11.jpg" ContentType="image/jpg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80" r:id="rId1"/>
  </p:sldMasterIdLst>
  <p:notesMasterIdLst>
    <p:notesMasterId r:id="rId87"/>
  </p:notesMasterIdLst>
  <p:handoutMasterIdLst>
    <p:handoutMasterId r:id="rId88"/>
  </p:handoutMasterIdLst>
  <p:sldIdLst>
    <p:sldId id="2149" r:id="rId2"/>
    <p:sldId id="260" r:id="rId3"/>
    <p:sldId id="2168" r:id="rId4"/>
    <p:sldId id="2222" r:id="rId5"/>
    <p:sldId id="2223" r:id="rId6"/>
    <p:sldId id="2224" r:id="rId7"/>
    <p:sldId id="2225" r:id="rId8"/>
    <p:sldId id="2227" r:id="rId9"/>
    <p:sldId id="2228" r:id="rId10"/>
    <p:sldId id="2229" r:id="rId11"/>
    <p:sldId id="2230" r:id="rId12"/>
    <p:sldId id="2215" r:id="rId13"/>
    <p:sldId id="2235" r:id="rId14"/>
    <p:sldId id="2232" r:id="rId15"/>
    <p:sldId id="2237" r:id="rId16"/>
    <p:sldId id="2234" r:id="rId17"/>
    <p:sldId id="2243" r:id="rId18"/>
    <p:sldId id="2244" r:id="rId19"/>
    <p:sldId id="2245" r:id="rId20"/>
    <p:sldId id="2246" r:id="rId21"/>
    <p:sldId id="2247" r:id="rId22"/>
    <p:sldId id="2248" r:id="rId23"/>
    <p:sldId id="2249" r:id="rId24"/>
    <p:sldId id="2250" r:id="rId25"/>
    <p:sldId id="2265" r:id="rId26"/>
    <p:sldId id="2266" r:id="rId27"/>
    <p:sldId id="2173" r:id="rId28"/>
    <p:sldId id="2185" r:id="rId29"/>
    <p:sldId id="2186" r:id="rId30"/>
    <p:sldId id="2187" r:id="rId31"/>
    <p:sldId id="2255" r:id="rId32"/>
    <p:sldId id="2256" r:id="rId33"/>
    <p:sldId id="2257" r:id="rId34"/>
    <p:sldId id="2258" r:id="rId35"/>
    <p:sldId id="2259" r:id="rId36"/>
    <p:sldId id="2262" r:id="rId37"/>
    <p:sldId id="2263" r:id="rId38"/>
    <p:sldId id="2261" r:id="rId39"/>
    <p:sldId id="2267" r:id="rId40"/>
    <p:sldId id="2217" r:id="rId41"/>
    <p:sldId id="2270" r:id="rId42"/>
    <p:sldId id="2271" r:id="rId43"/>
    <p:sldId id="2152" r:id="rId44"/>
    <p:sldId id="2199" r:id="rId45"/>
    <p:sldId id="2200" r:id="rId46"/>
    <p:sldId id="2201" r:id="rId47"/>
    <p:sldId id="2272" r:id="rId48"/>
    <p:sldId id="2202" r:id="rId49"/>
    <p:sldId id="2203" r:id="rId50"/>
    <p:sldId id="2204" r:id="rId51"/>
    <p:sldId id="2205" r:id="rId52"/>
    <p:sldId id="2206" r:id="rId53"/>
    <p:sldId id="2207" r:id="rId54"/>
    <p:sldId id="2208" r:id="rId55"/>
    <p:sldId id="2277" r:id="rId56"/>
    <p:sldId id="2278" r:id="rId57"/>
    <p:sldId id="2280" r:id="rId58"/>
    <p:sldId id="2281" r:id="rId59"/>
    <p:sldId id="2283" r:id="rId60"/>
    <p:sldId id="2284" r:id="rId61"/>
    <p:sldId id="2285" r:id="rId62"/>
    <p:sldId id="2273" r:id="rId63"/>
    <p:sldId id="2286" r:id="rId64"/>
    <p:sldId id="2276" r:id="rId65"/>
    <p:sldId id="2279" r:id="rId66"/>
    <p:sldId id="2311" r:id="rId67"/>
    <p:sldId id="2416" r:id="rId68"/>
    <p:sldId id="2417" r:id="rId69"/>
    <p:sldId id="2282" r:id="rId70"/>
    <p:sldId id="2418" r:id="rId71"/>
    <p:sldId id="2290" r:id="rId72"/>
    <p:sldId id="2291" r:id="rId73"/>
    <p:sldId id="2288" r:id="rId74"/>
    <p:sldId id="2289" r:id="rId75"/>
    <p:sldId id="2292" r:id="rId76"/>
    <p:sldId id="2293" r:id="rId77"/>
    <p:sldId id="2420" r:id="rId78"/>
    <p:sldId id="2294" r:id="rId79"/>
    <p:sldId id="2295" r:id="rId80"/>
    <p:sldId id="2302" r:id="rId81"/>
    <p:sldId id="2304" r:id="rId82"/>
    <p:sldId id="2305" r:id="rId83"/>
    <p:sldId id="2312" r:id="rId84"/>
    <p:sldId id="2313" r:id="rId85"/>
    <p:sldId id="2314" r:id="rId86"/>
  </p:sldIdLst>
  <p:sldSz cx="9144000" cy="6858000" type="screen4x3"/>
  <p:notesSz cx="7099300" cy="10234613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D445"/>
    <a:srgbClr val="993366"/>
    <a:srgbClr val="FF9966"/>
    <a:srgbClr val="FFFF00"/>
    <a:srgbClr val="0000FF"/>
    <a:srgbClr val="33CC33"/>
    <a:srgbClr val="6666FF"/>
    <a:srgbClr val="FF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0"/>
    <p:restoredTop sz="94774"/>
  </p:normalViewPr>
  <p:slideViewPr>
    <p:cSldViewPr>
      <p:cViewPr>
        <p:scale>
          <a:sx n="125" d="100"/>
          <a:sy n="125" d="100"/>
        </p:scale>
        <p:origin x="178" y="-18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2412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3778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778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fld id="{EACE7C25-D304-BE4D-9C1F-2702F5306DF6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19625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2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0"/>
            <a:r>
              <a:rPr lang="it-IT" noProof="0"/>
              <a:t>Secondo livello</a:t>
            </a:r>
          </a:p>
          <a:p>
            <a:pPr lvl="0"/>
            <a:r>
              <a:rPr lang="it-IT" noProof="0"/>
              <a:t>Terzo livello</a:t>
            </a:r>
          </a:p>
          <a:p>
            <a:pPr lvl="0"/>
            <a:r>
              <a:rPr lang="it-IT" noProof="0"/>
              <a:t>Quarto livello</a:t>
            </a:r>
          </a:p>
          <a:p>
            <a:pPr lvl="0"/>
            <a:r>
              <a:rPr lang="it-IT" noProof="0"/>
              <a:t>Quinto livello</a:t>
            </a:r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02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fld id="{6AE8E824-1F88-FB47-BC5C-B6033AAF8800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231740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ＭＳ Ｐゴシック" pitchFamily="-108" charset="-128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sz="1200" b="0">
                <a:latin typeface="Tahoma" charset="0"/>
              </a:rPr>
              <a:t>05-05-2016</a:t>
            </a:r>
          </a:p>
        </p:txBody>
      </p:sp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F6A8D13-7514-B24E-9A26-496D76200EAD}" type="slidenum">
              <a:rPr lang="it-IT" sz="1200" b="0">
                <a:latin typeface="Tahoma" charset="0"/>
              </a:rPr>
              <a:pPr/>
              <a:t>0</a:t>
            </a:fld>
            <a:endParaRPr lang="it-IT" sz="1200" b="0">
              <a:latin typeface="Tahoma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3588"/>
            <a:ext cx="5094288" cy="3821112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2338" y="4840288"/>
            <a:ext cx="5226050" cy="4668837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437" name="Segnaposto intestazione 5"/>
          <p:cNvSpPr>
            <a:spLocks noGrp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sz="1200" b="0">
                <a:latin typeface="Tahoma" charset="0"/>
              </a:rPr>
              <a:t>Elementi di Crittografia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BF9A9-75D2-5A4A-8BC4-C713BC08A5A3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136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2) 107,183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6F88A-E5A2-479B-92ED-083387F55012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429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2) 107,183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6F88A-E5A2-479B-92ED-083387F55012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429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2) 107,183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6F88A-E5A2-479B-92ED-083387F55012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429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2) 107,183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6F88A-E5A2-479B-92ED-083387F55012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429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2) 107,183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6F88A-E5A2-479B-92ED-083387F55012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429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2) 107,183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6F88A-E5A2-479B-92ED-083387F55012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429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2) 107,183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6F88A-E5A2-479B-92ED-083387F55012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429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2) 107,183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6F88A-E5A2-479B-92ED-083387F55012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429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2) 107,183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6F88A-E5A2-479B-92ED-083387F55012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429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2) 107,183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6F88A-E5A2-479B-92ED-083387F55012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429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BF9A9-75D2-5A4A-8BC4-C713BC08A5A3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136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egnaposto immagine diapositiva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egnaposto immagine diapositiva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egnaposto immagine diapositiva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Segnaposto note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intestazion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E8E824-1F88-FB47-BC5C-B6033AAF8800}" type="slidenum">
              <a:rPr lang="it-IT" smtClean="0"/>
              <a:pPr>
                <a:defRPr/>
              </a:pPr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4056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BF9A9-75D2-5A4A-8BC4-C713BC08A5A3}" type="slidenum">
              <a:rPr lang="it-IT" smtClean="0"/>
              <a:pPr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136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804763" indent="-309524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238098" indent="-24762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733337" indent="-24762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228576" indent="-24762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38209907-7523-3248-A198-91B523810726}" type="slidenum">
              <a:rPr lang="it-IT"/>
              <a:pPr/>
              <a:t>39</a:t>
            </a:fld>
            <a:endParaRPr lang="it-IT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BF9A9-75D2-5A4A-8BC4-C713BC08A5A3}" type="slidenum">
              <a:rPr lang="it-IT" smtClean="0"/>
              <a:pPr/>
              <a:t>60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1366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intestazion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E8E824-1F88-FB47-BC5C-B6033AAF8800}" type="slidenum">
              <a:rPr lang="it-IT" smtClean="0"/>
              <a:pPr>
                <a:defRPr/>
              </a:pPr>
              <a:t>65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880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609600"/>
            <a:ext cx="8178800" cy="1295400"/>
          </a:xfrm>
        </p:spPr>
        <p:txBody>
          <a:bodyPr/>
          <a:lstStyle>
            <a:lvl1pPr>
              <a:defRPr b="1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200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defRPr>
                <a:latin typeface="Arial Black" pitchFamily="-108" charset="0"/>
              </a:defRPr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11200" y="6229350"/>
            <a:ext cx="1930400" cy="5143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b="0">
                <a:solidFill>
                  <a:srgbClr val="5E574E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 algn="ctr">
              <a:defRPr sz="1400"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fld id="{6E642E82-7D8A-3A41-B235-D0E8CAF0ACF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792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C7E84-1A74-C448-82DC-88951075EFE9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91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BC418-7B45-AB48-81FE-BC17BE879B8E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98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0F877-E422-9843-95AA-365F1B5192D1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27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F48D5-374E-6847-9E0D-3AB5A545450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073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EC335-BEF5-6A4F-A2EC-55E3DBE011C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575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ECDD0-321D-5E40-B951-9EFC4C6791A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29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7A00E-4E6A-094F-9691-35F63ECD4D7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57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D833F9-DFB2-4C4C-9C97-F5B2E8C9517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007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8C3F7-1F86-5C43-B954-F7148FB6CDF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694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73850" y="228600"/>
            <a:ext cx="2089150" cy="5829300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115050" cy="58293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CC145-3297-FA40-830F-481A8FD46C1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887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457200" y="1885950"/>
            <a:ext cx="8178800" cy="4171950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51193-0834-4640-A98B-28558B3C804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451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304800" y="1371600"/>
            <a:ext cx="381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3" dist="85194" dir="12393903">
              <a:srgbClr val="F4792E">
                <a:alpha val="74997"/>
              </a:srgbClr>
            </a:prstShdw>
          </a:effectLst>
        </p:spPr>
        <p:txBody>
          <a:bodyPr wrap="none" anchor="ctr"/>
          <a:lstStyle/>
          <a:p>
            <a:endParaRPr lang="it-IT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835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/>
          </a:p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0060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43000" y="6096000"/>
            <a:ext cx="58054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b="0">
                <a:solidFill>
                  <a:schemeClr val="bg2"/>
                </a:solidFill>
                <a:latin typeface="Arial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20060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6248400"/>
            <a:ext cx="1092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b="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fld id="{11A4DE33-46B0-8940-BB01-66AF5FC5DA8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  <p:pic>
        <p:nvPicPr>
          <p:cNvPr id="1031" name="Picture 8" descr="paint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1445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9"/>
          <p:cNvSpPr>
            <a:spLocks noChangeShapeType="1"/>
          </p:cNvSpPr>
          <p:nvPr/>
        </p:nvSpPr>
        <p:spPr bwMode="auto">
          <a:xfrm flipV="1">
            <a:off x="457200" y="457200"/>
            <a:ext cx="0" cy="556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" name="Line 10"/>
          <p:cNvSpPr>
            <a:spLocks noChangeShapeType="1"/>
          </p:cNvSpPr>
          <p:nvPr/>
        </p:nvSpPr>
        <p:spPr bwMode="auto">
          <a:xfrm>
            <a:off x="228600" y="15240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1" descr="logo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2825"/>
            <a:ext cx="677863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defRPr kumimoji="1" sz="32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8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400">
          <a:solidFill>
            <a:schemeClr val="tx1"/>
          </a:solidFill>
          <a:latin typeface="+mn-lt"/>
          <a:ea typeface="ＭＳ Ｐゴシック" pitchFamily="-108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dorossi@unisa.it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NULL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NULL"/><Relationship Id="rId5" Type="http://schemas.openxmlformats.org/officeDocument/2006/relationships/image" Target="NUL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NULL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6" Type="http://schemas.openxmlformats.org/officeDocument/2006/relationships/image" Target="NULL"/><Relationship Id="rId5" Type="http://schemas.openxmlformats.org/officeDocument/2006/relationships/image" Target="NUL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DI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32" y="5229225"/>
            <a:ext cx="7620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0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549275"/>
            <a:ext cx="8893175" cy="1143000"/>
          </a:xfrm>
          <a:noFill/>
        </p:spPr>
        <p:txBody>
          <a:bodyPr anchor="ctr"/>
          <a:lstStyle/>
          <a:p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Architettura</a:t>
            </a:r>
            <a:br>
              <a:rPr lang="en-US" sz="5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degli</a:t>
            </a:r>
            <a:r>
              <a:rPr lang="en-US" sz="5400" dirty="0">
                <a:latin typeface="Arial Black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Elaboratori</a:t>
            </a:r>
            <a:endParaRPr lang="en-US" sz="360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685800" y="152400"/>
            <a:ext cx="7772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endParaRPr lang="en-US" sz="2000">
              <a:solidFill>
                <a:srgbClr val="FF0066"/>
              </a:solidFill>
              <a:latin typeface="Comic Sans MS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endParaRPr lang="en-US" sz="1400" b="0">
              <a:solidFill>
                <a:srgbClr val="0000CC"/>
              </a:solidFill>
              <a:latin typeface="Comic Sans MS" charset="0"/>
            </a:endParaRPr>
          </a:p>
        </p:txBody>
      </p:sp>
      <p:pic>
        <p:nvPicPr>
          <p:cNvPr id="3" name="Picture 2" descr="FullSizeRender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793636"/>
            <a:ext cx="3960440" cy="2795604"/>
          </a:xfrm>
          <a:prstGeom prst="rect">
            <a:avLst/>
          </a:prstGeom>
        </p:spPr>
      </p:pic>
      <p:sp>
        <p:nvSpPr>
          <p:cNvPr id="174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67744" y="4941168"/>
            <a:ext cx="6264696" cy="175260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endParaRPr lang="en-US" sz="1800" b="1" dirty="0">
              <a:solidFill>
                <a:srgbClr val="FF0066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2000" b="1" dirty="0">
              <a:solidFill>
                <a:srgbClr val="CC0000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1400" dirty="0">
              <a:solidFill>
                <a:schemeClr val="accent2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50000"/>
              </a:lnSpc>
            </a:pPr>
            <a:endParaRPr lang="en-US" sz="1400" b="1" dirty="0">
              <a:solidFill>
                <a:schemeClr val="accent2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endParaRPr lang="en-US" sz="1200" dirty="0">
              <a:solidFill>
                <a:srgbClr val="CC3399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555776" y="1748408"/>
            <a:ext cx="4104456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>
              <a:lnSpc>
                <a:spcPct val="90000"/>
              </a:lnSpc>
            </a:pPr>
            <a:endParaRPr lang="en-US" sz="2400" b="1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1800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40000"/>
              </a:lnSpc>
            </a:pPr>
            <a:r>
              <a:rPr lang="en-US" dirty="0" err="1">
                <a:solidFill>
                  <a:srgbClr val="0000FF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Esercitazione</a:t>
            </a:r>
            <a:endParaRPr lang="en-US" sz="1600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50000"/>
              </a:lnSpc>
            </a:pPr>
            <a:endParaRPr lang="en-US" sz="1800" b="1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endParaRPr lang="en-US" sz="1600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00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6">
            <a:extLst>
              <a:ext uri="{FF2B5EF4-FFF2-40B4-BE49-F238E27FC236}">
                <a16:creationId xmlns:a16="http://schemas.microsoft.com/office/drawing/2014/main" id="{B96317E2-4CC8-BF67-4DC4-82EDEFAB7362}"/>
              </a:ext>
            </a:extLst>
          </p:cNvPr>
          <p:cNvSpPr txBox="1"/>
          <p:nvPr/>
        </p:nvSpPr>
        <p:spPr>
          <a:xfrm>
            <a:off x="158195" y="489997"/>
            <a:ext cx="8827610" cy="14515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rmAutofit/>
          </a:bodyPr>
          <a:lstStyle/>
          <a:p>
            <a:pPr algn="ctr" defTabSz="829452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3447" dirty="0">
                <a:latin typeface="TeX Gyre Heros Cn" pitchFamily="2"/>
                <a:ea typeface="DejaVu Sans" pitchFamily="2"/>
                <a:cs typeface="DejaVu Sans" pitchFamily="2"/>
              </a:rPr>
              <a:t>TUTORATO</a:t>
            </a:r>
            <a:br>
              <a:rPr lang="it-IT" sz="3447" dirty="0">
                <a:latin typeface="TeX Gyre Heros Cn" pitchFamily="2"/>
                <a:ea typeface="DejaVu Sans" pitchFamily="2"/>
                <a:cs typeface="DejaVu Sans" pitchFamily="2"/>
              </a:rPr>
            </a:br>
            <a:r>
              <a:rPr lang="it-IT" sz="3447" dirty="0">
                <a:latin typeface="TeX Gyre Heros Cn" pitchFamily="2"/>
                <a:ea typeface="DejaVu Sans" pitchFamily="2"/>
                <a:cs typeface="DejaVu Sans" pitchFamily="2"/>
              </a:rPr>
              <a:t>ARCHITETTURA DEGLI ELABORATORI</a:t>
            </a:r>
            <a:br>
              <a:rPr lang="it-IT" sz="3447" dirty="0">
                <a:latin typeface="TeX Gyre Heros Cn" pitchFamily="2"/>
                <a:ea typeface="DejaVu Sans" pitchFamily="2"/>
                <a:cs typeface="DejaVu Sans" pitchFamily="2"/>
              </a:rPr>
            </a:br>
            <a:endParaRPr lang="it-IT" sz="3447" dirty="0">
              <a:latin typeface="TeX Gyre Heros Cn" pitchFamily="2"/>
              <a:ea typeface="DejaVu Sans" pitchFamily="2"/>
              <a:cs typeface="DejaVu Sans" pitchFamily="2"/>
            </a:endParaRPr>
          </a:p>
        </p:txBody>
      </p:sp>
      <p:pic>
        <p:nvPicPr>
          <p:cNvPr id="3" name="Segnaposto contenuto 11" descr="Immagine che contiene Viso umano, vestiti, persona, muro&#10;&#10;Descrizione generata automaticamente">
            <a:extLst>
              <a:ext uri="{FF2B5EF4-FFF2-40B4-BE49-F238E27FC236}">
                <a16:creationId xmlns:a16="http://schemas.microsoft.com/office/drawing/2014/main" id="{CC5E7849-E665-0F2D-F6CB-D1ECB486B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567" y="2676176"/>
            <a:ext cx="2346618" cy="2346618"/>
          </a:xfrm>
          <a:prstGeom prst="rect">
            <a:avLst/>
          </a:prstGeom>
          <a:noFill/>
          <a:ln w="63495" cap="rnd">
            <a:solidFill>
              <a:srgbClr val="FFD445"/>
            </a:solidFill>
            <a:prstDash val="solid"/>
            <a:miter/>
          </a:ln>
        </p:spPr>
      </p:pic>
      <p:sp>
        <p:nvSpPr>
          <p:cNvPr id="4" name="Segnaposto testo 9">
            <a:extLst>
              <a:ext uri="{FF2B5EF4-FFF2-40B4-BE49-F238E27FC236}">
                <a16:creationId xmlns:a16="http://schemas.microsoft.com/office/drawing/2014/main" id="{0CF4A10C-9EE4-3D8C-AD24-972181534205}"/>
              </a:ext>
            </a:extLst>
          </p:cNvPr>
          <p:cNvSpPr txBox="1"/>
          <p:nvPr/>
        </p:nvSpPr>
        <p:spPr>
          <a:xfrm>
            <a:off x="5061376" y="2420888"/>
            <a:ext cx="4664488" cy="45017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82944" tIns="41472" rIns="82944" bIns="41472" anchor="t" anchorCtr="0" compatLnSpc="1">
            <a:normAutofit/>
          </a:bodyPr>
          <a:lstStyle/>
          <a:p>
            <a:pPr algn="l" defTabSz="829452" fontAlgn="auto" hangingPunct="1">
              <a:lnSpc>
                <a:spcPct val="80000"/>
              </a:lnSpc>
              <a:spcBef>
                <a:spcPts val="0"/>
              </a:spcBef>
              <a:spcAft>
                <a:spcPts val="1034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br>
              <a:rPr lang="it-IT" sz="2000" dirty="0">
                <a:solidFill>
                  <a:srgbClr val="FF0000"/>
                </a:solidFill>
                <a:latin typeface="Arial" pitchFamily="34"/>
                <a:ea typeface="DejaVu Sans" pitchFamily="2"/>
                <a:cs typeface="DejaVu Sans" pitchFamily="2"/>
              </a:rPr>
            </a:br>
            <a:r>
              <a:rPr lang="it-IT" sz="2400" dirty="0">
                <a:solidFill>
                  <a:srgbClr val="FF0000"/>
                </a:solidFill>
                <a:latin typeface="Arial" pitchFamily="34"/>
                <a:ea typeface="DejaVu Sans" pitchFamily="2"/>
                <a:cs typeface="DejaVu Sans" pitchFamily="2"/>
              </a:rPr>
              <a:t>CANALI INFORMATIVI:</a:t>
            </a:r>
            <a:br>
              <a:rPr lang="it-IT" sz="2400" dirty="0">
                <a:solidFill>
                  <a:srgbClr val="FF0000"/>
                </a:solidFill>
                <a:latin typeface="Arial" pitchFamily="34"/>
                <a:ea typeface="DejaVu Sans" pitchFamily="2"/>
                <a:cs typeface="DejaVu Sans" pitchFamily="2"/>
              </a:rPr>
            </a:br>
            <a:br>
              <a:rPr lang="it-IT" sz="2400" dirty="0">
                <a:solidFill>
                  <a:srgbClr val="FF0000"/>
                </a:solidFill>
                <a:latin typeface="Arial" pitchFamily="34"/>
                <a:ea typeface="DejaVu Sans" pitchFamily="2"/>
                <a:cs typeface="DejaVu Sans" pitchFamily="2"/>
              </a:rPr>
            </a:br>
            <a:r>
              <a:rPr lang="it-IT" sz="2400" dirty="0">
                <a:solidFill>
                  <a:srgbClr val="FF0000"/>
                </a:solidFill>
                <a:latin typeface="Arial" pitchFamily="34"/>
                <a:ea typeface="DejaVu Sans" pitchFamily="2"/>
                <a:cs typeface="DejaVu Sans" pitchFamily="2"/>
              </a:rPr>
              <a:t>Instagram: </a:t>
            </a:r>
            <a:r>
              <a:rPr lang="it-IT" sz="2000" dirty="0">
                <a:solidFill>
                  <a:srgbClr val="222222"/>
                </a:solidFill>
                <a:latin typeface="Arial" pitchFamily="34"/>
                <a:ea typeface="DejaVu Sans" pitchFamily="2"/>
                <a:cs typeface="DejaVu Sans" pitchFamily="2"/>
              </a:rPr>
              <a:t>@caislab</a:t>
            </a:r>
          </a:p>
          <a:p>
            <a:pPr algn="l" defTabSz="829452" fontAlgn="auto" hangingPunct="1">
              <a:lnSpc>
                <a:spcPct val="80000"/>
              </a:lnSpc>
              <a:spcBef>
                <a:spcPts val="0"/>
              </a:spcBef>
              <a:spcAft>
                <a:spcPts val="1034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270" dirty="0">
              <a:solidFill>
                <a:srgbClr val="FF0000"/>
              </a:solidFill>
              <a:latin typeface="Arial" pitchFamily="34"/>
              <a:ea typeface="DejaVu Sans" pitchFamily="2"/>
              <a:cs typeface="DejaVu Sans" pitchFamily="2"/>
            </a:endParaRPr>
          </a:p>
          <a:p>
            <a:pPr algn="l" defTabSz="829452" fontAlgn="auto" hangingPunct="1">
              <a:lnSpc>
                <a:spcPct val="80000"/>
              </a:lnSpc>
              <a:spcBef>
                <a:spcPts val="0"/>
              </a:spcBef>
              <a:spcAft>
                <a:spcPts val="1034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270" dirty="0">
              <a:solidFill>
                <a:srgbClr val="FF0000"/>
              </a:solidFill>
              <a:latin typeface="Arial" pitchFamily="34"/>
              <a:ea typeface="DejaVu Sans" pitchFamily="2"/>
              <a:cs typeface="DejaVu Sans" pitchFamily="2"/>
            </a:endParaRPr>
          </a:p>
          <a:p>
            <a:pPr algn="l" defTabSz="829452" fontAlgn="auto" hangingPunct="1">
              <a:lnSpc>
                <a:spcPct val="80000"/>
              </a:lnSpc>
              <a:spcBef>
                <a:spcPts val="0"/>
              </a:spcBef>
              <a:spcAft>
                <a:spcPts val="1034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270" dirty="0">
              <a:solidFill>
                <a:srgbClr val="FF0000"/>
              </a:solidFill>
              <a:latin typeface="Arial" pitchFamily="34"/>
              <a:ea typeface="DejaVu Sans" pitchFamily="2"/>
              <a:cs typeface="DejaVu Sans" pitchFamily="2"/>
            </a:endParaRPr>
          </a:p>
          <a:p>
            <a:pPr algn="l" defTabSz="829452" fontAlgn="auto" hangingPunct="1">
              <a:lnSpc>
                <a:spcPct val="80000"/>
              </a:lnSpc>
              <a:spcBef>
                <a:spcPts val="0"/>
              </a:spcBef>
              <a:spcAft>
                <a:spcPts val="1034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270" dirty="0">
              <a:solidFill>
                <a:srgbClr val="FF0000"/>
              </a:solidFill>
              <a:latin typeface="Arial" pitchFamily="34"/>
              <a:ea typeface="DejaVu Sans" pitchFamily="2"/>
              <a:cs typeface="DejaVu Sans" pitchFamily="2"/>
            </a:endParaRPr>
          </a:p>
          <a:p>
            <a:pPr algn="l" defTabSz="829452" fontAlgn="auto" hangingPunct="1">
              <a:lnSpc>
                <a:spcPct val="80000"/>
              </a:lnSpc>
              <a:spcBef>
                <a:spcPts val="0"/>
              </a:spcBef>
              <a:spcAft>
                <a:spcPts val="1034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270" dirty="0">
              <a:solidFill>
                <a:srgbClr val="FF0000"/>
              </a:solidFill>
              <a:latin typeface="Arial" pitchFamily="34"/>
              <a:ea typeface="DejaVu Sans" pitchFamily="2"/>
              <a:cs typeface="DejaVu Sans" pitchFamily="2"/>
            </a:endParaRPr>
          </a:p>
          <a:p>
            <a:pPr algn="l" defTabSz="829452" fontAlgn="auto" hangingPunct="1">
              <a:lnSpc>
                <a:spcPct val="80000"/>
              </a:lnSpc>
              <a:spcBef>
                <a:spcPts val="0"/>
              </a:spcBef>
              <a:spcAft>
                <a:spcPts val="1034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451" dirty="0">
              <a:solidFill>
                <a:srgbClr val="242424"/>
              </a:solidFill>
              <a:latin typeface="-apple-system"/>
              <a:ea typeface="DejaVu Sans" pitchFamily="2"/>
              <a:cs typeface="DejaVu Sans" pitchFamily="2"/>
            </a:endParaRPr>
          </a:p>
          <a:p>
            <a:pPr algn="l" defTabSz="829452" fontAlgn="auto" hangingPunct="1">
              <a:lnSpc>
                <a:spcPct val="80000"/>
              </a:lnSpc>
              <a:spcBef>
                <a:spcPts val="0"/>
              </a:spcBef>
              <a:spcAft>
                <a:spcPts val="1034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451" dirty="0">
                <a:solidFill>
                  <a:srgbClr val="242424"/>
                </a:solidFill>
                <a:latin typeface="-apple-system"/>
                <a:ea typeface="DejaVu Sans" pitchFamily="2"/>
                <a:cs typeface="DejaVu Sans" pitchFamily="2"/>
              </a:rPr>
              <a:t>		</a:t>
            </a:r>
            <a:endParaRPr lang="it-IT" sz="1270" dirty="0">
              <a:solidFill>
                <a:srgbClr val="222222"/>
              </a:solidFill>
              <a:latin typeface="Arial" pitchFamily="34"/>
              <a:ea typeface="DejaVu Sans" pitchFamily="2"/>
              <a:cs typeface="DejaVu Sans" pitchFamily="2"/>
            </a:endParaRPr>
          </a:p>
          <a:p>
            <a:pPr algn="l" defTabSz="829452" fontAlgn="auto" hangingPunct="1">
              <a:lnSpc>
                <a:spcPct val="80000"/>
              </a:lnSpc>
              <a:spcBef>
                <a:spcPts val="0"/>
              </a:spcBef>
              <a:spcAft>
                <a:spcPts val="1034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270" dirty="0">
              <a:solidFill>
                <a:srgbClr val="222222"/>
              </a:solidFill>
              <a:latin typeface="Arial" pitchFamily="34"/>
              <a:ea typeface="DejaVu Sans" pitchFamily="2"/>
              <a:cs typeface="DejaVu Sans" pitchFamily="2"/>
            </a:endParaRPr>
          </a:p>
          <a:p>
            <a:pPr algn="l" defTabSz="829452" fontAlgn="auto" hangingPunct="1">
              <a:lnSpc>
                <a:spcPct val="80000"/>
              </a:lnSpc>
              <a:spcBef>
                <a:spcPts val="0"/>
              </a:spcBef>
              <a:spcAft>
                <a:spcPts val="1034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270" dirty="0">
              <a:solidFill>
                <a:srgbClr val="1C1C1C"/>
              </a:solidFill>
              <a:latin typeface="TeX Gyre Heros Cn" pitchFamily="2"/>
              <a:ea typeface="DejaVu Sans" pitchFamily="2"/>
              <a:cs typeface="DejaVu Sans" pitchFamily="2"/>
            </a:endParaRPr>
          </a:p>
        </p:txBody>
      </p:sp>
      <p:cxnSp>
        <p:nvCxnSpPr>
          <p:cNvPr id="6" name="Connettore diritto 7">
            <a:extLst>
              <a:ext uri="{FF2B5EF4-FFF2-40B4-BE49-F238E27FC236}">
                <a16:creationId xmlns:a16="http://schemas.microsoft.com/office/drawing/2014/main" id="{4B28516E-C7E3-FB86-E881-A9419F961996}"/>
              </a:ext>
            </a:extLst>
          </p:cNvPr>
          <p:cNvCxnSpPr>
            <a:cxnSpLocks/>
          </p:cNvCxnSpPr>
          <p:nvPr/>
        </p:nvCxnSpPr>
        <p:spPr>
          <a:xfrm>
            <a:off x="4780428" y="2276872"/>
            <a:ext cx="0" cy="3875627"/>
          </a:xfrm>
          <a:prstGeom prst="straightConnector1">
            <a:avLst/>
          </a:prstGeom>
          <a:noFill/>
          <a:ln w="38103" cap="flat">
            <a:solidFill>
              <a:srgbClr val="FFD445"/>
            </a:solidFill>
            <a:prstDash val="solid"/>
            <a:miter/>
          </a:ln>
        </p:spPr>
      </p:cxnSp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E9B89AA7-7FA3-37DD-04E4-E086AB023008}"/>
              </a:ext>
            </a:extLst>
          </p:cNvPr>
          <p:cNvSpPr txBox="1"/>
          <p:nvPr/>
        </p:nvSpPr>
        <p:spPr>
          <a:xfrm>
            <a:off x="204631" y="5319568"/>
            <a:ext cx="4664488" cy="45017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82944" tIns="41472" rIns="82944" bIns="41472" anchor="t" anchorCtr="1" compatLnSpc="1">
            <a:normAutofit/>
          </a:bodyPr>
          <a:lstStyle/>
          <a:p>
            <a:pPr algn="ctr" defTabSz="829452" fontAlgn="auto" hangingPunct="1">
              <a:lnSpc>
                <a:spcPct val="90000"/>
              </a:lnSpc>
              <a:spcBef>
                <a:spcPts val="907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633" dirty="0">
                <a:solidFill>
                  <a:srgbClr val="FF0000"/>
                </a:solidFill>
                <a:latin typeface="Arial" pitchFamily="34"/>
              </a:rPr>
              <a:t>CONTATTI:</a:t>
            </a:r>
          </a:p>
          <a:p>
            <a:pPr algn="ctr" defTabSz="829452" fontAlgn="auto" hangingPunct="1">
              <a:lnSpc>
                <a:spcPct val="90000"/>
              </a:lnSpc>
              <a:spcBef>
                <a:spcPts val="907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633" b="0" dirty="0">
                <a:solidFill>
                  <a:srgbClr val="FF0000"/>
                </a:solidFill>
                <a:latin typeface="Arial" pitchFamily="34"/>
              </a:rPr>
              <a:t>Email</a:t>
            </a:r>
            <a:r>
              <a:rPr lang="it-IT" sz="1633" dirty="0">
                <a:solidFill>
                  <a:srgbClr val="FF0000"/>
                </a:solidFill>
                <a:latin typeface="Arial" pitchFamily="34"/>
              </a:rPr>
              <a:t>: </a:t>
            </a:r>
            <a:r>
              <a:rPr lang="it-IT" sz="1633" b="0" dirty="0">
                <a:solidFill>
                  <a:srgbClr val="222222"/>
                </a:solidFill>
                <a:latin typeface="Arial" pitchFamily="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dorossi@unisa.it</a:t>
            </a:r>
            <a:br>
              <a:rPr lang="it-IT" sz="1633" b="0" dirty="0">
                <a:solidFill>
                  <a:srgbClr val="222222"/>
                </a:solidFill>
                <a:latin typeface="Arial" pitchFamily="34"/>
              </a:rPr>
            </a:br>
            <a:r>
              <a:rPr lang="it-IT" sz="1633" b="0" dirty="0">
                <a:solidFill>
                  <a:srgbClr val="FF0000"/>
                </a:solidFill>
                <a:latin typeface="Arial" pitchFamily="34"/>
              </a:rPr>
              <a:t>Sede</a:t>
            </a:r>
            <a:r>
              <a:rPr lang="it-IT" sz="1633" b="0" dirty="0">
                <a:solidFill>
                  <a:srgbClr val="222222"/>
                </a:solidFill>
                <a:latin typeface="Arial" pitchFamily="34"/>
              </a:rPr>
              <a:t>: Cais Lab (Edificio F2, Piano 1)</a:t>
            </a:r>
            <a:br>
              <a:rPr lang="it-IT" sz="1633" dirty="0">
                <a:solidFill>
                  <a:srgbClr val="FF0000"/>
                </a:solidFill>
                <a:latin typeface="Arial" pitchFamily="34"/>
              </a:rPr>
            </a:br>
            <a:endParaRPr lang="it-IT" sz="1633" b="0" dirty="0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1" name="Immagine 10" descr="Immagine che contiene schermata, testo, cerchio, Carattere&#10;&#10;Il contenuto generato dall'IA potrebbe non essere corretto.">
            <a:extLst>
              <a:ext uri="{FF2B5EF4-FFF2-40B4-BE49-F238E27FC236}">
                <a16:creationId xmlns:a16="http://schemas.microsoft.com/office/drawing/2014/main" id="{5F92D14A-E188-C0C2-332D-777D666B6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3789040"/>
            <a:ext cx="2719184" cy="25649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341784"/>
            <a:ext cx="8356600" cy="1143000"/>
          </a:xfrm>
        </p:spPr>
        <p:txBody>
          <a:bodyPr/>
          <a:lstStyle/>
          <a:p>
            <a:r>
              <a:rPr lang="it-IT" sz="4800" dirty="0"/>
              <a:t>Su </a:t>
            </a:r>
            <a:r>
              <a:rPr lang="it-IT" sz="4800"/>
              <a:t>cosa </a:t>
            </a:r>
            <a:br>
              <a:rPr lang="it-IT" sz="4800"/>
            </a:br>
            <a:r>
              <a:rPr lang="it-IT" sz="4800"/>
              <a:t>ci esercitiamo </a:t>
            </a:r>
            <a:r>
              <a:rPr lang="it-IT" sz="4800" dirty="0"/>
              <a:t>oggi?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700808"/>
            <a:ext cx="8507288" cy="4171950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sz="2800" dirty="0">
                <a:ea typeface="MS PGothic" charset="-128"/>
              </a:rPr>
              <a:t>Notazione in modulo e segno</a:t>
            </a:r>
          </a:p>
          <a:p>
            <a:pPr marL="457200" indent="-457200">
              <a:buFont typeface="Wingdings" charset="2"/>
              <a:buChar char="Ø"/>
            </a:pPr>
            <a:endParaRPr lang="it-IT" sz="2800" dirty="0">
              <a:ea typeface="MS PGothic" charset="-128"/>
            </a:endParaRPr>
          </a:p>
          <a:p>
            <a:pPr marL="457200" indent="-457200">
              <a:buFont typeface="Wingdings" charset="2"/>
              <a:buChar char="Ø"/>
            </a:pPr>
            <a:r>
              <a:rPr lang="it-IT" sz="2800" dirty="0">
                <a:ea typeface="MS PGothic" charset="-128"/>
              </a:rPr>
              <a:t>Notazione in complemento a 2 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Rappresentazione dei numeri positivi e negativi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Calcolo dell’opposto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Addizione e sottrazione</a:t>
            </a:r>
          </a:p>
        </p:txBody>
      </p:sp>
    </p:spTree>
    <p:extLst>
      <p:ext uri="{BB962C8B-B14F-4D97-AF65-F5344CB8AC3E}">
        <p14:creationId xmlns:p14="http://schemas.microsoft.com/office/powerpoint/2010/main" val="96786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1.b: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739404"/>
            <a:ext cx="8424936" cy="4427480"/>
          </a:xfrm>
        </p:spPr>
        <p:txBody>
          <a:bodyPr>
            <a:no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/>
              <a:t>Scrivere in </a:t>
            </a:r>
            <a:r>
              <a:rPr lang="it-IT" sz="2400" dirty="0">
                <a:solidFill>
                  <a:srgbClr val="0000FF"/>
                </a:solidFill>
              </a:rPr>
              <a:t>modulo e segno </a:t>
            </a:r>
            <a:r>
              <a:rPr lang="it-IT" sz="2400" dirty="0"/>
              <a:t>su </a:t>
            </a:r>
            <a:r>
              <a:rPr lang="it-IT" sz="2400" dirty="0">
                <a:solidFill>
                  <a:srgbClr val="CC0000"/>
                </a:solidFill>
              </a:rPr>
              <a:t>7 bit </a:t>
            </a:r>
            <a:r>
              <a:rPr lang="it-IT" sz="2400" dirty="0"/>
              <a:t>il numero -13</a:t>
            </a:r>
            <a:r>
              <a:rPr lang="it-IT" sz="2400" baseline="-25000" dirty="0"/>
              <a:t>10</a:t>
            </a:r>
          </a:p>
          <a:p>
            <a:pPr lvl="1">
              <a:buFont typeface="Wingdings" charset="2"/>
              <a:buChar char="Ø"/>
            </a:pPr>
            <a:r>
              <a:rPr lang="it-IT" sz="2000" dirty="0"/>
              <a:t>Si può fare! Intervallo di rappresentabilità: </a:t>
            </a:r>
            <a:r>
              <a:rPr lang="it-IT" sz="2000" dirty="0">
                <a:solidFill>
                  <a:srgbClr val="0000FF"/>
                </a:solidFill>
              </a:rPr>
              <a:t>[-63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,+63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]</a:t>
            </a:r>
          </a:p>
          <a:p>
            <a:pPr lvl="1">
              <a:buFont typeface="Wingdings" charset="2"/>
              <a:buChar char="Ø"/>
            </a:pPr>
            <a:endParaRPr lang="it-IT" sz="2000" dirty="0">
              <a:solidFill>
                <a:srgbClr val="0070C0"/>
              </a:solidFill>
            </a:endParaRPr>
          </a:p>
          <a:p>
            <a:pPr lvl="1">
              <a:buFont typeface="Wingdings" charset="2"/>
              <a:buChar char="Ø"/>
            </a:pPr>
            <a:endParaRPr lang="is-IS" sz="2000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-10056" y="6425168"/>
            <a:ext cx="915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solidFill>
                  <a:schemeClr val="bg1"/>
                </a:solidFill>
              </a:rPr>
              <a:t>Linguaggi, Codifica e Rappresentazione dell’Informazione</a:t>
            </a:r>
          </a:p>
        </p:txBody>
      </p:sp>
      <p:grpSp>
        <p:nvGrpSpPr>
          <p:cNvPr id="5" name="Gruppo 38"/>
          <p:cNvGrpSpPr/>
          <p:nvPr/>
        </p:nvGrpSpPr>
        <p:grpSpPr>
          <a:xfrm>
            <a:off x="899592" y="2743760"/>
            <a:ext cx="5328592" cy="3493552"/>
            <a:chOff x="2401511" y="2519659"/>
            <a:chExt cx="5328592" cy="3844024"/>
          </a:xfrm>
        </p:grpSpPr>
        <p:sp>
          <p:nvSpPr>
            <p:cNvPr id="7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13</a:t>
              </a:r>
              <a:endParaRPr sz="2400" dirty="0">
                <a:solidFill>
                  <a:srgbClr val="000000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481631" y="2519659"/>
              <a:ext cx="4032448" cy="195289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6	</a:t>
              </a:r>
              <a:r>
                <a:rPr sz="2400" dirty="0">
                  <a:latin typeface="Comic Sans MS"/>
                  <a:cs typeface="Comic Sans MS"/>
                </a:rPr>
                <a:t>2</a:t>
              </a:r>
              <a:endParaRPr lang="it-IT" sz="2400" dirty="0">
                <a:latin typeface="Comic Sans MS"/>
                <a:cs typeface="Comic Sans MS"/>
              </a:endParaRP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    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3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</a:t>
              </a:r>
              <a:r>
                <a:rPr lang="it-IT" sz="2400" dirty="0">
                  <a:latin typeface="Comic Sans MS"/>
                  <a:cs typeface="Comic Sans MS"/>
                </a:rPr>
                <a:t>1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7" name="object 19"/>
            <p:cNvSpPr txBox="1"/>
            <p:nvPr/>
          </p:nvSpPr>
          <p:spPr>
            <a:xfrm>
              <a:off x="6073919" y="3591480"/>
              <a:ext cx="211454" cy="119092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0</a:t>
              </a:r>
              <a:endParaRPr sz="2400" dirty="0"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8" name="object 24"/>
            <p:cNvSpPr/>
            <p:nvPr/>
          </p:nvSpPr>
          <p:spPr>
            <a:xfrm>
              <a:off x="2401511" y="3343114"/>
              <a:ext cx="3312368" cy="1198234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6"/>
            <p:cNvSpPr txBox="1"/>
            <p:nvPr/>
          </p:nvSpPr>
          <p:spPr>
            <a:xfrm>
              <a:off x="3625647" y="5686378"/>
              <a:ext cx="4104456" cy="6773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lang="it-IT" sz="2400" dirty="0">
                  <a:latin typeface="Comic Sans MS"/>
                  <a:cs typeface="Comic Sans MS"/>
                </a:rPr>
                <a:t>-13</a:t>
              </a:r>
              <a:r>
                <a:rPr lang="it-IT" sz="2400" baseline="-20833" dirty="0">
                  <a:latin typeface="Comic Sans MS"/>
                  <a:cs typeface="Comic Sans MS"/>
                </a:rPr>
                <a:t>10</a:t>
              </a:r>
              <a:r>
                <a:rPr sz="2400" baseline="-20833" dirty="0">
                  <a:latin typeface="Comic Sans MS"/>
                  <a:cs typeface="Comic Sans MS"/>
                </a:rPr>
                <a:t> </a:t>
              </a:r>
              <a:r>
                <a:rPr sz="2400" dirty="0">
                  <a:latin typeface="Comic Sans MS"/>
                  <a:cs typeface="Comic Sans MS"/>
                </a:rPr>
                <a:t>=</a:t>
              </a:r>
              <a:r>
                <a:rPr sz="2400" spc="145" dirty="0">
                  <a:latin typeface="Comic Sans MS"/>
                  <a:cs typeface="Comic Sans MS"/>
                </a:rPr>
                <a:t> </a:t>
              </a:r>
              <a:r>
                <a:rPr lang="it-IT" sz="2400" spc="145" dirty="0">
                  <a:solidFill>
                    <a:srgbClr val="FF3300"/>
                  </a:solidFill>
                  <a:latin typeface="Comic Sans MS"/>
                  <a:cs typeface="Comic Sans MS"/>
                </a:rPr>
                <a:t>1</a:t>
              </a:r>
              <a:r>
                <a:rPr lang="it-IT" sz="2400" spc="145" dirty="0">
                  <a:latin typeface="Comic Sans MS"/>
                  <a:cs typeface="Comic Sans MS"/>
                </a:rPr>
                <a:t>00</a:t>
              </a:r>
              <a:r>
                <a:rPr lang="it-IT" sz="2400" dirty="0">
                  <a:latin typeface="Comic Sans MS"/>
                  <a:cs typeface="Comic Sans MS"/>
                </a:rPr>
                <a:t>1101</a:t>
              </a:r>
              <a:r>
                <a:rPr lang="it-IT" sz="2400" baseline="-20833" dirty="0">
                  <a:latin typeface="Comic Sans MS"/>
                  <a:cs typeface="Comic Sans MS"/>
                </a:rPr>
                <a:t>ms</a:t>
              </a:r>
            </a:p>
            <a:p>
              <a:pPr marL="12700">
                <a:lnSpc>
                  <a:spcPct val="100000"/>
                </a:lnSpc>
              </a:pPr>
              <a:endParaRPr sz="2400" baseline="-20833" dirty="0">
                <a:latin typeface="Comic Sans MS"/>
                <a:cs typeface="Comic Sans MS"/>
              </a:endParaRPr>
            </a:p>
          </p:txBody>
        </p:sp>
      </p:grpSp>
      <p:sp>
        <p:nvSpPr>
          <p:cNvPr id="20" name="object 26"/>
          <p:cNvSpPr txBox="1"/>
          <p:nvPr/>
        </p:nvSpPr>
        <p:spPr>
          <a:xfrm>
            <a:off x="2123728" y="5157192"/>
            <a:ext cx="4104456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it-IT" sz="2400" dirty="0">
                <a:latin typeface="Comic Sans MS"/>
                <a:cs typeface="Comic Sans MS"/>
              </a:rPr>
              <a:t>13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solidFill>
                  <a:srgbClr val="33CC33"/>
                </a:solidFill>
                <a:latin typeface="Comic Sans MS"/>
                <a:cs typeface="Comic Sans MS"/>
              </a:rPr>
              <a:t>0</a:t>
            </a:r>
            <a:r>
              <a:rPr lang="it-IT" sz="2400" spc="145" dirty="0">
                <a:latin typeface="Comic Sans MS"/>
                <a:cs typeface="Comic Sans MS"/>
              </a:rPr>
              <a:t>00</a:t>
            </a:r>
            <a:r>
              <a:rPr lang="it-IT" sz="2400" dirty="0">
                <a:latin typeface="Comic Sans MS"/>
                <a:cs typeface="Comic Sans MS"/>
              </a:rPr>
              <a:t>1101</a:t>
            </a:r>
            <a:r>
              <a:rPr lang="it-IT" sz="2400" baseline="-20833" dirty="0">
                <a:latin typeface="Comic Sans MS"/>
                <a:cs typeface="Comic Sans MS"/>
              </a:rPr>
              <a:t>ms</a:t>
            </a:r>
          </a:p>
          <a:p>
            <a:pPr marL="12700">
              <a:lnSpc>
                <a:spcPct val="100000"/>
              </a:lnSpc>
            </a:pPr>
            <a:endParaRPr sz="2400" baseline="-20833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352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1.c: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739404"/>
            <a:ext cx="8424936" cy="4427480"/>
          </a:xfrm>
        </p:spPr>
        <p:txBody>
          <a:bodyPr>
            <a:no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/>
              <a:t>Scrivere in </a:t>
            </a:r>
            <a:r>
              <a:rPr lang="it-IT" sz="2400" dirty="0">
                <a:solidFill>
                  <a:srgbClr val="0000FF"/>
                </a:solidFill>
              </a:rPr>
              <a:t>modulo e segno </a:t>
            </a:r>
            <a:r>
              <a:rPr lang="it-IT" sz="2400" dirty="0"/>
              <a:t>su </a:t>
            </a:r>
            <a:r>
              <a:rPr lang="it-IT" sz="2400" dirty="0">
                <a:solidFill>
                  <a:srgbClr val="CC0000"/>
                </a:solidFill>
              </a:rPr>
              <a:t>8 bit </a:t>
            </a:r>
            <a:r>
              <a:rPr lang="it-IT" sz="2400" dirty="0"/>
              <a:t>il numero 25</a:t>
            </a:r>
            <a:r>
              <a:rPr lang="it-IT" sz="2400" baseline="-25000" dirty="0"/>
              <a:t>10</a:t>
            </a:r>
          </a:p>
          <a:p>
            <a:pPr marL="857250" lvl="2" indent="-457200">
              <a:buFont typeface="Wingdings" charset="2"/>
              <a:buChar char="Ø"/>
            </a:pPr>
            <a:r>
              <a:rPr lang="it-IT" sz="2000" dirty="0"/>
              <a:t>Si può fare! Intervallo di rappresentabilità: </a:t>
            </a:r>
            <a:r>
              <a:rPr lang="it-IT" sz="2000" dirty="0">
                <a:solidFill>
                  <a:srgbClr val="0000FF"/>
                </a:solidFill>
              </a:rPr>
              <a:t>[-127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,+127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]</a:t>
            </a:r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lvl="1">
              <a:buFont typeface="Wingdings" charset="2"/>
              <a:buChar char="Ø"/>
            </a:pPr>
            <a:endParaRPr lang="it-IT" sz="2000" dirty="0">
              <a:solidFill>
                <a:srgbClr val="0070C0"/>
              </a:solidFill>
            </a:endParaRPr>
          </a:p>
          <a:p>
            <a:pPr lvl="1">
              <a:buFont typeface="Wingdings" charset="2"/>
              <a:buChar char="Ø"/>
            </a:pPr>
            <a:endParaRPr lang="is-IS" sz="2000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-10056" y="6425168"/>
            <a:ext cx="915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solidFill>
                  <a:schemeClr val="bg1"/>
                </a:solidFill>
              </a:rPr>
              <a:t>Linguaggi, Codifica e Rappresentazione dell’Informazione</a:t>
            </a:r>
          </a:p>
        </p:txBody>
      </p:sp>
      <p:grpSp>
        <p:nvGrpSpPr>
          <p:cNvPr id="5" name="Gruppo 38"/>
          <p:cNvGrpSpPr/>
          <p:nvPr/>
        </p:nvGrpSpPr>
        <p:grpSpPr>
          <a:xfrm>
            <a:off x="899592" y="2743760"/>
            <a:ext cx="6336704" cy="3133512"/>
            <a:chOff x="2401511" y="2519659"/>
            <a:chExt cx="6336704" cy="3447864"/>
          </a:xfrm>
        </p:grpSpPr>
        <p:sp>
          <p:nvSpPr>
            <p:cNvPr id="7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25</a:t>
              </a:r>
              <a:endParaRPr sz="2400" dirty="0">
                <a:solidFill>
                  <a:srgbClr val="000000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481631" y="2519659"/>
              <a:ext cx="4032448" cy="195289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12	</a:t>
              </a:r>
              <a:r>
                <a:rPr sz="2400" dirty="0">
                  <a:latin typeface="Comic Sans MS"/>
                  <a:cs typeface="Comic Sans MS"/>
                </a:rPr>
                <a:t>2</a:t>
              </a:r>
              <a:endParaRPr lang="it-IT" sz="2400" dirty="0">
                <a:latin typeface="Comic Sans MS"/>
                <a:cs typeface="Comic Sans MS"/>
              </a:endParaRP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6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</a:t>
              </a:r>
              <a:r>
                <a:rPr lang="it-IT" sz="2400" dirty="0">
                  <a:latin typeface="Comic Sans MS"/>
                  <a:cs typeface="Comic Sans MS"/>
                </a:rPr>
                <a:t>3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7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1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8" name="object 24"/>
            <p:cNvSpPr/>
            <p:nvPr/>
          </p:nvSpPr>
          <p:spPr>
            <a:xfrm>
              <a:off x="2401511" y="3343114"/>
              <a:ext cx="3888432" cy="1594396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6"/>
            <p:cNvSpPr txBox="1"/>
            <p:nvPr/>
          </p:nvSpPr>
          <p:spPr>
            <a:xfrm>
              <a:off x="3697655" y="5290218"/>
              <a:ext cx="5040560" cy="6773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lang="it-IT" sz="2400" dirty="0">
                  <a:latin typeface="Comic Sans MS"/>
                  <a:cs typeface="Comic Sans MS"/>
                </a:rPr>
                <a:t>25</a:t>
              </a:r>
              <a:r>
                <a:rPr lang="it-IT" sz="2400" baseline="-20833" dirty="0">
                  <a:latin typeface="Comic Sans MS"/>
                  <a:cs typeface="Comic Sans MS"/>
                </a:rPr>
                <a:t>10</a:t>
              </a:r>
              <a:r>
                <a:rPr sz="2400" baseline="-20833" dirty="0">
                  <a:latin typeface="Comic Sans MS"/>
                  <a:cs typeface="Comic Sans MS"/>
                </a:rPr>
                <a:t> </a:t>
              </a:r>
              <a:r>
                <a:rPr sz="2400" dirty="0">
                  <a:latin typeface="Comic Sans MS"/>
                  <a:cs typeface="Comic Sans MS"/>
                </a:rPr>
                <a:t>=</a:t>
              </a:r>
              <a:r>
                <a:rPr sz="2400" spc="145" dirty="0">
                  <a:latin typeface="Comic Sans MS"/>
                  <a:cs typeface="Comic Sans MS"/>
                </a:rPr>
                <a:t> </a:t>
              </a:r>
              <a:r>
                <a:rPr sz="2400" dirty="0">
                  <a:latin typeface="Comic Sans MS"/>
                  <a:cs typeface="Comic Sans MS"/>
                </a:rPr>
                <a:t>1</a:t>
              </a:r>
              <a:r>
                <a:rPr lang="it-IT" sz="2400" dirty="0">
                  <a:latin typeface="Comic Sans MS"/>
                  <a:cs typeface="Comic Sans MS"/>
                </a:rPr>
                <a:t>1001</a:t>
              </a:r>
              <a:r>
                <a:rPr lang="it-IT" sz="2400" baseline="-20833" dirty="0">
                  <a:latin typeface="Comic Sans MS"/>
                  <a:cs typeface="Comic Sans MS"/>
                </a:rPr>
                <a:t>2</a:t>
              </a:r>
              <a:r>
                <a:rPr lang="it-IT" sz="2400" dirty="0">
                  <a:latin typeface="Comic Sans MS"/>
                  <a:cs typeface="Comic Sans MS"/>
                </a:rPr>
                <a:t>=</a:t>
              </a:r>
              <a:r>
                <a:rPr lang="it-IT" sz="2400" spc="145" dirty="0">
                  <a:latin typeface="Comic Sans MS"/>
                  <a:cs typeface="Comic Sans MS"/>
                </a:rPr>
                <a:t> </a:t>
              </a:r>
              <a:r>
                <a:rPr lang="it-IT" sz="2400" spc="145" dirty="0">
                  <a:solidFill>
                    <a:srgbClr val="33CC33"/>
                  </a:solidFill>
                  <a:latin typeface="Comic Sans MS"/>
                  <a:cs typeface="Comic Sans MS"/>
                </a:rPr>
                <a:t>0</a:t>
              </a:r>
              <a:r>
                <a:rPr lang="it-IT" sz="2400" spc="145" dirty="0">
                  <a:latin typeface="Comic Sans MS"/>
                  <a:cs typeface="Comic Sans MS"/>
                </a:rPr>
                <a:t>00</a:t>
              </a:r>
              <a:r>
                <a:rPr lang="it-IT" sz="2400" dirty="0">
                  <a:latin typeface="Comic Sans MS"/>
                  <a:cs typeface="Comic Sans MS"/>
                </a:rPr>
                <a:t>11001</a:t>
              </a:r>
              <a:r>
                <a:rPr lang="it-IT" sz="2400" baseline="-20833" dirty="0">
                  <a:latin typeface="Comic Sans MS"/>
                  <a:cs typeface="Comic Sans MS"/>
                </a:rPr>
                <a:t>ms</a:t>
              </a:r>
            </a:p>
            <a:p>
              <a:pPr marL="12700">
                <a:lnSpc>
                  <a:spcPct val="100000"/>
                </a:lnSpc>
              </a:pPr>
              <a:endParaRPr sz="2400" baseline="-20833" dirty="0">
                <a:latin typeface="Comic Sans MS"/>
                <a:cs typeface="Comic Sans MS"/>
              </a:endParaRPr>
            </a:p>
          </p:txBody>
        </p:sp>
      </p:grpSp>
      <p:sp>
        <p:nvSpPr>
          <p:cNvPr id="20" name="object 19"/>
          <p:cNvSpPr txBox="1"/>
          <p:nvPr/>
        </p:nvSpPr>
        <p:spPr>
          <a:xfrm>
            <a:off x="5296650" y="4074846"/>
            <a:ext cx="211454" cy="10823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  <a:endParaRPr sz="2400" dirty="0"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1" name="object 14"/>
          <p:cNvSpPr/>
          <p:nvPr/>
        </p:nvSpPr>
        <p:spPr>
          <a:xfrm>
            <a:off x="5220072" y="4101870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5173960" y="4378881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534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1.d: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739404"/>
            <a:ext cx="8424936" cy="4427480"/>
          </a:xfrm>
        </p:spPr>
        <p:txBody>
          <a:bodyPr>
            <a:no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/>
              <a:t>Scrivere in </a:t>
            </a:r>
            <a:r>
              <a:rPr lang="it-IT" sz="2400" dirty="0">
                <a:solidFill>
                  <a:srgbClr val="0000FF"/>
                </a:solidFill>
              </a:rPr>
              <a:t>modulo e segno </a:t>
            </a:r>
            <a:r>
              <a:rPr lang="it-IT" sz="2400" dirty="0"/>
              <a:t>su </a:t>
            </a:r>
            <a:r>
              <a:rPr lang="it-IT" sz="2400" dirty="0">
                <a:solidFill>
                  <a:srgbClr val="CC0000"/>
                </a:solidFill>
              </a:rPr>
              <a:t>8 bit </a:t>
            </a:r>
            <a:r>
              <a:rPr lang="it-IT" sz="2400" dirty="0"/>
              <a:t>il numero -25</a:t>
            </a:r>
            <a:r>
              <a:rPr lang="it-IT" sz="2400" baseline="-25000" dirty="0"/>
              <a:t>10</a:t>
            </a:r>
          </a:p>
          <a:p>
            <a:pPr marL="914400" lvl="3" indent="-457200">
              <a:buFont typeface="Wingdings" charset="2"/>
              <a:buChar char="Ø"/>
            </a:pPr>
            <a:r>
              <a:rPr lang="it-IT" dirty="0"/>
              <a:t>Si può fare! Intervallo di rappresentabilità: </a:t>
            </a:r>
            <a:r>
              <a:rPr lang="it-IT" dirty="0">
                <a:solidFill>
                  <a:srgbClr val="0000FF"/>
                </a:solidFill>
              </a:rPr>
              <a:t>[-127</a:t>
            </a:r>
            <a:r>
              <a:rPr lang="it-IT" baseline="-25000" dirty="0">
                <a:solidFill>
                  <a:srgbClr val="0000FF"/>
                </a:solidFill>
              </a:rPr>
              <a:t>10</a:t>
            </a:r>
            <a:r>
              <a:rPr lang="it-IT" dirty="0">
                <a:solidFill>
                  <a:srgbClr val="0000FF"/>
                </a:solidFill>
              </a:rPr>
              <a:t>,+127</a:t>
            </a:r>
            <a:r>
              <a:rPr lang="it-IT" baseline="-25000" dirty="0">
                <a:solidFill>
                  <a:srgbClr val="0000FF"/>
                </a:solidFill>
              </a:rPr>
              <a:t>10</a:t>
            </a:r>
            <a:r>
              <a:rPr lang="it-IT" dirty="0">
                <a:solidFill>
                  <a:srgbClr val="0000FF"/>
                </a:solidFill>
              </a:rPr>
              <a:t>]</a:t>
            </a:r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lvl="1">
              <a:buFont typeface="Wingdings" charset="2"/>
              <a:buChar char="Ø"/>
            </a:pPr>
            <a:endParaRPr lang="it-IT" sz="2000" dirty="0">
              <a:solidFill>
                <a:srgbClr val="0070C0"/>
              </a:solidFill>
            </a:endParaRPr>
          </a:p>
          <a:p>
            <a:pPr lvl="1">
              <a:buFont typeface="Wingdings" charset="2"/>
              <a:buChar char="Ø"/>
            </a:pPr>
            <a:endParaRPr lang="is-IS" sz="2000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-10056" y="6425168"/>
            <a:ext cx="915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solidFill>
                  <a:schemeClr val="bg1"/>
                </a:solidFill>
              </a:rPr>
              <a:t>Linguaggi, Codifica e Rappresentazione dell’Informazione</a:t>
            </a:r>
          </a:p>
        </p:txBody>
      </p:sp>
      <p:grpSp>
        <p:nvGrpSpPr>
          <p:cNvPr id="5" name="Gruppo 38"/>
          <p:cNvGrpSpPr/>
          <p:nvPr/>
        </p:nvGrpSpPr>
        <p:grpSpPr>
          <a:xfrm>
            <a:off x="611560" y="2743760"/>
            <a:ext cx="5400600" cy="3637568"/>
            <a:chOff x="2113479" y="2519659"/>
            <a:chExt cx="5400600" cy="4002489"/>
          </a:xfrm>
        </p:grpSpPr>
        <p:sp>
          <p:nvSpPr>
            <p:cNvPr id="7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25</a:t>
              </a:r>
              <a:endParaRPr sz="2400" dirty="0">
                <a:solidFill>
                  <a:srgbClr val="000000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481631" y="2519659"/>
              <a:ext cx="4032448" cy="19528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12	</a:t>
              </a:r>
              <a:r>
                <a:rPr sz="2400" dirty="0">
                  <a:latin typeface="Comic Sans MS"/>
                  <a:cs typeface="Comic Sans MS"/>
                </a:rPr>
                <a:t>2</a:t>
              </a:r>
              <a:endParaRPr lang="it-IT" sz="2400" dirty="0">
                <a:latin typeface="Comic Sans MS"/>
                <a:cs typeface="Comic Sans MS"/>
              </a:endParaRP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    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6     </a:t>
              </a: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</a:t>
              </a:r>
              <a:r>
                <a:rPr lang="it-IT" sz="2400" dirty="0">
                  <a:latin typeface="Comic Sans MS"/>
                  <a:cs typeface="Comic Sans MS"/>
                </a:rPr>
                <a:t>3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7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1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8" name="object 24"/>
            <p:cNvSpPr/>
            <p:nvPr/>
          </p:nvSpPr>
          <p:spPr>
            <a:xfrm>
              <a:off x="2401511" y="3343114"/>
              <a:ext cx="3888432" cy="1594396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6"/>
            <p:cNvSpPr txBox="1"/>
            <p:nvPr/>
          </p:nvSpPr>
          <p:spPr>
            <a:xfrm>
              <a:off x="2113479" y="5844843"/>
              <a:ext cx="5040560" cy="6773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lang="it-IT" sz="2400" dirty="0">
                  <a:latin typeface="Comic Sans MS"/>
                  <a:cs typeface="Comic Sans MS"/>
                </a:rPr>
                <a:t>-25</a:t>
              </a:r>
              <a:r>
                <a:rPr lang="it-IT" sz="2400" baseline="-20833" dirty="0">
                  <a:latin typeface="Comic Sans MS"/>
                  <a:cs typeface="Comic Sans MS"/>
                </a:rPr>
                <a:t>10</a:t>
              </a:r>
              <a:r>
                <a:rPr sz="2400" baseline="-20833" dirty="0"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=</a:t>
              </a:r>
              <a:r>
                <a:rPr lang="it-IT" sz="2400" spc="145" dirty="0">
                  <a:latin typeface="Comic Sans MS"/>
                  <a:cs typeface="Comic Sans MS"/>
                </a:rPr>
                <a:t> </a:t>
              </a:r>
              <a:r>
                <a:rPr lang="it-IT" sz="2400" spc="145" dirty="0">
                  <a:solidFill>
                    <a:srgbClr val="FF3300"/>
                  </a:solidFill>
                  <a:latin typeface="Comic Sans MS"/>
                  <a:cs typeface="Comic Sans MS"/>
                </a:rPr>
                <a:t>1</a:t>
              </a:r>
              <a:r>
                <a:rPr lang="it-IT" sz="2400" spc="145" dirty="0">
                  <a:latin typeface="Comic Sans MS"/>
                  <a:cs typeface="Comic Sans MS"/>
                </a:rPr>
                <a:t>00</a:t>
              </a:r>
              <a:r>
                <a:rPr lang="it-IT" sz="2400" dirty="0">
                  <a:latin typeface="Comic Sans MS"/>
                  <a:cs typeface="Comic Sans MS"/>
                </a:rPr>
                <a:t>11001</a:t>
              </a:r>
              <a:r>
                <a:rPr lang="it-IT" sz="2400" baseline="-20833" dirty="0">
                  <a:latin typeface="Comic Sans MS"/>
                  <a:cs typeface="Comic Sans MS"/>
                </a:rPr>
                <a:t>ms</a:t>
              </a:r>
            </a:p>
            <a:p>
              <a:pPr marL="12700">
                <a:lnSpc>
                  <a:spcPct val="100000"/>
                </a:lnSpc>
              </a:pPr>
              <a:endParaRPr sz="2400" baseline="-20833" dirty="0">
                <a:latin typeface="Comic Sans MS"/>
                <a:cs typeface="Comic Sans MS"/>
              </a:endParaRPr>
            </a:p>
          </p:txBody>
        </p:sp>
      </p:grpSp>
      <p:sp>
        <p:nvSpPr>
          <p:cNvPr id="20" name="object 19"/>
          <p:cNvSpPr txBox="1"/>
          <p:nvPr/>
        </p:nvSpPr>
        <p:spPr>
          <a:xfrm>
            <a:off x="5296650" y="4074846"/>
            <a:ext cx="211454" cy="10823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  <a:endParaRPr sz="2400" dirty="0"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1" name="object 14"/>
          <p:cNvSpPr/>
          <p:nvPr/>
        </p:nvSpPr>
        <p:spPr>
          <a:xfrm>
            <a:off x="5220072" y="4101870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5173960" y="4378881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6"/>
          <p:cNvSpPr txBox="1"/>
          <p:nvPr/>
        </p:nvSpPr>
        <p:spPr>
          <a:xfrm>
            <a:off x="611560" y="5301208"/>
            <a:ext cx="504056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it-IT" sz="2400" dirty="0">
                <a:latin typeface="Comic Sans MS"/>
                <a:cs typeface="Comic Sans MS"/>
              </a:rPr>
              <a:t>25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solidFill>
                  <a:srgbClr val="33CC33"/>
                </a:solidFill>
                <a:latin typeface="Comic Sans MS"/>
                <a:cs typeface="Comic Sans MS"/>
              </a:rPr>
              <a:t>0</a:t>
            </a:r>
            <a:r>
              <a:rPr lang="it-IT" sz="2400" spc="145" dirty="0">
                <a:latin typeface="Comic Sans MS"/>
                <a:cs typeface="Comic Sans MS"/>
              </a:rPr>
              <a:t>00</a:t>
            </a:r>
            <a:r>
              <a:rPr lang="it-IT" sz="2400" dirty="0">
                <a:latin typeface="Comic Sans MS"/>
                <a:cs typeface="Comic Sans MS"/>
              </a:rPr>
              <a:t>11001</a:t>
            </a:r>
            <a:r>
              <a:rPr lang="it-IT" sz="2400" baseline="-20833" dirty="0">
                <a:latin typeface="Comic Sans MS"/>
                <a:cs typeface="Comic Sans MS"/>
              </a:rPr>
              <a:t>ms</a:t>
            </a:r>
          </a:p>
          <a:p>
            <a:pPr marL="12700">
              <a:lnSpc>
                <a:spcPct val="100000"/>
              </a:lnSpc>
            </a:pPr>
            <a:endParaRPr sz="2400" baseline="-20833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11261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556792"/>
            <a:ext cx="8178800" cy="4171950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/>
              <a:t>Scrivere in </a:t>
            </a:r>
            <a:r>
              <a:rPr lang="it-IT" sz="2400" dirty="0">
                <a:solidFill>
                  <a:srgbClr val="0000FF"/>
                </a:solidFill>
              </a:rPr>
              <a:t>modulo e segno </a:t>
            </a:r>
            <a:r>
              <a:rPr lang="it-IT" sz="2400" dirty="0"/>
              <a:t>su </a:t>
            </a:r>
            <a:r>
              <a:rPr lang="it-IT" sz="2400" dirty="0">
                <a:solidFill>
                  <a:srgbClr val="CC0000"/>
                </a:solidFill>
              </a:rPr>
              <a:t>5 bit </a:t>
            </a:r>
            <a:r>
              <a:rPr lang="it-IT" sz="2400" dirty="0"/>
              <a:t>il numero 20</a:t>
            </a:r>
            <a:r>
              <a:rPr lang="it-IT" sz="2400" baseline="-25000" dirty="0"/>
              <a:t>10</a:t>
            </a:r>
          </a:p>
          <a:p>
            <a:pPr marL="857250" lvl="2" indent="-457200">
              <a:buFont typeface="Wingdings" charset="2"/>
              <a:buChar char="Ø"/>
            </a:pPr>
            <a:r>
              <a:rPr lang="it-IT" dirty="0">
                <a:solidFill>
                  <a:srgbClr val="FF3300"/>
                </a:solidFill>
              </a:rPr>
              <a:t>Non è possibile! </a:t>
            </a:r>
          </a:p>
          <a:p>
            <a:pPr marL="1314450" lvl="3" indent="-457200">
              <a:buFont typeface="Wingdings" charset="2"/>
              <a:buChar char="Ø"/>
            </a:pPr>
            <a:r>
              <a:rPr lang="it-IT" dirty="0"/>
              <a:t>Intervallo di rappresentabilità: </a:t>
            </a:r>
            <a:r>
              <a:rPr lang="it-IT" dirty="0">
                <a:solidFill>
                  <a:srgbClr val="0000FF"/>
                </a:solidFill>
              </a:rPr>
              <a:t>[-15</a:t>
            </a:r>
            <a:r>
              <a:rPr lang="it-IT" baseline="-25000" dirty="0">
                <a:solidFill>
                  <a:srgbClr val="0000FF"/>
                </a:solidFill>
              </a:rPr>
              <a:t>10</a:t>
            </a:r>
            <a:r>
              <a:rPr lang="it-IT" dirty="0">
                <a:solidFill>
                  <a:srgbClr val="0000FF"/>
                </a:solidFill>
              </a:rPr>
              <a:t>,+15</a:t>
            </a:r>
            <a:r>
              <a:rPr lang="it-IT" baseline="-25000" dirty="0">
                <a:solidFill>
                  <a:srgbClr val="0000FF"/>
                </a:solidFill>
              </a:rPr>
              <a:t>10</a:t>
            </a:r>
            <a:r>
              <a:rPr lang="it-IT" dirty="0">
                <a:solidFill>
                  <a:srgbClr val="0000FF"/>
                </a:solidFill>
              </a:rPr>
              <a:t>]</a:t>
            </a:r>
          </a:p>
          <a:p>
            <a:pPr marL="1314450" lvl="3" indent="-457200">
              <a:buFont typeface="Wingdings" charset="2"/>
              <a:buChar char="Ø"/>
            </a:pPr>
            <a:r>
              <a:rPr lang="it-IT" dirty="0"/>
              <a:t>Avrei bisogno di almeno 6 bit: </a:t>
            </a:r>
            <a:r>
              <a:rPr lang="it-IT" dirty="0">
                <a:solidFill>
                  <a:srgbClr val="00B050"/>
                </a:solidFill>
              </a:rPr>
              <a:t>0</a:t>
            </a:r>
            <a:r>
              <a:rPr lang="it-IT" dirty="0"/>
              <a:t>10100</a:t>
            </a:r>
            <a:r>
              <a:rPr lang="it-IT" baseline="-25000" dirty="0"/>
              <a:t>ms</a:t>
            </a:r>
            <a:endParaRPr lang="it-IT" dirty="0"/>
          </a:p>
          <a:p>
            <a:pPr marL="457200" indent="-457200">
              <a:buFont typeface="Wingdings" charset="2"/>
              <a:buChar char="Ø"/>
            </a:pPr>
            <a:endParaRPr lang="it-IT" sz="2800" baseline="-25000" dirty="0"/>
          </a:p>
          <a:p>
            <a:pPr lvl="1">
              <a:buFont typeface="Wingdings" charset="2"/>
              <a:buChar char="Ø"/>
            </a:pPr>
            <a:endParaRPr lang="cs-CZ" sz="2400" dirty="0"/>
          </a:p>
        </p:txBody>
      </p:sp>
      <p:sp>
        <p:nvSpPr>
          <p:cNvPr id="5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/>
          <a:lstStyle/>
          <a:p>
            <a:r>
              <a:rPr lang="it-IT" sz="4800" dirty="0"/>
              <a:t>Esercizio 1.f: Soluzione</a:t>
            </a:r>
          </a:p>
        </p:txBody>
      </p:sp>
      <p:grpSp>
        <p:nvGrpSpPr>
          <p:cNvPr id="6" name="Gruppo 38"/>
          <p:cNvGrpSpPr/>
          <p:nvPr/>
        </p:nvGrpSpPr>
        <p:grpSpPr>
          <a:xfrm>
            <a:off x="1619672" y="3856398"/>
            <a:ext cx="5760640" cy="2996467"/>
            <a:chOff x="1753439" y="2519658"/>
            <a:chExt cx="5760640" cy="3297072"/>
          </a:xfrm>
        </p:grpSpPr>
        <p:sp>
          <p:nvSpPr>
            <p:cNvPr id="7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662516" y="2519659"/>
              <a:ext cx="603091" cy="8296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20</a:t>
              </a:r>
            </a:p>
            <a:p>
              <a:pPr marL="241300" algn="l"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  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481631" y="2519658"/>
              <a:ext cx="4032448" cy="19698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10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  <a:endParaRPr lang="it-IT" sz="2400" dirty="0">
                <a:latin typeface="Comic Sans MS"/>
                <a:cs typeface="Comic Sans MS"/>
              </a:endParaRP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5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2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7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1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8" name="object 24"/>
            <p:cNvSpPr/>
            <p:nvPr/>
          </p:nvSpPr>
          <p:spPr>
            <a:xfrm>
              <a:off x="2401511" y="3343114"/>
              <a:ext cx="3888432" cy="1594396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6"/>
            <p:cNvSpPr txBox="1"/>
            <p:nvPr/>
          </p:nvSpPr>
          <p:spPr>
            <a:xfrm>
              <a:off x="1753439" y="5139425"/>
              <a:ext cx="5040560" cy="6773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lang="it-IT" sz="2400" dirty="0">
                  <a:latin typeface="Comic Sans MS"/>
                  <a:cs typeface="Comic Sans MS"/>
                </a:rPr>
                <a:t>20</a:t>
              </a:r>
              <a:r>
                <a:rPr lang="it-IT" sz="2400" baseline="-20833" dirty="0">
                  <a:latin typeface="Comic Sans MS"/>
                  <a:cs typeface="Comic Sans MS"/>
                </a:rPr>
                <a:t>10</a:t>
              </a:r>
              <a:r>
                <a:rPr sz="2400" baseline="-20833" dirty="0"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=</a:t>
              </a:r>
              <a:r>
                <a:rPr lang="it-IT" sz="2400" spc="145" dirty="0"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10100</a:t>
              </a:r>
              <a:r>
                <a:rPr lang="it-IT" sz="2400" baseline="-20833" dirty="0">
                  <a:latin typeface="Comic Sans MS"/>
                  <a:cs typeface="Comic Sans MS"/>
                </a:rPr>
                <a:t>2</a:t>
              </a:r>
              <a:r>
                <a:rPr lang="it-IT" sz="2400" spc="145" dirty="0"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= </a:t>
              </a:r>
              <a:r>
                <a:rPr lang="it-IT" sz="2400" dirty="0">
                  <a:solidFill>
                    <a:srgbClr val="33CC33"/>
                  </a:solidFill>
                  <a:latin typeface="Comic Sans MS"/>
                  <a:cs typeface="Comic Sans MS"/>
                </a:rPr>
                <a:t>0</a:t>
              </a:r>
              <a:r>
                <a:rPr lang="it-IT" sz="2400" dirty="0">
                  <a:latin typeface="Comic Sans MS"/>
                  <a:cs typeface="Comic Sans MS"/>
                </a:rPr>
                <a:t>10100</a:t>
              </a:r>
              <a:r>
                <a:rPr lang="it-IT" sz="2400" baseline="-20833" dirty="0">
                  <a:latin typeface="Comic Sans MS"/>
                  <a:cs typeface="Comic Sans MS"/>
                </a:rPr>
                <a:t>ms</a:t>
              </a:r>
            </a:p>
            <a:p>
              <a:pPr marL="12700">
                <a:lnSpc>
                  <a:spcPct val="100000"/>
                </a:lnSpc>
              </a:pPr>
              <a:endParaRPr sz="2400" baseline="-20833" dirty="0">
                <a:latin typeface="Comic Sans MS"/>
                <a:cs typeface="Comic Sans MS"/>
              </a:endParaRPr>
            </a:p>
          </p:txBody>
        </p:sp>
      </p:grpSp>
      <p:sp>
        <p:nvSpPr>
          <p:cNvPr id="20" name="object 14"/>
          <p:cNvSpPr/>
          <p:nvPr/>
        </p:nvSpPr>
        <p:spPr>
          <a:xfrm>
            <a:off x="6660232" y="5229200"/>
            <a:ext cx="0" cy="623273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/>
          <p:cNvSpPr/>
          <p:nvPr/>
        </p:nvSpPr>
        <p:spPr>
          <a:xfrm>
            <a:off x="6660232" y="550621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9"/>
          <p:cNvSpPr txBox="1"/>
          <p:nvPr/>
        </p:nvSpPr>
        <p:spPr>
          <a:xfrm>
            <a:off x="6732240" y="5161061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56011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2.b: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1593808"/>
            <a:ext cx="8748464" cy="4427480"/>
          </a:xfrm>
        </p:spPr>
        <p:txBody>
          <a:bodyPr>
            <a:no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/>
              <a:t>Scrivere, se possibile, in </a:t>
            </a:r>
            <a:r>
              <a:rPr lang="it-IT" sz="2400" dirty="0">
                <a:solidFill>
                  <a:srgbClr val="0000FF"/>
                </a:solidFill>
              </a:rPr>
              <a:t>modulo e segno </a:t>
            </a:r>
            <a:r>
              <a:rPr lang="it-IT" sz="2400" dirty="0"/>
              <a:t>e </a:t>
            </a:r>
            <a:r>
              <a:rPr lang="it-IT" sz="2400" dirty="0">
                <a:solidFill>
                  <a:srgbClr val="33CC33"/>
                </a:solidFill>
              </a:rPr>
              <a:t>complemento a 2</a:t>
            </a:r>
            <a:r>
              <a:rPr lang="it-IT" sz="2400" dirty="0"/>
              <a:t>,  su </a:t>
            </a:r>
            <a:r>
              <a:rPr lang="it-IT" sz="2400" dirty="0">
                <a:solidFill>
                  <a:srgbClr val="CC0000"/>
                </a:solidFill>
              </a:rPr>
              <a:t>5 bit</a:t>
            </a:r>
            <a:r>
              <a:rPr lang="it-IT" sz="2400" dirty="0"/>
              <a:t>, il numero 26</a:t>
            </a:r>
            <a:r>
              <a:rPr lang="it-IT" sz="2400" baseline="-25000" dirty="0"/>
              <a:t>10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Intervallo di rappresentabilità in </a:t>
            </a:r>
            <a:r>
              <a:rPr lang="it-IT" sz="2000" dirty="0">
                <a:solidFill>
                  <a:srgbClr val="0000FF"/>
                </a:solidFill>
              </a:rPr>
              <a:t>modulo e segno</a:t>
            </a:r>
            <a:r>
              <a:rPr lang="it-IT" sz="2000" dirty="0"/>
              <a:t>: </a:t>
            </a:r>
            <a:r>
              <a:rPr lang="it-IT" sz="2000" dirty="0">
                <a:solidFill>
                  <a:srgbClr val="0000FF"/>
                </a:solidFill>
              </a:rPr>
              <a:t>[-15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,+15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]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Intervallo di rappresentabilità in </a:t>
            </a:r>
            <a:r>
              <a:rPr lang="it-IT" sz="2000" dirty="0">
                <a:solidFill>
                  <a:srgbClr val="33CC33"/>
                </a:solidFill>
              </a:rPr>
              <a:t>complemento a 2</a:t>
            </a:r>
            <a:r>
              <a:rPr lang="it-IT" sz="2000" dirty="0"/>
              <a:t>: </a:t>
            </a:r>
            <a:r>
              <a:rPr lang="it-IT" sz="2000" dirty="0">
                <a:solidFill>
                  <a:srgbClr val="33CC33"/>
                </a:solidFill>
              </a:rPr>
              <a:t>[-16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,+15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]</a:t>
            </a:r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0" indent="0"/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857250" lvl="2" indent="-457200">
              <a:buFont typeface="Wingdings" charset="2"/>
              <a:buChar char="Ø"/>
            </a:pPr>
            <a:r>
              <a:rPr lang="it-IT" dirty="0">
                <a:solidFill>
                  <a:srgbClr val="FF3300"/>
                </a:solidFill>
              </a:rPr>
              <a:t>Non è possibile in nessuna delle due rappresentazioni! </a:t>
            </a:r>
          </a:p>
          <a:p>
            <a:pPr marL="857250" lvl="2" indent="-457200">
              <a:buFont typeface="Wingdings" charset="2"/>
              <a:buChar char="Ø"/>
            </a:pPr>
            <a:r>
              <a:rPr lang="it-IT" dirty="0"/>
              <a:t>Avrei bisogno di almeno 6 bit </a:t>
            </a:r>
            <a:endParaRPr lang="it-IT" sz="2400" baseline="-25000" dirty="0"/>
          </a:p>
          <a:p>
            <a:pPr lvl="1">
              <a:buFont typeface="Wingdings" charset="2"/>
              <a:buChar char="Ø"/>
            </a:pPr>
            <a:endParaRPr lang="it-IT" sz="2000" dirty="0">
              <a:solidFill>
                <a:srgbClr val="0070C0"/>
              </a:solidFill>
            </a:endParaRPr>
          </a:p>
          <a:p>
            <a:pPr lvl="1">
              <a:buFont typeface="Wingdings" charset="2"/>
              <a:buChar char="Ø"/>
            </a:pPr>
            <a:endParaRPr lang="is-IS" sz="2000" dirty="0"/>
          </a:p>
        </p:txBody>
      </p:sp>
      <p:grpSp>
        <p:nvGrpSpPr>
          <p:cNvPr id="5" name="Gruppo 38"/>
          <p:cNvGrpSpPr/>
          <p:nvPr/>
        </p:nvGrpSpPr>
        <p:grpSpPr>
          <a:xfrm>
            <a:off x="1115616" y="3178848"/>
            <a:ext cx="5112568" cy="2410392"/>
            <a:chOff x="2401511" y="2519659"/>
            <a:chExt cx="5112568" cy="2652200"/>
          </a:xfrm>
        </p:grpSpPr>
        <p:sp>
          <p:nvSpPr>
            <p:cNvPr id="7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26</a:t>
              </a:r>
              <a:endParaRPr sz="2400" dirty="0">
                <a:solidFill>
                  <a:srgbClr val="000000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481631" y="2519659"/>
              <a:ext cx="4032448" cy="195289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13	</a:t>
              </a:r>
              <a:r>
                <a:rPr sz="2400" dirty="0">
                  <a:latin typeface="Comic Sans MS"/>
                  <a:cs typeface="Comic Sans MS"/>
                </a:rPr>
                <a:t>2</a:t>
              </a:r>
              <a:endParaRPr lang="it-IT" sz="2400" dirty="0">
                <a:latin typeface="Comic Sans MS"/>
                <a:cs typeface="Comic Sans MS"/>
              </a:endParaRP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</a:t>
              </a:r>
              <a:r>
                <a:rPr lang="it-IT" sz="2400" dirty="0">
                  <a:latin typeface="Comic Sans MS"/>
                  <a:cs typeface="Comic Sans MS"/>
                </a:rPr>
                <a:t>6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3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     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7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1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8" name="object 24"/>
            <p:cNvSpPr/>
            <p:nvPr/>
          </p:nvSpPr>
          <p:spPr>
            <a:xfrm>
              <a:off x="2401511" y="3343114"/>
              <a:ext cx="3888432" cy="1594396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9"/>
          <p:cNvSpPr txBox="1"/>
          <p:nvPr/>
        </p:nvSpPr>
        <p:spPr>
          <a:xfrm>
            <a:off x="5512674" y="4437112"/>
            <a:ext cx="211454" cy="10823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  <a:endParaRPr sz="2400" dirty="0"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1" name="object 14"/>
          <p:cNvSpPr/>
          <p:nvPr/>
        </p:nvSpPr>
        <p:spPr>
          <a:xfrm>
            <a:off x="5436096" y="4536958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5389984" y="4813969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509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2.c: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07504" y="1521800"/>
            <a:ext cx="9073008" cy="4427480"/>
          </a:xfrm>
        </p:spPr>
        <p:txBody>
          <a:bodyPr>
            <a:no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/>
              <a:t>Scrivere, se possibile, in </a:t>
            </a:r>
            <a:r>
              <a:rPr lang="it-IT" sz="2400" dirty="0">
                <a:solidFill>
                  <a:srgbClr val="0000FF"/>
                </a:solidFill>
              </a:rPr>
              <a:t>modulo e segno </a:t>
            </a:r>
            <a:r>
              <a:rPr lang="it-IT" sz="2400" dirty="0"/>
              <a:t>e </a:t>
            </a:r>
            <a:r>
              <a:rPr lang="it-IT" sz="2400" dirty="0">
                <a:solidFill>
                  <a:srgbClr val="33CC33"/>
                </a:solidFill>
              </a:rPr>
              <a:t>complemento a 2</a:t>
            </a:r>
            <a:r>
              <a:rPr lang="it-IT" sz="2400" dirty="0"/>
              <a:t>,  su </a:t>
            </a:r>
            <a:r>
              <a:rPr lang="it-IT" sz="2400" dirty="0">
                <a:solidFill>
                  <a:srgbClr val="CC0000"/>
                </a:solidFill>
              </a:rPr>
              <a:t>9 bit</a:t>
            </a:r>
            <a:r>
              <a:rPr lang="it-IT" sz="2400" dirty="0"/>
              <a:t>, il numero -129</a:t>
            </a:r>
            <a:r>
              <a:rPr lang="it-IT" sz="2400" baseline="-25000" dirty="0"/>
              <a:t>10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Intervallo di rappresentabilità in </a:t>
            </a:r>
            <a:r>
              <a:rPr lang="it-IT" sz="2000" dirty="0">
                <a:solidFill>
                  <a:srgbClr val="0000FF"/>
                </a:solidFill>
              </a:rPr>
              <a:t>modulo e segno</a:t>
            </a:r>
            <a:r>
              <a:rPr lang="it-IT" sz="2000" dirty="0"/>
              <a:t>: </a:t>
            </a:r>
            <a:r>
              <a:rPr lang="it-IT" sz="2000" dirty="0">
                <a:solidFill>
                  <a:srgbClr val="0000FF"/>
                </a:solidFill>
              </a:rPr>
              <a:t>[-255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,+255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]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Intervallo di rappresentabilità in </a:t>
            </a:r>
            <a:r>
              <a:rPr lang="it-IT" sz="2000" dirty="0">
                <a:solidFill>
                  <a:srgbClr val="33CC33"/>
                </a:solidFill>
              </a:rPr>
              <a:t>complemento a 2</a:t>
            </a:r>
            <a:r>
              <a:rPr lang="it-IT" sz="2000" dirty="0"/>
              <a:t>: </a:t>
            </a:r>
            <a:r>
              <a:rPr lang="it-IT" sz="2000" dirty="0">
                <a:solidFill>
                  <a:srgbClr val="33CC33"/>
                </a:solidFill>
              </a:rPr>
              <a:t>[-256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,+255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]</a:t>
            </a:r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lvl="1">
              <a:buFont typeface="Wingdings" charset="2"/>
              <a:buChar char="Ø"/>
            </a:pPr>
            <a:endParaRPr lang="it-IT" sz="2000" dirty="0">
              <a:solidFill>
                <a:srgbClr val="0070C0"/>
              </a:solidFill>
            </a:endParaRPr>
          </a:p>
          <a:p>
            <a:pPr lvl="1">
              <a:buFont typeface="Wingdings" charset="2"/>
              <a:buChar char="Ø"/>
            </a:pPr>
            <a:endParaRPr lang="is-IS" sz="2000" dirty="0"/>
          </a:p>
        </p:txBody>
      </p:sp>
      <p:grpSp>
        <p:nvGrpSpPr>
          <p:cNvPr id="5" name="Gruppo 38"/>
          <p:cNvGrpSpPr/>
          <p:nvPr/>
        </p:nvGrpSpPr>
        <p:grpSpPr>
          <a:xfrm>
            <a:off x="899592" y="3031792"/>
            <a:ext cx="6408712" cy="3277528"/>
            <a:chOff x="2401511" y="2519659"/>
            <a:chExt cx="6408712" cy="3606326"/>
          </a:xfrm>
        </p:grpSpPr>
        <p:sp>
          <p:nvSpPr>
            <p:cNvPr id="7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129</a:t>
              </a:r>
              <a:endParaRPr sz="2400" dirty="0">
                <a:solidFill>
                  <a:srgbClr val="000000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481631" y="2519659"/>
              <a:ext cx="4032448" cy="19528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endParaRPr sz="2400" dirty="0">
                <a:latin typeface="Comic Sans MS"/>
                <a:cs typeface="Comic Sans MS"/>
              </a:endParaRP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64	</a:t>
              </a:r>
              <a:r>
                <a:rPr sz="2400" dirty="0">
                  <a:latin typeface="Comic Sans MS"/>
                  <a:cs typeface="Comic Sans MS"/>
                </a:rPr>
                <a:t>2</a:t>
              </a:r>
              <a:endParaRPr lang="it-IT" sz="2400" dirty="0">
                <a:latin typeface="Comic Sans MS"/>
                <a:cs typeface="Comic Sans MS"/>
              </a:endParaRP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32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16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  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7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8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8" name="object 24"/>
            <p:cNvSpPr/>
            <p:nvPr/>
          </p:nvSpPr>
          <p:spPr>
            <a:xfrm>
              <a:off x="2401511" y="3343113"/>
              <a:ext cx="6408712" cy="2782872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9"/>
          <p:cNvSpPr txBox="1"/>
          <p:nvPr/>
        </p:nvSpPr>
        <p:spPr>
          <a:xfrm>
            <a:off x="5296650" y="4362878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4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0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1" name="object 14"/>
          <p:cNvSpPr/>
          <p:nvPr/>
        </p:nvSpPr>
        <p:spPr>
          <a:xfrm>
            <a:off x="5220072" y="4389902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5173960" y="4666913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/>
          <p:cNvSpPr/>
          <p:nvPr/>
        </p:nvSpPr>
        <p:spPr>
          <a:xfrm>
            <a:off x="6012160" y="4677934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5"/>
          <p:cNvSpPr/>
          <p:nvPr/>
        </p:nvSpPr>
        <p:spPr>
          <a:xfrm>
            <a:off x="6012160" y="4954945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9"/>
          <p:cNvSpPr txBox="1"/>
          <p:nvPr/>
        </p:nvSpPr>
        <p:spPr>
          <a:xfrm>
            <a:off x="6012160" y="4650910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0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6804248" y="4965966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5"/>
          <p:cNvSpPr/>
          <p:nvPr/>
        </p:nvSpPr>
        <p:spPr>
          <a:xfrm>
            <a:off x="6804248" y="5242977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9"/>
          <p:cNvSpPr txBox="1"/>
          <p:nvPr/>
        </p:nvSpPr>
        <p:spPr>
          <a:xfrm>
            <a:off x="6880826" y="4866934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1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1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31" name="object 14"/>
          <p:cNvSpPr/>
          <p:nvPr/>
        </p:nvSpPr>
        <p:spPr>
          <a:xfrm>
            <a:off x="7622232" y="5253998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5"/>
          <p:cNvSpPr/>
          <p:nvPr/>
        </p:nvSpPr>
        <p:spPr>
          <a:xfrm>
            <a:off x="7622232" y="5531009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9"/>
          <p:cNvSpPr txBox="1"/>
          <p:nvPr/>
        </p:nvSpPr>
        <p:spPr>
          <a:xfrm>
            <a:off x="7740352" y="5154966"/>
            <a:ext cx="211454" cy="10823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  <a:endParaRPr sz="2400" dirty="0"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34" name="object 26"/>
          <p:cNvSpPr txBox="1"/>
          <p:nvPr/>
        </p:nvSpPr>
        <p:spPr>
          <a:xfrm>
            <a:off x="1547664" y="5445224"/>
            <a:ext cx="7992888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   129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10000001</a:t>
            </a:r>
            <a:r>
              <a:rPr lang="it-IT" sz="2400" baseline="-20833" dirty="0">
                <a:latin typeface="Comic Sans MS"/>
                <a:cs typeface="Comic Sans MS"/>
              </a:rPr>
              <a:t>2 </a:t>
            </a:r>
            <a:endParaRPr lang="it-IT" sz="2400" dirty="0">
              <a:latin typeface="Comic Sans MS"/>
              <a:cs typeface="Comic Sans MS"/>
            </a:endParaRPr>
          </a:p>
          <a:p>
            <a:pPr marL="12700" algn="l"/>
            <a:r>
              <a:rPr lang="it-IT" sz="2400" spc="145" dirty="0">
                <a:latin typeface="Comic Sans MS"/>
                <a:cs typeface="Comic Sans MS"/>
              </a:rPr>
              <a:t> -</a:t>
            </a:r>
            <a:r>
              <a:rPr lang="it-IT" sz="2400" dirty="0">
                <a:latin typeface="Comic Sans MS"/>
                <a:cs typeface="Comic Sans MS"/>
              </a:rPr>
              <a:t>129</a:t>
            </a:r>
            <a:r>
              <a:rPr lang="it-IT" sz="2400" baseline="-20833" dirty="0">
                <a:latin typeface="Comic Sans MS"/>
                <a:cs typeface="Comic Sans MS"/>
              </a:rPr>
              <a:t>10 </a:t>
            </a:r>
            <a:r>
              <a:rPr lang="it-IT" sz="2400" dirty="0">
                <a:latin typeface="Comic Sans MS"/>
                <a:cs typeface="Comic Sans MS"/>
              </a:rPr>
              <a:t>= </a:t>
            </a:r>
            <a:r>
              <a:rPr lang="it-IT" sz="2400" spc="145" dirty="0">
                <a:solidFill>
                  <a:srgbClr val="FF3300"/>
                </a:solidFill>
                <a:latin typeface="Comic Sans MS"/>
                <a:cs typeface="Comic Sans MS"/>
              </a:rPr>
              <a:t>1</a:t>
            </a:r>
            <a:r>
              <a:rPr lang="it-IT" sz="2400" dirty="0">
                <a:latin typeface="Comic Sans MS"/>
                <a:cs typeface="Comic Sans MS"/>
              </a:rPr>
              <a:t>10000001</a:t>
            </a:r>
            <a:r>
              <a:rPr lang="it-IT" sz="2400" baseline="-20833" dirty="0">
                <a:latin typeface="Comic Sans MS"/>
                <a:cs typeface="Comic Sans MS"/>
              </a:rPr>
              <a:t>ms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solidFill>
                  <a:srgbClr val="000000"/>
                </a:solidFill>
                <a:latin typeface="Comic Sans MS"/>
                <a:cs typeface="Comic Sans MS"/>
              </a:rPr>
              <a:t>?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383327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  <p:bldP spid="23" grpId="0" animBg="1"/>
      <p:bldP spid="24" grpId="0" animBg="1"/>
      <p:bldP spid="27" grpId="0"/>
      <p:bldP spid="28" grpId="0" animBg="1"/>
      <p:bldP spid="29" grpId="0" animBg="1"/>
      <p:bldP spid="30" grpId="0"/>
      <p:bldP spid="31" grpId="0" animBg="1"/>
      <p:bldP spid="32" grpId="0" animBg="1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2.c: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39552" y="1556792"/>
            <a:ext cx="8424936" cy="4427480"/>
          </a:xfrm>
        </p:spPr>
        <p:txBody>
          <a:bodyPr>
            <a:no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/>
              <a:t>Per ottenere la rappresentazione </a:t>
            </a:r>
            <a:r>
              <a:rPr lang="it-IT" sz="2400" dirty="0">
                <a:sym typeface="Wingdings" panose="05000000000000000000" pitchFamily="2" charset="2"/>
              </a:rPr>
              <a:t>B=</a:t>
            </a:r>
            <a:r>
              <a:rPr lang="en-US" altLang="it-IT" sz="2400" i="1" dirty="0">
                <a:solidFill>
                  <a:srgbClr val="FF0000"/>
                </a:solidFill>
              </a:rPr>
              <a:t> </a:t>
            </a:r>
            <a:r>
              <a:rPr lang="en-US" altLang="it-IT" sz="2400" dirty="0"/>
              <a:t>(</a:t>
            </a:r>
            <a:r>
              <a:rPr lang="en-US" altLang="it-IT" sz="2400" i="1" dirty="0"/>
              <a:t>b</a:t>
            </a:r>
            <a:r>
              <a:rPr lang="en-US" altLang="it-IT" sz="2400" i="1" baseline="-25000" dirty="0"/>
              <a:t>n-1</a:t>
            </a:r>
            <a:r>
              <a:rPr lang="en-US" altLang="it-IT" sz="2400" i="1" dirty="0"/>
              <a:t> b</a:t>
            </a:r>
            <a:r>
              <a:rPr lang="en-US" altLang="it-IT" sz="2400" i="1" baseline="-25000" dirty="0"/>
              <a:t>n-2</a:t>
            </a:r>
            <a:r>
              <a:rPr lang="en-US" altLang="it-IT" sz="2400" i="1" dirty="0"/>
              <a:t>…b</a:t>
            </a:r>
            <a:r>
              <a:rPr lang="en-US" altLang="it-IT" sz="2400" i="1" baseline="-25000" dirty="0"/>
              <a:t>0</a:t>
            </a:r>
            <a:r>
              <a:rPr lang="en-US" altLang="it-IT" sz="2400" dirty="0"/>
              <a:t>)</a:t>
            </a:r>
            <a:r>
              <a:rPr lang="en-US" altLang="it-IT" sz="2400" baseline="-25000" dirty="0"/>
              <a:t>C2</a:t>
            </a:r>
            <a:br>
              <a:rPr lang="en-US" altLang="it-IT" sz="2400" dirty="0"/>
            </a:br>
            <a:r>
              <a:rPr lang="it-IT" sz="2400" dirty="0"/>
              <a:t>(su </a:t>
            </a:r>
            <a:r>
              <a:rPr lang="it-IT" sz="2400" dirty="0" err="1"/>
              <a:t>n</a:t>
            </a:r>
            <a:r>
              <a:rPr lang="it-IT" sz="2400" dirty="0"/>
              <a:t>=</a:t>
            </a:r>
            <a:r>
              <a:rPr lang="it-IT" sz="2400" dirty="0">
                <a:solidFill>
                  <a:srgbClr val="CC0000"/>
                </a:solidFill>
              </a:rPr>
              <a:t>9 bit</a:t>
            </a:r>
            <a:r>
              <a:rPr lang="it-IT" sz="2400" dirty="0"/>
              <a:t>) di -129</a:t>
            </a:r>
            <a:r>
              <a:rPr lang="it-IT" sz="2400" baseline="-25000" dirty="0"/>
              <a:t>10</a:t>
            </a:r>
            <a:r>
              <a:rPr lang="it-IT" sz="2400" dirty="0"/>
              <a:t>: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Dalla definizione si ha che il valore di </a:t>
            </a:r>
            <a:r>
              <a:rPr lang="en-US" altLang="it-IT" sz="2000" i="1" dirty="0"/>
              <a:t>b</a:t>
            </a:r>
            <a:r>
              <a:rPr lang="en-US" altLang="it-IT" sz="2000" i="1" baseline="-25000" dirty="0"/>
              <a:t>n-2</a:t>
            </a:r>
            <a:r>
              <a:rPr lang="en-US" altLang="it-IT" sz="2000" i="1" dirty="0"/>
              <a:t>…b</a:t>
            </a:r>
            <a:r>
              <a:rPr lang="en-US" altLang="it-IT" sz="2000" i="1" baseline="-25000" dirty="0"/>
              <a:t>0</a:t>
            </a:r>
            <a:r>
              <a:rPr lang="it-IT" altLang="it-IT" sz="2000" dirty="0"/>
              <a:t> è uguale a </a:t>
            </a:r>
            <a:br>
              <a:rPr lang="it-IT" altLang="it-IT" sz="2000" dirty="0"/>
            </a:br>
            <a:r>
              <a:rPr lang="it-IT" sz="2000" dirty="0"/>
              <a:t>2</a:t>
            </a:r>
            <a:r>
              <a:rPr lang="it-IT" sz="2000" baseline="30000" dirty="0"/>
              <a:t>n-1 </a:t>
            </a:r>
            <a:r>
              <a:rPr lang="it-IT" sz="2000" dirty="0"/>
              <a:t>– |B| = 2</a:t>
            </a:r>
            <a:r>
              <a:rPr lang="it-IT" sz="2000" baseline="30000" dirty="0"/>
              <a:t>8 </a:t>
            </a:r>
            <a:r>
              <a:rPr lang="it-IT" sz="2000" dirty="0"/>
              <a:t>– 129 = 256 – 129 = 127</a:t>
            </a:r>
            <a:r>
              <a:rPr lang="it-IT" sz="2000" baseline="-25000" dirty="0"/>
              <a:t>10</a:t>
            </a:r>
            <a:endParaRPr lang="it-IT" sz="2000" dirty="0"/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Rappresentiamo 127</a:t>
            </a:r>
            <a:r>
              <a:rPr lang="it-IT" sz="2000" baseline="-25000" dirty="0"/>
              <a:t>10</a:t>
            </a:r>
            <a:r>
              <a:rPr lang="it-IT" sz="2000" dirty="0"/>
              <a:t> in binario con 8 bit (si può fare) e aggiungiamo il bit 1 nella posizione più significativa </a:t>
            </a:r>
            <a:endParaRPr lang="it-IT" sz="2400" dirty="0"/>
          </a:p>
          <a:p>
            <a:pPr marL="857250" lvl="1" indent="-457200">
              <a:buFont typeface="Wingdings" charset="2"/>
              <a:buChar char="Ø"/>
            </a:pPr>
            <a:endParaRPr lang="it-IT" sz="20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0" indent="0"/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lvl="1">
              <a:buFont typeface="Wingdings" charset="2"/>
              <a:buChar char="Ø"/>
            </a:pPr>
            <a:endParaRPr lang="it-IT" sz="2000" dirty="0">
              <a:solidFill>
                <a:srgbClr val="0070C0"/>
              </a:solidFill>
            </a:endParaRPr>
          </a:p>
          <a:p>
            <a:pPr lvl="1">
              <a:buFont typeface="Wingdings" charset="2"/>
              <a:buChar char="Ø"/>
            </a:pPr>
            <a:endParaRPr lang="is-IS" sz="2000" dirty="0"/>
          </a:p>
        </p:txBody>
      </p:sp>
      <p:grpSp>
        <p:nvGrpSpPr>
          <p:cNvPr id="5" name="Gruppo 38"/>
          <p:cNvGrpSpPr/>
          <p:nvPr/>
        </p:nvGrpSpPr>
        <p:grpSpPr>
          <a:xfrm>
            <a:off x="899592" y="3789040"/>
            <a:ext cx="5400600" cy="2880320"/>
            <a:chOff x="2401511" y="2519659"/>
            <a:chExt cx="5400600" cy="3169270"/>
          </a:xfrm>
        </p:grpSpPr>
        <p:sp>
          <p:nvSpPr>
            <p:cNvPr id="7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127</a:t>
              </a:r>
              <a:endParaRPr sz="2400" dirty="0">
                <a:solidFill>
                  <a:srgbClr val="000000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481631" y="2519659"/>
              <a:ext cx="4032448" cy="19359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63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L="241300" algn="l">
                <a:lnSpc>
                  <a:spcPts val="2640"/>
                </a:lnSpc>
                <a:spcBef>
                  <a:spcPts val="120"/>
                </a:spcBef>
                <a:tabLst>
                  <a:tab pos="850265" algn="l"/>
                  <a:tab pos="1764664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31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15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 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7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7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8" name="object 24"/>
            <p:cNvSpPr/>
            <p:nvPr/>
          </p:nvSpPr>
          <p:spPr>
            <a:xfrm>
              <a:off x="2401511" y="3343113"/>
              <a:ext cx="5400600" cy="2345816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9"/>
          <p:cNvSpPr txBox="1"/>
          <p:nvPr/>
        </p:nvSpPr>
        <p:spPr>
          <a:xfrm>
            <a:off x="5296650" y="5082958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3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1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1" name="object 14"/>
          <p:cNvSpPr/>
          <p:nvPr/>
        </p:nvSpPr>
        <p:spPr>
          <a:xfrm>
            <a:off x="5220072" y="5109982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5173960" y="5386993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/>
          <p:cNvSpPr/>
          <p:nvPr/>
        </p:nvSpPr>
        <p:spPr>
          <a:xfrm>
            <a:off x="6012160" y="5398014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5"/>
          <p:cNvSpPr/>
          <p:nvPr/>
        </p:nvSpPr>
        <p:spPr>
          <a:xfrm>
            <a:off x="6012160" y="5675025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9"/>
          <p:cNvSpPr txBox="1"/>
          <p:nvPr/>
        </p:nvSpPr>
        <p:spPr>
          <a:xfrm>
            <a:off x="6012160" y="5370990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1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1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6804248" y="5686046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5"/>
          <p:cNvSpPr/>
          <p:nvPr/>
        </p:nvSpPr>
        <p:spPr>
          <a:xfrm>
            <a:off x="6804248" y="5963057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9"/>
          <p:cNvSpPr txBox="1"/>
          <p:nvPr/>
        </p:nvSpPr>
        <p:spPr>
          <a:xfrm>
            <a:off x="6880826" y="5587014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34" name="object 26"/>
          <p:cNvSpPr txBox="1"/>
          <p:nvPr/>
        </p:nvSpPr>
        <p:spPr>
          <a:xfrm>
            <a:off x="4499992" y="3717032"/>
            <a:ext cx="799288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127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latin typeface="Comic Sans MS"/>
                <a:cs typeface="Comic Sans MS"/>
              </a:rPr>
              <a:t>0</a:t>
            </a:r>
            <a:r>
              <a:rPr lang="it-IT" sz="2400" dirty="0">
                <a:latin typeface="Comic Sans MS"/>
                <a:cs typeface="Comic Sans MS"/>
              </a:rPr>
              <a:t>1111111</a:t>
            </a:r>
            <a:r>
              <a:rPr lang="it-IT" sz="2400" baseline="-20833" dirty="0">
                <a:latin typeface="Comic Sans MS"/>
                <a:cs typeface="Comic Sans MS"/>
              </a:rPr>
              <a:t>2</a:t>
            </a:r>
          </a:p>
        </p:txBody>
      </p:sp>
      <p:sp>
        <p:nvSpPr>
          <p:cNvPr id="35" name="object 26"/>
          <p:cNvSpPr txBox="1"/>
          <p:nvPr/>
        </p:nvSpPr>
        <p:spPr>
          <a:xfrm>
            <a:off x="4139952" y="4139788"/>
            <a:ext cx="799288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-129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solidFill>
                  <a:srgbClr val="FF3300"/>
                </a:solidFill>
                <a:latin typeface="Comic Sans MS"/>
                <a:cs typeface="Comic Sans MS"/>
              </a:rPr>
              <a:t>1</a:t>
            </a:r>
            <a:r>
              <a:rPr lang="it-IT" sz="2400" spc="145" dirty="0">
                <a:latin typeface="Comic Sans MS"/>
                <a:cs typeface="Comic Sans MS"/>
              </a:rPr>
              <a:t>0</a:t>
            </a:r>
            <a:r>
              <a:rPr lang="it-IT" sz="2400" dirty="0">
                <a:latin typeface="Comic Sans MS"/>
                <a:cs typeface="Comic Sans MS"/>
              </a:rPr>
              <a:t>1111111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221912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  <p:bldP spid="23" grpId="0" animBg="1"/>
      <p:bldP spid="24" grpId="0" animBg="1"/>
      <p:bldP spid="27" grpId="0"/>
      <p:bldP spid="28" grpId="0" animBg="1"/>
      <p:bldP spid="29" grpId="0" animBg="1"/>
      <p:bldP spid="30" grpId="0"/>
      <p:bldP spid="34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2.c: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739404"/>
            <a:ext cx="8424936" cy="2625700"/>
          </a:xfrm>
        </p:spPr>
        <p:txBody>
          <a:bodyPr>
            <a:no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>
                <a:solidFill>
                  <a:srgbClr val="FF6600"/>
                </a:solidFill>
              </a:rPr>
              <a:t>Metodo alternativo </a:t>
            </a:r>
            <a:r>
              <a:rPr lang="it-IT" sz="2400" dirty="0"/>
              <a:t>per ottenere la rappresentazione in </a:t>
            </a:r>
            <a:r>
              <a:rPr lang="it-IT" sz="2400" dirty="0">
                <a:solidFill>
                  <a:srgbClr val="33CC33"/>
                </a:solidFill>
              </a:rPr>
              <a:t>complemento a 2 </a:t>
            </a:r>
            <a:r>
              <a:rPr lang="it-IT" sz="2400" dirty="0"/>
              <a:t>(su </a:t>
            </a:r>
            <a:r>
              <a:rPr lang="it-IT" sz="2400" dirty="0" err="1"/>
              <a:t>n</a:t>
            </a:r>
            <a:r>
              <a:rPr lang="it-IT" sz="2400" dirty="0"/>
              <a:t>=</a:t>
            </a:r>
            <a:r>
              <a:rPr lang="it-IT" sz="2400" dirty="0">
                <a:solidFill>
                  <a:srgbClr val="CC0000"/>
                </a:solidFill>
              </a:rPr>
              <a:t>9 bit</a:t>
            </a:r>
            <a:r>
              <a:rPr lang="it-IT" sz="2400" dirty="0"/>
              <a:t>) di -129</a:t>
            </a:r>
            <a:r>
              <a:rPr lang="it-IT" sz="2400" baseline="-25000" dirty="0"/>
              <a:t>10</a:t>
            </a:r>
            <a:r>
              <a:rPr lang="it-IT" sz="2400" dirty="0"/>
              <a:t>: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Calcoliamo la rappresentazione in </a:t>
            </a:r>
            <a:r>
              <a:rPr lang="it-IT" sz="2000" dirty="0">
                <a:solidFill>
                  <a:srgbClr val="33CC33"/>
                </a:solidFill>
              </a:rPr>
              <a:t>complemento a 2</a:t>
            </a:r>
            <a:r>
              <a:rPr lang="it-IT" sz="2000" dirty="0"/>
              <a:t>, su 9 bit,  di 129</a:t>
            </a:r>
            <a:r>
              <a:rPr lang="it-IT" sz="2000" baseline="-25000" dirty="0"/>
              <a:t>10</a:t>
            </a:r>
            <a:r>
              <a:rPr lang="it-IT" sz="2000" dirty="0"/>
              <a:t> (intervallo di rappresentabilità: [-256</a:t>
            </a:r>
            <a:r>
              <a:rPr lang="it-IT" sz="2000" baseline="-25000" dirty="0"/>
              <a:t>10</a:t>
            </a:r>
            <a:r>
              <a:rPr lang="it-IT" sz="2000" dirty="0"/>
              <a:t>, +255</a:t>
            </a:r>
            <a:r>
              <a:rPr lang="it-IT" sz="2000" baseline="-25000" dirty="0"/>
              <a:t>10</a:t>
            </a:r>
            <a:r>
              <a:rPr lang="it-IT" sz="2000" dirty="0"/>
              <a:t>])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/>
              <a:t>Nota: ci basta calcolare la rappresentazione binaria su 8 bit di 129</a:t>
            </a:r>
            <a:r>
              <a:rPr lang="it-IT" sz="1600" baseline="-25000" dirty="0"/>
              <a:t>10</a:t>
            </a:r>
            <a:r>
              <a:rPr lang="it-IT" sz="1600" dirty="0"/>
              <a:t> (si può fare) e aggiungere uno 0 nella posizione più significativa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>
                <a:cs typeface="Comic Sans MS"/>
              </a:rPr>
              <a:t>129</a:t>
            </a:r>
            <a:r>
              <a:rPr lang="it-IT" sz="1600" baseline="-20833" dirty="0">
                <a:cs typeface="Comic Sans MS"/>
              </a:rPr>
              <a:t>10 </a:t>
            </a:r>
            <a:r>
              <a:rPr lang="it-IT" sz="1600" dirty="0">
                <a:cs typeface="Comic Sans MS"/>
              </a:rPr>
              <a:t>=</a:t>
            </a:r>
            <a:r>
              <a:rPr lang="it-IT" sz="1600" spc="145" dirty="0">
                <a:cs typeface="Comic Sans MS"/>
              </a:rPr>
              <a:t> 1</a:t>
            </a:r>
            <a:r>
              <a:rPr lang="it-IT" sz="1600" dirty="0">
                <a:cs typeface="Comic Sans MS"/>
              </a:rPr>
              <a:t>0000001</a:t>
            </a:r>
            <a:r>
              <a:rPr lang="it-IT" sz="1600" baseline="-20833" dirty="0">
                <a:cs typeface="Comic Sans MS"/>
              </a:rPr>
              <a:t>2 </a:t>
            </a:r>
            <a:r>
              <a:rPr lang="it-IT" sz="1600" dirty="0">
                <a:cs typeface="Comic Sans MS"/>
              </a:rPr>
              <a:t>=</a:t>
            </a:r>
            <a:r>
              <a:rPr lang="it-IT" sz="1600" spc="145" dirty="0">
                <a:cs typeface="Comic Sans MS"/>
              </a:rPr>
              <a:t> </a:t>
            </a:r>
            <a:r>
              <a:rPr lang="it-IT" sz="1600" spc="145" dirty="0">
                <a:solidFill>
                  <a:srgbClr val="33CC33"/>
                </a:solidFill>
                <a:cs typeface="Comic Sans MS"/>
              </a:rPr>
              <a:t>0</a:t>
            </a:r>
            <a:r>
              <a:rPr lang="it-IT" sz="1600" dirty="0">
                <a:cs typeface="Comic Sans MS"/>
              </a:rPr>
              <a:t>10000001</a:t>
            </a:r>
            <a:r>
              <a:rPr lang="it-IT" sz="1600" baseline="-20833" dirty="0">
                <a:cs typeface="Comic Sans MS"/>
              </a:rPr>
              <a:t>C2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>
                <a:cs typeface="Comic Sans MS"/>
              </a:rPr>
              <a:t>Poi calcoliamo l’</a:t>
            </a:r>
            <a:r>
              <a:rPr lang="it-IT" sz="2000" dirty="0">
                <a:solidFill>
                  <a:srgbClr val="6666FF"/>
                </a:solidFill>
                <a:cs typeface="Comic Sans MS"/>
              </a:rPr>
              <a:t>opposto</a:t>
            </a:r>
            <a:r>
              <a:rPr lang="it-IT" sz="2000" dirty="0">
                <a:cs typeface="Comic Sans MS"/>
              </a:rPr>
              <a:t> di 129</a:t>
            </a:r>
            <a:r>
              <a:rPr lang="it-IT" sz="2000" baseline="-25000" dirty="0">
                <a:cs typeface="Comic Sans MS"/>
              </a:rPr>
              <a:t>10</a:t>
            </a:r>
            <a:r>
              <a:rPr lang="it-IT" sz="2000" dirty="0">
                <a:cs typeface="Comic Sans MS"/>
              </a:rPr>
              <a:t> in </a:t>
            </a:r>
            <a:r>
              <a:rPr lang="it-IT" sz="2000" dirty="0">
                <a:solidFill>
                  <a:srgbClr val="33CC33"/>
                </a:solidFill>
                <a:cs typeface="Comic Sans MS"/>
              </a:rPr>
              <a:t>complemento a 2</a:t>
            </a:r>
            <a:r>
              <a:rPr lang="it-IT" sz="2000" dirty="0">
                <a:cs typeface="Comic Sans MS"/>
              </a:rPr>
              <a:t>: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 err="1">
                <a:cs typeface="Comic Sans MS"/>
              </a:rPr>
              <a:t>Complementiamo</a:t>
            </a:r>
            <a:r>
              <a:rPr lang="it-IT" sz="1600" dirty="0">
                <a:cs typeface="Comic Sans MS"/>
              </a:rPr>
              <a:t> bit a bit: 	 </a:t>
            </a:r>
            <a:r>
              <a:rPr lang="it-IT" sz="1600" b="1" dirty="0">
                <a:latin typeface="Courier"/>
                <a:cs typeface="Courier"/>
              </a:rPr>
              <a:t> 101111110+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>
                <a:cs typeface="Comic Sans MS"/>
              </a:rPr>
              <a:t>Sommiamo 1:			               	    </a:t>
            </a:r>
            <a:r>
              <a:rPr lang="it-IT" sz="1600" b="1" dirty="0">
                <a:latin typeface="Courier"/>
                <a:cs typeface="Courier"/>
              </a:rPr>
              <a:t>1=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>
                <a:cs typeface="Comic Sans MS"/>
              </a:rPr>
              <a:t>Risultato	               		   </a:t>
            </a:r>
            <a:r>
              <a:rPr lang="it-IT" sz="1600" b="1" dirty="0">
                <a:latin typeface="Courier"/>
                <a:cs typeface="Courier"/>
              </a:rPr>
              <a:t>101111111</a:t>
            </a:r>
          </a:p>
          <a:p>
            <a:pPr marL="1257300" lvl="2" indent="-457200">
              <a:buFont typeface="Wingdings" charset="2"/>
              <a:buChar char="Ø"/>
            </a:pPr>
            <a:endParaRPr lang="it-IT" sz="16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lvl="1">
              <a:buFont typeface="Wingdings" charset="2"/>
              <a:buChar char="Ø"/>
            </a:pPr>
            <a:endParaRPr lang="it-IT" sz="2000" dirty="0">
              <a:solidFill>
                <a:srgbClr val="0070C0"/>
              </a:solidFill>
            </a:endParaRPr>
          </a:p>
          <a:p>
            <a:pPr lvl="1">
              <a:buFont typeface="Wingdings" charset="2"/>
              <a:buChar char="Ø"/>
            </a:pPr>
            <a:endParaRPr lang="is-IS" sz="2000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-10056" y="6444044"/>
            <a:ext cx="915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Linguaggi, Codifica e Rappresentazione dell’Informazione</a:t>
            </a:r>
          </a:p>
        </p:txBody>
      </p:sp>
      <p:sp>
        <p:nvSpPr>
          <p:cNvPr id="34" name="object 26"/>
          <p:cNvSpPr txBox="1"/>
          <p:nvPr/>
        </p:nvSpPr>
        <p:spPr>
          <a:xfrm>
            <a:off x="2555776" y="5589240"/>
            <a:ext cx="799288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-129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solidFill>
                  <a:srgbClr val="FF3300"/>
                </a:solidFill>
                <a:latin typeface="Comic Sans MS"/>
                <a:cs typeface="Comic Sans MS"/>
              </a:rPr>
              <a:t>1</a:t>
            </a:r>
            <a:r>
              <a:rPr lang="it-IT" sz="2400" dirty="0">
                <a:latin typeface="Comic Sans MS"/>
                <a:cs typeface="Comic Sans MS"/>
              </a:rPr>
              <a:t>01111111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</p:txBody>
      </p:sp>
      <p:cxnSp>
        <p:nvCxnSpPr>
          <p:cNvPr id="35" name="Connettore 1 7"/>
          <p:cNvCxnSpPr/>
          <p:nvPr/>
        </p:nvCxnSpPr>
        <p:spPr>
          <a:xfrm>
            <a:off x="5364088" y="5013176"/>
            <a:ext cx="12961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79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188640"/>
            <a:ext cx="8356600" cy="1143000"/>
          </a:xfrm>
        </p:spPr>
        <p:txBody>
          <a:bodyPr/>
          <a:lstStyle/>
          <a:p>
            <a:r>
              <a:rPr lang="it-IT" sz="4800" dirty="0"/>
              <a:t>Esercizio 2.d: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556792"/>
            <a:ext cx="8964488" cy="4255521"/>
          </a:xfrm>
        </p:spPr>
        <p:txBody>
          <a:bodyPr>
            <a:norm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800" dirty="0"/>
              <a:t>Scrivere, se possibile, in </a:t>
            </a:r>
            <a:r>
              <a:rPr lang="it-IT" sz="2800" dirty="0">
                <a:solidFill>
                  <a:srgbClr val="0000FF"/>
                </a:solidFill>
              </a:rPr>
              <a:t>modulo e segno </a:t>
            </a:r>
            <a:r>
              <a:rPr lang="it-IT" sz="2800" dirty="0"/>
              <a:t>e </a:t>
            </a:r>
            <a:r>
              <a:rPr lang="it-IT" sz="2800" dirty="0">
                <a:solidFill>
                  <a:srgbClr val="33CC33"/>
                </a:solidFill>
              </a:rPr>
              <a:t>complemento a 2</a:t>
            </a:r>
            <a:r>
              <a:rPr lang="it-IT" sz="2800" dirty="0"/>
              <a:t>, </a:t>
            </a:r>
            <a:r>
              <a:rPr lang="it-IT" sz="2400" dirty="0"/>
              <a:t>su </a:t>
            </a:r>
            <a:r>
              <a:rPr lang="it-IT" sz="2400" dirty="0">
                <a:solidFill>
                  <a:srgbClr val="CC0000"/>
                </a:solidFill>
              </a:rPr>
              <a:t>9 bit </a:t>
            </a:r>
            <a:r>
              <a:rPr lang="it-IT" sz="2400" dirty="0"/>
              <a:t>il numero </a:t>
            </a:r>
            <a:r>
              <a:rPr lang="en-US" altLang="it-IT" sz="2400" dirty="0">
                <a:solidFill>
                  <a:srgbClr val="000000"/>
                </a:solidFill>
              </a:rPr>
              <a:t>-200</a:t>
            </a:r>
            <a:r>
              <a:rPr lang="en-US" altLang="it-IT" sz="2400" b="1" baseline="-25000" dirty="0">
                <a:solidFill>
                  <a:srgbClr val="000000"/>
                </a:solidFill>
              </a:rPr>
              <a:t>10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Intervallo di rappresentabilità in </a:t>
            </a:r>
            <a:r>
              <a:rPr lang="it-IT" sz="2000" dirty="0">
                <a:solidFill>
                  <a:srgbClr val="0000FF"/>
                </a:solidFill>
              </a:rPr>
              <a:t>modulo e segno</a:t>
            </a:r>
            <a:r>
              <a:rPr lang="it-IT" sz="2000" dirty="0"/>
              <a:t>: </a:t>
            </a:r>
            <a:r>
              <a:rPr lang="it-IT" sz="2000" dirty="0">
                <a:solidFill>
                  <a:srgbClr val="0000FF"/>
                </a:solidFill>
              </a:rPr>
              <a:t>[-255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,+255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]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Intervallo di rappresentabilità in </a:t>
            </a:r>
            <a:r>
              <a:rPr lang="it-IT" sz="2000" dirty="0">
                <a:solidFill>
                  <a:srgbClr val="33CC33"/>
                </a:solidFill>
              </a:rPr>
              <a:t>complemento a 2</a:t>
            </a:r>
            <a:r>
              <a:rPr lang="it-IT" sz="2000" dirty="0"/>
              <a:t>: </a:t>
            </a:r>
            <a:r>
              <a:rPr lang="it-IT" sz="2000" dirty="0">
                <a:solidFill>
                  <a:srgbClr val="33CC33"/>
                </a:solidFill>
              </a:rPr>
              <a:t>[-256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,+255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]</a:t>
            </a:r>
          </a:p>
          <a:p>
            <a:pPr marL="457200" indent="-457200">
              <a:buFont typeface="Wingdings" charset="2"/>
              <a:buChar char="Ø"/>
            </a:pPr>
            <a:endParaRPr lang="it-IT" dirty="0">
              <a:solidFill>
                <a:srgbClr val="000000"/>
              </a:solidFill>
            </a:endParaRPr>
          </a:p>
          <a:p>
            <a:pPr marL="749808" lvl="1" indent="-457200">
              <a:buFont typeface="Wingdings" charset="2"/>
              <a:buChar char="Ø"/>
            </a:pPr>
            <a:endParaRPr lang="en-US" altLang="it-IT" b="1" baseline="-25000" dirty="0">
              <a:solidFill>
                <a:srgbClr val="00B050"/>
              </a:solidFill>
              <a:latin typeface="Courier New" charset="0"/>
            </a:endParaRPr>
          </a:p>
          <a:p>
            <a:pPr marL="0" indent="0"/>
            <a:endParaRPr lang="it-IT" dirty="0"/>
          </a:p>
        </p:txBody>
      </p:sp>
      <p:grpSp>
        <p:nvGrpSpPr>
          <p:cNvPr id="4" name="Gruppo 38"/>
          <p:cNvGrpSpPr/>
          <p:nvPr/>
        </p:nvGrpSpPr>
        <p:grpSpPr>
          <a:xfrm>
            <a:off x="899592" y="3216845"/>
            <a:ext cx="6480720" cy="3312368"/>
            <a:chOff x="2401511" y="2519659"/>
            <a:chExt cx="6480720" cy="3644660"/>
          </a:xfrm>
        </p:grpSpPr>
        <p:sp>
          <p:nvSpPr>
            <p:cNvPr id="5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latin typeface="Comic Sans MS"/>
                  <a:cs typeface="Comic Sans MS"/>
                </a:rPr>
                <a:t>200</a:t>
              </a:r>
              <a:endParaRPr sz="2400" dirty="0"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8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/>
            <p:cNvSpPr txBox="1"/>
            <p:nvPr/>
          </p:nvSpPr>
          <p:spPr>
            <a:xfrm>
              <a:off x="3481631" y="2519659"/>
              <a:ext cx="4032448" cy="19359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100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L="241300" algn="l">
                <a:lnSpc>
                  <a:spcPts val="2640"/>
                </a:lnSpc>
                <a:spcBef>
                  <a:spcPts val="120"/>
                </a:spcBef>
                <a:tabLst>
                  <a:tab pos="850265" algn="l"/>
                  <a:tab pos="1764664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50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25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       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5" name="object 19"/>
            <p:cNvSpPr txBox="1"/>
            <p:nvPr/>
          </p:nvSpPr>
          <p:spPr>
            <a:xfrm>
              <a:off x="5857895" y="3628904"/>
              <a:ext cx="504056" cy="158037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12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6" name="object 24"/>
            <p:cNvSpPr/>
            <p:nvPr/>
          </p:nvSpPr>
          <p:spPr>
            <a:xfrm>
              <a:off x="2401511" y="3343113"/>
              <a:ext cx="6480720" cy="2821206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9"/>
          <p:cNvSpPr txBox="1"/>
          <p:nvPr/>
        </p:nvSpPr>
        <p:spPr>
          <a:xfrm>
            <a:off x="5296650" y="4510763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6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0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18" name="object 14"/>
          <p:cNvSpPr/>
          <p:nvPr/>
        </p:nvSpPr>
        <p:spPr>
          <a:xfrm>
            <a:off x="5220072" y="4537787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5173960" y="4814798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/>
          <p:cNvSpPr/>
          <p:nvPr/>
        </p:nvSpPr>
        <p:spPr>
          <a:xfrm>
            <a:off x="6012160" y="4825819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/>
          <p:cNvSpPr/>
          <p:nvPr/>
        </p:nvSpPr>
        <p:spPr>
          <a:xfrm>
            <a:off x="6012160" y="510283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9"/>
          <p:cNvSpPr txBox="1"/>
          <p:nvPr/>
        </p:nvSpPr>
        <p:spPr>
          <a:xfrm>
            <a:off x="6012160" y="4798795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3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1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3" name="object 14"/>
          <p:cNvSpPr/>
          <p:nvPr/>
        </p:nvSpPr>
        <p:spPr>
          <a:xfrm>
            <a:off x="6804248" y="5113851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5"/>
          <p:cNvSpPr/>
          <p:nvPr/>
        </p:nvSpPr>
        <p:spPr>
          <a:xfrm>
            <a:off x="6804248" y="5390862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9"/>
          <p:cNvSpPr txBox="1"/>
          <p:nvPr/>
        </p:nvSpPr>
        <p:spPr>
          <a:xfrm>
            <a:off x="6880826" y="5014819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1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1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6" name="object 14"/>
          <p:cNvSpPr/>
          <p:nvPr/>
        </p:nvSpPr>
        <p:spPr>
          <a:xfrm>
            <a:off x="7668344" y="5479986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5"/>
          <p:cNvSpPr/>
          <p:nvPr/>
        </p:nvSpPr>
        <p:spPr>
          <a:xfrm>
            <a:off x="7668344" y="5756997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9"/>
          <p:cNvSpPr txBox="1"/>
          <p:nvPr/>
        </p:nvSpPr>
        <p:spPr>
          <a:xfrm>
            <a:off x="7744922" y="5377085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9" name="object 26"/>
          <p:cNvSpPr txBox="1"/>
          <p:nvPr/>
        </p:nvSpPr>
        <p:spPr>
          <a:xfrm>
            <a:off x="1184896" y="5589240"/>
            <a:ext cx="7992888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 200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lang="it-IT" sz="2400" baseline="-20833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11001000</a:t>
            </a:r>
            <a:r>
              <a:rPr lang="it-IT" sz="2400" baseline="-20833" dirty="0">
                <a:latin typeface="Comic Sans MS"/>
                <a:cs typeface="Comic Sans MS"/>
              </a:rPr>
              <a:t>2 </a:t>
            </a:r>
          </a:p>
          <a:p>
            <a:pPr marL="12700" algn="l"/>
            <a:r>
              <a:rPr lang="it-IT" sz="2400" dirty="0">
                <a:latin typeface="Comic Sans MS"/>
                <a:cs typeface="Comic Sans MS"/>
              </a:rPr>
              <a:t>-200</a:t>
            </a:r>
            <a:r>
              <a:rPr lang="it-IT" sz="2400" baseline="-20833" dirty="0">
                <a:latin typeface="Comic Sans MS"/>
                <a:cs typeface="Comic Sans MS"/>
              </a:rPr>
              <a:t>10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solidFill>
                  <a:srgbClr val="FF3300"/>
                </a:solidFill>
                <a:latin typeface="Comic Sans MS"/>
                <a:cs typeface="Comic Sans MS"/>
              </a:rPr>
              <a:t>1</a:t>
            </a:r>
            <a:r>
              <a:rPr lang="it-IT" sz="2400" dirty="0">
                <a:latin typeface="Comic Sans MS"/>
                <a:cs typeface="Comic Sans MS"/>
              </a:rPr>
              <a:t>11001000</a:t>
            </a:r>
            <a:r>
              <a:rPr lang="it-IT" sz="2400" baseline="-20833" dirty="0">
                <a:latin typeface="Comic Sans MS"/>
                <a:cs typeface="Comic Sans MS"/>
              </a:rPr>
              <a:t>ms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solidFill>
                  <a:srgbClr val="000000"/>
                </a:solidFill>
                <a:latin typeface="Comic Sans MS"/>
                <a:cs typeface="Comic Sans MS"/>
              </a:rPr>
              <a:t>?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210909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19" grpId="0" animBg="1"/>
      <p:bldP spid="20" grpId="0" animBg="1"/>
      <p:bldP spid="21" grpId="0" animBg="1"/>
      <p:bldP spid="22" grpId="0"/>
      <p:bldP spid="23" grpId="0" animBg="1"/>
      <p:bldP spid="24" grpId="0" animBg="1"/>
      <p:bldP spid="25" grpId="0"/>
      <p:bldP spid="26" grpId="0" animBg="1"/>
      <p:bldP spid="27" grpId="0" animBg="1"/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2.d: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39552" y="1556792"/>
            <a:ext cx="8424936" cy="4427480"/>
          </a:xfrm>
        </p:spPr>
        <p:txBody>
          <a:bodyPr>
            <a:no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/>
              <a:t>Per ottenere la rappresentazione </a:t>
            </a:r>
            <a:r>
              <a:rPr lang="it-IT" sz="2400" dirty="0">
                <a:sym typeface="Wingdings" panose="05000000000000000000" pitchFamily="2" charset="2"/>
              </a:rPr>
              <a:t>B=</a:t>
            </a:r>
            <a:r>
              <a:rPr lang="en-US" altLang="it-IT" sz="2400" i="1" dirty="0">
                <a:solidFill>
                  <a:srgbClr val="FF0000"/>
                </a:solidFill>
              </a:rPr>
              <a:t> </a:t>
            </a:r>
            <a:r>
              <a:rPr lang="en-US" altLang="it-IT" sz="2400" dirty="0"/>
              <a:t>(</a:t>
            </a:r>
            <a:r>
              <a:rPr lang="en-US" altLang="it-IT" sz="2400" i="1" dirty="0"/>
              <a:t>b</a:t>
            </a:r>
            <a:r>
              <a:rPr lang="en-US" altLang="it-IT" sz="2400" i="1" baseline="-25000" dirty="0"/>
              <a:t>n-1</a:t>
            </a:r>
            <a:r>
              <a:rPr lang="en-US" altLang="it-IT" sz="2400" i="1" dirty="0"/>
              <a:t> b</a:t>
            </a:r>
            <a:r>
              <a:rPr lang="en-US" altLang="it-IT" sz="2400" i="1" baseline="-25000" dirty="0"/>
              <a:t>n-2</a:t>
            </a:r>
            <a:r>
              <a:rPr lang="en-US" altLang="it-IT" sz="2400" i="1" dirty="0"/>
              <a:t>…b</a:t>
            </a:r>
            <a:r>
              <a:rPr lang="en-US" altLang="it-IT" sz="2400" i="1" baseline="-25000" dirty="0"/>
              <a:t>0</a:t>
            </a:r>
            <a:r>
              <a:rPr lang="en-US" altLang="it-IT" sz="2400" dirty="0"/>
              <a:t>)</a:t>
            </a:r>
            <a:r>
              <a:rPr lang="en-US" altLang="it-IT" sz="2400" baseline="-25000" dirty="0"/>
              <a:t>C2</a:t>
            </a:r>
            <a:br>
              <a:rPr lang="en-US" altLang="it-IT" sz="2400" dirty="0"/>
            </a:br>
            <a:r>
              <a:rPr lang="it-IT" sz="2400" dirty="0"/>
              <a:t>(su </a:t>
            </a:r>
            <a:r>
              <a:rPr lang="it-IT" sz="2400" dirty="0" err="1"/>
              <a:t>n</a:t>
            </a:r>
            <a:r>
              <a:rPr lang="it-IT" sz="2400" dirty="0"/>
              <a:t>=</a:t>
            </a:r>
            <a:r>
              <a:rPr lang="it-IT" sz="2400" dirty="0">
                <a:solidFill>
                  <a:srgbClr val="CC0000"/>
                </a:solidFill>
              </a:rPr>
              <a:t>9 bit</a:t>
            </a:r>
            <a:r>
              <a:rPr lang="it-IT" sz="2400" dirty="0"/>
              <a:t>) di -200</a:t>
            </a:r>
            <a:r>
              <a:rPr lang="it-IT" sz="2400" baseline="-25000" dirty="0"/>
              <a:t>10</a:t>
            </a:r>
            <a:r>
              <a:rPr lang="it-IT" sz="2400" dirty="0"/>
              <a:t>: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Dalla definizione si ha che il valore di </a:t>
            </a:r>
            <a:r>
              <a:rPr lang="en-US" altLang="it-IT" sz="2000" i="1" dirty="0"/>
              <a:t>b</a:t>
            </a:r>
            <a:r>
              <a:rPr lang="en-US" altLang="it-IT" sz="2000" i="1" baseline="-25000" dirty="0"/>
              <a:t>n-2</a:t>
            </a:r>
            <a:r>
              <a:rPr lang="en-US" altLang="it-IT" sz="2000" i="1" dirty="0"/>
              <a:t>…b</a:t>
            </a:r>
            <a:r>
              <a:rPr lang="en-US" altLang="it-IT" sz="2000" i="1" baseline="-25000" dirty="0"/>
              <a:t>0</a:t>
            </a:r>
            <a:r>
              <a:rPr lang="it-IT" altLang="it-IT" sz="2000" dirty="0"/>
              <a:t> è uguale a </a:t>
            </a:r>
            <a:br>
              <a:rPr lang="it-IT" altLang="it-IT" sz="2000" dirty="0"/>
            </a:br>
            <a:r>
              <a:rPr lang="it-IT" sz="2000" dirty="0"/>
              <a:t>2</a:t>
            </a:r>
            <a:r>
              <a:rPr lang="it-IT" sz="2000" baseline="30000" dirty="0"/>
              <a:t>n-1 </a:t>
            </a:r>
            <a:r>
              <a:rPr lang="it-IT" sz="2000" dirty="0"/>
              <a:t>– |B|  = 2</a:t>
            </a:r>
            <a:r>
              <a:rPr lang="it-IT" sz="2000" baseline="30000" dirty="0"/>
              <a:t>8 </a:t>
            </a:r>
            <a:r>
              <a:rPr lang="it-IT" sz="2000" dirty="0"/>
              <a:t>– 200 = 256 – 200 = 56</a:t>
            </a:r>
            <a:r>
              <a:rPr lang="it-IT" sz="2000" baseline="-25000" dirty="0"/>
              <a:t>10</a:t>
            </a:r>
            <a:endParaRPr lang="it-IT" sz="2000" dirty="0"/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Rappresentiamo 56</a:t>
            </a:r>
            <a:r>
              <a:rPr lang="it-IT" sz="2000" baseline="-25000" dirty="0"/>
              <a:t>10</a:t>
            </a:r>
            <a:r>
              <a:rPr lang="it-IT" sz="2000" dirty="0"/>
              <a:t> in binario con 8 bit e aggiungiamo il bit 1 nella posizione più significativa </a:t>
            </a:r>
            <a:endParaRPr lang="it-IT" sz="2400" dirty="0"/>
          </a:p>
          <a:p>
            <a:pPr marL="857250" lvl="1" indent="-457200">
              <a:buFont typeface="Wingdings" charset="2"/>
              <a:buChar char="Ø"/>
            </a:pPr>
            <a:endParaRPr lang="it-IT" sz="2000" baseline="-25000" dirty="0"/>
          </a:p>
          <a:p>
            <a:pPr marL="0" indent="0"/>
            <a:endParaRPr lang="it-IT" sz="2400" baseline="-25000" dirty="0"/>
          </a:p>
          <a:p>
            <a:pPr marL="0" indent="0"/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lvl="1">
              <a:buFont typeface="Wingdings" charset="2"/>
              <a:buChar char="Ø"/>
            </a:pPr>
            <a:endParaRPr lang="it-IT" sz="2000" dirty="0">
              <a:solidFill>
                <a:srgbClr val="0070C0"/>
              </a:solidFill>
            </a:endParaRPr>
          </a:p>
          <a:p>
            <a:pPr lvl="1">
              <a:buFont typeface="Wingdings" charset="2"/>
              <a:buChar char="Ø"/>
            </a:pPr>
            <a:endParaRPr lang="is-IS" sz="2000" dirty="0"/>
          </a:p>
        </p:txBody>
      </p:sp>
      <p:grpSp>
        <p:nvGrpSpPr>
          <p:cNvPr id="5" name="Gruppo 38"/>
          <p:cNvGrpSpPr/>
          <p:nvPr/>
        </p:nvGrpSpPr>
        <p:grpSpPr>
          <a:xfrm>
            <a:off x="899592" y="3789040"/>
            <a:ext cx="5400600" cy="2880320"/>
            <a:chOff x="2401511" y="2519659"/>
            <a:chExt cx="5400600" cy="3169270"/>
          </a:xfrm>
        </p:grpSpPr>
        <p:sp>
          <p:nvSpPr>
            <p:cNvPr id="7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662516" y="2519659"/>
              <a:ext cx="603091" cy="8127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56</a:t>
              </a:r>
            </a:p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481631" y="2519659"/>
              <a:ext cx="4032448" cy="19359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28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L="241300" algn="l">
                <a:lnSpc>
                  <a:spcPts val="2640"/>
                </a:lnSpc>
                <a:spcBef>
                  <a:spcPts val="120"/>
                </a:spcBef>
                <a:tabLst>
                  <a:tab pos="850265" algn="l"/>
                  <a:tab pos="1764664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14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7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   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7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3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8" name="object 24"/>
            <p:cNvSpPr/>
            <p:nvPr/>
          </p:nvSpPr>
          <p:spPr>
            <a:xfrm>
              <a:off x="2401511" y="3343113"/>
              <a:ext cx="5400600" cy="2345816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9"/>
          <p:cNvSpPr txBox="1"/>
          <p:nvPr/>
        </p:nvSpPr>
        <p:spPr>
          <a:xfrm>
            <a:off x="5296650" y="5082958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1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1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1" name="object 14"/>
          <p:cNvSpPr/>
          <p:nvPr/>
        </p:nvSpPr>
        <p:spPr>
          <a:xfrm>
            <a:off x="5220072" y="5109982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5173960" y="5386993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/>
          <p:cNvSpPr/>
          <p:nvPr/>
        </p:nvSpPr>
        <p:spPr>
          <a:xfrm>
            <a:off x="6012160" y="5398014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5"/>
          <p:cNvSpPr/>
          <p:nvPr/>
        </p:nvSpPr>
        <p:spPr>
          <a:xfrm>
            <a:off x="6012160" y="5675025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9"/>
          <p:cNvSpPr txBox="1"/>
          <p:nvPr/>
        </p:nvSpPr>
        <p:spPr>
          <a:xfrm>
            <a:off x="6012160" y="5370990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34" name="object 26"/>
          <p:cNvSpPr txBox="1"/>
          <p:nvPr/>
        </p:nvSpPr>
        <p:spPr>
          <a:xfrm>
            <a:off x="4499992" y="3717032"/>
            <a:ext cx="799288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56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latin typeface="Comic Sans MS"/>
                <a:cs typeface="Comic Sans MS"/>
              </a:rPr>
              <a:t>00111000</a:t>
            </a:r>
            <a:r>
              <a:rPr lang="it-IT" sz="2400" baseline="-20833" dirty="0">
                <a:latin typeface="Comic Sans MS"/>
                <a:cs typeface="Comic Sans MS"/>
              </a:rPr>
              <a:t>2</a:t>
            </a:r>
          </a:p>
        </p:txBody>
      </p:sp>
      <p:sp>
        <p:nvSpPr>
          <p:cNvPr id="35" name="object 26"/>
          <p:cNvSpPr txBox="1"/>
          <p:nvPr/>
        </p:nvSpPr>
        <p:spPr>
          <a:xfrm>
            <a:off x="4139952" y="4139788"/>
            <a:ext cx="799288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-200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solidFill>
                  <a:srgbClr val="FF3300"/>
                </a:solidFill>
                <a:latin typeface="Comic Sans MS"/>
                <a:cs typeface="Comic Sans MS"/>
              </a:rPr>
              <a:t>1</a:t>
            </a:r>
            <a:r>
              <a:rPr lang="it-IT" sz="2400" spc="145" dirty="0">
                <a:latin typeface="Comic Sans MS"/>
                <a:cs typeface="Comic Sans MS"/>
              </a:rPr>
              <a:t>00111000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297881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  <p:bldP spid="23" grpId="0" animBg="1"/>
      <p:bldP spid="24" grpId="0" animBg="1"/>
      <p:bldP spid="27" grpId="0"/>
      <p:bldP spid="34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2.d: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739404"/>
            <a:ext cx="8424936" cy="1761604"/>
          </a:xfrm>
        </p:spPr>
        <p:txBody>
          <a:bodyPr>
            <a:no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>
                <a:solidFill>
                  <a:srgbClr val="FF6600"/>
                </a:solidFill>
              </a:rPr>
              <a:t>Metodo alternativo </a:t>
            </a:r>
            <a:r>
              <a:rPr lang="it-IT" sz="2400" dirty="0"/>
              <a:t>per ottenere la rappresentazione in </a:t>
            </a:r>
            <a:r>
              <a:rPr lang="it-IT" sz="2400" dirty="0">
                <a:solidFill>
                  <a:srgbClr val="33CC33"/>
                </a:solidFill>
              </a:rPr>
              <a:t>complemento a 2 </a:t>
            </a:r>
            <a:r>
              <a:rPr lang="it-IT" sz="2400" dirty="0"/>
              <a:t>(su </a:t>
            </a:r>
            <a:r>
              <a:rPr lang="it-IT" sz="2400" dirty="0" err="1"/>
              <a:t>n</a:t>
            </a:r>
            <a:r>
              <a:rPr lang="it-IT" sz="2400" dirty="0"/>
              <a:t>=</a:t>
            </a:r>
            <a:r>
              <a:rPr lang="it-IT" sz="2400" dirty="0">
                <a:solidFill>
                  <a:srgbClr val="CC0000"/>
                </a:solidFill>
              </a:rPr>
              <a:t>9 bit</a:t>
            </a:r>
            <a:r>
              <a:rPr lang="it-IT" sz="2400" dirty="0"/>
              <a:t>) di -200</a:t>
            </a:r>
            <a:r>
              <a:rPr lang="it-IT" sz="2400" baseline="-25000" dirty="0"/>
              <a:t>10</a:t>
            </a:r>
            <a:endParaRPr lang="it-IT" sz="2400" dirty="0"/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Calcoliamo la rappresentazione in </a:t>
            </a:r>
            <a:r>
              <a:rPr lang="it-IT" sz="2000" dirty="0">
                <a:solidFill>
                  <a:srgbClr val="33CC33"/>
                </a:solidFill>
              </a:rPr>
              <a:t>complemento a 2</a:t>
            </a:r>
            <a:r>
              <a:rPr lang="it-IT" sz="2000" dirty="0"/>
              <a:t>, su 9 bit,  di 200</a:t>
            </a:r>
            <a:r>
              <a:rPr lang="it-IT" sz="2000" baseline="-25000" dirty="0"/>
              <a:t>10 </a:t>
            </a:r>
            <a:r>
              <a:rPr lang="it-IT" sz="2000" dirty="0"/>
              <a:t>(intervallo di rappresentabilità: [-256</a:t>
            </a:r>
            <a:r>
              <a:rPr lang="it-IT" sz="2000" baseline="-25000" dirty="0"/>
              <a:t>10</a:t>
            </a:r>
            <a:r>
              <a:rPr lang="it-IT" sz="2000" dirty="0"/>
              <a:t>, +255</a:t>
            </a:r>
            <a:r>
              <a:rPr lang="it-IT" sz="2000" baseline="-25000" dirty="0"/>
              <a:t>10</a:t>
            </a:r>
            <a:r>
              <a:rPr lang="it-IT" sz="2000" dirty="0"/>
              <a:t>])</a:t>
            </a:r>
            <a:endParaRPr lang="it-IT" sz="2000" baseline="-25000" dirty="0"/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/>
              <a:t>Nota: ci basta calcolare la rappresentazione binaria su 8 bit di 200</a:t>
            </a:r>
            <a:r>
              <a:rPr lang="it-IT" sz="1600" baseline="-25000" dirty="0"/>
              <a:t>10</a:t>
            </a:r>
            <a:r>
              <a:rPr lang="it-IT" sz="1600" dirty="0"/>
              <a:t> (si può fare) e aggiungere uno 0 nella posizione più significativa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>
                <a:cs typeface="Comic Sans MS"/>
              </a:rPr>
              <a:t>200</a:t>
            </a:r>
            <a:r>
              <a:rPr lang="it-IT" sz="1600" baseline="-20833" dirty="0">
                <a:cs typeface="Comic Sans MS"/>
              </a:rPr>
              <a:t>10 </a:t>
            </a:r>
            <a:r>
              <a:rPr lang="it-IT" sz="1600" dirty="0">
                <a:cs typeface="Comic Sans MS"/>
              </a:rPr>
              <a:t>=</a:t>
            </a:r>
            <a:r>
              <a:rPr lang="it-IT" sz="1600" spc="145" dirty="0">
                <a:cs typeface="Comic Sans MS"/>
              </a:rPr>
              <a:t> </a:t>
            </a:r>
            <a:r>
              <a:rPr lang="it-IT" sz="1600" dirty="0">
                <a:cs typeface="Comic Sans MS"/>
              </a:rPr>
              <a:t>11001000</a:t>
            </a:r>
            <a:r>
              <a:rPr lang="it-IT" sz="1600" baseline="-20833" dirty="0">
                <a:cs typeface="Comic Sans MS"/>
              </a:rPr>
              <a:t>2 </a:t>
            </a:r>
            <a:r>
              <a:rPr lang="it-IT" sz="1600" dirty="0">
                <a:cs typeface="Comic Sans MS"/>
              </a:rPr>
              <a:t>=</a:t>
            </a:r>
            <a:r>
              <a:rPr lang="it-IT" sz="1600" spc="145" dirty="0">
                <a:cs typeface="Comic Sans MS"/>
              </a:rPr>
              <a:t> </a:t>
            </a:r>
            <a:r>
              <a:rPr lang="it-IT" sz="1600" dirty="0">
                <a:cs typeface="Comic Sans MS"/>
              </a:rPr>
              <a:t>=</a:t>
            </a:r>
            <a:r>
              <a:rPr lang="it-IT" sz="1600" spc="145" dirty="0">
                <a:cs typeface="Comic Sans MS"/>
              </a:rPr>
              <a:t> </a:t>
            </a:r>
            <a:r>
              <a:rPr lang="it-IT" sz="1600" spc="145" dirty="0">
                <a:solidFill>
                  <a:srgbClr val="33CC33"/>
                </a:solidFill>
                <a:cs typeface="Comic Sans MS"/>
              </a:rPr>
              <a:t>0</a:t>
            </a:r>
            <a:r>
              <a:rPr lang="it-IT" sz="1600" dirty="0">
                <a:cs typeface="Comic Sans MS"/>
              </a:rPr>
              <a:t>11001000</a:t>
            </a:r>
            <a:r>
              <a:rPr lang="it-IT" sz="1600" baseline="-20833" dirty="0">
                <a:cs typeface="Comic Sans MS"/>
              </a:rPr>
              <a:t>C2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>
                <a:cs typeface="Comic Sans MS"/>
              </a:rPr>
              <a:t>Poi calcoliamo l’</a:t>
            </a:r>
            <a:r>
              <a:rPr lang="it-IT" sz="2000" dirty="0">
                <a:solidFill>
                  <a:srgbClr val="6666FF"/>
                </a:solidFill>
                <a:cs typeface="Comic Sans MS"/>
              </a:rPr>
              <a:t>opposto</a:t>
            </a:r>
            <a:r>
              <a:rPr lang="it-IT" sz="2000" dirty="0">
                <a:cs typeface="Comic Sans MS"/>
              </a:rPr>
              <a:t> di 200 in complemento a 2: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 err="1">
                <a:cs typeface="Comic Sans MS"/>
              </a:rPr>
              <a:t>Complementiamo</a:t>
            </a:r>
            <a:r>
              <a:rPr lang="it-IT" sz="1600" dirty="0">
                <a:cs typeface="Comic Sans MS"/>
              </a:rPr>
              <a:t> bit a bit: 	 </a:t>
            </a:r>
            <a:r>
              <a:rPr lang="it-IT" sz="1600" b="1" dirty="0">
                <a:latin typeface="Courier"/>
                <a:cs typeface="Courier"/>
              </a:rPr>
              <a:t> 100110111+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>
                <a:cs typeface="Comic Sans MS"/>
              </a:rPr>
              <a:t>Sommiamo 1:			               	    </a:t>
            </a:r>
            <a:r>
              <a:rPr lang="it-IT" sz="1600" b="1" dirty="0">
                <a:latin typeface="Courier"/>
                <a:cs typeface="Courier"/>
              </a:rPr>
              <a:t>1=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>
                <a:cs typeface="Comic Sans MS"/>
              </a:rPr>
              <a:t>Risultato	               		   </a:t>
            </a:r>
            <a:r>
              <a:rPr lang="it-IT" sz="1600" b="1" dirty="0">
                <a:latin typeface="Courier"/>
                <a:cs typeface="Courier"/>
              </a:rPr>
              <a:t>100111000</a:t>
            </a:r>
          </a:p>
          <a:p>
            <a:pPr marL="1257300" lvl="2" indent="-457200">
              <a:buFont typeface="Wingdings" charset="2"/>
              <a:buChar char="Ø"/>
            </a:pPr>
            <a:endParaRPr lang="it-IT" sz="16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0" indent="0"/>
            <a:endParaRPr lang="en-US" altLang="it-IT" sz="2400" b="1" baseline="-25000" dirty="0">
              <a:solidFill>
                <a:srgbClr val="00B050"/>
              </a:solidFill>
              <a:latin typeface="Courier New" charset="0"/>
            </a:endParaRPr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lvl="1">
              <a:buFont typeface="Wingdings" charset="2"/>
              <a:buChar char="Ø"/>
            </a:pPr>
            <a:endParaRPr lang="it-IT" sz="2000" dirty="0">
              <a:solidFill>
                <a:srgbClr val="0070C0"/>
              </a:solidFill>
            </a:endParaRPr>
          </a:p>
          <a:p>
            <a:pPr lvl="1">
              <a:buFont typeface="Wingdings" charset="2"/>
              <a:buChar char="Ø"/>
            </a:pPr>
            <a:endParaRPr lang="is-IS" sz="2000" dirty="0"/>
          </a:p>
        </p:txBody>
      </p:sp>
      <p:sp>
        <p:nvSpPr>
          <p:cNvPr id="34" name="object 26"/>
          <p:cNvSpPr txBox="1"/>
          <p:nvPr/>
        </p:nvSpPr>
        <p:spPr>
          <a:xfrm>
            <a:off x="2555776" y="5589240"/>
            <a:ext cx="799288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lvl="2" algn="l"/>
            <a:r>
              <a:rPr lang="it-IT" sz="2400" dirty="0">
                <a:latin typeface="Comic Sans MS"/>
                <a:cs typeface="Comic Sans MS"/>
              </a:rPr>
              <a:t>-200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dirty="0">
                <a:solidFill>
                  <a:srgbClr val="FF3300"/>
                </a:solidFill>
                <a:latin typeface="Comic Sans MS"/>
                <a:cs typeface="Comic Sans MS"/>
              </a:rPr>
              <a:t>1</a:t>
            </a:r>
            <a:r>
              <a:rPr lang="it-IT" sz="2400" dirty="0">
                <a:latin typeface="Comic Sans MS"/>
                <a:cs typeface="Comic Sans MS"/>
              </a:rPr>
              <a:t>00111000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</p:txBody>
      </p:sp>
      <p:cxnSp>
        <p:nvCxnSpPr>
          <p:cNvPr id="35" name="Connettore 1 7"/>
          <p:cNvCxnSpPr/>
          <p:nvPr/>
        </p:nvCxnSpPr>
        <p:spPr>
          <a:xfrm>
            <a:off x="5364088" y="5013176"/>
            <a:ext cx="12961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31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2.f: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739404"/>
            <a:ext cx="8424936" cy="2625700"/>
          </a:xfrm>
        </p:spPr>
        <p:txBody>
          <a:bodyPr>
            <a:no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>
                <a:solidFill>
                  <a:srgbClr val="FF6600"/>
                </a:solidFill>
              </a:rPr>
              <a:t>Metodo alternativo </a:t>
            </a:r>
            <a:r>
              <a:rPr lang="it-IT" sz="2400" dirty="0"/>
              <a:t>per ottenere la rappresentazione in </a:t>
            </a:r>
            <a:r>
              <a:rPr lang="it-IT" sz="2400" dirty="0">
                <a:solidFill>
                  <a:srgbClr val="33CC33"/>
                </a:solidFill>
              </a:rPr>
              <a:t>complemento a 2 </a:t>
            </a:r>
            <a:r>
              <a:rPr lang="it-IT" sz="2400" dirty="0"/>
              <a:t>(su </a:t>
            </a:r>
            <a:r>
              <a:rPr lang="it-IT" sz="2400" dirty="0" err="1"/>
              <a:t>n</a:t>
            </a:r>
            <a:r>
              <a:rPr lang="it-IT" sz="2400" dirty="0"/>
              <a:t>=</a:t>
            </a:r>
            <a:r>
              <a:rPr lang="it-IT" sz="2400" dirty="0">
                <a:solidFill>
                  <a:srgbClr val="CC0000"/>
                </a:solidFill>
              </a:rPr>
              <a:t>7 bit</a:t>
            </a:r>
            <a:r>
              <a:rPr lang="it-IT" sz="2400" dirty="0"/>
              <a:t>) di -63</a:t>
            </a:r>
            <a:r>
              <a:rPr lang="it-IT" sz="2400" baseline="-25000" dirty="0"/>
              <a:t>10</a:t>
            </a:r>
            <a:r>
              <a:rPr lang="it-IT" sz="2400" dirty="0"/>
              <a:t>: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Calcoliamo la rappresentazione in </a:t>
            </a:r>
            <a:r>
              <a:rPr lang="it-IT" sz="2000" dirty="0">
                <a:solidFill>
                  <a:srgbClr val="33CC33"/>
                </a:solidFill>
              </a:rPr>
              <a:t>complemento a 2</a:t>
            </a:r>
            <a:r>
              <a:rPr lang="it-IT" sz="2000" dirty="0"/>
              <a:t>, su 7 bit,  di 63</a:t>
            </a:r>
            <a:r>
              <a:rPr lang="it-IT" sz="2000" baseline="-25000" dirty="0"/>
              <a:t>10</a:t>
            </a:r>
            <a:r>
              <a:rPr lang="it-IT" sz="2000" dirty="0"/>
              <a:t> (intervallo di rappresentabilità: [-64</a:t>
            </a:r>
            <a:r>
              <a:rPr lang="it-IT" sz="2000" baseline="-25000" dirty="0"/>
              <a:t>10</a:t>
            </a:r>
            <a:r>
              <a:rPr lang="it-IT" sz="2000" dirty="0"/>
              <a:t>, +63</a:t>
            </a:r>
            <a:r>
              <a:rPr lang="it-IT" sz="2000" baseline="-25000" dirty="0"/>
              <a:t>10</a:t>
            </a:r>
            <a:r>
              <a:rPr lang="it-IT" sz="2000" dirty="0"/>
              <a:t>])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/>
              <a:t>Nota: ci basta calcolare la rappresentazione binaria su 6 bit di 63</a:t>
            </a:r>
            <a:r>
              <a:rPr lang="it-IT" sz="1600" baseline="-25000" dirty="0"/>
              <a:t>10</a:t>
            </a:r>
            <a:r>
              <a:rPr lang="it-IT" sz="1600" dirty="0"/>
              <a:t> (si può fare) e aggiungere uno 0 nella posizione più significativa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>
                <a:cs typeface="Comic Sans MS"/>
              </a:rPr>
              <a:t>63</a:t>
            </a:r>
            <a:r>
              <a:rPr lang="it-IT" sz="1600" baseline="-20833" dirty="0">
                <a:cs typeface="Comic Sans MS"/>
              </a:rPr>
              <a:t>10 </a:t>
            </a:r>
            <a:r>
              <a:rPr lang="it-IT" sz="1600" dirty="0">
                <a:cs typeface="Comic Sans MS"/>
              </a:rPr>
              <a:t>=</a:t>
            </a:r>
            <a:r>
              <a:rPr lang="it-IT" sz="1600" spc="145" dirty="0">
                <a:cs typeface="Comic Sans MS"/>
              </a:rPr>
              <a:t> 1</a:t>
            </a:r>
            <a:r>
              <a:rPr lang="it-IT" sz="1600" dirty="0">
                <a:cs typeface="Comic Sans MS"/>
              </a:rPr>
              <a:t>11111</a:t>
            </a:r>
            <a:r>
              <a:rPr lang="it-IT" sz="1600" baseline="-20833" dirty="0">
                <a:cs typeface="Comic Sans MS"/>
              </a:rPr>
              <a:t>2 </a:t>
            </a:r>
            <a:r>
              <a:rPr lang="it-IT" sz="1600" dirty="0">
                <a:cs typeface="Comic Sans MS"/>
              </a:rPr>
              <a:t>=</a:t>
            </a:r>
            <a:r>
              <a:rPr lang="it-IT" sz="1600" spc="145" dirty="0">
                <a:cs typeface="Comic Sans MS"/>
              </a:rPr>
              <a:t> </a:t>
            </a:r>
            <a:r>
              <a:rPr lang="it-IT" sz="1600" spc="145" dirty="0">
                <a:solidFill>
                  <a:srgbClr val="33CC33"/>
                </a:solidFill>
                <a:cs typeface="Comic Sans MS"/>
              </a:rPr>
              <a:t>0</a:t>
            </a:r>
            <a:r>
              <a:rPr lang="it-IT" sz="1600" dirty="0">
                <a:cs typeface="Comic Sans MS"/>
              </a:rPr>
              <a:t>111111</a:t>
            </a:r>
            <a:r>
              <a:rPr lang="it-IT" sz="1600" baseline="-20833" dirty="0">
                <a:cs typeface="Comic Sans MS"/>
              </a:rPr>
              <a:t>C2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>
                <a:cs typeface="Comic Sans MS"/>
              </a:rPr>
              <a:t>Poi calcoliamo l’</a:t>
            </a:r>
            <a:r>
              <a:rPr lang="it-IT" sz="2000" dirty="0">
                <a:solidFill>
                  <a:srgbClr val="6666FF"/>
                </a:solidFill>
                <a:cs typeface="Comic Sans MS"/>
              </a:rPr>
              <a:t>opposto</a:t>
            </a:r>
            <a:r>
              <a:rPr lang="it-IT" sz="2000" dirty="0">
                <a:cs typeface="Comic Sans MS"/>
              </a:rPr>
              <a:t> di 63</a:t>
            </a:r>
            <a:r>
              <a:rPr lang="it-IT" sz="2000" baseline="-25000" dirty="0">
                <a:cs typeface="Comic Sans MS"/>
              </a:rPr>
              <a:t>10</a:t>
            </a:r>
            <a:r>
              <a:rPr lang="it-IT" sz="2000" dirty="0">
                <a:cs typeface="Comic Sans MS"/>
              </a:rPr>
              <a:t> in </a:t>
            </a:r>
            <a:r>
              <a:rPr lang="it-IT" sz="2000" dirty="0">
                <a:solidFill>
                  <a:srgbClr val="33CC33"/>
                </a:solidFill>
                <a:cs typeface="Comic Sans MS"/>
              </a:rPr>
              <a:t>complemento a 2</a:t>
            </a:r>
            <a:r>
              <a:rPr lang="it-IT" sz="2000" dirty="0">
                <a:cs typeface="Comic Sans MS"/>
              </a:rPr>
              <a:t>: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 err="1">
                <a:cs typeface="Comic Sans MS"/>
              </a:rPr>
              <a:t>Complementiamo</a:t>
            </a:r>
            <a:r>
              <a:rPr lang="it-IT" sz="1600" dirty="0">
                <a:cs typeface="Comic Sans MS"/>
              </a:rPr>
              <a:t> bit a bit: 	 </a:t>
            </a:r>
            <a:r>
              <a:rPr lang="it-IT" sz="1600" b="1" dirty="0">
                <a:latin typeface="Courier"/>
                <a:cs typeface="Courier"/>
              </a:rPr>
              <a:t>   1000000+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>
                <a:cs typeface="Comic Sans MS"/>
              </a:rPr>
              <a:t>Sommiamo 1:			               	    </a:t>
            </a:r>
            <a:r>
              <a:rPr lang="it-IT" sz="1600" b="1" dirty="0">
                <a:latin typeface="Courier"/>
                <a:cs typeface="Courier"/>
              </a:rPr>
              <a:t>1=</a:t>
            </a:r>
          </a:p>
          <a:p>
            <a:pPr marL="1257300" lvl="2" indent="-457200">
              <a:buFont typeface="Wingdings" charset="2"/>
              <a:buChar char="Ø"/>
            </a:pPr>
            <a:r>
              <a:rPr lang="it-IT" sz="1600" dirty="0">
                <a:cs typeface="Comic Sans MS"/>
              </a:rPr>
              <a:t>Risultato	               		        </a:t>
            </a:r>
            <a:r>
              <a:rPr lang="it-IT" sz="1600" b="1" dirty="0">
                <a:latin typeface="Courier"/>
                <a:cs typeface="Courier"/>
              </a:rPr>
              <a:t>1000001</a:t>
            </a:r>
          </a:p>
          <a:p>
            <a:pPr marL="1257300" lvl="2" indent="-457200">
              <a:buFont typeface="Wingdings" charset="2"/>
              <a:buChar char="Ø"/>
            </a:pPr>
            <a:endParaRPr lang="it-IT" sz="16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marL="457200" indent="-457200">
              <a:buFont typeface="Wingdings" charset="2"/>
              <a:buChar char="Ø"/>
            </a:pPr>
            <a:endParaRPr lang="it-IT" sz="2400" baseline="-25000" dirty="0"/>
          </a:p>
          <a:p>
            <a:pPr lvl="1">
              <a:buFont typeface="Wingdings" charset="2"/>
              <a:buChar char="Ø"/>
            </a:pPr>
            <a:endParaRPr lang="it-IT" sz="2000" dirty="0">
              <a:solidFill>
                <a:srgbClr val="0070C0"/>
              </a:solidFill>
            </a:endParaRPr>
          </a:p>
          <a:p>
            <a:pPr lvl="1">
              <a:buFont typeface="Wingdings" charset="2"/>
              <a:buChar char="Ø"/>
            </a:pPr>
            <a:endParaRPr lang="is-IS" sz="2000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-10056" y="6425168"/>
            <a:ext cx="915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Linguaggi, Codifica e Rappresentazione dell’Informazione</a:t>
            </a:r>
          </a:p>
        </p:txBody>
      </p:sp>
      <p:sp>
        <p:nvSpPr>
          <p:cNvPr id="34" name="object 26"/>
          <p:cNvSpPr txBox="1"/>
          <p:nvPr/>
        </p:nvSpPr>
        <p:spPr>
          <a:xfrm>
            <a:off x="2555776" y="5589240"/>
            <a:ext cx="799288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-63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spc="145" dirty="0">
                <a:solidFill>
                  <a:srgbClr val="FF3300"/>
                </a:solidFill>
                <a:latin typeface="Comic Sans MS"/>
                <a:cs typeface="Comic Sans MS"/>
              </a:rPr>
              <a:t>1</a:t>
            </a:r>
            <a:r>
              <a:rPr lang="it-IT" sz="2400" dirty="0">
                <a:latin typeface="Comic Sans MS"/>
                <a:cs typeface="Comic Sans MS"/>
              </a:rPr>
              <a:t>000001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</p:txBody>
      </p:sp>
      <p:cxnSp>
        <p:nvCxnSpPr>
          <p:cNvPr id="35" name="Connettore 1 7"/>
          <p:cNvCxnSpPr/>
          <p:nvPr/>
        </p:nvCxnSpPr>
        <p:spPr>
          <a:xfrm>
            <a:off x="5364088" y="5013176"/>
            <a:ext cx="12961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85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188640"/>
            <a:ext cx="8356600" cy="1143000"/>
          </a:xfrm>
        </p:spPr>
        <p:txBody>
          <a:bodyPr/>
          <a:lstStyle/>
          <a:p>
            <a:r>
              <a:rPr lang="it-IT" sz="4800" dirty="0"/>
              <a:t>Esercizio 2.g: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1484784"/>
            <a:ext cx="8712968" cy="4255521"/>
          </a:xfrm>
        </p:spPr>
        <p:txBody>
          <a:bodyPr>
            <a:norm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/>
              <a:t>Scrivere, se possibile, in </a:t>
            </a:r>
            <a:r>
              <a:rPr lang="it-IT" sz="2400" dirty="0">
                <a:solidFill>
                  <a:srgbClr val="0000FF"/>
                </a:solidFill>
              </a:rPr>
              <a:t>modulo e segno </a:t>
            </a:r>
            <a:r>
              <a:rPr lang="it-IT" sz="2400" dirty="0"/>
              <a:t>e </a:t>
            </a:r>
            <a:r>
              <a:rPr lang="it-IT" sz="2400" dirty="0">
                <a:solidFill>
                  <a:srgbClr val="33CC33"/>
                </a:solidFill>
              </a:rPr>
              <a:t>complemento a 2</a:t>
            </a:r>
            <a:r>
              <a:rPr lang="it-IT" sz="2400" dirty="0"/>
              <a:t>, su </a:t>
            </a:r>
            <a:r>
              <a:rPr lang="it-IT" sz="2400" dirty="0">
                <a:solidFill>
                  <a:srgbClr val="CC0000"/>
                </a:solidFill>
              </a:rPr>
              <a:t>7 bit</a:t>
            </a:r>
            <a:r>
              <a:rPr lang="it-IT" sz="2400" dirty="0"/>
              <a:t>, il numero </a:t>
            </a:r>
            <a:r>
              <a:rPr lang="en-US" altLang="it-IT" sz="2400" dirty="0">
                <a:solidFill>
                  <a:srgbClr val="000000"/>
                </a:solidFill>
              </a:rPr>
              <a:t>64</a:t>
            </a:r>
            <a:r>
              <a:rPr lang="en-US" altLang="it-IT" sz="2400" b="1" baseline="-25000" dirty="0">
                <a:solidFill>
                  <a:srgbClr val="000000"/>
                </a:solidFill>
              </a:rPr>
              <a:t>10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Intervallo di rappresentabilità in </a:t>
            </a:r>
            <a:r>
              <a:rPr lang="it-IT" sz="2000" dirty="0">
                <a:solidFill>
                  <a:srgbClr val="0000FF"/>
                </a:solidFill>
              </a:rPr>
              <a:t>modulo e segno</a:t>
            </a:r>
            <a:r>
              <a:rPr lang="it-IT" sz="2000" dirty="0"/>
              <a:t>: </a:t>
            </a:r>
            <a:r>
              <a:rPr lang="it-IT" sz="2000" dirty="0">
                <a:solidFill>
                  <a:srgbClr val="0000FF"/>
                </a:solidFill>
              </a:rPr>
              <a:t>[-63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,+63</a:t>
            </a:r>
            <a:r>
              <a:rPr lang="it-IT" sz="2000" baseline="-25000" dirty="0">
                <a:solidFill>
                  <a:srgbClr val="0000FF"/>
                </a:solidFill>
              </a:rPr>
              <a:t>10</a:t>
            </a:r>
            <a:r>
              <a:rPr lang="it-IT" sz="2000" dirty="0">
                <a:solidFill>
                  <a:srgbClr val="0000FF"/>
                </a:solidFill>
              </a:rPr>
              <a:t>]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000" dirty="0"/>
              <a:t>Intervallo di rappresentabilità in </a:t>
            </a:r>
            <a:r>
              <a:rPr lang="it-IT" sz="2000" dirty="0">
                <a:solidFill>
                  <a:srgbClr val="33CC33"/>
                </a:solidFill>
              </a:rPr>
              <a:t>complemento a 2</a:t>
            </a:r>
            <a:r>
              <a:rPr lang="it-IT" sz="2000" dirty="0"/>
              <a:t>: </a:t>
            </a:r>
            <a:r>
              <a:rPr lang="it-IT" sz="2000" dirty="0">
                <a:solidFill>
                  <a:srgbClr val="33CC33"/>
                </a:solidFill>
              </a:rPr>
              <a:t>[-64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,+63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]</a:t>
            </a:r>
          </a:p>
          <a:p>
            <a:pPr marL="457200" indent="-457200">
              <a:buFont typeface="Wingdings" charset="2"/>
              <a:buChar char="Ø"/>
            </a:pPr>
            <a:endParaRPr lang="it-IT" sz="2400" dirty="0">
              <a:solidFill>
                <a:srgbClr val="000000"/>
              </a:solidFill>
            </a:endParaRPr>
          </a:p>
          <a:p>
            <a:pPr marL="749808" lvl="1" indent="-457200">
              <a:buFont typeface="Wingdings" charset="2"/>
              <a:buChar char="Ø"/>
            </a:pPr>
            <a:endParaRPr lang="en-US" altLang="it-IT" sz="2400" b="1" baseline="-25000" dirty="0">
              <a:solidFill>
                <a:srgbClr val="00B050"/>
              </a:solidFill>
              <a:latin typeface="Courier New" charset="0"/>
            </a:endParaRPr>
          </a:p>
          <a:p>
            <a:pPr marL="457200" indent="-457200">
              <a:buFont typeface="Wingdings" charset="2"/>
              <a:buChar char="Ø"/>
            </a:pPr>
            <a:endParaRPr lang="it-IT" sz="2800" dirty="0"/>
          </a:p>
        </p:txBody>
      </p:sp>
      <p:sp>
        <p:nvSpPr>
          <p:cNvPr id="4" name="Rectangle 3"/>
          <p:cNvSpPr/>
          <p:nvPr/>
        </p:nvSpPr>
        <p:spPr>
          <a:xfrm>
            <a:off x="395536" y="5961474"/>
            <a:ext cx="87484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FF3300"/>
                </a:solidFill>
                <a:latin typeface="+mn-lt"/>
              </a:rPr>
              <a:t>Non è possibile in nessuna delle due rappresentazioni! </a:t>
            </a:r>
          </a:p>
          <a:p>
            <a:pPr marL="857250"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latin typeface="+mn-lt"/>
              </a:rPr>
              <a:t>Ho bisogno di 7 bit solo per il modulo: 64</a:t>
            </a:r>
            <a:r>
              <a:rPr lang="it-IT" sz="2000" b="0" baseline="-25000" dirty="0">
                <a:latin typeface="+mn-lt"/>
              </a:rPr>
              <a:t>10</a:t>
            </a:r>
            <a:r>
              <a:rPr lang="it-IT" sz="2000" b="0" dirty="0">
                <a:latin typeface="+mn-lt"/>
              </a:rPr>
              <a:t> = 1000000</a:t>
            </a:r>
            <a:r>
              <a:rPr lang="it-IT" sz="2000" b="0" baseline="-25000" dirty="0">
                <a:latin typeface="+mn-lt"/>
              </a:rPr>
              <a:t>2</a:t>
            </a:r>
            <a:endParaRPr lang="it-IT" sz="3200" b="0" baseline="-25000" dirty="0">
              <a:latin typeface="+mn-lt"/>
            </a:endParaRPr>
          </a:p>
        </p:txBody>
      </p:sp>
      <p:grpSp>
        <p:nvGrpSpPr>
          <p:cNvPr id="5" name="Gruppo 38"/>
          <p:cNvGrpSpPr/>
          <p:nvPr/>
        </p:nvGrpSpPr>
        <p:grpSpPr>
          <a:xfrm>
            <a:off x="1141512" y="3140968"/>
            <a:ext cx="5374704" cy="2880320"/>
            <a:chOff x="2329503" y="2519659"/>
            <a:chExt cx="5374704" cy="3169270"/>
          </a:xfrm>
        </p:grpSpPr>
        <p:sp>
          <p:nvSpPr>
            <p:cNvPr id="6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64</a:t>
              </a:r>
              <a:endParaRPr sz="2400" dirty="0">
                <a:solidFill>
                  <a:srgbClr val="000000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9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6"/>
            <p:cNvSpPr txBox="1"/>
            <p:nvPr/>
          </p:nvSpPr>
          <p:spPr>
            <a:xfrm>
              <a:off x="3481631" y="2519659"/>
              <a:ext cx="4032448" cy="19359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lang="it-IT" sz="2400" dirty="0">
                  <a:latin typeface="Comic Sans MS"/>
                  <a:cs typeface="Comic Sans MS"/>
                </a:rPr>
                <a:t>2</a:t>
              </a:r>
              <a:endParaRPr sz="2400" dirty="0">
                <a:latin typeface="Comic Sans MS"/>
                <a:cs typeface="Comic Sans MS"/>
              </a:endParaRP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32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L="241300" algn="l">
                <a:lnSpc>
                  <a:spcPts val="2640"/>
                </a:lnSpc>
                <a:spcBef>
                  <a:spcPts val="120"/>
                </a:spcBef>
                <a:tabLst>
                  <a:tab pos="850265" algn="l"/>
                  <a:tab pos="1764664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16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8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     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6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4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7" name="object 24"/>
            <p:cNvSpPr/>
            <p:nvPr/>
          </p:nvSpPr>
          <p:spPr>
            <a:xfrm>
              <a:off x="2329503" y="3273641"/>
              <a:ext cx="5374704" cy="2415288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9"/>
          <p:cNvSpPr txBox="1"/>
          <p:nvPr/>
        </p:nvSpPr>
        <p:spPr>
          <a:xfrm>
            <a:off x="5610578" y="4472054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0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19" name="object 14"/>
          <p:cNvSpPr/>
          <p:nvPr/>
        </p:nvSpPr>
        <p:spPr>
          <a:xfrm>
            <a:off x="5534000" y="4499078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/>
          <p:cNvSpPr/>
          <p:nvPr/>
        </p:nvSpPr>
        <p:spPr>
          <a:xfrm>
            <a:off x="5487888" y="4776089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4"/>
          <p:cNvSpPr/>
          <p:nvPr/>
        </p:nvSpPr>
        <p:spPr>
          <a:xfrm>
            <a:off x="6326088" y="4787110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6326088" y="5064121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 txBox="1"/>
          <p:nvPr/>
        </p:nvSpPr>
        <p:spPr>
          <a:xfrm>
            <a:off x="6326088" y="4760086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1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1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7190184" y="5037974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5"/>
          <p:cNvSpPr/>
          <p:nvPr/>
        </p:nvSpPr>
        <p:spPr>
          <a:xfrm>
            <a:off x="7190184" y="5314985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9"/>
          <p:cNvSpPr txBox="1"/>
          <p:nvPr/>
        </p:nvSpPr>
        <p:spPr>
          <a:xfrm>
            <a:off x="7312874" y="4941168"/>
            <a:ext cx="211454" cy="143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09064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/>
      <p:bldP spid="19" grpId="0" animBg="1"/>
      <p:bldP spid="20" grpId="0" animBg="1"/>
      <p:bldP spid="21" grpId="0" animBg="1"/>
      <p:bldP spid="22" grpId="0" animBg="1"/>
      <p:bldP spid="23" grpId="0"/>
      <p:bldP spid="28" grpId="0" animBg="1"/>
      <p:bldP spid="29" grpId="0" animBg="1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3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700808"/>
            <a:ext cx="8136904" cy="4255521"/>
          </a:xfrm>
        </p:spPr>
        <p:txBody>
          <a:bodyPr>
            <a:norm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sz="2400" dirty="0" err="1"/>
              <a:t>Eseguire</a:t>
            </a:r>
            <a:r>
              <a:rPr lang="en-US" sz="2400" dirty="0"/>
              <a:t> </a:t>
            </a:r>
            <a:r>
              <a:rPr lang="en-US" sz="2400" dirty="0" err="1"/>
              <a:t>l’operazione</a:t>
            </a:r>
            <a:r>
              <a:rPr lang="en-US" sz="2400" dirty="0"/>
              <a:t> 21</a:t>
            </a:r>
            <a:r>
              <a:rPr lang="en-US" sz="2400" baseline="-25000" dirty="0"/>
              <a:t>10</a:t>
            </a:r>
            <a:r>
              <a:rPr lang="en-US" sz="2400" dirty="0"/>
              <a:t> + 27</a:t>
            </a:r>
            <a:r>
              <a:rPr lang="en-US" sz="2400" baseline="-25000" dirty="0"/>
              <a:t>10</a:t>
            </a:r>
            <a:r>
              <a:rPr lang="en-US" sz="2400" dirty="0"/>
              <a:t> in </a:t>
            </a:r>
            <a:r>
              <a:rPr lang="en-US" sz="2400" dirty="0" err="1">
                <a:solidFill>
                  <a:srgbClr val="33CC33"/>
                </a:solidFill>
              </a:rPr>
              <a:t>complemento</a:t>
            </a:r>
            <a:r>
              <a:rPr lang="en-US" sz="2400" dirty="0">
                <a:solidFill>
                  <a:srgbClr val="33CC33"/>
                </a:solidFill>
              </a:rPr>
              <a:t> a due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C0000"/>
                </a:solidFill>
              </a:rPr>
              <a:t>6 bit</a:t>
            </a:r>
            <a:r>
              <a:rPr lang="en-US" sz="2400" dirty="0"/>
              <a:t>, </a:t>
            </a:r>
            <a:r>
              <a:rPr lang="en-US" sz="2400" dirty="0" err="1"/>
              <a:t>evidenziando</a:t>
            </a:r>
            <a:r>
              <a:rPr lang="en-US" sz="2400" dirty="0"/>
              <a:t> se il </a:t>
            </a:r>
            <a:r>
              <a:rPr lang="en-US" sz="2400" dirty="0" err="1"/>
              <a:t>risultato</a:t>
            </a:r>
            <a:r>
              <a:rPr lang="en-US" sz="2400" dirty="0"/>
              <a:t> è </a:t>
            </a:r>
            <a:r>
              <a:rPr lang="en-US" sz="2400" dirty="0" err="1"/>
              <a:t>corretto</a:t>
            </a:r>
            <a:r>
              <a:rPr lang="en-US" sz="2400" dirty="0"/>
              <a:t> o se </a:t>
            </a:r>
            <a:r>
              <a:rPr lang="en-US" sz="2400" dirty="0" err="1"/>
              <a:t>si</a:t>
            </a:r>
            <a:r>
              <a:rPr lang="en-US" sz="2400" dirty="0"/>
              <a:t> ha un </a:t>
            </a:r>
            <a:r>
              <a:rPr lang="en-US" sz="2400" i="1" dirty="0"/>
              <a:t>overflow </a:t>
            </a:r>
            <a:r>
              <a:rPr lang="en-US" sz="2400" dirty="0">
                <a:solidFill>
                  <a:srgbClr val="FF6600"/>
                </a:solidFill>
              </a:rPr>
              <a:t>(</a:t>
            </a:r>
            <a:r>
              <a:rPr lang="en-US" sz="2400" dirty="0" err="1">
                <a:solidFill>
                  <a:srgbClr val="FF6600"/>
                </a:solidFill>
              </a:rPr>
              <a:t>risultato</a:t>
            </a:r>
            <a:r>
              <a:rPr lang="en-US" sz="2400" dirty="0">
                <a:solidFill>
                  <a:srgbClr val="FF6600"/>
                </a:solidFill>
              </a:rPr>
              <a:t> al di </a:t>
            </a:r>
            <a:r>
              <a:rPr lang="en-US" sz="2400" dirty="0" err="1">
                <a:solidFill>
                  <a:srgbClr val="FF6600"/>
                </a:solidFill>
              </a:rPr>
              <a:t>fuori</a:t>
            </a:r>
            <a:r>
              <a:rPr lang="en-US" sz="2400" dirty="0">
                <a:solidFill>
                  <a:srgbClr val="FF6600"/>
                </a:solidFill>
              </a:rPr>
              <a:t> </a:t>
            </a:r>
            <a:r>
              <a:rPr lang="en-US" sz="2400" dirty="0" err="1">
                <a:solidFill>
                  <a:srgbClr val="FF6600"/>
                </a:solidFill>
              </a:rPr>
              <a:t>dell’intervallo</a:t>
            </a:r>
            <a:r>
              <a:rPr lang="en-US" sz="2400" dirty="0">
                <a:solidFill>
                  <a:srgbClr val="FF6600"/>
                </a:solidFill>
              </a:rPr>
              <a:t> di </a:t>
            </a:r>
            <a:r>
              <a:rPr lang="en-US" sz="2400" dirty="0" err="1">
                <a:solidFill>
                  <a:srgbClr val="FF6600"/>
                </a:solidFill>
              </a:rPr>
              <a:t>rappresentabilità</a:t>
            </a:r>
            <a:r>
              <a:rPr lang="en-US" sz="2400" dirty="0">
                <a:solidFill>
                  <a:srgbClr val="FF6600"/>
                </a:solidFill>
              </a:rPr>
              <a:t>)</a:t>
            </a:r>
          </a:p>
          <a:p>
            <a:pPr marL="457200" indent="-457200">
              <a:buFont typeface="Wingdings" charset="2"/>
              <a:buChar char="Ø"/>
            </a:pPr>
            <a:endParaRPr lang="en-US" sz="2400" dirty="0">
              <a:solidFill>
                <a:srgbClr val="FF6600"/>
              </a:solidFill>
            </a:endParaRPr>
          </a:p>
          <a:p>
            <a:pPr marL="457200" indent="-457200">
              <a:buFont typeface="Wingdings" charset="2"/>
              <a:buChar char="Ø"/>
            </a:pPr>
            <a:r>
              <a:rPr lang="en-US" sz="2400" dirty="0">
                <a:solidFill>
                  <a:srgbClr val="FF6600"/>
                </a:solidFill>
              </a:rPr>
              <a:t>N.B. per I numeri </a:t>
            </a:r>
            <a:r>
              <a:rPr lang="en-US" sz="2400" dirty="0" err="1">
                <a:solidFill>
                  <a:srgbClr val="FF6600"/>
                </a:solidFill>
              </a:rPr>
              <a:t>positivi</a:t>
            </a:r>
            <a:r>
              <a:rPr lang="en-US" sz="2400" dirty="0">
                <a:solidFill>
                  <a:srgbClr val="FF6600"/>
                </a:solidFill>
              </a:rPr>
              <a:t>, il c2 </a:t>
            </a:r>
            <a:r>
              <a:rPr lang="en-US" sz="2400" dirty="0" err="1">
                <a:solidFill>
                  <a:srgbClr val="FF6600"/>
                </a:solidFill>
              </a:rPr>
              <a:t>corrisponde</a:t>
            </a:r>
            <a:r>
              <a:rPr lang="en-US" sz="2400" dirty="0">
                <a:solidFill>
                  <a:srgbClr val="FF6600"/>
                </a:solidFill>
              </a:rPr>
              <a:t> al </a:t>
            </a:r>
            <a:r>
              <a:rPr lang="en-US" sz="2400" dirty="0" err="1">
                <a:solidFill>
                  <a:srgbClr val="FF6600"/>
                </a:solidFill>
              </a:rPr>
              <a:t>binario</a:t>
            </a:r>
            <a:r>
              <a:rPr lang="en-US" sz="2400" dirty="0">
                <a:solidFill>
                  <a:srgbClr val="FF6600"/>
                </a:solidFill>
              </a:rPr>
              <a:t> del </a:t>
            </a:r>
            <a:r>
              <a:rPr lang="en-US" sz="2400" dirty="0" err="1">
                <a:solidFill>
                  <a:srgbClr val="FF6600"/>
                </a:solidFill>
              </a:rPr>
              <a:t>numero</a:t>
            </a:r>
            <a:r>
              <a:rPr lang="en-US" sz="2400" dirty="0">
                <a:solidFill>
                  <a:srgbClr val="FF6600"/>
                </a:solidFill>
              </a:rPr>
              <a:t> !</a:t>
            </a:r>
          </a:p>
          <a:p>
            <a:pPr marL="457200" indent="-457200">
              <a:buFont typeface="Wingdings" charset="2"/>
              <a:buChar char="Ø"/>
            </a:pP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110543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3: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1628800"/>
            <a:ext cx="8640960" cy="4255521"/>
          </a:xfrm>
        </p:spPr>
        <p:txBody>
          <a:bodyPr>
            <a:norm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sz="2400" dirty="0" err="1"/>
              <a:t>Eseguire</a:t>
            </a:r>
            <a:r>
              <a:rPr lang="en-US" sz="2400" dirty="0"/>
              <a:t> </a:t>
            </a:r>
            <a:r>
              <a:rPr lang="en-US" sz="2400" dirty="0" err="1"/>
              <a:t>l’operazione</a:t>
            </a:r>
            <a:r>
              <a:rPr lang="en-US" sz="2400" dirty="0"/>
              <a:t> 21</a:t>
            </a:r>
            <a:r>
              <a:rPr lang="en-US" sz="2400" baseline="-25000" dirty="0"/>
              <a:t>10</a:t>
            </a:r>
            <a:r>
              <a:rPr lang="en-US" sz="2400" dirty="0"/>
              <a:t> + 27</a:t>
            </a:r>
            <a:r>
              <a:rPr lang="en-US" sz="2400" baseline="-25000" dirty="0"/>
              <a:t>10</a:t>
            </a:r>
            <a:r>
              <a:rPr lang="en-US" sz="2400" dirty="0"/>
              <a:t> in </a:t>
            </a:r>
            <a:r>
              <a:rPr lang="en-US" sz="2400" dirty="0" err="1">
                <a:solidFill>
                  <a:srgbClr val="33CC33"/>
                </a:solidFill>
              </a:rPr>
              <a:t>complemento</a:t>
            </a:r>
            <a:r>
              <a:rPr lang="en-US" sz="2400" dirty="0">
                <a:solidFill>
                  <a:srgbClr val="33CC33"/>
                </a:solidFill>
              </a:rPr>
              <a:t> a due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C0000"/>
                </a:solidFill>
              </a:rPr>
              <a:t>6 bit</a:t>
            </a:r>
            <a:r>
              <a:rPr lang="en-US" sz="2400" dirty="0"/>
              <a:t>, </a:t>
            </a:r>
            <a:r>
              <a:rPr lang="en-US" sz="2400" dirty="0" err="1"/>
              <a:t>evidenziando</a:t>
            </a:r>
            <a:r>
              <a:rPr lang="en-US" sz="2400" dirty="0"/>
              <a:t> se </a:t>
            </a:r>
            <a:r>
              <a:rPr lang="en-US" sz="2400" dirty="0" err="1"/>
              <a:t>il</a:t>
            </a:r>
            <a:r>
              <a:rPr lang="en-US" sz="2400" dirty="0"/>
              <a:t> </a:t>
            </a:r>
            <a:r>
              <a:rPr lang="en-US" sz="2400" dirty="0" err="1"/>
              <a:t>risultato</a:t>
            </a:r>
            <a:r>
              <a:rPr lang="en-US" sz="2400" dirty="0"/>
              <a:t> </a:t>
            </a:r>
            <a:r>
              <a:rPr lang="en-US" sz="2400" dirty="0" err="1"/>
              <a:t>è</a:t>
            </a:r>
            <a:r>
              <a:rPr lang="en-US" sz="2400" dirty="0"/>
              <a:t> </a:t>
            </a:r>
            <a:r>
              <a:rPr lang="en-US" sz="2400" dirty="0" err="1"/>
              <a:t>corretto</a:t>
            </a:r>
            <a:r>
              <a:rPr lang="en-US" sz="2400" dirty="0"/>
              <a:t> o se </a:t>
            </a:r>
            <a:r>
              <a:rPr lang="en-US" sz="2400" dirty="0" err="1"/>
              <a:t>si</a:t>
            </a:r>
            <a:r>
              <a:rPr lang="en-US" sz="2400" dirty="0"/>
              <a:t> ha un </a:t>
            </a:r>
            <a:r>
              <a:rPr lang="en-US" sz="2400" i="1" dirty="0"/>
              <a:t>overflow</a:t>
            </a:r>
          </a:p>
          <a:p>
            <a:pPr marL="857250" lvl="1" indent="-457200">
              <a:buFont typeface="Wingdings" charset="2"/>
              <a:buChar char="Ø"/>
            </a:pPr>
            <a:r>
              <a:rPr lang="en-US" altLang="it-IT" sz="2000" dirty="0" err="1"/>
              <a:t>Innanzitutto</a:t>
            </a:r>
            <a:r>
              <a:rPr lang="en-US" altLang="it-IT" sz="2000" dirty="0"/>
              <a:t> </a:t>
            </a:r>
            <a:r>
              <a:rPr lang="en-US" altLang="it-IT" sz="2000" dirty="0" err="1"/>
              <a:t>calcoliamo</a:t>
            </a:r>
            <a:r>
              <a:rPr lang="en-US" altLang="it-IT" sz="2000" dirty="0"/>
              <a:t> la </a:t>
            </a:r>
            <a:r>
              <a:rPr lang="en-US" altLang="it-IT" sz="2000" dirty="0" err="1"/>
              <a:t>rappresentazione</a:t>
            </a:r>
            <a:r>
              <a:rPr lang="en-US" altLang="it-IT" sz="2000" dirty="0"/>
              <a:t> in </a:t>
            </a:r>
            <a:r>
              <a:rPr lang="en-US" altLang="it-IT" sz="2000" dirty="0" err="1">
                <a:solidFill>
                  <a:srgbClr val="33CC33"/>
                </a:solidFill>
              </a:rPr>
              <a:t>complemento</a:t>
            </a:r>
            <a:r>
              <a:rPr lang="en-US" altLang="it-IT" sz="2000" dirty="0">
                <a:solidFill>
                  <a:srgbClr val="33CC33"/>
                </a:solidFill>
              </a:rPr>
              <a:t> a 2</a:t>
            </a:r>
            <a:r>
              <a:rPr lang="en-US" altLang="it-IT" sz="2000" dirty="0"/>
              <a:t>, </a:t>
            </a:r>
            <a:r>
              <a:rPr lang="en-US" altLang="it-IT" sz="2000" dirty="0" err="1"/>
              <a:t>su</a:t>
            </a:r>
            <a:r>
              <a:rPr lang="en-US" altLang="it-IT" sz="2000" dirty="0"/>
              <a:t> 6 bit, di 21</a:t>
            </a:r>
            <a:r>
              <a:rPr lang="en-US" altLang="it-IT" sz="2000" baseline="-25000" dirty="0"/>
              <a:t>10 </a:t>
            </a:r>
            <a:r>
              <a:rPr lang="en-US" altLang="it-IT" sz="2000" dirty="0"/>
              <a:t>(</a:t>
            </a:r>
            <a:r>
              <a:rPr lang="it-IT" sz="2000" dirty="0"/>
              <a:t>intervallo di rappresentabilità</a:t>
            </a:r>
            <a:r>
              <a:rPr lang="it-IT" sz="2000" dirty="0">
                <a:solidFill>
                  <a:srgbClr val="33CC33"/>
                </a:solidFill>
              </a:rPr>
              <a:t>: [-32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, +31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]</a:t>
            </a:r>
            <a:r>
              <a:rPr lang="it-IT" sz="2000" dirty="0"/>
              <a:t>)</a:t>
            </a:r>
          </a:p>
          <a:p>
            <a:pPr marL="857250" lvl="1" indent="-457200">
              <a:buFont typeface="Wingdings" charset="2"/>
              <a:buChar char="Ø"/>
            </a:pPr>
            <a:endParaRPr lang="en-US" altLang="it-IT" sz="2000" dirty="0"/>
          </a:p>
          <a:p>
            <a:pPr marL="457200" indent="-457200">
              <a:buFont typeface="Wingdings" charset="2"/>
              <a:buChar char="Ø"/>
            </a:pPr>
            <a:endParaRPr lang="it-IT" sz="2800" dirty="0"/>
          </a:p>
        </p:txBody>
      </p:sp>
      <p:grpSp>
        <p:nvGrpSpPr>
          <p:cNvPr id="4" name="Gruppo 38"/>
          <p:cNvGrpSpPr/>
          <p:nvPr/>
        </p:nvGrpSpPr>
        <p:grpSpPr>
          <a:xfrm>
            <a:off x="1115616" y="3538888"/>
            <a:ext cx="5112568" cy="2626416"/>
            <a:chOff x="2401511" y="2519659"/>
            <a:chExt cx="5112568" cy="2889895"/>
          </a:xfrm>
        </p:grpSpPr>
        <p:sp>
          <p:nvSpPr>
            <p:cNvPr id="5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21</a:t>
              </a:r>
              <a:endParaRPr sz="2400" dirty="0">
                <a:solidFill>
                  <a:srgbClr val="000000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8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/>
            <p:cNvSpPr txBox="1"/>
            <p:nvPr/>
          </p:nvSpPr>
          <p:spPr>
            <a:xfrm>
              <a:off x="3481631" y="2519659"/>
              <a:ext cx="4032448" cy="19359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10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L="241300" algn="l">
                <a:lnSpc>
                  <a:spcPts val="2640"/>
                </a:lnSpc>
                <a:spcBef>
                  <a:spcPts val="120"/>
                </a:spcBef>
                <a:tabLst>
                  <a:tab pos="850265" algn="l"/>
                  <a:tab pos="1764664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5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2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5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1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6" name="object 24"/>
            <p:cNvSpPr/>
            <p:nvPr/>
          </p:nvSpPr>
          <p:spPr>
            <a:xfrm>
              <a:off x="2401511" y="3343113"/>
              <a:ext cx="5040560" cy="2066441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4"/>
          <p:cNvSpPr/>
          <p:nvPr/>
        </p:nvSpPr>
        <p:spPr>
          <a:xfrm>
            <a:off x="5508104" y="4893958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5"/>
          <p:cNvSpPr/>
          <p:nvPr/>
        </p:nvSpPr>
        <p:spPr>
          <a:xfrm>
            <a:off x="5534000" y="522920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56690" y="4873028"/>
            <a:ext cx="211454" cy="1436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0" name="object 26"/>
          <p:cNvSpPr txBox="1"/>
          <p:nvPr/>
        </p:nvSpPr>
        <p:spPr>
          <a:xfrm>
            <a:off x="2051720" y="6156012"/>
            <a:ext cx="799288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21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10101</a:t>
            </a:r>
            <a:r>
              <a:rPr lang="it-IT" sz="2400" baseline="-20833" dirty="0">
                <a:latin typeface="Comic Sans MS"/>
                <a:cs typeface="Comic Sans MS"/>
              </a:rPr>
              <a:t>2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baseline="-20833" dirty="0">
                <a:latin typeface="Comic Sans MS"/>
                <a:cs typeface="Comic Sans MS"/>
              </a:rPr>
              <a:t> </a:t>
            </a:r>
            <a:r>
              <a:rPr lang="it-IT" sz="2400" dirty="0">
                <a:solidFill>
                  <a:srgbClr val="33CC33"/>
                </a:solidFill>
                <a:latin typeface="Comic Sans MS"/>
                <a:cs typeface="Comic Sans MS"/>
              </a:rPr>
              <a:t>0</a:t>
            </a:r>
            <a:r>
              <a:rPr lang="it-IT" sz="2400" dirty="0">
                <a:latin typeface="Comic Sans MS"/>
                <a:cs typeface="Comic Sans MS"/>
              </a:rPr>
              <a:t>10101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91436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3: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72008" y="1628800"/>
            <a:ext cx="9252520" cy="4255521"/>
          </a:xfrm>
        </p:spPr>
        <p:txBody>
          <a:bodyPr>
            <a:normAutofit/>
          </a:bodyPr>
          <a:lstStyle/>
          <a:p>
            <a:pPr marL="857250" lvl="1" indent="-457200">
              <a:buFont typeface="Wingdings" charset="2"/>
              <a:buChar char="Ø"/>
            </a:pPr>
            <a:r>
              <a:rPr lang="en-US" altLang="it-IT" sz="2400" dirty="0"/>
              <a:t>Poi </a:t>
            </a:r>
            <a:r>
              <a:rPr lang="en-US" altLang="it-IT" sz="2400" dirty="0" err="1"/>
              <a:t>calcoliamo</a:t>
            </a:r>
            <a:r>
              <a:rPr lang="en-US" altLang="it-IT" sz="2400" dirty="0"/>
              <a:t> la </a:t>
            </a:r>
            <a:r>
              <a:rPr lang="en-US" altLang="it-IT" sz="2400" dirty="0" err="1"/>
              <a:t>rappresentazione</a:t>
            </a:r>
            <a:r>
              <a:rPr lang="en-US" altLang="it-IT" sz="2400" dirty="0"/>
              <a:t> in </a:t>
            </a:r>
            <a:r>
              <a:rPr lang="en-US" altLang="it-IT" sz="2400" dirty="0" err="1">
                <a:solidFill>
                  <a:srgbClr val="33CC33"/>
                </a:solidFill>
              </a:rPr>
              <a:t>complemento</a:t>
            </a:r>
            <a:r>
              <a:rPr lang="en-US" altLang="it-IT" sz="2400" dirty="0">
                <a:solidFill>
                  <a:srgbClr val="33CC33"/>
                </a:solidFill>
              </a:rPr>
              <a:t> a 2</a:t>
            </a:r>
            <a:r>
              <a:rPr lang="en-US" altLang="it-IT" sz="2400" dirty="0"/>
              <a:t>, </a:t>
            </a:r>
            <a:r>
              <a:rPr lang="en-US" altLang="it-IT" sz="2400" dirty="0" err="1"/>
              <a:t>su</a:t>
            </a:r>
            <a:r>
              <a:rPr lang="en-US" altLang="it-IT" sz="2400" dirty="0"/>
              <a:t> 6 bit, di 27</a:t>
            </a:r>
            <a:r>
              <a:rPr lang="en-US" altLang="it-IT" sz="2400" baseline="-25000" dirty="0"/>
              <a:t>10 </a:t>
            </a:r>
            <a:r>
              <a:rPr lang="en-US" altLang="it-IT" sz="2000" dirty="0"/>
              <a:t>(</a:t>
            </a:r>
            <a:r>
              <a:rPr lang="it-IT" sz="2000" dirty="0"/>
              <a:t>intervallo di rappresentabilità</a:t>
            </a:r>
            <a:r>
              <a:rPr lang="it-IT" sz="2000" dirty="0">
                <a:solidFill>
                  <a:srgbClr val="33CC33"/>
                </a:solidFill>
              </a:rPr>
              <a:t>: [-32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, +31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]</a:t>
            </a:r>
            <a:r>
              <a:rPr lang="it-IT" sz="2000" dirty="0"/>
              <a:t>)</a:t>
            </a:r>
            <a:endParaRPr lang="it-IT" sz="2400" dirty="0"/>
          </a:p>
          <a:p>
            <a:pPr marL="857250" lvl="1" indent="-457200">
              <a:buFont typeface="Wingdings" charset="2"/>
              <a:buChar char="Ø"/>
            </a:pPr>
            <a:endParaRPr lang="it-IT" sz="2400" dirty="0"/>
          </a:p>
          <a:p>
            <a:pPr marL="857250" lvl="1" indent="-457200">
              <a:buFont typeface="Wingdings" charset="2"/>
              <a:buChar char="Ø"/>
            </a:pPr>
            <a:endParaRPr lang="en-US" altLang="it-IT" sz="2400" dirty="0"/>
          </a:p>
          <a:p>
            <a:pPr marL="457200" indent="-457200">
              <a:buFont typeface="Wingdings" charset="2"/>
              <a:buChar char="Ø"/>
            </a:pPr>
            <a:endParaRPr lang="it-IT" dirty="0"/>
          </a:p>
        </p:txBody>
      </p:sp>
      <p:grpSp>
        <p:nvGrpSpPr>
          <p:cNvPr id="4" name="Gruppo 38"/>
          <p:cNvGrpSpPr/>
          <p:nvPr/>
        </p:nvGrpSpPr>
        <p:grpSpPr>
          <a:xfrm>
            <a:off x="1115616" y="2564904"/>
            <a:ext cx="5112568" cy="2626416"/>
            <a:chOff x="2401511" y="2519659"/>
            <a:chExt cx="5112568" cy="2889895"/>
          </a:xfrm>
        </p:grpSpPr>
        <p:sp>
          <p:nvSpPr>
            <p:cNvPr id="5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27</a:t>
              </a:r>
              <a:endParaRPr sz="2400" dirty="0">
                <a:solidFill>
                  <a:srgbClr val="000000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8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/>
            <p:cNvSpPr txBox="1"/>
            <p:nvPr/>
          </p:nvSpPr>
          <p:spPr>
            <a:xfrm>
              <a:off x="3481631" y="2519659"/>
              <a:ext cx="4032448" cy="19359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13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L="241300" algn="l">
                <a:lnSpc>
                  <a:spcPts val="2640"/>
                </a:lnSpc>
                <a:spcBef>
                  <a:spcPts val="120"/>
                </a:spcBef>
                <a:tabLst>
                  <a:tab pos="850265" algn="l"/>
                  <a:tab pos="1764664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6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3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5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1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6" name="object 24"/>
            <p:cNvSpPr/>
            <p:nvPr/>
          </p:nvSpPr>
          <p:spPr>
            <a:xfrm>
              <a:off x="2401511" y="3343113"/>
              <a:ext cx="5040560" cy="2066441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4"/>
          <p:cNvSpPr/>
          <p:nvPr/>
        </p:nvSpPr>
        <p:spPr>
          <a:xfrm>
            <a:off x="5508104" y="3919974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5"/>
          <p:cNvSpPr/>
          <p:nvPr/>
        </p:nvSpPr>
        <p:spPr>
          <a:xfrm>
            <a:off x="5534000" y="4255216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56690" y="3861048"/>
            <a:ext cx="211454" cy="1436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0" name="object 26"/>
          <p:cNvSpPr txBox="1"/>
          <p:nvPr/>
        </p:nvSpPr>
        <p:spPr>
          <a:xfrm>
            <a:off x="1187624" y="5013176"/>
            <a:ext cx="799288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27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11011</a:t>
            </a:r>
            <a:r>
              <a:rPr lang="it-IT" sz="2400" baseline="-20833" dirty="0">
                <a:latin typeface="Comic Sans MS"/>
                <a:cs typeface="Comic Sans MS"/>
              </a:rPr>
              <a:t>2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baseline="-20833" dirty="0">
                <a:latin typeface="Comic Sans MS"/>
                <a:cs typeface="Comic Sans MS"/>
              </a:rPr>
              <a:t> </a:t>
            </a:r>
            <a:r>
              <a:rPr lang="it-IT" sz="2400" dirty="0">
                <a:solidFill>
                  <a:srgbClr val="33CC33"/>
                </a:solidFill>
                <a:latin typeface="Comic Sans MS"/>
                <a:cs typeface="Comic Sans MS"/>
              </a:rPr>
              <a:t>0</a:t>
            </a:r>
            <a:r>
              <a:rPr lang="it-IT" sz="2400" dirty="0">
                <a:latin typeface="Comic Sans MS"/>
                <a:cs typeface="Comic Sans MS"/>
              </a:rPr>
              <a:t>11011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5548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3: Soluzione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568" y="1412776"/>
            <a:ext cx="90730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1800" dirty="0">
              <a:latin typeface="Courier"/>
              <a:cs typeface="Courier"/>
            </a:endParaRPr>
          </a:p>
          <a:p>
            <a:pPr marL="12700" algn="l"/>
            <a:r>
              <a:rPr lang="it-IT" sz="2400" b="0" dirty="0">
                <a:latin typeface="+mn-lt"/>
                <a:cs typeface="Courier"/>
              </a:rPr>
              <a:t>Ora sommiamo </a:t>
            </a:r>
            <a:r>
              <a:rPr lang="it-IT" sz="2400" dirty="0">
                <a:solidFill>
                  <a:srgbClr val="33CC33"/>
                </a:solidFill>
                <a:latin typeface="Comic Sans MS"/>
                <a:cs typeface="Comic Sans MS"/>
              </a:rPr>
              <a:t>0</a:t>
            </a:r>
            <a:r>
              <a:rPr lang="it-IT" sz="2400" dirty="0">
                <a:latin typeface="Comic Sans MS"/>
                <a:cs typeface="Comic Sans MS"/>
              </a:rPr>
              <a:t>10101</a:t>
            </a:r>
            <a:r>
              <a:rPr lang="it-IT" sz="2400" baseline="-20833" dirty="0">
                <a:latin typeface="Comic Sans MS"/>
                <a:cs typeface="Comic Sans MS"/>
              </a:rPr>
              <a:t>C2 </a:t>
            </a:r>
            <a:r>
              <a:rPr lang="it-IT" sz="2400" b="0" dirty="0">
                <a:latin typeface="Comic Sans MS"/>
                <a:cs typeface="Comic Sans MS"/>
              </a:rPr>
              <a:t>e </a:t>
            </a:r>
            <a:r>
              <a:rPr lang="it-IT" sz="2400" dirty="0">
                <a:solidFill>
                  <a:srgbClr val="33CC33"/>
                </a:solidFill>
                <a:latin typeface="Comic Sans MS"/>
                <a:cs typeface="Comic Sans MS"/>
              </a:rPr>
              <a:t>0</a:t>
            </a:r>
            <a:r>
              <a:rPr lang="it-IT" sz="2400" dirty="0">
                <a:latin typeface="Comic Sans MS"/>
                <a:cs typeface="Comic Sans MS"/>
              </a:rPr>
              <a:t>11011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  <a:p>
            <a:pPr marL="8001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1800" baseline="-20833" dirty="0">
              <a:latin typeface="Comic Sans MS"/>
              <a:cs typeface="Comic Sans MS"/>
            </a:endParaRPr>
          </a:p>
          <a:p>
            <a:pPr marL="8001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1800" b="0" dirty="0">
              <a:latin typeface="+mn-lt"/>
              <a:cs typeface="Courier"/>
            </a:endParaRPr>
          </a:p>
        </p:txBody>
      </p:sp>
      <p:sp>
        <p:nvSpPr>
          <p:cNvPr id="25" name="Rettangolo 3"/>
          <p:cNvSpPr/>
          <p:nvPr/>
        </p:nvSpPr>
        <p:spPr>
          <a:xfrm>
            <a:off x="1806667" y="2276872"/>
            <a:ext cx="38454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l"/>
            <a:endParaRPr lang="en-US" altLang="it-IT" sz="2400" dirty="0">
              <a:latin typeface="Courier"/>
              <a:cs typeface="Courier"/>
            </a:endParaRPr>
          </a:p>
          <a:p>
            <a:pPr marL="0" lvl="1"/>
            <a:endParaRPr lang="en-US" altLang="it-IT" sz="2400" b="0" dirty="0">
              <a:latin typeface="+mn-lt"/>
            </a:endParaRPr>
          </a:p>
          <a:p>
            <a:pPr marL="0" lvl="1" algn="l"/>
            <a:r>
              <a:rPr lang="en-US" altLang="it-IT" sz="2400" b="0" dirty="0">
                <a:latin typeface="+mn-lt"/>
              </a:rPr>
              <a:t>      		  </a:t>
            </a:r>
            <a:r>
              <a:rPr lang="en-US" altLang="it-IT" sz="2400" dirty="0">
                <a:solidFill>
                  <a:srgbClr val="6666FF"/>
                </a:solidFill>
                <a:latin typeface="Courier"/>
                <a:cs typeface="Courier"/>
              </a:rPr>
              <a:t>011111</a:t>
            </a:r>
          </a:p>
          <a:p>
            <a:pPr marL="0" lvl="1"/>
            <a:r>
              <a:rPr lang="en-US" altLang="it-IT" sz="2400" dirty="0">
                <a:latin typeface="Courier"/>
                <a:cs typeface="Courier"/>
              </a:rPr>
              <a:t>	010101 +</a:t>
            </a:r>
          </a:p>
          <a:p>
            <a:pPr marL="0" lvl="1"/>
            <a:r>
              <a:rPr lang="en-US" altLang="it-IT" sz="2400" dirty="0">
                <a:latin typeface="Courier"/>
                <a:cs typeface="Courier"/>
              </a:rPr>
              <a:t>	</a:t>
            </a:r>
            <a:r>
              <a:rPr lang="en-US" altLang="it-IT" sz="2400" u="sng" dirty="0">
                <a:latin typeface="Courier"/>
                <a:cs typeface="Courier"/>
              </a:rPr>
              <a:t>011011 =</a:t>
            </a:r>
          </a:p>
          <a:p>
            <a:pPr lvl="1" algn="l"/>
            <a:r>
              <a:rPr lang="en-US" altLang="it-IT" sz="2400" dirty="0">
                <a:latin typeface="Courier"/>
                <a:cs typeface="Courier"/>
              </a:rPr>
              <a:t>     	  </a:t>
            </a:r>
            <a:r>
              <a:rPr lang="en-US" altLang="it-IT" sz="2400" dirty="0">
                <a:solidFill>
                  <a:srgbClr val="FF3300"/>
                </a:solidFill>
                <a:latin typeface="Courier"/>
                <a:cs typeface="Courier"/>
              </a:rPr>
              <a:t>1</a:t>
            </a:r>
            <a:r>
              <a:rPr lang="en-US" altLang="it-IT" sz="2400" dirty="0">
                <a:latin typeface="Courier"/>
                <a:cs typeface="Courier"/>
              </a:rPr>
              <a:t>10000</a:t>
            </a:r>
            <a:r>
              <a:rPr lang="en-US" altLang="it-IT" sz="2400" dirty="0">
                <a:solidFill>
                  <a:srgbClr val="00B050"/>
                </a:solidFill>
                <a:latin typeface="Courier"/>
                <a:cs typeface="Courier"/>
              </a:rPr>
              <a:t> </a:t>
            </a:r>
            <a:r>
              <a:rPr lang="en-US" altLang="it-IT" sz="2400" dirty="0">
                <a:latin typeface="Courier"/>
                <a:cs typeface="Courier"/>
              </a:rPr>
              <a:t>   </a:t>
            </a:r>
          </a:p>
        </p:txBody>
      </p:sp>
      <p:sp>
        <p:nvSpPr>
          <p:cNvPr id="7" name="Rettangolo 9"/>
          <p:cNvSpPr/>
          <p:nvPr/>
        </p:nvSpPr>
        <p:spPr>
          <a:xfrm>
            <a:off x="1979712" y="4725144"/>
            <a:ext cx="5688632" cy="1631216"/>
          </a:xfrm>
          <a:prstGeom prst="rect">
            <a:avLst/>
          </a:prstGeom>
          <a:solidFill>
            <a:srgbClr val="FF9999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it-IT" sz="2000" b="0" dirty="0">
                <a:latin typeface="+mn-lt"/>
              </a:rPr>
              <a:t>Overflow!</a:t>
            </a:r>
          </a:p>
          <a:p>
            <a:pPr algn="ctr"/>
            <a:r>
              <a:rPr lang="en-US" altLang="it-IT" sz="2000" b="0" dirty="0">
                <a:solidFill>
                  <a:srgbClr val="FF3300"/>
                </a:solidFill>
                <a:latin typeface="+mn-lt"/>
              </a:rPr>
              <a:t>1</a:t>
            </a:r>
            <a:r>
              <a:rPr lang="en-US" altLang="it-IT" sz="2000" b="0" dirty="0">
                <a:latin typeface="+mn-lt"/>
              </a:rPr>
              <a:t>10000</a:t>
            </a:r>
            <a:r>
              <a:rPr lang="en-US" altLang="it-IT" sz="2000" baseline="-25000" dirty="0">
                <a:latin typeface="+mn-lt"/>
                <a:cs typeface="Courier"/>
              </a:rPr>
              <a:t>C2 </a:t>
            </a:r>
            <a:r>
              <a:rPr lang="en-US" altLang="it-IT" sz="2000" b="0" dirty="0">
                <a:latin typeface="+mn-lt"/>
              </a:rPr>
              <a:t>= -2</a:t>
            </a:r>
            <a:r>
              <a:rPr lang="en-US" altLang="it-IT" sz="2000" b="0" baseline="30000" dirty="0">
                <a:latin typeface="+mn-lt"/>
              </a:rPr>
              <a:t>5</a:t>
            </a:r>
            <a:r>
              <a:rPr lang="en-US" altLang="it-IT" sz="2000" b="0" dirty="0">
                <a:latin typeface="+mn-lt"/>
              </a:rPr>
              <a:t>+2</a:t>
            </a:r>
            <a:r>
              <a:rPr lang="en-US" altLang="it-IT" sz="2000" b="0" baseline="30000" dirty="0">
                <a:latin typeface="+mn-lt"/>
              </a:rPr>
              <a:t>4</a:t>
            </a:r>
            <a:r>
              <a:rPr lang="en-US" altLang="it-IT" sz="2000" b="0" dirty="0">
                <a:latin typeface="+mn-lt"/>
              </a:rPr>
              <a:t> = -16 </a:t>
            </a:r>
          </a:p>
          <a:p>
            <a:pPr algn="ctr"/>
            <a:r>
              <a:rPr lang="en-US" altLang="it-IT" sz="2000" b="0" dirty="0">
                <a:latin typeface="+mn-lt"/>
              </a:rPr>
              <a:t>21+27=48 non </a:t>
            </a:r>
            <a:r>
              <a:rPr lang="en-US" altLang="it-IT" sz="2000" b="0" dirty="0" err="1">
                <a:latin typeface="+mn-lt"/>
              </a:rPr>
              <a:t>rappresentabile</a:t>
            </a:r>
            <a:r>
              <a:rPr lang="en-US" altLang="it-IT" sz="2000" b="0" dirty="0">
                <a:latin typeface="+mn-lt"/>
              </a:rPr>
              <a:t> con 6 bit</a:t>
            </a:r>
          </a:p>
          <a:p>
            <a:pPr marL="0" lvl="1" algn="ctr"/>
            <a:r>
              <a:rPr lang="en-US" altLang="it-IT" sz="2000" dirty="0"/>
              <a:t>(</a:t>
            </a:r>
            <a:r>
              <a:rPr lang="it-IT" sz="2000" b="0" dirty="0">
                <a:latin typeface="+mn-lt"/>
              </a:rPr>
              <a:t>intervallo di rappresentabilità: [-32</a:t>
            </a:r>
            <a:r>
              <a:rPr lang="it-IT" sz="2000" b="0" baseline="-25000" dirty="0">
                <a:latin typeface="+mn-lt"/>
              </a:rPr>
              <a:t>10</a:t>
            </a:r>
            <a:r>
              <a:rPr lang="it-IT" sz="2000" b="0" dirty="0">
                <a:latin typeface="+mn-lt"/>
              </a:rPr>
              <a:t>, +31</a:t>
            </a:r>
            <a:r>
              <a:rPr lang="it-IT" sz="2000" b="0" baseline="-25000" dirty="0">
                <a:latin typeface="+mn-lt"/>
              </a:rPr>
              <a:t>10</a:t>
            </a:r>
            <a:r>
              <a:rPr lang="it-IT" sz="2000" b="0" dirty="0">
                <a:latin typeface="+mn-lt"/>
              </a:rPr>
              <a:t>])</a:t>
            </a:r>
          </a:p>
          <a:p>
            <a:pPr algn="ctr"/>
            <a:endParaRPr lang="en-US" altLang="it-IT" sz="20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624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4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1560" y="1700808"/>
            <a:ext cx="8136904" cy="4255521"/>
          </a:xfrm>
        </p:spPr>
        <p:txBody>
          <a:bodyPr>
            <a:norm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sz="2400" dirty="0" err="1"/>
              <a:t>Eseguire</a:t>
            </a:r>
            <a:r>
              <a:rPr lang="en-US" sz="2400" dirty="0"/>
              <a:t> </a:t>
            </a:r>
            <a:r>
              <a:rPr lang="en-US" sz="2400" dirty="0" err="1"/>
              <a:t>l’operazione</a:t>
            </a:r>
            <a:r>
              <a:rPr lang="en-US" sz="2400" dirty="0"/>
              <a:t> 23</a:t>
            </a:r>
            <a:r>
              <a:rPr lang="en-US" sz="2400" baseline="-25000" dirty="0"/>
              <a:t>10</a:t>
            </a:r>
            <a:r>
              <a:rPr lang="en-US" sz="2400" dirty="0"/>
              <a:t> – 20</a:t>
            </a:r>
            <a:r>
              <a:rPr lang="en-US" sz="2400" baseline="-25000" dirty="0"/>
              <a:t>10</a:t>
            </a:r>
            <a:r>
              <a:rPr lang="en-US" sz="2400" dirty="0"/>
              <a:t> in </a:t>
            </a:r>
            <a:r>
              <a:rPr lang="en-US" sz="2400" dirty="0" err="1">
                <a:solidFill>
                  <a:srgbClr val="33CC33"/>
                </a:solidFill>
              </a:rPr>
              <a:t>complemento</a:t>
            </a:r>
            <a:r>
              <a:rPr lang="en-US" sz="2400" dirty="0">
                <a:solidFill>
                  <a:srgbClr val="33CC33"/>
                </a:solidFill>
              </a:rPr>
              <a:t> a due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C0000"/>
                </a:solidFill>
              </a:rPr>
              <a:t>6 bit</a:t>
            </a:r>
            <a:r>
              <a:rPr lang="en-US" sz="2400" dirty="0"/>
              <a:t>, </a:t>
            </a:r>
            <a:r>
              <a:rPr lang="en-US" sz="2400" dirty="0" err="1"/>
              <a:t>evidenziando</a:t>
            </a:r>
            <a:r>
              <a:rPr lang="en-US" sz="2400" dirty="0"/>
              <a:t> se </a:t>
            </a:r>
            <a:r>
              <a:rPr lang="en-US" sz="2400" dirty="0" err="1"/>
              <a:t>il</a:t>
            </a:r>
            <a:r>
              <a:rPr lang="en-US" sz="2400" dirty="0"/>
              <a:t> </a:t>
            </a:r>
            <a:r>
              <a:rPr lang="en-US" sz="2400" dirty="0" err="1"/>
              <a:t>risultato</a:t>
            </a:r>
            <a:r>
              <a:rPr lang="en-US" sz="2400" dirty="0"/>
              <a:t> </a:t>
            </a:r>
            <a:r>
              <a:rPr lang="en-US" sz="2400" dirty="0" err="1"/>
              <a:t>è</a:t>
            </a:r>
            <a:r>
              <a:rPr lang="en-US" sz="2400" dirty="0"/>
              <a:t> </a:t>
            </a:r>
            <a:r>
              <a:rPr lang="en-US" sz="2400" dirty="0" err="1"/>
              <a:t>corretto</a:t>
            </a:r>
            <a:r>
              <a:rPr lang="en-US" sz="2400" dirty="0"/>
              <a:t> o se </a:t>
            </a:r>
            <a:r>
              <a:rPr lang="en-US" sz="2400" dirty="0" err="1"/>
              <a:t>si</a:t>
            </a:r>
            <a:r>
              <a:rPr lang="en-US" sz="2400" dirty="0"/>
              <a:t> ha un </a:t>
            </a:r>
            <a:r>
              <a:rPr lang="en-US" sz="2400" i="1" dirty="0"/>
              <a:t>overflow </a:t>
            </a:r>
            <a:r>
              <a:rPr lang="en-US" sz="2400" dirty="0">
                <a:solidFill>
                  <a:srgbClr val="FF6600"/>
                </a:solidFill>
              </a:rPr>
              <a:t>(</a:t>
            </a:r>
            <a:r>
              <a:rPr lang="en-US" sz="2400" dirty="0" err="1">
                <a:solidFill>
                  <a:srgbClr val="FF6600"/>
                </a:solidFill>
              </a:rPr>
              <a:t>risultato</a:t>
            </a:r>
            <a:r>
              <a:rPr lang="en-US" sz="2400" dirty="0">
                <a:solidFill>
                  <a:srgbClr val="FF6600"/>
                </a:solidFill>
              </a:rPr>
              <a:t> al di </a:t>
            </a:r>
            <a:r>
              <a:rPr lang="en-US" sz="2400" dirty="0" err="1">
                <a:solidFill>
                  <a:srgbClr val="FF6600"/>
                </a:solidFill>
              </a:rPr>
              <a:t>fuori</a:t>
            </a:r>
            <a:r>
              <a:rPr lang="en-US" sz="2400" dirty="0">
                <a:solidFill>
                  <a:srgbClr val="FF6600"/>
                </a:solidFill>
              </a:rPr>
              <a:t> </a:t>
            </a:r>
            <a:r>
              <a:rPr lang="en-US" sz="2400" dirty="0" err="1">
                <a:solidFill>
                  <a:srgbClr val="FF6600"/>
                </a:solidFill>
              </a:rPr>
              <a:t>dell’intervallo</a:t>
            </a:r>
            <a:r>
              <a:rPr lang="en-US" sz="2400" dirty="0">
                <a:solidFill>
                  <a:srgbClr val="FF6600"/>
                </a:solidFill>
              </a:rPr>
              <a:t> di </a:t>
            </a:r>
            <a:r>
              <a:rPr lang="en-US" sz="2400" dirty="0" err="1">
                <a:solidFill>
                  <a:srgbClr val="FF6600"/>
                </a:solidFill>
              </a:rPr>
              <a:t>rappresentabilità</a:t>
            </a:r>
            <a:r>
              <a:rPr lang="en-US" sz="2400" dirty="0">
                <a:solidFill>
                  <a:srgbClr val="FF6600"/>
                </a:solidFill>
              </a:rPr>
              <a:t>)</a:t>
            </a:r>
          </a:p>
          <a:p>
            <a:pPr marL="457200" indent="-457200">
              <a:buFont typeface="Wingdings" charset="2"/>
              <a:buChar char="Ø"/>
            </a:pP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08801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4: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1628800"/>
            <a:ext cx="8640960" cy="4255521"/>
          </a:xfrm>
        </p:spPr>
        <p:txBody>
          <a:bodyPr>
            <a:norm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sz="2400" dirty="0" err="1"/>
              <a:t>Eseguire</a:t>
            </a:r>
            <a:r>
              <a:rPr lang="en-US" sz="2400" dirty="0"/>
              <a:t> </a:t>
            </a:r>
            <a:r>
              <a:rPr lang="en-US" sz="2400" dirty="0" err="1"/>
              <a:t>l’operazione</a:t>
            </a:r>
            <a:r>
              <a:rPr lang="en-US" sz="2400" dirty="0"/>
              <a:t> 23</a:t>
            </a:r>
            <a:r>
              <a:rPr lang="en-US" sz="2400" baseline="-25000" dirty="0"/>
              <a:t>10</a:t>
            </a:r>
            <a:r>
              <a:rPr lang="en-US" sz="2400" dirty="0"/>
              <a:t> – 20</a:t>
            </a:r>
            <a:r>
              <a:rPr lang="en-US" sz="2400" baseline="-25000" dirty="0"/>
              <a:t>10</a:t>
            </a:r>
            <a:r>
              <a:rPr lang="en-US" sz="2400" dirty="0"/>
              <a:t> in </a:t>
            </a:r>
            <a:r>
              <a:rPr lang="en-US" sz="2400" dirty="0" err="1">
                <a:solidFill>
                  <a:srgbClr val="33CC33"/>
                </a:solidFill>
              </a:rPr>
              <a:t>complemento</a:t>
            </a:r>
            <a:r>
              <a:rPr lang="en-US" sz="2400" dirty="0">
                <a:solidFill>
                  <a:srgbClr val="33CC33"/>
                </a:solidFill>
              </a:rPr>
              <a:t> a due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C0000"/>
                </a:solidFill>
              </a:rPr>
              <a:t>6 bit</a:t>
            </a:r>
            <a:r>
              <a:rPr lang="en-US" sz="2400" dirty="0"/>
              <a:t>, </a:t>
            </a:r>
            <a:r>
              <a:rPr lang="en-US" sz="2400" dirty="0" err="1"/>
              <a:t>evidenziando</a:t>
            </a:r>
            <a:r>
              <a:rPr lang="en-US" sz="2400" dirty="0"/>
              <a:t> se </a:t>
            </a:r>
            <a:r>
              <a:rPr lang="en-US" sz="2400" dirty="0" err="1"/>
              <a:t>il</a:t>
            </a:r>
            <a:r>
              <a:rPr lang="en-US" sz="2400" dirty="0"/>
              <a:t> </a:t>
            </a:r>
            <a:r>
              <a:rPr lang="en-US" sz="2400" dirty="0" err="1"/>
              <a:t>risultato</a:t>
            </a:r>
            <a:r>
              <a:rPr lang="en-US" sz="2400" dirty="0"/>
              <a:t> </a:t>
            </a:r>
            <a:r>
              <a:rPr lang="en-US" sz="2400" dirty="0" err="1"/>
              <a:t>è</a:t>
            </a:r>
            <a:r>
              <a:rPr lang="en-US" sz="2400" dirty="0"/>
              <a:t> </a:t>
            </a:r>
            <a:r>
              <a:rPr lang="en-US" sz="2400" dirty="0" err="1"/>
              <a:t>corretto</a:t>
            </a:r>
            <a:r>
              <a:rPr lang="en-US" sz="2400" dirty="0"/>
              <a:t> o se </a:t>
            </a:r>
            <a:r>
              <a:rPr lang="en-US" sz="2400" dirty="0" err="1"/>
              <a:t>si</a:t>
            </a:r>
            <a:r>
              <a:rPr lang="en-US" sz="2400" dirty="0"/>
              <a:t> ha un </a:t>
            </a:r>
            <a:r>
              <a:rPr lang="en-US" sz="2400" i="1" dirty="0"/>
              <a:t>overflow</a:t>
            </a:r>
          </a:p>
          <a:p>
            <a:pPr marL="857250" lvl="1" indent="-457200">
              <a:buFont typeface="Wingdings" charset="2"/>
              <a:buChar char="Ø"/>
            </a:pPr>
            <a:r>
              <a:rPr lang="en-US" altLang="it-IT" sz="2000" dirty="0" err="1"/>
              <a:t>Innanzitutto</a:t>
            </a:r>
            <a:r>
              <a:rPr lang="en-US" altLang="it-IT" sz="2000" dirty="0"/>
              <a:t> </a:t>
            </a:r>
            <a:r>
              <a:rPr lang="en-US" altLang="it-IT" sz="2000" dirty="0" err="1"/>
              <a:t>calcoliamo</a:t>
            </a:r>
            <a:r>
              <a:rPr lang="en-US" altLang="it-IT" sz="2000" dirty="0"/>
              <a:t> la </a:t>
            </a:r>
            <a:r>
              <a:rPr lang="en-US" altLang="it-IT" sz="2000" dirty="0" err="1"/>
              <a:t>rappresentazione</a:t>
            </a:r>
            <a:r>
              <a:rPr lang="en-US" altLang="it-IT" sz="2000" dirty="0"/>
              <a:t> in </a:t>
            </a:r>
            <a:r>
              <a:rPr lang="en-US" altLang="it-IT" sz="2000" dirty="0" err="1"/>
              <a:t>complemento</a:t>
            </a:r>
            <a:r>
              <a:rPr lang="en-US" altLang="it-IT" sz="2000" dirty="0"/>
              <a:t> a 2, </a:t>
            </a:r>
            <a:r>
              <a:rPr lang="en-US" altLang="it-IT" sz="2000" dirty="0" err="1"/>
              <a:t>su</a:t>
            </a:r>
            <a:r>
              <a:rPr lang="en-US" altLang="it-IT" sz="2000" dirty="0"/>
              <a:t> 6 bit, di 23</a:t>
            </a:r>
            <a:r>
              <a:rPr lang="en-US" altLang="it-IT" sz="2000" baseline="-25000" dirty="0"/>
              <a:t>10 </a:t>
            </a:r>
            <a:r>
              <a:rPr lang="en-US" altLang="it-IT" sz="2000" dirty="0"/>
              <a:t>(</a:t>
            </a:r>
            <a:r>
              <a:rPr lang="it-IT" sz="2000" dirty="0"/>
              <a:t>intervallo di rappresentabilità</a:t>
            </a:r>
            <a:r>
              <a:rPr lang="it-IT" sz="2000" dirty="0">
                <a:solidFill>
                  <a:srgbClr val="33CC33"/>
                </a:solidFill>
              </a:rPr>
              <a:t>: [-32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, +31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]</a:t>
            </a:r>
            <a:r>
              <a:rPr lang="it-IT" sz="2000" dirty="0"/>
              <a:t>)</a:t>
            </a:r>
          </a:p>
          <a:p>
            <a:pPr marL="857250" lvl="1" indent="-457200">
              <a:buFont typeface="Wingdings" charset="2"/>
              <a:buChar char="Ø"/>
            </a:pPr>
            <a:endParaRPr lang="en-US" altLang="it-IT" sz="2000" dirty="0"/>
          </a:p>
          <a:p>
            <a:pPr marL="457200" indent="-457200">
              <a:buFont typeface="Wingdings" charset="2"/>
              <a:buChar char="Ø"/>
            </a:pPr>
            <a:endParaRPr lang="it-IT" sz="2800" dirty="0"/>
          </a:p>
        </p:txBody>
      </p:sp>
      <p:grpSp>
        <p:nvGrpSpPr>
          <p:cNvPr id="4" name="Gruppo 38"/>
          <p:cNvGrpSpPr/>
          <p:nvPr/>
        </p:nvGrpSpPr>
        <p:grpSpPr>
          <a:xfrm>
            <a:off x="1115616" y="3538888"/>
            <a:ext cx="5112568" cy="2626416"/>
            <a:chOff x="2401511" y="2519659"/>
            <a:chExt cx="5112568" cy="2889895"/>
          </a:xfrm>
        </p:grpSpPr>
        <p:sp>
          <p:nvSpPr>
            <p:cNvPr id="5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23</a:t>
              </a:r>
              <a:endParaRPr sz="2400" dirty="0">
                <a:solidFill>
                  <a:srgbClr val="000000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8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/>
            <p:cNvSpPr txBox="1"/>
            <p:nvPr/>
          </p:nvSpPr>
          <p:spPr>
            <a:xfrm>
              <a:off x="3481631" y="2519659"/>
              <a:ext cx="4032448" cy="19359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11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L="241300" algn="l">
                <a:lnSpc>
                  <a:spcPts val="2640"/>
                </a:lnSpc>
                <a:spcBef>
                  <a:spcPts val="120"/>
                </a:spcBef>
                <a:tabLst>
                  <a:tab pos="850265" algn="l"/>
                  <a:tab pos="1764664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5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2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5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1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6" name="object 24"/>
            <p:cNvSpPr/>
            <p:nvPr/>
          </p:nvSpPr>
          <p:spPr>
            <a:xfrm>
              <a:off x="2401511" y="3343113"/>
              <a:ext cx="5040560" cy="2066441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4"/>
          <p:cNvSpPr/>
          <p:nvPr/>
        </p:nvSpPr>
        <p:spPr>
          <a:xfrm>
            <a:off x="5508104" y="4893958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5"/>
          <p:cNvSpPr/>
          <p:nvPr/>
        </p:nvSpPr>
        <p:spPr>
          <a:xfrm>
            <a:off x="5534000" y="522920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56690" y="4873028"/>
            <a:ext cx="211454" cy="1436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0" name="object 26"/>
          <p:cNvSpPr txBox="1"/>
          <p:nvPr/>
        </p:nvSpPr>
        <p:spPr>
          <a:xfrm>
            <a:off x="2051720" y="6156012"/>
            <a:ext cx="799288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23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10111</a:t>
            </a:r>
            <a:r>
              <a:rPr lang="it-IT" sz="2400" baseline="-20833" dirty="0">
                <a:latin typeface="Comic Sans MS"/>
                <a:cs typeface="Comic Sans MS"/>
              </a:rPr>
              <a:t>2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baseline="-20833" dirty="0">
                <a:latin typeface="Comic Sans MS"/>
                <a:cs typeface="Comic Sans MS"/>
              </a:rPr>
              <a:t> </a:t>
            </a:r>
            <a:r>
              <a:rPr lang="it-IT" sz="2400" dirty="0">
                <a:solidFill>
                  <a:srgbClr val="33CC33"/>
                </a:solidFill>
                <a:latin typeface="Comic Sans MS"/>
                <a:cs typeface="Comic Sans MS"/>
              </a:rPr>
              <a:t>0</a:t>
            </a:r>
            <a:r>
              <a:rPr lang="it-IT" sz="2400" dirty="0">
                <a:latin typeface="Comic Sans MS"/>
                <a:cs typeface="Comic Sans MS"/>
              </a:rPr>
              <a:t>10111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288554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4: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72008" y="1628800"/>
            <a:ext cx="9252520" cy="4255521"/>
          </a:xfrm>
        </p:spPr>
        <p:txBody>
          <a:bodyPr>
            <a:normAutofit/>
          </a:bodyPr>
          <a:lstStyle/>
          <a:p>
            <a:pPr marL="857250" lvl="1" indent="-457200">
              <a:buFont typeface="Wingdings" charset="2"/>
              <a:buChar char="Ø"/>
            </a:pPr>
            <a:r>
              <a:rPr lang="en-US" altLang="it-IT" sz="2400" dirty="0"/>
              <a:t>Poi </a:t>
            </a:r>
            <a:r>
              <a:rPr lang="en-US" altLang="it-IT" sz="2400" dirty="0" err="1"/>
              <a:t>calcoliamo</a:t>
            </a:r>
            <a:r>
              <a:rPr lang="en-US" altLang="it-IT" sz="2400" dirty="0"/>
              <a:t> la </a:t>
            </a:r>
            <a:r>
              <a:rPr lang="en-US" altLang="it-IT" sz="2400" dirty="0" err="1"/>
              <a:t>rappresentazione</a:t>
            </a:r>
            <a:r>
              <a:rPr lang="en-US" altLang="it-IT" sz="2400" dirty="0"/>
              <a:t> in </a:t>
            </a:r>
            <a:r>
              <a:rPr lang="en-US" altLang="it-IT" sz="2400" dirty="0" err="1"/>
              <a:t>complemento</a:t>
            </a:r>
            <a:r>
              <a:rPr lang="en-US" altLang="it-IT" sz="2400" dirty="0"/>
              <a:t> a 2, </a:t>
            </a:r>
            <a:r>
              <a:rPr lang="en-US" altLang="it-IT" sz="2400" dirty="0" err="1"/>
              <a:t>su</a:t>
            </a:r>
            <a:r>
              <a:rPr lang="en-US" altLang="it-IT" sz="2400" dirty="0"/>
              <a:t> 6 bit, di 20</a:t>
            </a:r>
            <a:r>
              <a:rPr lang="en-US" altLang="it-IT" sz="2400" baseline="-25000" dirty="0"/>
              <a:t>10 </a:t>
            </a:r>
            <a:r>
              <a:rPr lang="en-US" altLang="it-IT" sz="2000" dirty="0"/>
              <a:t>(</a:t>
            </a:r>
            <a:r>
              <a:rPr lang="it-IT" sz="2000" dirty="0"/>
              <a:t>intervallo di rappresentabilità</a:t>
            </a:r>
            <a:r>
              <a:rPr lang="it-IT" sz="2000" dirty="0">
                <a:solidFill>
                  <a:srgbClr val="33CC33"/>
                </a:solidFill>
              </a:rPr>
              <a:t>: [-32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, +31</a:t>
            </a:r>
            <a:r>
              <a:rPr lang="it-IT" sz="2000" baseline="-25000" dirty="0">
                <a:solidFill>
                  <a:srgbClr val="33CC33"/>
                </a:solidFill>
              </a:rPr>
              <a:t>10</a:t>
            </a:r>
            <a:r>
              <a:rPr lang="it-IT" sz="2000" dirty="0">
                <a:solidFill>
                  <a:srgbClr val="33CC33"/>
                </a:solidFill>
              </a:rPr>
              <a:t>]</a:t>
            </a:r>
            <a:r>
              <a:rPr lang="it-IT" sz="2000" dirty="0"/>
              <a:t>)</a:t>
            </a:r>
            <a:endParaRPr lang="it-IT" sz="2400" dirty="0"/>
          </a:p>
          <a:p>
            <a:pPr marL="857250" lvl="1" indent="-457200">
              <a:buFont typeface="Wingdings" charset="2"/>
              <a:buChar char="Ø"/>
            </a:pPr>
            <a:endParaRPr lang="it-IT" sz="2400" dirty="0"/>
          </a:p>
          <a:p>
            <a:pPr marL="857250" lvl="1" indent="-457200">
              <a:buFont typeface="Wingdings" charset="2"/>
              <a:buChar char="Ø"/>
            </a:pPr>
            <a:endParaRPr lang="en-US" altLang="it-IT" sz="2400" dirty="0"/>
          </a:p>
          <a:p>
            <a:pPr marL="457200" indent="-457200">
              <a:buFont typeface="Wingdings" charset="2"/>
              <a:buChar char="Ø"/>
            </a:pPr>
            <a:endParaRPr lang="it-IT" dirty="0"/>
          </a:p>
        </p:txBody>
      </p:sp>
      <p:grpSp>
        <p:nvGrpSpPr>
          <p:cNvPr id="4" name="Gruppo 38"/>
          <p:cNvGrpSpPr/>
          <p:nvPr/>
        </p:nvGrpSpPr>
        <p:grpSpPr>
          <a:xfrm>
            <a:off x="1115616" y="2564904"/>
            <a:ext cx="5112568" cy="2626416"/>
            <a:chOff x="2401511" y="2519659"/>
            <a:chExt cx="5112568" cy="2889895"/>
          </a:xfrm>
        </p:grpSpPr>
        <p:sp>
          <p:nvSpPr>
            <p:cNvPr id="5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00"/>
                  </a:solidFill>
                  <a:latin typeface="Comic Sans MS"/>
                  <a:cs typeface="Comic Sans MS"/>
                </a:rPr>
                <a:t>20</a:t>
              </a:r>
              <a:endParaRPr sz="2400" dirty="0">
                <a:solidFill>
                  <a:srgbClr val="000000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8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/>
            <p:cNvSpPr txBox="1"/>
            <p:nvPr/>
          </p:nvSpPr>
          <p:spPr>
            <a:xfrm>
              <a:off x="3481631" y="2519659"/>
              <a:ext cx="4032448" cy="19359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10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L="241300" algn="l">
                <a:lnSpc>
                  <a:spcPts val="2640"/>
                </a:lnSpc>
                <a:spcBef>
                  <a:spcPts val="120"/>
                </a:spcBef>
                <a:tabLst>
                  <a:tab pos="850265" algn="l"/>
                  <a:tab pos="1764664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</a:t>
              </a:r>
              <a:r>
                <a:rPr lang="it-IT" sz="2400" dirty="0">
                  <a:latin typeface="Comic Sans MS"/>
                  <a:cs typeface="Comic Sans MS"/>
                </a:rPr>
                <a:t>5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2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5" name="object 19"/>
            <p:cNvSpPr txBox="1"/>
            <p:nvPr/>
          </p:nvSpPr>
          <p:spPr>
            <a:xfrm>
              <a:off x="6073919" y="3591480"/>
              <a:ext cx="211454" cy="158037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1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6" name="object 24"/>
            <p:cNvSpPr/>
            <p:nvPr/>
          </p:nvSpPr>
          <p:spPr>
            <a:xfrm>
              <a:off x="2401511" y="3343113"/>
              <a:ext cx="5040560" cy="2066441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4"/>
          <p:cNvSpPr/>
          <p:nvPr/>
        </p:nvSpPr>
        <p:spPr>
          <a:xfrm>
            <a:off x="5508104" y="3919974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5"/>
          <p:cNvSpPr/>
          <p:nvPr/>
        </p:nvSpPr>
        <p:spPr>
          <a:xfrm>
            <a:off x="5534000" y="4255216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56690" y="3861048"/>
            <a:ext cx="211454" cy="1436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lang="it-IT" sz="2400" dirty="0">
                <a:latin typeface="Comic Sans MS"/>
                <a:cs typeface="Comic Sans MS"/>
              </a:rPr>
              <a:t>0</a:t>
            </a: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</p:txBody>
      </p:sp>
      <p:sp>
        <p:nvSpPr>
          <p:cNvPr id="20" name="object 26"/>
          <p:cNvSpPr txBox="1"/>
          <p:nvPr/>
        </p:nvSpPr>
        <p:spPr>
          <a:xfrm>
            <a:off x="1187624" y="5013176"/>
            <a:ext cx="799288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/>
            <a:r>
              <a:rPr lang="it-IT" sz="2400" dirty="0">
                <a:latin typeface="Comic Sans MS"/>
                <a:cs typeface="Comic Sans MS"/>
              </a:rPr>
              <a:t>20</a:t>
            </a:r>
            <a:r>
              <a:rPr lang="it-IT" sz="2400" baseline="-20833" dirty="0">
                <a:latin typeface="Comic Sans MS"/>
                <a:cs typeface="Comic Sans MS"/>
              </a:rPr>
              <a:t>10</a:t>
            </a:r>
            <a:r>
              <a:rPr sz="2400" baseline="-20833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spc="145" dirty="0">
                <a:latin typeface="Comic Sans MS"/>
                <a:cs typeface="Comic Sans MS"/>
              </a:rPr>
              <a:t> </a:t>
            </a:r>
            <a:r>
              <a:rPr lang="it-IT" sz="2400" dirty="0">
                <a:latin typeface="Comic Sans MS"/>
                <a:cs typeface="Comic Sans MS"/>
              </a:rPr>
              <a:t>10100</a:t>
            </a:r>
            <a:r>
              <a:rPr lang="it-IT" sz="2400" baseline="-20833" dirty="0">
                <a:latin typeface="Comic Sans MS"/>
                <a:cs typeface="Comic Sans MS"/>
              </a:rPr>
              <a:t>2 </a:t>
            </a:r>
            <a:r>
              <a:rPr lang="it-IT" sz="2400" dirty="0">
                <a:latin typeface="Comic Sans MS"/>
                <a:cs typeface="Comic Sans MS"/>
              </a:rPr>
              <a:t>=</a:t>
            </a:r>
            <a:r>
              <a:rPr lang="it-IT" sz="2400" baseline="-20833" dirty="0">
                <a:latin typeface="Comic Sans MS"/>
                <a:cs typeface="Comic Sans MS"/>
              </a:rPr>
              <a:t> </a:t>
            </a:r>
            <a:r>
              <a:rPr lang="it-IT" sz="2400" dirty="0">
                <a:solidFill>
                  <a:srgbClr val="33CC33"/>
                </a:solidFill>
                <a:latin typeface="Comic Sans MS"/>
                <a:cs typeface="Comic Sans MS"/>
              </a:rPr>
              <a:t>0</a:t>
            </a:r>
            <a:r>
              <a:rPr lang="it-IT" sz="2400" dirty="0">
                <a:latin typeface="Comic Sans MS"/>
                <a:cs typeface="Comic Sans MS"/>
              </a:rPr>
              <a:t>10100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24131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Esercizio 4: Soluzione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9512" y="1628800"/>
            <a:ext cx="907300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omic Sans MS"/>
              </a:rPr>
              <a:t>Calcoliamo l’</a:t>
            </a:r>
            <a:r>
              <a:rPr lang="it-IT" sz="2400" b="0" dirty="0">
                <a:solidFill>
                  <a:srgbClr val="6666FF"/>
                </a:solidFill>
                <a:latin typeface="+mn-lt"/>
                <a:cs typeface="Comic Sans MS"/>
              </a:rPr>
              <a:t>opposto</a:t>
            </a:r>
            <a:r>
              <a:rPr lang="it-IT" sz="2400" b="0" dirty="0">
                <a:latin typeface="+mn-lt"/>
                <a:cs typeface="Comic Sans MS"/>
              </a:rPr>
              <a:t> di 20</a:t>
            </a:r>
            <a:r>
              <a:rPr lang="it-IT" sz="2400" b="0" baseline="-25000" dirty="0">
                <a:latin typeface="+mn-lt"/>
                <a:cs typeface="Comic Sans MS"/>
              </a:rPr>
              <a:t>10 </a:t>
            </a:r>
            <a:r>
              <a:rPr lang="it-IT" sz="2400" b="0" dirty="0">
                <a:latin typeface="+mn-lt"/>
                <a:cs typeface="Comic Sans MS"/>
              </a:rPr>
              <a:t>= </a:t>
            </a:r>
            <a:r>
              <a:rPr lang="it-IT" sz="2400" b="0" dirty="0">
                <a:solidFill>
                  <a:srgbClr val="33CC33"/>
                </a:solidFill>
                <a:latin typeface="Comic Sans MS"/>
                <a:cs typeface="Comic Sans MS"/>
              </a:rPr>
              <a:t>0</a:t>
            </a:r>
            <a:r>
              <a:rPr lang="it-IT" sz="2400" b="0" dirty="0">
                <a:latin typeface="Comic Sans MS"/>
                <a:cs typeface="Comic Sans MS"/>
              </a:rPr>
              <a:t>10100</a:t>
            </a:r>
            <a:r>
              <a:rPr lang="it-IT" sz="2400" b="0" baseline="-20833" dirty="0">
                <a:latin typeface="Comic Sans MS"/>
                <a:cs typeface="Comic Sans MS"/>
              </a:rPr>
              <a:t>C2</a:t>
            </a:r>
            <a:br>
              <a:rPr lang="it-IT" sz="2400" b="0" baseline="-20833" dirty="0">
                <a:latin typeface="Comic Sans MS"/>
                <a:cs typeface="Comic Sans MS"/>
              </a:rPr>
            </a:br>
            <a:endParaRPr lang="it-IT" sz="1800" b="0" dirty="0">
              <a:latin typeface="+mn-lt"/>
              <a:cs typeface="Comic Sans MS"/>
            </a:endParaRPr>
          </a:p>
          <a:p>
            <a:pPr marL="1257300"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1800" b="0" dirty="0" err="1">
                <a:latin typeface="+mn-lt"/>
                <a:cs typeface="Comic Sans MS"/>
              </a:rPr>
              <a:t>Complementiamo</a:t>
            </a:r>
            <a:r>
              <a:rPr lang="it-IT" sz="1800" b="0" dirty="0">
                <a:latin typeface="+mn-lt"/>
                <a:cs typeface="Comic Sans MS"/>
              </a:rPr>
              <a:t> bit a bit: 	 </a:t>
            </a:r>
            <a:r>
              <a:rPr lang="it-IT" sz="1800" b="0" dirty="0">
                <a:latin typeface="+mn-lt"/>
                <a:cs typeface="Courier"/>
              </a:rPr>
              <a:t> </a:t>
            </a:r>
            <a:r>
              <a:rPr lang="it-IT" sz="1800" dirty="0">
                <a:latin typeface="Courier"/>
                <a:cs typeface="Courier"/>
              </a:rPr>
              <a:t>101011+</a:t>
            </a:r>
          </a:p>
          <a:p>
            <a:pPr marL="1257300"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1800" b="0" dirty="0">
                <a:latin typeface="+mn-lt"/>
                <a:cs typeface="Comic Sans MS"/>
              </a:rPr>
              <a:t>Sommiamo 1:			            </a:t>
            </a:r>
            <a:r>
              <a:rPr lang="it-IT" sz="1800" dirty="0">
                <a:latin typeface="Courier"/>
                <a:cs typeface="Courier"/>
              </a:rPr>
              <a:t>1=</a:t>
            </a:r>
          </a:p>
          <a:p>
            <a:pPr marL="1257300"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1800" b="0" dirty="0">
                <a:latin typeface="+mn-lt"/>
                <a:cs typeface="Comic Sans MS"/>
              </a:rPr>
              <a:t>Risultato	               	  </a:t>
            </a:r>
            <a:r>
              <a:rPr lang="it-IT" sz="1800" dirty="0">
                <a:latin typeface="Courier"/>
                <a:cs typeface="Courier"/>
              </a:rPr>
              <a:t>101100</a:t>
            </a:r>
          </a:p>
          <a:p>
            <a:pPr marL="1257300"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1800" b="0" dirty="0">
                <a:latin typeface="+mn-lt"/>
                <a:cs typeface="Courier"/>
              </a:rPr>
              <a:t>Quindi -20</a:t>
            </a:r>
            <a:r>
              <a:rPr lang="it-IT" sz="1800" b="0" baseline="-25000" dirty="0">
                <a:latin typeface="+mn-lt"/>
                <a:cs typeface="Courier"/>
              </a:rPr>
              <a:t>10</a:t>
            </a:r>
            <a:r>
              <a:rPr lang="it-IT" sz="1800" b="0" dirty="0">
                <a:latin typeface="+mn-lt"/>
                <a:cs typeface="Courier"/>
              </a:rPr>
              <a:t> = 101100</a:t>
            </a:r>
            <a:r>
              <a:rPr lang="it-IT" sz="1800" b="0" baseline="-25000" dirty="0">
                <a:latin typeface="+mn-lt"/>
                <a:cs typeface="Courier"/>
              </a:rPr>
              <a:t>C2</a:t>
            </a:r>
          </a:p>
          <a:p>
            <a:pPr marL="8001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1800" dirty="0">
              <a:latin typeface="Courier"/>
              <a:cs typeface="Courier"/>
            </a:endParaRPr>
          </a:p>
          <a:p>
            <a:pPr marL="8001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ourier"/>
              </a:rPr>
              <a:t>Ora sommiamo </a:t>
            </a:r>
            <a:r>
              <a:rPr lang="it-IT" sz="2400" dirty="0">
                <a:solidFill>
                  <a:srgbClr val="33CC33"/>
                </a:solidFill>
                <a:latin typeface="Comic Sans MS"/>
                <a:cs typeface="Comic Sans MS"/>
              </a:rPr>
              <a:t>0</a:t>
            </a:r>
            <a:r>
              <a:rPr lang="it-IT" sz="2400" dirty="0">
                <a:latin typeface="Comic Sans MS"/>
                <a:cs typeface="Comic Sans MS"/>
              </a:rPr>
              <a:t>10111</a:t>
            </a:r>
            <a:r>
              <a:rPr lang="it-IT" sz="2400" baseline="-20833" dirty="0">
                <a:latin typeface="Comic Sans MS"/>
                <a:cs typeface="Comic Sans MS"/>
              </a:rPr>
              <a:t>C2 </a:t>
            </a:r>
            <a:r>
              <a:rPr lang="it-IT" sz="2400" b="0" dirty="0">
                <a:latin typeface="Comic Sans MS"/>
                <a:cs typeface="Comic Sans MS"/>
              </a:rPr>
              <a:t>e </a:t>
            </a:r>
            <a:r>
              <a:rPr lang="it-IT" sz="2400" dirty="0">
                <a:solidFill>
                  <a:srgbClr val="FF3300"/>
                </a:solidFill>
                <a:latin typeface="Comic Sans MS"/>
                <a:cs typeface="Comic Sans MS"/>
              </a:rPr>
              <a:t>1</a:t>
            </a:r>
            <a:r>
              <a:rPr lang="it-IT" sz="2400" dirty="0">
                <a:latin typeface="Comic Sans MS"/>
                <a:cs typeface="Comic Sans MS"/>
              </a:rPr>
              <a:t>01100</a:t>
            </a:r>
            <a:r>
              <a:rPr lang="it-IT" sz="2400" baseline="-20833" dirty="0">
                <a:latin typeface="Comic Sans MS"/>
                <a:cs typeface="Comic Sans MS"/>
              </a:rPr>
              <a:t>C2</a:t>
            </a:r>
          </a:p>
          <a:p>
            <a:pPr marL="8001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1800" baseline="-20833" dirty="0">
              <a:latin typeface="Comic Sans MS"/>
              <a:cs typeface="Comic Sans MS"/>
            </a:endParaRPr>
          </a:p>
          <a:p>
            <a:pPr marL="8001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1800" b="0" dirty="0">
              <a:latin typeface="+mn-lt"/>
              <a:cs typeface="Courier"/>
            </a:endParaRPr>
          </a:p>
        </p:txBody>
      </p:sp>
      <p:cxnSp>
        <p:nvCxnSpPr>
          <p:cNvPr id="22" name="Connettore 1 7"/>
          <p:cNvCxnSpPr/>
          <p:nvPr/>
        </p:nvCxnSpPr>
        <p:spPr>
          <a:xfrm>
            <a:off x="4932040" y="2852936"/>
            <a:ext cx="10801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tangolo 9"/>
          <p:cNvSpPr/>
          <p:nvPr/>
        </p:nvSpPr>
        <p:spPr>
          <a:xfrm>
            <a:off x="5868144" y="5445224"/>
            <a:ext cx="300151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it-IT" sz="2000" b="0" dirty="0" err="1">
                <a:latin typeface="+mn-lt"/>
              </a:rPr>
              <a:t>Corretto</a:t>
            </a:r>
            <a:r>
              <a:rPr lang="en-US" altLang="it-IT" sz="2000" b="0" dirty="0">
                <a:latin typeface="+mn-lt"/>
              </a:rPr>
              <a:t>!</a:t>
            </a:r>
          </a:p>
          <a:p>
            <a:pPr algn="ctr"/>
            <a:r>
              <a:rPr lang="en-US" altLang="it-IT" sz="2000" b="0" dirty="0">
                <a:solidFill>
                  <a:srgbClr val="33CC33"/>
                </a:solidFill>
                <a:latin typeface="+mn-lt"/>
              </a:rPr>
              <a:t>0</a:t>
            </a:r>
            <a:r>
              <a:rPr lang="en-US" altLang="it-IT" sz="2000" b="0" dirty="0">
                <a:latin typeface="+mn-lt"/>
              </a:rPr>
              <a:t>00011</a:t>
            </a:r>
            <a:r>
              <a:rPr lang="en-US" altLang="it-IT" sz="2000" baseline="-25000" dirty="0">
                <a:latin typeface="Courier"/>
                <a:cs typeface="Courier"/>
              </a:rPr>
              <a:t>C2</a:t>
            </a:r>
            <a:r>
              <a:rPr lang="en-US" altLang="it-IT" sz="2000" b="0" dirty="0">
                <a:latin typeface="+mn-lt"/>
              </a:rPr>
              <a:t>= 1+ 2=3 </a:t>
            </a:r>
          </a:p>
          <a:p>
            <a:pPr algn="ctr"/>
            <a:r>
              <a:rPr lang="en-US" altLang="it-IT" sz="2000" b="0" dirty="0">
                <a:latin typeface="+mn-lt"/>
              </a:rPr>
              <a:t>23-20=3</a:t>
            </a:r>
          </a:p>
        </p:txBody>
      </p:sp>
      <p:sp>
        <p:nvSpPr>
          <p:cNvPr id="27" name="Rettangolo 3"/>
          <p:cNvSpPr/>
          <p:nvPr/>
        </p:nvSpPr>
        <p:spPr>
          <a:xfrm>
            <a:off x="1115616" y="4077072"/>
            <a:ext cx="38454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l"/>
            <a:endParaRPr lang="en-US" altLang="it-IT" sz="2400" dirty="0">
              <a:latin typeface="Courier"/>
              <a:cs typeface="Courier"/>
            </a:endParaRPr>
          </a:p>
          <a:p>
            <a:pPr marL="0" lvl="1"/>
            <a:endParaRPr lang="en-US" altLang="it-IT" sz="2400" b="0" dirty="0">
              <a:latin typeface="+mn-lt"/>
            </a:endParaRPr>
          </a:p>
          <a:p>
            <a:pPr marL="0" lvl="1" algn="l"/>
            <a:r>
              <a:rPr lang="en-US" altLang="it-IT" sz="2400" b="0" dirty="0">
                <a:latin typeface="+mn-lt"/>
              </a:rPr>
              <a:t>      		  </a:t>
            </a:r>
            <a:r>
              <a:rPr lang="en-US" altLang="it-IT" sz="2400" dirty="0">
                <a:solidFill>
                  <a:srgbClr val="6666FF"/>
                </a:solidFill>
                <a:latin typeface="Courier"/>
                <a:cs typeface="Courier"/>
              </a:rPr>
              <a:t>111100</a:t>
            </a:r>
          </a:p>
          <a:p>
            <a:pPr marL="0" lvl="1"/>
            <a:r>
              <a:rPr lang="en-US" altLang="it-IT" sz="2400" dirty="0">
                <a:latin typeface="Courier"/>
                <a:cs typeface="Courier"/>
              </a:rPr>
              <a:t>	010111 +</a:t>
            </a:r>
          </a:p>
          <a:p>
            <a:pPr marL="0" lvl="1"/>
            <a:r>
              <a:rPr lang="en-US" altLang="it-IT" sz="2400" dirty="0">
                <a:latin typeface="Courier"/>
                <a:cs typeface="Courier"/>
              </a:rPr>
              <a:t>	</a:t>
            </a:r>
            <a:r>
              <a:rPr lang="en-US" altLang="it-IT" sz="2400" u="sng" dirty="0">
                <a:latin typeface="Courier"/>
                <a:cs typeface="Courier"/>
              </a:rPr>
              <a:t>101100 =</a:t>
            </a:r>
          </a:p>
          <a:p>
            <a:pPr lvl="1" algn="l"/>
            <a:r>
              <a:rPr lang="en-US" altLang="it-IT" sz="2400" dirty="0">
                <a:latin typeface="Courier"/>
                <a:cs typeface="Courier"/>
              </a:rPr>
              <a:t>     	  </a:t>
            </a:r>
            <a:r>
              <a:rPr lang="en-US" altLang="it-IT" sz="2400" dirty="0">
                <a:solidFill>
                  <a:srgbClr val="00B050"/>
                </a:solidFill>
                <a:latin typeface="Courier"/>
                <a:cs typeface="Courier"/>
              </a:rPr>
              <a:t>0</a:t>
            </a:r>
            <a:r>
              <a:rPr lang="en-US" altLang="it-IT" sz="2400" dirty="0">
                <a:latin typeface="Courier"/>
                <a:cs typeface="Courier"/>
              </a:rPr>
              <a:t>00011</a:t>
            </a:r>
            <a:r>
              <a:rPr lang="en-US" altLang="it-IT" sz="2400" dirty="0">
                <a:solidFill>
                  <a:srgbClr val="00B050"/>
                </a:solidFill>
                <a:latin typeface="Courier"/>
                <a:cs typeface="Courier"/>
              </a:rPr>
              <a:t> </a:t>
            </a:r>
            <a:r>
              <a:rPr lang="en-US" altLang="it-IT" sz="2400" dirty="0">
                <a:latin typeface="Courier"/>
                <a:cs typeface="Courier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1496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341784"/>
            <a:ext cx="8356600" cy="1143000"/>
          </a:xfrm>
        </p:spPr>
        <p:txBody>
          <a:bodyPr/>
          <a:lstStyle/>
          <a:p>
            <a:r>
              <a:rPr lang="it-IT" sz="4800" dirty="0"/>
              <a:t>Su </a:t>
            </a:r>
            <a:r>
              <a:rPr lang="it-IT" sz="4800"/>
              <a:t>cosa </a:t>
            </a:r>
            <a:br>
              <a:rPr lang="it-IT" sz="4800"/>
            </a:br>
            <a:r>
              <a:rPr lang="it-IT" sz="4800"/>
              <a:t>ci esercitiamo </a:t>
            </a:r>
            <a:r>
              <a:rPr lang="it-IT" sz="4800" dirty="0"/>
              <a:t>oggi?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700808"/>
            <a:ext cx="8507288" cy="4171950"/>
          </a:xfrm>
        </p:spPr>
        <p:txBody>
          <a:bodyPr/>
          <a:lstStyle/>
          <a:p>
            <a:pPr marL="400050" lvl="1" indent="0">
              <a:buNone/>
            </a:pPr>
            <a:endParaRPr lang="it-IT" sz="2400" dirty="0">
              <a:ea typeface="MS PGothic" charset="-128"/>
            </a:endParaRPr>
          </a:p>
          <a:p>
            <a:pPr marL="457200" indent="-457200">
              <a:buFont typeface="Wingdings" charset="2"/>
              <a:buChar char="Ø"/>
            </a:pPr>
            <a:r>
              <a:rPr lang="it-IT" sz="2800" dirty="0">
                <a:ea typeface="MS PGothic" charset="-128"/>
              </a:rPr>
              <a:t>Notazione in virgola mobile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solidFill>
                  <a:srgbClr val="000000"/>
                </a:solidFill>
                <a:ea typeface="MS PGothic" charset="-128"/>
              </a:rPr>
              <a:t>Standard IEEE 754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solidFill>
                  <a:srgbClr val="000000"/>
                </a:solidFill>
                <a:ea typeface="MS PGothic" charset="-128"/>
              </a:rPr>
              <a:t>Conversioni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solidFill>
                  <a:srgbClr val="000000"/>
                </a:solidFill>
                <a:ea typeface="MS PGothic" charset="-128"/>
              </a:rPr>
              <a:t>Addizione</a:t>
            </a:r>
          </a:p>
        </p:txBody>
      </p:sp>
    </p:spTree>
    <p:extLst>
      <p:ext uri="{BB962C8B-B14F-4D97-AF65-F5344CB8AC3E}">
        <p14:creationId xmlns:p14="http://schemas.microsoft.com/office/powerpoint/2010/main" val="40323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74431" y="1754088"/>
            <a:ext cx="8001000" cy="4267200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Ø"/>
              <a:defRPr/>
            </a:pPr>
            <a:r>
              <a:rPr lang="it-IT" sz="2400" dirty="0">
                <a:cs typeface="ＭＳ Ｐゴシック" charset="0"/>
              </a:rPr>
              <a:t>Quale valore decimale rappresenta la seguente configurazione binaria in formato </a:t>
            </a:r>
            <a:r>
              <a:rPr lang="it-IT" sz="2400" dirty="0">
                <a:solidFill>
                  <a:srgbClr val="0000FF"/>
                </a:solidFill>
                <a:cs typeface="ＭＳ Ｐゴシック" charset="0"/>
              </a:rPr>
              <a:t>IEEE 754?</a:t>
            </a:r>
          </a:p>
          <a:p>
            <a:pPr>
              <a:buFont typeface="Wingdings" charset="2"/>
              <a:buChar char="Ø"/>
              <a:defRPr/>
            </a:pPr>
            <a:endParaRPr lang="it-IT" sz="2275" dirty="0">
              <a:cs typeface="ＭＳ Ｐゴシック" charset="0"/>
            </a:endParaRPr>
          </a:p>
          <a:p>
            <a:pPr marL="0" indent="0" algn="ctr">
              <a:defRPr/>
            </a:pPr>
            <a:r>
              <a:rPr lang="it-IT" sz="2275" i="1" dirty="0">
                <a:solidFill>
                  <a:schemeClr val="accent2"/>
                </a:solidFill>
                <a:cs typeface="ＭＳ Ｐゴシック" charset="0"/>
              </a:rPr>
              <a:t>1</a:t>
            </a:r>
            <a:r>
              <a:rPr lang="it-IT" sz="2275" i="1" dirty="0">
                <a:cs typeface="ＭＳ Ｐゴシック" charset="0"/>
              </a:rPr>
              <a:t> </a:t>
            </a:r>
            <a:r>
              <a:rPr lang="it-IT" sz="2275" i="1" dirty="0">
                <a:solidFill>
                  <a:srgbClr val="33CC33"/>
                </a:solidFill>
                <a:cs typeface="ＭＳ Ｐゴシック" charset="0"/>
              </a:rPr>
              <a:t>10000100</a:t>
            </a:r>
            <a:r>
              <a:rPr lang="it-IT" sz="2275" i="1" dirty="0">
                <a:cs typeface="ＭＳ Ｐゴシック" charset="0"/>
              </a:rPr>
              <a:t> </a:t>
            </a:r>
            <a:r>
              <a:rPr lang="it-IT" sz="2275" i="1" dirty="0">
                <a:solidFill>
                  <a:schemeClr val="accent1"/>
                </a:solidFill>
                <a:cs typeface="ＭＳ Ｐゴシック" charset="0"/>
              </a:rPr>
              <a:t>01000100000000000000000</a:t>
            </a:r>
            <a:endParaRPr lang="it-IT" sz="2275" i="1" baseline="-25000" dirty="0">
              <a:solidFill>
                <a:srgbClr val="000000"/>
              </a:solidFill>
              <a:cs typeface="ＭＳ Ｐゴシック" charset="0"/>
            </a:endParaRPr>
          </a:p>
        </p:txBody>
      </p:sp>
      <p:sp>
        <p:nvSpPr>
          <p:cNvPr id="9220" name="Titolo 1"/>
          <p:cNvSpPr>
            <a:spLocks noGrp="1"/>
          </p:cNvSpPr>
          <p:nvPr>
            <p:ph type="title"/>
          </p:nvPr>
        </p:nvSpPr>
        <p:spPr>
          <a:xfrm>
            <a:off x="608136" y="587152"/>
            <a:ext cx="7926265" cy="609600"/>
          </a:xfrm>
        </p:spPr>
        <p:txBody>
          <a:bodyPr/>
          <a:lstStyle/>
          <a:p>
            <a:r>
              <a:rPr lang="it-IT" sz="4800" dirty="0">
                <a:ea typeface="MS PGothic" charset="0"/>
              </a:rPr>
              <a:t>Esercizio 1</a:t>
            </a:r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86680" y="4077072"/>
            <a:ext cx="8305800" cy="836613"/>
            <a:chOff x="295" y="1252"/>
            <a:chExt cx="5232" cy="527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95" y="1258"/>
              <a:ext cx="288" cy="50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583" y="1258"/>
              <a:ext cx="864" cy="507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 rot="16200000">
              <a:off x="186" y="1399"/>
              <a:ext cx="5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b="0" dirty="0">
                  <a:latin typeface="+mn-lt"/>
                </a:rPr>
                <a:t>Segno</a:t>
              </a: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384" y="1274"/>
              <a:ext cx="1197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800" b="0" dirty="0" err="1">
                  <a:latin typeface="+mn-lt"/>
                </a:rPr>
                <a:t>Esponente</a:t>
              </a:r>
              <a:endParaRPr lang="en-US" sz="1800" b="0" dirty="0">
                <a:latin typeface="+mn-lt"/>
              </a:endParaRPr>
            </a:p>
            <a:p>
              <a:pPr algn="ctr" eaLnBrk="0" hangingPunct="0"/>
              <a:r>
                <a:rPr lang="en-US" sz="1800" b="0" dirty="0">
                  <a:latin typeface="+mn-lt"/>
                </a:rPr>
                <a:t>(8 bit)</a:t>
              </a: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1447" y="1258"/>
              <a:ext cx="4080" cy="50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2763" y="1274"/>
              <a:ext cx="789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000" b="0" dirty="0">
                  <a:latin typeface="+mn-lt"/>
                </a:rPr>
                <a:t>Mantissa</a:t>
              </a:r>
            </a:p>
            <a:p>
              <a:pPr algn="ctr" eaLnBrk="0" hangingPunct="0"/>
              <a:r>
                <a:rPr lang="en-US" sz="2000" b="0" dirty="0">
                  <a:latin typeface="+mn-lt"/>
                </a:rPr>
                <a:t>(23 bit)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006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3546" y="1695152"/>
            <a:ext cx="7996926" cy="4902200"/>
          </a:xfrm>
        </p:spPr>
        <p:txBody>
          <a:bodyPr>
            <a:noAutofit/>
          </a:bodyPr>
          <a:lstStyle/>
          <a:p>
            <a:pPr>
              <a:buClr>
                <a:srgbClr val="00B0F0"/>
              </a:buClr>
            </a:pPr>
            <a:r>
              <a:rPr lang="it-IT" sz="2200" dirty="0">
                <a:ea typeface="MS PGothic" charset="0"/>
              </a:rPr>
              <a:t>Configurazione da convertire:</a:t>
            </a:r>
          </a:p>
          <a:p>
            <a:pPr algn="ctr">
              <a:buFont typeface="Wingdings" charset="0"/>
              <a:buNone/>
            </a:pPr>
            <a:r>
              <a:rPr lang="it-IT" sz="2200" dirty="0">
                <a:solidFill>
                  <a:schemeClr val="accent2"/>
                </a:solidFill>
                <a:ea typeface="MS PGothic" charset="0"/>
              </a:rPr>
              <a:t>1</a:t>
            </a:r>
            <a:r>
              <a:rPr lang="it-IT" sz="2200" dirty="0">
                <a:ea typeface="MS PGothic" charset="0"/>
              </a:rPr>
              <a:t> </a:t>
            </a:r>
            <a:r>
              <a:rPr lang="it-IT" sz="2200" dirty="0">
                <a:solidFill>
                  <a:srgbClr val="33CC33"/>
                </a:solidFill>
                <a:ea typeface="MS PGothic" charset="0"/>
              </a:rPr>
              <a:t>10000100</a:t>
            </a:r>
            <a:r>
              <a:rPr lang="it-IT" sz="2200" dirty="0">
                <a:ea typeface="MS PGothic" charset="0"/>
              </a:rPr>
              <a:t> </a:t>
            </a:r>
            <a:r>
              <a:rPr lang="it-IT" sz="2200" dirty="0">
                <a:solidFill>
                  <a:srgbClr val="FF3300"/>
                </a:solidFill>
                <a:ea typeface="MS PGothic" charset="0"/>
              </a:rPr>
              <a:t>01000100000000000000000</a:t>
            </a:r>
            <a:endParaRPr lang="it-IT" sz="2200" baseline="-25000" dirty="0">
              <a:ea typeface="MS PGothic" charset="0"/>
            </a:endParaRPr>
          </a:p>
          <a:p>
            <a:r>
              <a:rPr lang="it-IT" sz="2200" b="1" dirty="0">
                <a:ea typeface="MS PGothic" charset="0"/>
              </a:rPr>
              <a:t>Segno:</a:t>
            </a:r>
            <a:r>
              <a:rPr lang="it-IT" sz="2200" dirty="0">
                <a:ea typeface="MS PGothic" charset="0"/>
              </a:rPr>
              <a:t> </a:t>
            </a:r>
            <a:r>
              <a:rPr lang="it-IT" sz="2200" dirty="0">
                <a:solidFill>
                  <a:srgbClr val="FFCC00"/>
                </a:solidFill>
                <a:ea typeface="MS PGothic" charset="0"/>
              </a:rPr>
              <a:t>1</a:t>
            </a:r>
            <a:r>
              <a:rPr lang="it-IT" sz="2200" dirty="0">
                <a:ea typeface="MS PGothic" charset="0"/>
              </a:rPr>
              <a:t> </a:t>
            </a:r>
            <a:r>
              <a:rPr lang="it-IT" sz="2200" dirty="0">
                <a:ea typeface="MS PGothic" charset="0"/>
                <a:sym typeface="Wingdings" charset="0"/>
              </a:rPr>
              <a:t></a:t>
            </a:r>
            <a:r>
              <a:rPr lang="it-IT" sz="2200" dirty="0">
                <a:ea typeface="MS PGothic" charset="0"/>
              </a:rPr>
              <a:t> segno -</a:t>
            </a:r>
          </a:p>
          <a:p>
            <a:r>
              <a:rPr lang="it-IT" sz="2200" b="1" dirty="0">
                <a:ea typeface="MS PGothic" charset="0"/>
              </a:rPr>
              <a:t>Esponente</a:t>
            </a:r>
            <a:r>
              <a:rPr lang="it-IT" sz="2200" dirty="0">
                <a:ea typeface="MS PGothic" charset="0"/>
              </a:rPr>
              <a:t> </a:t>
            </a:r>
            <a:r>
              <a:rPr lang="it-IT" sz="2200" dirty="0">
                <a:solidFill>
                  <a:srgbClr val="33CC33"/>
                </a:solidFill>
                <a:ea typeface="MS PGothic" charset="0"/>
              </a:rPr>
              <a:t>10000100</a:t>
            </a:r>
            <a:r>
              <a:rPr lang="it-IT" sz="2200" baseline="-25000" dirty="0">
                <a:solidFill>
                  <a:srgbClr val="000000"/>
                </a:solidFill>
                <a:ea typeface="MS PGothic" charset="0"/>
              </a:rPr>
              <a:t>2</a:t>
            </a:r>
            <a:r>
              <a:rPr lang="it-IT" sz="2200" dirty="0">
                <a:ea typeface="MS PGothic" charset="0"/>
              </a:rPr>
              <a:t> </a:t>
            </a:r>
            <a:r>
              <a:rPr lang="it-IT" sz="2200" dirty="0">
                <a:ea typeface="MS PGothic" charset="0"/>
                <a:sym typeface="Wingdings" charset="0"/>
              </a:rPr>
              <a:t></a:t>
            </a:r>
            <a:r>
              <a:rPr lang="it-IT" sz="2200" dirty="0">
                <a:ea typeface="MS PGothic" charset="0"/>
              </a:rPr>
              <a:t> 2</a:t>
            </a:r>
            <a:r>
              <a:rPr lang="it-IT" sz="2200" b="1" baseline="29000" dirty="0">
                <a:ea typeface="MS PGothic" charset="0"/>
                <a:cs typeface="Courier New" charset="0"/>
              </a:rPr>
              <a:t>7</a:t>
            </a:r>
            <a:r>
              <a:rPr lang="it-IT" sz="2200" dirty="0">
                <a:solidFill>
                  <a:srgbClr val="000000"/>
                </a:solidFill>
                <a:ea typeface="MS PGothic" charset="0"/>
              </a:rPr>
              <a:t>+2</a:t>
            </a:r>
            <a:r>
              <a:rPr lang="it-IT" sz="2200" b="1" baseline="29000" dirty="0">
                <a:solidFill>
                  <a:srgbClr val="000000"/>
                </a:solidFill>
                <a:ea typeface="MS PGothic" charset="0"/>
                <a:cs typeface="Courier New" charset="0"/>
              </a:rPr>
              <a:t>2</a:t>
            </a:r>
            <a:r>
              <a:rPr lang="it-IT" sz="2200" b="1" baseline="29000" dirty="0">
                <a:ea typeface="MS PGothic" charset="0"/>
                <a:cs typeface="Courier New" charset="0"/>
              </a:rPr>
              <a:t> </a:t>
            </a:r>
            <a:r>
              <a:rPr lang="it-IT" sz="2200" b="1" dirty="0">
                <a:ea typeface="MS PGothic" charset="0"/>
                <a:cs typeface="Courier New" charset="0"/>
              </a:rPr>
              <a:t>=</a:t>
            </a:r>
            <a:r>
              <a:rPr lang="it-IT" sz="2200" b="1" baseline="29000" dirty="0">
                <a:ea typeface="MS PGothic" charset="0"/>
                <a:cs typeface="Courier New" charset="0"/>
              </a:rPr>
              <a:t> </a:t>
            </a:r>
            <a:r>
              <a:rPr lang="it-IT" sz="2200" dirty="0">
                <a:ea typeface="MS PGothic" charset="0"/>
              </a:rPr>
              <a:t>128</a:t>
            </a:r>
            <a:r>
              <a:rPr lang="it-IT" sz="2200" baseline="-25000" dirty="0">
                <a:ea typeface="MS PGothic" charset="0"/>
              </a:rPr>
              <a:t>10</a:t>
            </a:r>
            <a:r>
              <a:rPr lang="it-IT" sz="2200" dirty="0">
                <a:ea typeface="MS PGothic" charset="0"/>
              </a:rPr>
              <a:t>+4</a:t>
            </a:r>
            <a:r>
              <a:rPr lang="it-IT" sz="2200" baseline="-25000" dirty="0">
                <a:ea typeface="MS PGothic" charset="0"/>
              </a:rPr>
              <a:t>10</a:t>
            </a:r>
            <a:r>
              <a:rPr lang="it-IT" sz="2200" dirty="0">
                <a:ea typeface="MS PGothic" charset="0"/>
              </a:rPr>
              <a:t> = 132</a:t>
            </a:r>
            <a:r>
              <a:rPr lang="it-IT" sz="2200" baseline="-25000" dirty="0">
                <a:ea typeface="MS PGothic" charset="0"/>
              </a:rPr>
              <a:t>10</a:t>
            </a:r>
          </a:p>
          <a:p>
            <a:r>
              <a:rPr lang="it-IT" sz="2200" dirty="0">
                <a:ea typeface="MS PGothic" charset="0"/>
              </a:rPr>
              <a:t>	e = 132</a:t>
            </a:r>
            <a:r>
              <a:rPr lang="it-IT" sz="2200" baseline="-25000" dirty="0">
                <a:ea typeface="MS PGothic" charset="0"/>
              </a:rPr>
              <a:t>10</a:t>
            </a:r>
            <a:r>
              <a:rPr lang="it-IT" sz="2200" dirty="0">
                <a:ea typeface="MS PGothic" charset="0"/>
              </a:rPr>
              <a:t>  quindi E = 132</a:t>
            </a:r>
            <a:r>
              <a:rPr lang="it-IT" sz="2200" baseline="-25000" dirty="0">
                <a:ea typeface="MS PGothic" charset="0"/>
              </a:rPr>
              <a:t>10</a:t>
            </a:r>
            <a:r>
              <a:rPr lang="it-IT" sz="2200" dirty="0">
                <a:ea typeface="MS PGothic" charset="0"/>
              </a:rPr>
              <a:t>-127</a:t>
            </a:r>
            <a:r>
              <a:rPr lang="it-IT" sz="2200" baseline="-25000" dirty="0">
                <a:ea typeface="MS PGothic" charset="0"/>
              </a:rPr>
              <a:t>10</a:t>
            </a:r>
            <a:r>
              <a:rPr lang="it-IT" sz="2200" dirty="0">
                <a:ea typeface="MS PGothic" charset="0"/>
              </a:rPr>
              <a:t> = 5</a:t>
            </a:r>
            <a:r>
              <a:rPr lang="it-IT" sz="2200" baseline="-25000" dirty="0">
                <a:ea typeface="MS PGothic" charset="0"/>
              </a:rPr>
              <a:t>10</a:t>
            </a:r>
          </a:p>
          <a:p>
            <a:r>
              <a:rPr lang="it-IT" sz="2200" b="1" dirty="0">
                <a:ea typeface="MS PGothic" charset="0"/>
              </a:rPr>
              <a:t>Mantissa</a:t>
            </a:r>
            <a:r>
              <a:rPr lang="it-IT" sz="2200" dirty="0">
                <a:ea typeface="MS PGothic" charset="0"/>
              </a:rPr>
              <a:t> </a:t>
            </a:r>
            <a:r>
              <a:rPr lang="it-IT" sz="2200" dirty="0">
                <a:solidFill>
                  <a:srgbClr val="FF3300"/>
                </a:solidFill>
                <a:ea typeface="MS PGothic" charset="0"/>
              </a:rPr>
              <a:t>01000100000000000000000</a:t>
            </a:r>
            <a:r>
              <a:rPr lang="it-IT" sz="2200" baseline="-25000" dirty="0">
                <a:solidFill>
                  <a:srgbClr val="000000"/>
                </a:solidFill>
                <a:ea typeface="MS PGothic" charset="0"/>
              </a:rPr>
              <a:t>2</a:t>
            </a:r>
            <a:r>
              <a:rPr lang="it-IT" sz="2200" dirty="0">
                <a:ea typeface="MS PGothic" charset="0"/>
              </a:rPr>
              <a:t> </a:t>
            </a:r>
            <a:r>
              <a:rPr lang="it-IT" sz="2200" dirty="0">
                <a:ea typeface="MS PGothic" charset="0"/>
                <a:sym typeface="Wingdings" charset="0"/>
              </a:rPr>
              <a:t> </a:t>
            </a:r>
          </a:p>
          <a:p>
            <a:pPr>
              <a:buFont typeface="Wingdings" charset="0"/>
              <a:buNone/>
            </a:pPr>
            <a:r>
              <a:rPr lang="it-IT" sz="2200" dirty="0">
                <a:ea typeface="MS PGothic" charset="0"/>
                <a:sym typeface="Wingdings" charset="0"/>
              </a:rPr>
              <a:t>		 M = </a:t>
            </a:r>
            <a:r>
              <a:rPr lang="it-IT" sz="2200" dirty="0">
                <a:ea typeface="MS PGothic" charset="0"/>
              </a:rPr>
              <a:t>2</a:t>
            </a:r>
            <a:r>
              <a:rPr lang="it-IT" sz="2200" b="1" baseline="29000" dirty="0">
                <a:ea typeface="MS PGothic" charset="0"/>
                <a:cs typeface="Courier New" charset="0"/>
              </a:rPr>
              <a:t>-2</a:t>
            </a:r>
            <a:r>
              <a:rPr lang="it-IT" sz="2200" dirty="0">
                <a:ea typeface="MS PGothic" charset="0"/>
              </a:rPr>
              <a:t>+</a:t>
            </a:r>
            <a:r>
              <a:rPr lang="it-IT" sz="2200" dirty="0">
                <a:solidFill>
                  <a:srgbClr val="000000"/>
                </a:solidFill>
                <a:ea typeface="MS PGothic" charset="0"/>
              </a:rPr>
              <a:t>2</a:t>
            </a:r>
            <a:r>
              <a:rPr lang="it-IT" sz="2200" b="1" baseline="29000" dirty="0">
                <a:solidFill>
                  <a:srgbClr val="000000"/>
                </a:solidFill>
                <a:ea typeface="MS PGothic" charset="0"/>
                <a:cs typeface="Courier New" charset="0"/>
              </a:rPr>
              <a:t>-6</a:t>
            </a:r>
            <a:r>
              <a:rPr lang="it-IT" sz="2200" b="1" dirty="0">
                <a:solidFill>
                  <a:srgbClr val="000000"/>
                </a:solidFill>
                <a:ea typeface="MS PGothic" charset="0"/>
                <a:cs typeface="Courier New" charset="0"/>
              </a:rPr>
              <a:t> </a:t>
            </a:r>
            <a:r>
              <a:rPr lang="it-IT" sz="2200" dirty="0">
                <a:ea typeface="MS PGothic" charset="0"/>
              </a:rPr>
              <a:t>= 0,25</a:t>
            </a:r>
            <a:r>
              <a:rPr lang="it-IT" sz="2200" baseline="-25000" dirty="0">
                <a:ea typeface="MS PGothic" charset="0"/>
              </a:rPr>
              <a:t>10</a:t>
            </a:r>
            <a:r>
              <a:rPr lang="it-IT" sz="2200" dirty="0">
                <a:ea typeface="MS PGothic" charset="0"/>
              </a:rPr>
              <a:t>+0,015625</a:t>
            </a:r>
            <a:r>
              <a:rPr lang="it-IT" sz="2200" baseline="-25000" dirty="0">
                <a:ea typeface="MS PGothic" charset="0"/>
              </a:rPr>
              <a:t>10</a:t>
            </a:r>
            <a:r>
              <a:rPr lang="it-IT" sz="2200" dirty="0">
                <a:ea typeface="MS PGothic" charset="0"/>
              </a:rPr>
              <a:t> = 0,265625</a:t>
            </a:r>
            <a:r>
              <a:rPr lang="it-IT" sz="2200" baseline="-25000" dirty="0">
                <a:ea typeface="MS PGothic" charset="0"/>
              </a:rPr>
              <a:t>10</a:t>
            </a:r>
          </a:p>
          <a:p>
            <a:r>
              <a:rPr lang="it-IT" sz="2200" dirty="0">
                <a:ea typeface="MS PGothic" charset="0"/>
              </a:rPr>
              <a:t>Pertanto il valore decimale è dato da:</a:t>
            </a:r>
          </a:p>
          <a:p>
            <a:r>
              <a:rPr lang="it-IT" sz="2200" dirty="0">
                <a:ea typeface="MS PGothic" charset="0"/>
              </a:rPr>
              <a:t>	</a:t>
            </a:r>
            <a:r>
              <a:rPr lang="it-IT" sz="2400" dirty="0" err="1">
                <a:latin typeface="Comic Sans MS" charset="0"/>
                <a:ea typeface="MS PGothic" charset="0"/>
              </a:rPr>
              <a:t>N</a:t>
            </a:r>
            <a:r>
              <a:rPr lang="it-IT" sz="2400" dirty="0">
                <a:latin typeface="Comic Sans MS" charset="0"/>
                <a:ea typeface="MS PGothic" charset="0"/>
              </a:rPr>
              <a:t> = (-1)</a:t>
            </a:r>
            <a:r>
              <a:rPr lang="it-IT" sz="2400" baseline="30000" dirty="0" err="1">
                <a:solidFill>
                  <a:schemeClr val="accent2"/>
                </a:solidFill>
                <a:latin typeface="Comic Sans MS" charset="0"/>
                <a:ea typeface="MS PGothic" charset="0"/>
              </a:rPr>
              <a:t>s</a:t>
            </a:r>
            <a:r>
              <a:rPr lang="it-IT" sz="2400" baseline="30000" dirty="0">
                <a:solidFill>
                  <a:schemeClr val="accent2"/>
                </a:solidFill>
                <a:latin typeface="Comic Sans MS" charset="0"/>
                <a:ea typeface="MS PGothic" charset="0"/>
              </a:rPr>
              <a:t> </a:t>
            </a:r>
            <a:r>
              <a:rPr lang="it-IT" sz="2400" dirty="0">
                <a:latin typeface="Comic Sans MS" charset="0"/>
                <a:ea typeface="MS PGothic" charset="0"/>
              </a:rPr>
              <a:t>x (1+</a:t>
            </a:r>
            <a:r>
              <a:rPr lang="it-IT" sz="2400" dirty="0">
                <a:solidFill>
                  <a:srgbClr val="FF6600"/>
                </a:solidFill>
                <a:latin typeface="Comic Sans MS" charset="0"/>
                <a:ea typeface="MS PGothic" charset="0"/>
              </a:rPr>
              <a:t>M</a:t>
            </a:r>
            <a:r>
              <a:rPr lang="it-IT" sz="2400" dirty="0">
                <a:solidFill>
                  <a:srgbClr val="000000"/>
                </a:solidFill>
                <a:latin typeface="Comic Sans MS" charset="0"/>
                <a:ea typeface="MS PGothic" charset="0"/>
              </a:rPr>
              <a:t>)</a:t>
            </a:r>
            <a:r>
              <a:rPr lang="it-IT" sz="2400" dirty="0">
                <a:solidFill>
                  <a:srgbClr val="FF3300"/>
                </a:solidFill>
                <a:latin typeface="Comic Sans MS" charset="0"/>
                <a:ea typeface="MS PGothic" charset="0"/>
              </a:rPr>
              <a:t> </a:t>
            </a:r>
            <a:r>
              <a:rPr lang="it-IT" sz="2400" dirty="0">
                <a:latin typeface="Comic Sans MS" charset="0"/>
                <a:ea typeface="MS PGothic" charset="0"/>
                <a:sym typeface="Symbol" charset="0"/>
              </a:rPr>
              <a:t>x</a:t>
            </a:r>
            <a:r>
              <a:rPr lang="it-IT" sz="2400" dirty="0">
                <a:latin typeface="Comic Sans MS" charset="0"/>
                <a:ea typeface="MS PGothic" charset="0"/>
              </a:rPr>
              <a:t> </a:t>
            </a:r>
            <a:r>
              <a:rPr lang="it-IT" sz="2400" dirty="0">
                <a:solidFill>
                  <a:srgbClr val="33CC33"/>
                </a:solidFill>
                <a:latin typeface="Comic Sans MS" charset="0"/>
                <a:ea typeface="MS PGothic" charset="0"/>
              </a:rPr>
              <a:t>2</a:t>
            </a:r>
            <a:r>
              <a:rPr lang="it-IT" sz="2400" baseline="30000" dirty="0">
                <a:solidFill>
                  <a:srgbClr val="33CC33"/>
                </a:solidFill>
                <a:latin typeface="Comic Sans MS" charset="0"/>
                <a:ea typeface="MS PGothic" charset="0"/>
              </a:rPr>
              <a:t>E </a:t>
            </a:r>
            <a:r>
              <a:rPr lang="it-IT" sz="2400" i="1" baseline="30000" dirty="0">
                <a:latin typeface="Comic Sans MS" charset="0"/>
                <a:ea typeface="MS PGothic" charset="0"/>
              </a:rPr>
              <a:t> </a:t>
            </a:r>
            <a:r>
              <a:rPr lang="it-IT" sz="2200" dirty="0">
                <a:ea typeface="MS PGothic" charset="0"/>
              </a:rPr>
              <a:t>= -1 x 1,265625</a:t>
            </a:r>
            <a:r>
              <a:rPr lang="it-IT" sz="2200" baseline="-25000" dirty="0">
                <a:ea typeface="MS PGothic" charset="0"/>
              </a:rPr>
              <a:t>10</a:t>
            </a:r>
            <a:r>
              <a:rPr lang="it-IT" sz="2200" dirty="0">
                <a:ea typeface="MS PGothic" charset="0"/>
              </a:rPr>
              <a:t> x 2</a:t>
            </a:r>
            <a:r>
              <a:rPr lang="it-IT" sz="2200" b="1" baseline="29000" dirty="0">
                <a:ea typeface="MS PGothic" charset="0"/>
                <a:cs typeface="Courier New" charset="0"/>
              </a:rPr>
              <a:t>5 </a:t>
            </a:r>
            <a:r>
              <a:rPr lang="it-IT" sz="2200" dirty="0">
                <a:ea typeface="MS PGothic" charset="0"/>
              </a:rPr>
              <a:t>= </a:t>
            </a:r>
            <a:r>
              <a:rPr lang="it-IT" sz="2200" b="1" dirty="0">
                <a:solidFill>
                  <a:srgbClr val="FF0000"/>
                </a:solidFill>
                <a:ea typeface="MS PGothic" charset="0"/>
              </a:rPr>
              <a:t>-40,5</a:t>
            </a:r>
            <a:r>
              <a:rPr lang="it-IT" sz="1000" b="1" dirty="0">
                <a:solidFill>
                  <a:srgbClr val="FF0000"/>
                </a:solidFill>
                <a:ea typeface="MS PGothic" charset="0"/>
              </a:rPr>
              <a:t>10</a:t>
            </a:r>
          </a:p>
        </p:txBody>
      </p:sp>
      <p:sp>
        <p:nvSpPr>
          <p:cNvPr id="10244" name="Titolo 1"/>
          <p:cNvSpPr>
            <a:spLocks noGrp="1"/>
          </p:cNvSpPr>
          <p:nvPr>
            <p:ph type="title"/>
          </p:nvPr>
        </p:nvSpPr>
        <p:spPr>
          <a:xfrm>
            <a:off x="608136" y="587152"/>
            <a:ext cx="7926265" cy="609600"/>
          </a:xfrm>
        </p:spPr>
        <p:txBody>
          <a:bodyPr/>
          <a:lstStyle/>
          <a:p>
            <a:r>
              <a:rPr lang="it-IT" sz="4800" dirty="0">
                <a:ea typeface="MS PGothic" charset="0"/>
              </a:rPr>
              <a:t>Esercizio 1: Soluzione</a:t>
            </a:r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658688" y="5472707"/>
            <a:ext cx="8305800" cy="836613"/>
            <a:chOff x="295" y="1252"/>
            <a:chExt cx="5232" cy="527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95" y="1258"/>
              <a:ext cx="288" cy="50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583" y="1258"/>
              <a:ext cx="864" cy="507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 rot="16200000">
              <a:off x="186" y="1399"/>
              <a:ext cx="5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b="0" dirty="0">
                  <a:latin typeface="+mn-lt"/>
                </a:rPr>
                <a:t>Segno</a:t>
              </a: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384" y="1274"/>
              <a:ext cx="1197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800" b="0" dirty="0" err="1">
                  <a:latin typeface="+mn-lt"/>
                </a:rPr>
                <a:t>Esponente</a:t>
              </a:r>
              <a:endParaRPr lang="en-US" sz="1800" b="0" dirty="0">
                <a:latin typeface="+mn-lt"/>
              </a:endParaRPr>
            </a:p>
            <a:p>
              <a:pPr algn="ctr" eaLnBrk="0" hangingPunct="0"/>
              <a:r>
                <a:rPr lang="en-US" sz="1800" b="0" dirty="0">
                  <a:latin typeface="+mn-lt"/>
                </a:rPr>
                <a:t>(8 bit)</a:t>
              </a: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1447" y="1258"/>
              <a:ext cx="4080" cy="50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2763" y="1274"/>
              <a:ext cx="789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000" b="0" dirty="0">
                  <a:latin typeface="+mn-lt"/>
                </a:rPr>
                <a:t>Mantissa</a:t>
              </a:r>
            </a:p>
            <a:p>
              <a:pPr algn="ctr" eaLnBrk="0" hangingPunct="0"/>
              <a:r>
                <a:rPr lang="en-US" sz="2000" b="0" dirty="0">
                  <a:latin typeface="+mn-lt"/>
                </a:rPr>
                <a:t>(23 bit)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71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30116" y="1898104"/>
            <a:ext cx="7945315" cy="4267200"/>
          </a:xfrm>
        </p:spPr>
        <p:txBody>
          <a:bodyPr>
            <a:normAutofit/>
          </a:bodyPr>
          <a:lstStyle/>
          <a:p>
            <a:pPr algn="just">
              <a:buFont typeface="Wingdings" charset="2"/>
              <a:buChar char="Ø"/>
              <a:defRPr/>
            </a:pPr>
            <a:r>
              <a:rPr lang="it-IT" sz="2275" dirty="0">
                <a:cs typeface="ＭＳ Ｐゴシック" charset="0"/>
              </a:rPr>
              <a:t>Convertire il numero 23,375</a:t>
            </a:r>
            <a:r>
              <a:rPr lang="it-IT" sz="2275" baseline="-25000" dirty="0">
                <a:cs typeface="ＭＳ Ｐゴシック" charset="0"/>
              </a:rPr>
              <a:t>10</a:t>
            </a:r>
            <a:r>
              <a:rPr lang="it-IT" sz="2275" b="1" dirty="0">
                <a:cs typeface="ＭＳ Ｐゴシック" charset="0"/>
              </a:rPr>
              <a:t> </a:t>
            </a:r>
            <a:r>
              <a:rPr lang="it-IT" sz="2275" dirty="0">
                <a:cs typeface="ＭＳ Ｐゴシック" charset="0"/>
              </a:rPr>
              <a:t>in formato a virgola mobile </a:t>
            </a:r>
            <a:r>
              <a:rPr lang="it-IT" sz="2275" dirty="0">
                <a:solidFill>
                  <a:srgbClr val="0000FF"/>
                </a:solidFill>
                <a:cs typeface="ＭＳ Ｐゴシック" charset="0"/>
              </a:rPr>
              <a:t>IEEE 754 (precisione singola) </a:t>
            </a:r>
            <a:r>
              <a:rPr lang="it-IT" sz="2275" dirty="0">
                <a:cs typeface="ＭＳ Ｐゴシック" charset="0"/>
              </a:rPr>
              <a:t>ed  esprimere il risultato in esadecimale</a:t>
            </a:r>
          </a:p>
        </p:txBody>
      </p:sp>
      <p:sp>
        <p:nvSpPr>
          <p:cNvPr id="24580" name="Titolo 1"/>
          <p:cNvSpPr>
            <a:spLocks noGrp="1"/>
          </p:cNvSpPr>
          <p:nvPr>
            <p:ph type="title"/>
          </p:nvPr>
        </p:nvSpPr>
        <p:spPr>
          <a:xfrm>
            <a:off x="608136" y="659160"/>
            <a:ext cx="7926265" cy="609600"/>
          </a:xfrm>
        </p:spPr>
        <p:txBody>
          <a:bodyPr/>
          <a:lstStyle/>
          <a:p>
            <a:r>
              <a:rPr lang="it-IT" sz="4800" dirty="0">
                <a:ea typeface="MS PGothic" charset="0"/>
              </a:rPr>
              <a:t>Esercizio 4</a:t>
            </a:r>
          </a:p>
        </p:txBody>
      </p:sp>
    </p:spTree>
    <p:extLst>
      <p:ext uri="{BB962C8B-B14F-4D97-AF65-F5344CB8AC3E}">
        <p14:creationId xmlns:p14="http://schemas.microsoft.com/office/powerpoint/2010/main" val="2514278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39552" y="1772816"/>
            <a:ext cx="8640960" cy="3725863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it-IT" sz="2400" dirty="0">
                <a:ea typeface="MS PGothic" charset="0"/>
              </a:rPr>
              <a:t>Prendiamo in considerazione il numero decimale: </a:t>
            </a:r>
            <a:br>
              <a:rPr lang="it-IT" sz="2400" dirty="0">
                <a:ea typeface="MS PGothic" charset="0"/>
              </a:rPr>
            </a:br>
            <a:r>
              <a:rPr lang="it-IT" sz="2400" dirty="0" err="1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N</a:t>
            </a:r>
            <a:r>
              <a:rPr lang="it-IT" sz="24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 = 23,375</a:t>
            </a:r>
            <a:r>
              <a:rPr lang="it-IT" sz="8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10</a:t>
            </a:r>
          </a:p>
        </p:txBody>
      </p:sp>
      <p:sp>
        <p:nvSpPr>
          <p:cNvPr id="26628" name="Titolo 1"/>
          <p:cNvSpPr>
            <a:spLocks noGrp="1"/>
          </p:cNvSpPr>
          <p:nvPr>
            <p:ph type="title"/>
          </p:nvPr>
        </p:nvSpPr>
        <p:spPr>
          <a:xfrm>
            <a:off x="608136" y="587152"/>
            <a:ext cx="7926265" cy="609600"/>
          </a:xfrm>
        </p:spPr>
        <p:txBody>
          <a:bodyPr/>
          <a:lstStyle/>
          <a:p>
            <a:r>
              <a:rPr lang="it-IT" sz="4800" dirty="0">
                <a:ea typeface="MS PGothic" charset="0"/>
              </a:rPr>
              <a:t>Esercizio 4: Soluzione</a:t>
            </a:r>
          </a:p>
        </p:txBody>
      </p:sp>
    </p:spTree>
    <p:extLst>
      <p:ext uri="{BB962C8B-B14F-4D97-AF65-F5344CB8AC3E}">
        <p14:creationId xmlns:p14="http://schemas.microsoft.com/office/powerpoint/2010/main" val="2176160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98282" y="1719361"/>
            <a:ext cx="7469065" cy="3725863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it-IT" sz="2400" dirty="0">
                <a:ea typeface="MS PGothic" charset="0"/>
              </a:rPr>
              <a:t>Prendiamo in considerazione il numero decimale: </a:t>
            </a:r>
            <a:br>
              <a:rPr lang="it-IT" sz="2400" dirty="0">
                <a:ea typeface="MS PGothic" charset="0"/>
              </a:rPr>
            </a:br>
            <a:r>
              <a:rPr lang="it-IT" sz="2400" dirty="0" err="1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N</a:t>
            </a:r>
            <a:r>
              <a:rPr lang="it-IT" sz="24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 = 23,375</a:t>
            </a:r>
            <a:r>
              <a:rPr lang="it-IT" sz="8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10</a:t>
            </a:r>
          </a:p>
          <a:p>
            <a:endParaRPr lang="it-IT" sz="600" dirty="0">
              <a:solidFill>
                <a:srgbClr val="404040"/>
              </a:solidFill>
              <a:effectLst>
                <a:outerShdw blurRad="38100" dist="38100" dir="2700000" algn="tl">
                  <a:srgbClr val="DDDDDD"/>
                </a:outerShdw>
              </a:effectLst>
              <a:ea typeface="MS PGothic" charset="0"/>
            </a:endParaRPr>
          </a:p>
          <a:p>
            <a:r>
              <a:rPr lang="it-IT" sz="2400" dirty="0">
                <a:ea typeface="MS PGothic" charset="0"/>
              </a:rPr>
              <a:t>1) </a:t>
            </a:r>
            <a:r>
              <a:rPr lang="it-IT" sz="2400" dirty="0">
                <a:solidFill>
                  <a:srgbClr val="CC0000"/>
                </a:solidFill>
                <a:ea typeface="MS PGothic" charset="0"/>
              </a:rPr>
              <a:t>Determiniamo il segno</a:t>
            </a:r>
            <a:r>
              <a:rPr lang="it-IT" sz="2400" dirty="0">
                <a:ea typeface="MS PGothic" charset="0"/>
              </a:rPr>
              <a:t>: poiché il numero è positivo, poniamo </a:t>
            </a:r>
            <a:r>
              <a:rPr lang="it-IT" sz="2400" b="1" dirty="0" err="1">
                <a:solidFill>
                  <a:schemeClr val="accent2"/>
                </a:solidFill>
                <a:ea typeface="MS PGothic" charset="0"/>
              </a:rPr>
              <a:t>s</a:t>
            </a:r>
            <a:r>
              <a:rPr lang="it-IT" sz="2400" b="1" dirty="0">
                <a:solidFill>
                  <a:schemeClr val="accent2"/>
                </a:solidFill>
                <a:ea typeface="MS PGothic" charset="0"/>
              </a:rPr>
              <a:t> = 0</a:t>
            </a:r>
            <a:endParaRPr lang="it-IT" sz="2400" dirty="0">
              <a:ea typeface="MS PGothic" charset="0"/>
            </a:endParaRPr>
          </a:p>
        </p:txBody>
      </p:sp>
      <p:sp>
        <p:nvSpPr>
          <p:cNvPr id="5" name="Titolo 1"/>
          <p:cNvSpPr>
            <a:spLocks noGrp="1"/>
          </p:cNvSpPr>
          <p:nvPr>
            <p:ph type="title"/>
          </p:nvPr>
        </p:nvSpPr>
        <p:spPr>
          <a:xfrm>
            <a:off x="608136" y="587152"/>
            <a:ext cx="7926265" cy="609600"/>
          </a:xfrm>
        </p:spPr>
        <p:txBody>
          <a:bodyPr/>
          <a:lstStyle/>
          <a:p>
            <a:r>
              <a:rPr lang="it-IT" sz="4800" dirty="0">
                <a:ea typeface="MS PGothic" charset="0"/>
              </a:rPr>
              <a:t>Esercizio 4: Soluzione</a:t>
            </a:r>
          </a:p>
        </p:txBody>
      </p:sp>
    </p:spTree>
    <p:extLst>
      <p:ext uri="{BB962C8B-B14F-4D97-AF65-F5344CB8AC3E}">
        <p14:creationId xmlns:p14="http://schemas.microsoft.com/office/powerpoint/2010/main" val="3008260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98282" y="1575345"/>
            <a:ext cx="7469065" cy="3725863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it-IT" sz="2400" dirty="0">
                <a:ea typeface="MS PGothic" charset="0"/>
              </a:rPr>
              <a:t>Prendiamo in considerazione il numero decimale:</a:t>
            </a:r>
          </a:p>
          <a:p>
            <a:pPr>
              <a:buClr>
                <a:srgbClr val="00B0F0"/>
              </a:buClr>
            </a:pPr>
            <a:r>
              <a:rPr lang="it-IT" sz="24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	</a:t>
            </a:r>
            <a:r>
              <a:rPr lang="it-IT" sz="2400" dirty="0" err="1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N</a:t>
            </a:r>
            <a:r>
              <a:rPr lang="it-IT" sz="24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 = 23,375</a:t>
            </a:r>
            <a:r>
              <a:rPr lang="it-IT" sz="8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10</a:t>
            </a:r>
          </a:p>
          <a:p>
            <a:r>
              <a:rPr lang="it-IT" sz="2400" dirty="0">
                <a:ea typeface="MS PGothic" charset="0"/>
              </a:rPr>
              <a:t>2) </a:t>
            </a:r>
            <a:r>
              <a:rPr lang="it-IT" sz="2400" dirty="0">
                <a:solidFill>
                  <a:srgbClr val="CC0000"/>
                </a:solidFill>
                <a:ea typeface="MS PGothic" charset="0"/>
              </a:rPr>
              <a:t>Convertiamo la parte intera</a:t>
            </a:r>
            <a:r>
              <a:rPr lang="it-IT" sz="2400" dirty="0">
                <a:ea typeface="MS PGothic" charset="0"/>
              </a:rPr>
              <a:t>:</a:t>
            </a:r>
          </a:p>
        </p:txBody>
      </p:sp>
      <p:sp>
        <p:nvSpPr>
          <p:cNvPr id="6" name="Titolo 1"/>
          <p:cNvSpPr>
            <a:spLocks noGrp="1"/>
          </p:cNvSpPr>
          <p:nvPr>
            <p:ph type="title"/>
          </p:nvPr>
        </p:nvSpPr>
        <p:spPr>
          <a:xfrm>
            <a:off x="608136" y="587152"/>
            <a:ext cx="7926265" cy="609600"/>
          </a:xfrm>
        </p:spPr>
        <p:txBody>
          <a:bodyPr/>
          <a:lstStyle/>
          <a:p>
            <a:r>
              <a:rPr lang="it-IT" sz="4800" dirty="0">
                <a:ea typeface="MS PGothic" charset="0"/>
              </a:rPr>
              <a:t>Esercizio 4: Soluzione </a:t>
            </a:r>
          </a:p>
        </p:txBody>
      </p:sp>
      <p:grpSp>
        <p:nvGrpSpPr>
          <p:cNvPr id="8" name="Gruppo 38"/>
          <p:cNvGrpSpPr/>
          <p:nvPr/>
        </p:nvGrpSpPr>
        <p:grpSpPr>
          <a:xfrm>
            <a:off x="1115616" y="3861048"/>
            <a:ext cx="7488832" cy="2113068"/>
            <a:chOff x="2545527" y="2519659"/>
            <a:chExt cx="7488832" cy="2325047"/>
          </a:xfrm>
        </p:grpSpPr>
        <p:sp>
          <p:nvSpPr>
            <p:cNvPr id="9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/>
            <p:cNvSpPr txBox="1"/>
            <p:nvPr/>
          </p:nvSpPr>
          <p:spPr>
            <a:xfrm>
              <a:off x="2756823" y="2519659"/>
              <a:ext cx="391795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23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2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/>
            <p:cNvSpPr txBox="1"/>
            <p:nvPr/>
          </p:nvSpPr>
          <p:spPr>
            <a:xfrm>
              <a:off x="3481631" y="2519659"/>
              <a:ext cx="4032448" cy="195289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11	</a:t>
              </a:r>
              <a:r>
                <a:rPr sz="2400" dirty="0">
                  <a:latin typeface="Comic Sans MS"/>
                  <a:cs typeface="Comic Sans MS"/>
                </a:rPr>
                <a:t>2</a:t>
              </a:r>
              <a:endParaRPr lang="it-IT" sz="2400" dirty="0">
                <a:latin typeface="Comic Sans MS"/>
                <a:cs typeface="Comic Sans MS"/>
              </a:endParaRP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5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2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6073919" y="3591480"/>
              <a:ext cx="211454" cy="119092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1</a:t>
              </a:r>
              <a:endParaRPr sz="2400" dirty="0"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20" name="object 24"/>
            <p:cNvSpPr/>
            <p:nvPr/>
          </p:nvSpPr>
          <p:spPr>
            <a:xfrm>
              <a:off x="2545527" y="3528905"/>
              <a:ext cx="3600400" cy="1315801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6"/>
            <p:cNvSpPr txBox="1"/>
            <p:nvPr/>
          </p:nvSpPr>
          <p:spPr>
            <a:xfrm>
              <a:off x="7226047" y="2915818"/>
              <a:ext cx="2808312" cy="40638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23</a:t>
              </a:r>
              <a:r>
                <a:rPr lang="it-IT" sz="2400" baseline="-20833" dirty="0">
                  <a:solidFill>
                    <a:srgbClr val="0000FF"/>
                  </a:solidFill>
                  <a:latin typeface="Comic Sans MS"/>
                  <a:cs typeface="Comic Sans MS"/>
                </a:rPr>
                <a:t>10</a:t>
              </a:r>
              <a:r>
                <a:rPr sz="2400" baseline="-20833" dirty="0">
                  <a:solidFill>
                    <a:srgbClr val="0000FF"/>
                  </a:solidFill>
                  <a:latin typeface="Comic Sans MS"/>
                  <a:cs typeface="Comic Sans MS"/>
                </a:rPr>
                <a:t> </a:t>
              </a:r>
              <a:r>
                <a:rPr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=</a:t>
              </a:r>
              <a:r>
                <a:rPr sz="2400" spc="145" dirty="0">
                  <a:solidFill>
                    <a:srgbClr val="0000FF"/>
                  </a:solidFill>
                  <a:latin typeface="Comic Sans MS"/>
                  <a:cs typeface="Comic Sans MS"/>
                </a:rPr>
                <a:t> </a:t>
              </a:r>
              <a:r>
                <a:rPr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0111</a:t>
              </a:r>
              <a:r>
                <a:rPr lang="it-IT" sz="2400" baseline="-20833" dirty="0">
                  <a:solidFill>
                    <a:srgbClr val="0000FF"/>
                  </a:solidFill>
                  <a:latin typeface="Comic Sans MS"/>
                  <a:cs typeface="Comic Sans MS"/>
                </a:rPr>
                <a:t>2</a:t>
              </a:r>
              <a:endParaRPr sz="2400" baseline="-20833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</p:grpSp>
      <p:sp>
        <p:nvSpPr>
          <p:cNvPr id="22" name="object 14"/>
          <p:cNvSpPr/>
          <p:nvPr/>
        </p:nvSpPr>
        <p:spPr>
          <a:xfrm>
            <a:off x="5364088" y="5254036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5"/>
          <p:cNvSpPr/>
          <p:nvPr/>
        </p:nvSpPr>
        <p:spPr>
          <a:xfrm>
            <a:off x="5389984" y="5542068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/>
          <p:cNvSpPr txBox="1"/>
          <p:nvPr/>
        </p:nvSpPr>
        <p:spPr>
          <a:xfrm>
            <a:off x="5508104" y="5226973"/>
            <a:ext cx="211454" cy="1082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  <a:r>
              <a:rPr lang="it-IT" sz="2400" dirty="0">
                <a:latin typeface="Comic Sans MS"/>
                <a:cs typeface="Comic Sans MS"/>
              </a:rPr>
              <a:t>0</a:t>
            </a:r>
            <a:endParaRPr sz="2400" dirty="0"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33923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98282" y="1550689"/>
            <a:ext cx="7922190" cy="5046663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it-IT" sz="2400" dirty="0">
                <a:ea typeface="MS PGothic" charset="0"/>
              </a:rPr>
              <a:t>Prendiamo in considerazione il numero decimale: </a:t>
            </a:r>
            <a:br>
              <a:rPr lang="it-IT" sz="2400" dirty="0">
                <a:ea typeface="MS PGothic" charset="0"/>
              </a:rPr>
            </a:br>
            <a:r>
              <a:rPr lang="it-IT" sz="2400" dirty="0" err="1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N</a:t>
            </a:r>
            <a:r>
              <a:rPr lang="it-IT" sz="24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 = 23,375</a:t>
            </a:r>
            <a:r>
              <a:rPr lang="it-IT" sz="8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10</a:t>
            </a:r>
          </a:p>
          <a:p>
            <a:pPr algn="just"/>
            <a:r>
              <a:rPr lang="it-IT" sz="2400" dirty="0">
                <a:ea typeface="MS PGothic" charset="0"/>
              </a:rPr>
              <a:t>3) </a:t>
            </a:r>
            <a:r>
              <a:rPr lang="it-IT" sz="2400" dirty="0">
                <a:solidFill>
                  <a:srgbClr val="CC0000"/>
                </a:solidFill>
                <a:ea typeface="MS PGothic" charset="0"/>
              </a:rPr>
              <a:t>Convertiamo la parte frazionaria</a:t>
            </a:r>
            <a:r>
              <a:rPr lang="it-IT" sz="2400" dirty="0">
                <a:ea typeface="MS PGothic" charset="0"/>
              </a:rPr>
              <a:t>:</a:t>
            </a:r>
          </a:p>
        </p:txBody>
      </p:sp>
      <p:sp>
        <p:nvSpPr>
          <p:cNvPr id="6" name="Titolo 1"/>
          <p:cNvSpPr>
            <a:spLocks noGrp="1"/>
          </p:cNvSpPr>
          <p:nvPr>
            <p:ph type="title"/>
          </p:nvPr>
        </p:nvSpPr>
        <p:spPr>
          <a:xfrm>
            <a:off x="608136" y="587152"/>
            <a:ext cx="7926265" cy="609600"/>
          </a:xfrm>
        </p:spPr>
        <p:txBody>
          <a:bodyPr/>
          <a:lstStyle/>
          <a:p>
            <a:r>
              <a:rPr lang="it-IT" sz="4800" dirty="0">
                <a:ea typeface="MS PGothic" charset="0"/>
              </a:rPr>
              <a:t>Esercizio 4: Soluzione 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6228184" y="4725144"/>
            <a:ext cx="30243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it-IT" altLang="it-IT" sz="2400" dirty="0">
                <a:solidFill>
                  <a:srgbClr val="FF3300"/>
                </a:solidFill>
                <a:latin typeface="+mn-lt"/>
              </a:rPr>
              <a:t>0,375</a:t>
            </a:r>
            <a:r>
              <a:rPr lang="it-IT" altLang="it-IT" sz="2400" baseline="-25000" dirty="0">
                <a:solidFill>
                  <a:srgbClr val="FF3300"/>
                </a:solidFill>
                <a:latin typeface="+mn-lt"/>
              </a:rPr>
              <a:t>10</a:t>
            </a:r>
            <a:r>
              <a:rPr lang="it-IT" altLang="it-IT" sz="2400" dirty="0">
                <a:solidFill>
                  <a:srgbClr val="FF3300"/>
                </a:solidFill>
                <a:latin typeface="+mn-lt"/>
              </a:rPr>
              <a:t> = 0,011</a:t>
            </a:r>
            <a:r>
              <a:rPr lang="it-IT" altLang="it-IT" sz="2400" baseline="-25000" dirty="0">
                <a:solidFill>
                  <a:srgbClr val="FF3300"/>
                </a:solidFill>
                <a:latin typeface="+mn-lt"/>
              </a:rPr>
              <a:t>2</a:t>
            </a:r>
            <a:endParaRPr lang="it-IT" altLang="it-IT" sz="2400" dirty="0">
              <a:solidFill>
                <a:srgbClr val="FF3300"/>
              </a:solidFill>
              <a:latin typeface="+mn-lt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835696" y="5445224"/>
            <a:ext cx="54726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it-IT" altLang="it-IT" sz="2400" dirty="0">
                <a:solidFill>
                  <a:srgbClr val="0000FF"/>
                </a:solidFill>
                <a:latin typeface="+mn-lt"/>
              </a:rPr>
              <a:t>Quindi 23</a:t>
            </a:r>
            <a:r>
              <a:rPr lang="it-IT" altLang="it-IT" sz="2400" dirty="0">
                <a:latin typeface="+mn-lt"/>
              </a:rPr>
              <a:t>,</a:t>
            </a:r>
            <a:r>
              <a:rPr lang="it-IT" altLang="it-IT" sz="2400" dirty="0">
                <a:solidFill>
                  <a:srgbClr val="FF3300"/>
                </a:solidFill>
                <a:latin typeface="+mn-lt"/>
              </a:rPr>
              <a:t>375</a:t>
            </a:r>
            <a:r>
              <a:rPr lang="it-IT" altLang="it-IT" sz="2400" baseline="-25000" dirty="0">
                <a:solidFill>
                  <a:srgbClr val="000000"/>
                </a:solidFill>
                <a:latin typeface="+mn-lt"/>
              </a:rPr>
              <a:t>10</a:t>
            </a:r>
            <a:r>
              <a:rPr lang="it-IT" altLang="it-IT" sz="2400" dirty="0">
                <a:solidFill>
                  <a:srgbClr val="FF3300"/>
                </a:solidFill>
                <a:latin typeface="+mn-lt"/>
              </a:rPr>
              <a:t> </a:t>
            </a:r>
            <a:r>
              <a:rPr lang="it-IT" altLang="it-IT" sz="2400" dirty="0">
                <a:solidFill>
                  <a:srgbClr val="000000"/>
                </a:solidFill>
                <a:latin typeface="+mn-lt"/>
              </a:rPr>
              <a:t>=</a:t>
            </a:r>
            <a:r>
              <a:rPr lang="it-IT" altLang="it-IT" sz="2400" dirty="0">
                <a:latin typeface="+mn-lt"/>
              </a:rPr>
              <a:t> </a:t>
            </a: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10111</a:t>
            </a:r>
            <a:r>
              <a:rPr lang="it-IT" sz="2400" dirty="0">
                <a:solidFill>
                  <a:srgbClr val="000000"/>
                </a:solidFill>
                <a:latin typeface="+mn-lt"/>
              </a:rPr>
              <a:t>,</a:t>
            </a:r>
            <a:r>
              <a:rPr lang="it-IT" altLang="it-IT" sz="2400" dirty="0">
                <a:solidFill>
                  <a:srgbClr val="FF3300"/>
                </a:solidFill>
                <a:latin typeface="+mn-lt"/>
              </a:rPr>
              <a:t>011</a:t>
            </a:r>
            <a:r>
              <a:rPr lang="it-IT" altLang="it-IT" sz="2400" baseline="-25000" dirty="0">
                <a:solidFill>
                  <a:srgbClr val="000000"/>
                </a:solidFill>
                <a:latin typeface="+mn-lt"/>
              </a:rPr>
              <a:t>2</a:t>
            </a:r>
            <a:endParaRPr lang="it-IT" altLang="it-IT" sz="2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640138" y="3068960"/>
            <a:ext cx="27959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it-IT" altLang="it-IT" sz="2000" b="0" dirty="0">
                <a:latin typeface="+mn-lt"/>
              </a:rPr>
              <a:t>2 X 0,375 =   </a:t>
            </a:r>
            <a:r>
              <a:rPr lang="it-IT" altLang="it-IT" sz="20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it-IT" altLang="it-IT" sz="2000" b="0" dirty="0">
                <a:latin typeface="+mn-lt"/>
              </a:rPr>
              <a:t> + 0,75</a:t>
            </a:r>
            <a:endParaRPr lang="it-IT" altLang="it-IT" sz="2000" b="0" baseline="-25000" dirty="0">
              <a:latin typeface="+mn-lt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908221" y="3449960"/>
            <a:ext cx="23118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it-IT" altLang="it-IT" sz="2000" b="0" dirty="0">
                <a:latin typeface="+mn-lt"/>
              </a:rPr>
              <a:t>2 X 0,75</a:t>
            </a:r>
            <a:r>
              <a:rPr lang="it-IT" altLang="it-IT" sz="2000" b="0" baseline="-25000" dirty="0">
                <a:latin typeface="+mn-lt"/>
              </a:rPr>
              <a:t> </a:t>
            </a:r>
            <a:r>
              <a:rPr lang="it-IT" altLang="it-IT" sz="2000" b="0" dirty="0">
                <a:latin typeface="+mn-lt"/>
              </a:rPr>
              <a:t>=</a:t>
            </a:r>
            <a:r>
              <a:rPr lang="it-IT" altLang="it-IT" sz="2000" b="0" dirty="0">
                <a:solidFill>
                  <a:srgbClr val="FF3300"/>
                </a:solidFill>
                <a:latin typeface="+mn-lt"/>
              </a:rPr>
              <a:t>  1</a:t>
            </a:r>
            <a:r>
              <a:rPr lang="it-IT" altLang="it-IT" sz="2000" b="0" baseline="-25000" dirty="0">
                <a:solidFill>
                  <a:srgbClr val="FF3300"/>
                </a:solidFill>
                <a:latin typeface="+mn-lt"/>
              </a:rPr>
              <a:t> </a:t>
            </a:r>
            <a:r>
              <a:rPr lang="it-IT" altLang="it-IT" sz="2000" b="0" dirty="0">
                <a:latin typeface="+mn-lt"/>
              </a:rPr>
              <a:t>+ 0,5</a:t>
            </a:r>
            <a:endParaRPr lang="it-IT" altLang="it-IT" sz="2000" b="0" baseline="-25000" dirty="0">
              <a:latin typeface="+mn-lt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3082221" y="3830960"/>
            <a:ext cx="21547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it-IT" altLang="it-IT" sz="2000" b="0" dirty="0">
                <a:latin typeface="+mn-lt"/>
              </a:rPr>
              <a:t>2 X 0,5</a:t>
            </a:r>
            <a:r>
              <a:rPr lang="it-IT" altLang="it-IT" sz="2000" b="0" baseline="-25000" dirty="0">
                <a:latin typeface="+mn-lt"/>
              </a:rPr>
              <a:t>  </a:t>
            </a:r>
            <a:r>
              <a:rPr lang="it-IT" altLang="it-IT" sz="2000" b="0" dirty="0">
                <a:latin typeface="+mn-lt"/>
              </a:rPr>
              <a:t>= </a:t>
            </a:r>
            <a:r>
              <a:rPr lang="it-IT" altLang="it-IT" sz="2000" b="0" dirty="0">
                <a:solidFill>
                  <a:srgbClr val="FF3300"/>
                </a:solidFill>
                <a:latin typeface="+mn-lt"/>
              </a:rPr>
              <a:t>1 </a:t>
            </a:r>
            <a:r>
              <a:rPr lang="it-IT" altLang="it-IT" sz="2000" b="0" dirty="0">
                <a:latin typeface="+mn-lt"/>
              </a:rPr>
              <a:t>+ 0,0</a:t>
            </a:r>
            <a:endParaRPr lang="it-IT" altLang="it-IT" sz="2000" b="0" baseline="-25000" dirty="0">
              <a:latin typeface="+mn-lt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1089957" y="3071094"/>
            <a:ext cx="13497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altLang="it-IT" sz="2000" b="0" dirty="0">
                <a:solidFill>
                  <a:srgbClr val="FF3300"/>
                </a:solidFill>
                <a:latin typeface="+mn-lt"/>
              </a:rPr>
              <a:t>F</a:t>
            </a:r>
            <a:r>
              <a:rPr lang="it-IT" altLang="it-IT" sz="2000" b="0" dirty="0">
                <a:solidFill>
                  <a:srgbClr val="000000"/>
                </a:solidFill>
                <a:latin typeface="+mn-lt"/>
              </a:rPr>
              <a:t>=</a:t>
            </a:r>
            <a:r>
              <a:rPr lang="it-IT" altLang="it-IT" sz="2000" b="0" dirty="0">
                <a:solidFill>
                  <a:srgbClr val="FF3300"/>
                </a:solidFill>
                <a:latin typeface="+mn-lt"/>
              </a:rPr>
              <a:t>0,375</a:t>
            </a:r>
            <a:r>
              <a:rPr lang="it-IT" altLang="it-IT" sz="2000" b="0" baseline="-25000" dirty="0">
                <a:latin typeface="+mn-l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5178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8" grpId="0"/>
      <p:bldP spid="9" grpId="0"/>
      <p:bldP spid="13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98282" y="1772816"/>
            <a:ext cx="7922190" cy="1518271"/>
          </a:xfrm>
        </p:spPr>
        <p:txBody>
          <a:bodyPr/>
          <a:lstStyle/>
          <a:p>
            <a:pPr>
              <a:buClr>
                <a:srgbClr val="1CADE4"/>
              </a:buClr>
            </a:pPr>
            <a:r>
              <a:rPr lang="it-IT" sz="2400" dirty="0">
                <a:ea typeface="MS PGothic" charset="0"/>
              </a:rPr>
              <a:t>Prendiamo in considerazione il numero decimale: </a:t>
            </a:r>
            <a:br>
              <a:rPr lang="it-IT" sz="2400" dirty="0">
                <a:ea typeface="MS PGothic" charset="0"/>
              </a:rPr>
            </a:br>
            <a:r>
              <a:rPr lang="it-IT" sz="2400" dirty="0" err="1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N</a:t>
            </a:r>
            <a:r>
              <a:rPr lang="it-IT" sz="24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 = 23,375</a:t>
            </a:r>
            <a:r>
              <a:rPr lang="it-IT" sz="8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10</a:t>
            </a:r>
            <a:endParaRPr lang="it-IT" sz="2400" dirty="0">
              <a:ea typeface="MS PGothic" charset="0"/>
            </a:endParaRPr>
          </a:p>
          <a:p>
            <a:pPr algn="just"/>
            <a:r>
              <a:rPr lang="it-IT" sz="2400" dirty="0">
                <a:ea typeface="MS PGothic" charset="0"/>
              </a:rPr>
              <a:t>3) </a:t>
            </a:r>
            <a:r>
              <a:rPr lang="it-IT" sz="2400" dirty="0">
                <a:solidFill>
                  <a:srgbClr val="CC0000"/>
                </a:solidFill>
                <a:ea typeface="MS PGothic" charset="0"/>
              </a:rPr>
              <a:t>Normalizziamo</a:t>
            </a:r>
            <a:r>
              <a:rPr lang="it-IT" sz="2400" dirty="0">
                <a:ea typeface="MS PGothic" charset="0"/>
              </a:rPr>
              <a:t>: il numero ottenuto, </a:t>
            </a:r>
            <a:r>
              <a:rPr lang="it-IT" sz="2400" dirty="0">
                <a:solidFill>
                  <a:srgbClr val="0000FF"/>
                </a:solidFill>
                <a:cs typeface="Comic Sans MS"/>
              </a:rPr>
              <a:t>10111</a:t>
            </a:r>
            <a:r>
              <a:rPr lang="it-IT" sz="2400" dirty="0">
                <a:solidFill>
                  <a:srgbClr val="000000"/>
                </a:solidFill>
              </a:rPr>
              <a:t>,</a:t>
            </a:r>
            <a:r>
              <a:rPr lang="it-IT" altLang="it-IT" sz="2400" dirty="0">
                <a:solidFill>
                  <a:srgbClr val="FF3300"/>
                </a:solidFill>
              </a:rPr>
              <a:t>011</a:t>
            </a:r>
            <a:r>
              <a:rPr lang="it-IT" altLang="it-IT" sz="2400" baseline="-25000" dirty="0">
                <a:solidFill>
                  <a:srgbClr val="000000"/>
                </a:solidFill>
              </a:rPr>
              <a:t>2</a:t>
            </a:r>
            <a:r>
              <a:rPr lang="it-IT" sz="2400" dirty="0">
                <a:ea typeface="MS PGothic" charset="0"/>
              </a:rPr>
              <a:t>, va normalizzato per essere conforme allo standard</a:t>
            </a:r>
          </a:p>
          <a:p>
            <a:pPr algn="just"/>
            <a:r>
              <a:rPr lang="it-IT" sz="2400" dirty="0">
                <a:ea typeface="MS PGothic" charset="0"/>
              </a:rPr>
              <a:t> </a:t>
            </a:r>
          </a:p>
        </p:txBody>
      </p:sp>
      <p:sp>
        <p:nvSpPr>
          <p:cNvPr id="6" name="Titolo 1"/>
          <p:cNvSpPr>
            <a:spLocks noGrp="1"/>
          </p:cNvSpPr>
          <p:nvPr>
            <p:ph type="title"/>
          </p:nvPr>
        </p:nvSpPr>
        <p:spPr>
          <a:xfrm>
            <a:off x="608136" y="587152"/>
            <a:ext cx="7926265" cy="609600"/>
          </a:xfrm>
        </p:spPr>
        <p:txBody>
          <a:bodyPr/>
          <a:lstStyle/>
          <a:p>
            <a:r>
              <a:rPr lang="it-IT" sz="4800" dirty="0">
                <a:ea typeface="MS PGothic" charset="0"/>
              </a:rPr>
              <a:t>Esercizio 4: Soluzione 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403648" y="4047455"/>
            <a:ext cx="70567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it-IT" altLang="it-IT" sz="2400" dirty="0">
                <a:solidFill>
                  <a:srgbClr val="0000FF"/>
                </a:solidFill>
                <a:latin typeface="+mn-lt"/>
              </a:rPr>
              <a:t>23</a:t>
            </a:r>
            <a:r>
              <a:rPr lang="it-IT" altLang="it-IT" sz="2400" dirty="0">
                <a:latin typeface="+mn-lt"/>
              </a:rPr>
              <a:t>,</a:t>
            </a:r>
            <a:r>
              <a:rPr lang="it-IT" altLang="it-IT" sz="2400" dirty="0">
                <a:solidFill>
                  <a:srgbClr val="FF3300"/>
                </a:solidFill>
                <a:latin typeface="+mn-lt"/>
              </a:rPr>
              <a:t>375</a:t>
            </a:r>
            <a:r>
              <a:rPr lang="it-IT" altLang="it-IT" sz="2400" baseline="-25000" dirty="0">
                <a:solidFill>
                  <a:srgbClr val="000000"/>
                </a:solidFill>
                <a:latin typeface="+mn-lt"/>
              </a:rPr>
              <a:t>10</a:t>
            </a:r>
            <a:r>
              <a:rPr lang="it-IT" altLang="it-IT" sz="2400" dirty="0">
                <a:solidFill>
                  <a:srgbClr val="FF3300"/>
                </a:solidFill>
                <a:latin typeface="+mn-lt"/>
              </a:rPr>
              <a:t> </a:t>
            </a:r>
            <a:r>
              <a:rPr lang="it-IT" altLang="it-IT" sz="2400" dirty="0">
                <a:solidFill>
                  <a:srgbClr val="000000"/>
                </a:solidFill>
                <a:latin typeface="+mn-lt"/>
              </a:rPr>
              <a:t>=</a:t>
            </a:r>
            <a:r>
              <a:rPr lang="it-IT" altLang="it-IT" sz="2400" dirty="0">
                <a:solidFill>
                  <a:srgbClr val="FF3300"/>
                </a:solidFill>
                <a:latin typeface="+mn-lt"/>
              </a:rPr>
              <a:t> </a:t>
            </a: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10111</a:t>
            </a:r>
            <a:r>
              <a:rPr lang="it-IT" sz="2400" dirty="0">
                <a:solidFill>
                  <a:srgbClr val="000000"/>
                </a:solidFill>
                <a:latin typeface="+mn-lt"/>
              </a:rPr>
              <a:t>,</a:t>
            </a:r>
            <a:r>
              <a:rPr lang="it-IT" altLang="it-IT" sz="2400" dirty="0">
                <a:solidFill>
                  <a:srgbClr val="FF3300"/>
                </a:solidFill>
                <a:latin typeface="+mn-lt"/>
              </a:rPr>
              <a:t>011</a:t>
            </a:r>
            <a:r>
              <a:rPr lang="it-IT" altLang="it-IT" sz="2400" baseline="-25000" dirty="0">
                <a:solidFill>
                  <a:srgbClr val="000000"/>
                </a:solidFill>
                <a:latin typeface="+mn-lt"/>
              </a:rPr>
              <a:t>2 </a:t>
            </a:r>
            <a:r>
              <a:rPr lang="it-IT" altLang="it-IT" sz="2400" dirty="0">
                <a:solidFill>
                  <a:srgbClr val="000000"/>
                </a:solidFill>
                <a:latin typeface="+mn-lt"/>
              </a:rPr>
              <a:t>=</a:t>
            </a:r>
            <a:r>
              <a:rPr lang="it-IT" altLang="it-IT" sz="2400" dirty="0">
                <a:solidFill>
                  <a:srgbClr val="FF33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  <a:latin typeface="+mn-lt"/>
                <a:cs typeface="Comic Sans MS"/>
              </a:rPr>
              <a:t>1,</a:t>
            </a:r>
            <a:r>
              <a:rPr lang="it-IT" sz="2400" dirty="0">
                <a:solidFill>
                  <a:schemeClr val="accent1"/>
                </a:solidFill>
                <a:latin typeface="+mn-lt"/>
                <a:cs typeface="Comic Sans MS"/>
              </a:rPr>
              <a:t>0111</a:t>
            </a:r>
            <a:r>
              <a:rPr lang="it-IT" altLang="it-IT" sz="2400" dirty="0">
                <a:solidFill>
                  <a:schemeClr val="accent1"/>
                </a:solidFill>
                <a:latin typeface="+mn-lt"/>
              </a:rPr>
              <a:t>011</a:t>
            </a:r>
            <a:r>
              <a:rPr lang="it-IT" altLang="it-IT" sz="2400" baseline="-25000" dirty="0">
                <a:solidFill>
                  <a:srgbClr val="000000"/>
                </a:solidFill>
                <a:latin typeface="+mn-lt"/>
              </a:rPr>
              <a:t>2 </a:t>
            </a:r>
            <a:r>
              <a:rPr lang="it-IT" altLang="it-IT" sz="2400" dirty="0">
                <a:solidFill>
                  <a:srgbClr val="000000"/>
                </a:solidFill>
                <a:latin typeface="+mn-lt"/>
              </a:rPr>
              <a:t>x 2</a:t>
            </a:r>
            <a:r>
              <a:rPr lang="it-IT" altLang="it-IT" sz="2400" baseline="30000" dirty="0">
                <a:solidFill>
                  <a:srgbClr val="33CC33"/>
                </a:solidFill>
                <a:latin typeface="+mn-lt"/>
              </a:rPr>
              <a:t>4</a:t>
            </a:r>
            <a:r>
              <a:rPr lang="it-IT" altLang="it-IT" sz="2400" baseline="-25000" dirty="0">
                <a:solidFill>
                  <a:srgbClr val="000000"/>
                </a:solidFill>
                <a:latin typeface="+mn-lt"/>
              </a:rPr>
              <a:t> </a:t>
            </a:r>
            <a:endParaRPr lang="it-IT" altLang="it-IT" sz="2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115616" y="4869160"/>
            <a:ext cx="705678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it-IT" altLang="it-IT" sz="2400" dirty="0">
                <a:solidFill>
                  <a:srgbClr val="FF6600"/>
                </a:solidFill>
                <a:latin typeface="+mn-lt"/>
              </a:rPr>
              <a:t>La mantissa è </a:t>
            </a:r>
            <a:r>
              <a:rPr lang="it-IT" sz="2400" dirty="0">
                <a:solidFill>
                  <a:srgbClr val="FF6600"/>
                </a:solidFill>
                <a:latin typeface="+mn-lt"/>
              </a:rPr>
              <a:t>0111</a:t>
            </a:r>
            <a:r>
              <a:rPr lang="it-IT" altLang="it-IT" sz="2400" dirty="0">
                <a:solidFill>
                  <a:srgbClr val="FF6600"/>
                </a:solidFill>
                <a:latin typeface="+mn-lt"/>
              </a:rPr>
              <a:t>011</a:t>
            </a:r>
            <a:r>
              <a:rPr lang="it-IT" altLang="it-IT" sz="2400" baseline="-25000" dirty="0">
                <a:solidFill>
                  <a:srgbClr val="000000"/>
                </a:solidFill>
                <a:latin typeface="+mn-lt"/>
              </a:rPr>
              <a:t>2</a:t>
            </a:r>
          </a:p>
          <a:p>
            <a:pPr algn="ctr"/>
            <a:r>
              <a:rPr lang="it-IT" altLang="it-IT" sz="2400" dirty="0">
                <a:solidFill>
                  <a:srgbClr val="33CC33"/>
                </a:solidFill>
                <a:latin typeface="+mn-lt"/>
              </a:rPr>
              <a:t>L’esponente è 4+127=131</a:t>
            </a:r>
            <a:r>
              <a:rPr lang="it-IT" altLang="it-IT" sz="2400" baseline="-25000" dirty="0">
                <a:solidFill>
                  <a:srgbClr val="000000"/>
                </a:solidFill>
                <a:latin typeface="+mn-l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9692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98282" y="1772816"/>
            <a:ext cx="7922190" cy="1800200"/>
          </a:xfrm>
        </p:spPr>
        <p:txBody>
          <a:bodyPr/>
          <a:lstStyle/>
          <a:p>
            <a:pPr>
              <a:buClr>
                <a:srgbClr val="1CADE4"/>
              </a:buClr>
            </a:pPr>
            <a:r>
              <a:rPr lang="it-IT" sz="2400" dirty="0">
                <a:ea typeface="MS PGothic" charset="0"/>
              </a:rPr>
              <a:t>Prendiamo in considerazione il numero decimale: </a:t>
            </a:r>
            <a:br>
              <a:rPr lang="it-IT" sz="2400" dirty="0">
                <a:ea typeface="MS PGothic" charset="0"/>
              </a:rPr>
            </a:br>
            <a:r>
              <a:rPr lang="it-IT" sz="2400" dirty="0" err="1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N</a:t>
            </a:r>
            <a:r>
              <a:rPr lang="it-IT" sz="24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 = 23,375</a:t>
            </a:r>
            <a:r>
              <a:rPr lang="it-IT" sz="8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10</a:t>
            </a:r>
            <a:endParaRPr lang="it-IT" sz="2400" dirty="0">
              <a:ea typeface="MS PGothic" charset="0"/>
            </a:endParaRPr>
          </a:p>
          <a:p>
            <a:pPr algn="just">
              <a:buFont typeface="Wingdings" charset="0"/>
              <a:buNone/>
            </a:pPr>
            <a:endParaRPr lang="it-IT" sz="2400" dirty="0">
              <a:ea typeface="MS PGothic" charset="0"/>
            </a:endParaRPr>
          </a:p>
          <a:p>
            <a:pPr algn="just"/>
            <a:r>
              <a:rPr lang="it-IT" sz="2400" dirty="0">
                <a:ea typeface="MS PGothic" charset="0"/>
              </a:rPr>
              <a:t>4) </a:t>
            </a:r>
            <a:r>
              <a:rPr lang="it-IT" sz="2400" dirty="0">
                <a:solidFill>
                  <a:srgbClr val="CC0000"/>
                </a:solidFill>
                <a:ea typeface="MS PGothic" charset="0"/>
              </a:rPr>
              <a:t>Calcoliamo l’esponente</a:t>
            </a:r>
            <a:r>
              <a:rPr lang="it-IT" sz="2400" dirty="0">
                <a:ea typeface="MS PGothic" charset="0"/>
              </a:rPr>
              <a:t>: convertiamo 131</a:t>
            </a:r>
            <a:r>
              <a:rPr lang="it-IT" sz="2400" baseline="-25000" dirty="0">
                <a:ea typeface="MS PGothic" charset="0"/>
              </a:rPr>
              <a:t>10</a:t>
            </a:r>
            <a:r>
              <a:rPr lang="it-IT" sz="2400" dirty="0">
                <a:ea typeface="MS PGothic" charset="0"/>
              </a:rPr>
              <a:t> in binario ed esprimiamolo con 8 bit:</a:t>
            </a:r>
          </a:p>
          <a:p>
            <a:pPr algn="just"/>
            <a:r>
              <a:rPr lang="it-IT" sz="2400" dirty="0">
                <a:ea typeface="MS PGothic" charset="0"/>
              </a:rPr>
              <a:t> </a:t>
            </a:r>
          </a:p>
        </p:txBody>
      </p:sp>
      <p:sp>
        <p:nvSpPr>
          <p:cNvPr id="6" name="Titolo 1"/>
          <p:cNvSpPr>
            <a:spLocks noGrp="1"/>
          </p:cNvSpPr>
          <p:nvPr>
            <p:ph type="title"/>
          </p:nvPr>
        </p:nvSpPr>
        <p:spPr>
          <a:xfrm>
            <a:off x="608136" y="587152"/>
            <a:ext cx="7926265" cy="609600"/>
          </a:xfrm>
        </p:spPr>
        <p:txBody>
          <a:bodyPr/>
          <a:lstStyle/>
          <a:p>
            <a:r>
              <a:rPr lang="it-IT" sz="4800" dirty="0">
                <a:ea typeface="MS PGothic" charset="0"/>
              </a:rPr>
              <a:t>Esercizio 4: Soluzione </a:t>
            </a:r>
          </a:p>
        </p:txBody>
      </p:sp>
      <p:sp>
        <p:nvSpPr>
          <p:cNvPr id="10" name="object 19"/>
          <p:cNvSpPr txBox="1"/>
          <p:nvPr/>
        </p:nvSpPr>
        <p:spPr>
          <a:xfrm>
            <a:off x="7596336" y="6093296"/>
            <a:ext cx="211454" cy="1082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  <a:r>
              <a:rPr lang="it-IT" sz="2400" dirty="0">
                <a:latin typeface="Comic Sans MS"/>
                <a:cs typeface="Comic Sans MS"/>
              </a:rPr>
              <a:t>0</a:t>
            </a:r>
            <a:endParaRPr sz="2400" dirty="0"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latin typeface="Comic Sans MS"/>
              <a:cs typeface="Comic Sans MS"/>
            </a:endParaRPr>
          </a:p>
        </p:txBody>
      </p:sp>
      <p:grpSp>
        <p:nvGrpSpPr>
          <p:cNvPr id="26" name="Gruppo 38"/>
          <p:cNvGrpSpPr/>
          <p:nvPr/>
        </p:nvGrpSpPr>
        <p:grpSpPr>
          <a:xfrm>
            <a:off x="467544" y="3933056"/>
            <a:ext cx="7632848" cy="2924944"/>
            <a:chOff x="2401511" y="2519659"/>
            <a:chExt cx="7632848" cy="3218369"/>
          </a:xfrm>
        </p:grpSpPr>
        <p:sp>
          <p:nvSpPr>
            <p:cNvPr id="27" name="object 7"/>
            <p:cNvSpPr/>
            <p:nvPr/>
          </p:nvSpPr>
          <p:spPr>
            <a:xfrm>
              <a:off x="3440083" y="2635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8"/>
            <p:cNvSpPr/>
            <p:nvPr/>
          </p:nvSpPr>
          <p:spPr>
            <a:xfrm>
              <a:off x="3440083" y="2939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9"/>
            <p:cNvSpPr txBox="1"/>
            <p:nvPr/>
          </p:nvSpPr>
          <p:spPr>
            <a:xfrm>
              <a:off x="2662516" y="2519659"/>
              <a:ext cx="603091" cy="8296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131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  <a:p>
              <a:pPr marL="241300">
                <a:lnSpc>
                  <a:spcPct val="100000"/>
                </a:lnSpc>
                <a:spcBef>
                  <a:spcPts val="120"/>
                </a:spcBef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30" name="object 10"/>
            <p:cNvSpPr/>
            <p:nvPr/>
          </p:nvSpPr>
          <p:spPr>
            <a:xfrm>
              <a:off x="4278283" y="3016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1"/>
            <p:cNvSpPr/>
            <p:nvPr/>
          </p:nvSpPr>
          <p:spPr>
            <a:xfrm>
              <a:off x="4278283" y="3320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2"/>
            <p:cNvSpPr/>
            <p:nvPr/>
          </p:nvSpPr>
          <p:spPr>
            <a:xfrm>
              <a:off x="5116483" y="33971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3"/>
            <p:cNvSpPr/>
            <p:nvPr/>
          </p:nvSpPr>
          <p:spPr>
            <a:xfrm>
              <a:off x="5116483" y="37019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4"/>
            <p:cNvSpPr/>
            <p:nvPr/>
          </p:nvSpPr>
          <p:spPr>
            <a:xfrm>
              <a:off x="5954683" y="3701934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1" y="6857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5"/>
            <p:cNvSpPr/>
            <p:nvPr/>
          </p:nvSpPr>
          <p:spPr>
            <a:xfrm>
              <a:off x="5954683" y="4006734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1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6"/>
            <p:cNvSpPr txBox="1"/>
            <p:nvPr/>
          </p:nvSpPr>
          <p:spPr>
            <a:xfrm>
              <a:off x="3481631" y="2519659"/>
              <a:ext cx="4032448" cy="19359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 algn="l">
                <a:lnSpc>
                  <a:spcPct val="100000"/>
                </a:lnSpc>
                <a:spcBef>
                  <a:spcPts val="120"/>
                </a:spcBef>
                <a:tabLst>
                  <a:tab pos="926465" algn="l"/>
                </a:tabLst>
              </a:pPr>
              <a:r>
                <a:rPr lang="it-IT" sz="2400" dirty="0">
                  <a:latin typeface="Comic Sans MS"/>
                  <a:cs typeface="Comic Sans MS"/>
                </a:rPr>
                <a:t>65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L="241300" algn="l">
                <a:lnSpc>
                  <a:spcPts val="2640"/>
                </a:lnSpc>
                <a:spcBef>
                  <a:spcPts val="120"/>
                </a:spcBef>
                <a:tabLst>
                  <a:tab pos="850265" algn="l"/>
                  <a:tab pos="1764664" algn="l"/>
                </a:tabLst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32</a:t>
              </a:r>
              <a:r>
                <a:rPr sz="2400" dirty="0">
                  <a:latin typeface="Comic Sans MS"/>
                  <a:cs typeface="Comic Sans MS"/>
                </a:rPr>
                <a:t>	2</a:t>
              </a:r>
            </a:p>
            <a:p>
              <a:pPr marR="81280" algn="l">
                <a:lnSpc>
                  <a:spcPts val="2400"/>
                </a:lnSpc>
                <a:tabLst>
                  <a:tab pos="685165" algn="l"/>
                </a:tabLst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r>
                <a:rPr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	</a:t>
              </a:r>
              <a:r>
                <a:rPr lang="it-IT" sz="2400" dirty="0">
                  <a:latin typeface="Comic Sans MS"/>
                  <a:cs typeface="Comic Sans MS"/>
                </a:rPr>
                <a:t>16</a:t>
              </a:r>
              <a:endParaRPr sz="2400" dirty="0">
                <a:latin typeface="Comic Sans MS"/>
                <a:cs typeface="Comic Sans MS"/>
              </a:endParaRPr>
            </a:p>
            <a:p>
              <a:pPr marR="81280" algn="l">
                <a:lnSpc>
                  <a:spcPts val="2640"/>
                </a:lnSpc>
              </a:pPr>
              <a:r>
                <a:rPr lang="it-IT" sz="2400" dirty="0">
                  <a:solidFill>
                    <a:srgbClr val="CC3300"/>
                  </a:solidFill>
                  <a:latin typeface="Comic Sans MS"/>
                  <a:cs typeface="Comic Sans MS"/>
                </a:rPr>
                <a:t>            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   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37" name="object 19"/>
            <p:cNvSpPr txBox="1"/>
            <p:nvPr/>
          </p:nvSpPr>
          <p:spPr>
            <a:xfrm>
              <a:off x="6073919" y="3591480"/>
              <a:ext cx="211454" cy="119092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latin typeface="Comic Sans MS"/>
                  <a:cs typeface="Comic Sans MS"/>
                </a:rPr>
                <a:t>2</a:t>
              </a:r>
            </a:p>
            <a:p>
              <a:pPr marL="12700">
                <a:lnSpc>
                  <a:spcPts val="2640"/>
                </a:lnSpc>
                <a:spcBef>
                  <a:spcPts val="120"/>
                </a:spcBef>
              </a:pPr>
              <a:r>
                <a:rPr lang="it-IT" sz="2400" dirty="0">
                  <a:latin typeface="Comic Sans MS"/>
                  <a:cs typeface="Comic Sans MS"/>
                </a:rPr>
                <a:t>8</a:t>
              </a:r>
              <a:endParaRPr sz="2400" dirty="0">
                <a:latin typeface="Comic Sans MS"/>
                <a:cs typeface="Comic Sans MS"/>
              </a:endParaRPr>
            </a:p>
            <a:p>
              <a:pPr marL="12700">
                <a:lnSpc>
                  <a:spcPts val="2640"/>
                </a:lnSpc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</a:t>
              </a:r>
              <a:endParaRPr sz="2400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  <p:sp>
          <p:nvSpPr>
            <p:cNvPr id="38" name="object 24"/>
            <p:cNvSpPr/>
            <p:nvPr/>
          </p:nvSpPr>
          <p:spPr>
            <a:xfrm>
              <a:off x="2401511" y="3343114"/>
              <a:ext cx="6120680" cy="2394914"/>
            </a:xfrm>
            <a:custGeom>
              <a:avLst/>
              <a:gdLst/>
              <a:ahLst/>
              <a:cxnLst/>
              <a:rect l="l" t="t" r="r" b="b"/>
              <a:pathLst>
                <a:path w="4443730" h="1711960">
                  <a:moveTo>
                    <a:pt x="1334484" y="440711"/>
                  </a:moveTo>
                  <a:lnTo>
                    <a:pt x="1015790" y="440711"/>
                  </a:lnTo>
                  <a:lnTo>
                    <a:pt x="4403901" y="1711354"/>
                  </a:lnTo>
                  <a:lnTo>
                    <a:pt x="4443197" y="1606572"/>
                  </a:lnTo>
                  <a:lnTo>
                    <a:pt x="1334484" y="440711"/>
                  </a:lnTo>
                  <a:close/>
                </a:path>
                <a:path w="4443730" h="1711960">
                  <a:moveTo>
                    <a:pt x="0" y="0"/>
                  </a:moveTo>
                  <a:lnTo>
                    <a:pt x="995301" y="495341"/>
                  </a:lnTo>
                  <a:lnTo>
                    <a:pt x="1015790" y="440711"/>
                  </a:lnTo>
                  <a:lnTo>
                    <a:pt x="1334484" y="440711"/>
                  </a:lnTo>
                  <a:lnTo>
                    <a:pt x="1055086" y="335928"/>
                  </a:lnTo>
                  <a:lnTo>
                    <a:pt x="1075574" y="281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6"/>
            <p:cNvSpPr txBox="1"/>
            <p:nvPr/>
          </p:nvSpPr>
          <p:spPr>
            <a:xfrm>
              <a:off x="6721991" y="2915818"/>
              <a:ext cx="3312368" cy="40638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131</a:t>
              </a:r>
              <a:r>
                <a:rPr lang="it-IT" sz="2400" baseline="-20833" dirty="0">
                  <a:solidFill>
                    <a:srgbClr val="0000FF"/>
                  </a:solidFill>
                  <a:latin typeface="Comic Sans MS"/>
                  <a:cs typeface="Comic Sans MS"/>
                </a:rPr>
                <a:t>10</a:t>
              </a:r>
              <a:r>
                <a:rPr sz="2400" baseline="-20833" dirty="0">
                  <a:solidFill>
                    <a:srgbClr val="0000FF"/>
                  </a:solidFill>
                  <a:latin typeface="Comic Sans MS"/>
                  <a:cs typeface="Comic Sans MS"/>
                </a:rPr>
                <a:t> </a:t>
              </a:r>
              <a:r>
                <a:rPr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=</a:t>
              </a:r>
              <a:r>
                <a:rPr sz="2400" spc="145" dirty="0">
                  <a:solidFill>
                    <a:srgbClr val="0000FF"/>
                  </a:solidFill>
                  <a:latin typeface="Comic Sans MS"/>
                  <a:cs typeface="Comic Sans MS"/>
                </a:rPr>
                <a:t> </a:t>
              </a:r>
              <a:r>
                <a:rPr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1</a:t>
              </a:r>
              <a:r>
                <a:rPr lang="it-IT" sz="2400" dirty="0">
                  <a:solidFill>
                    <a:srgbClr val="0000FF"/>
                  </a:solidFill>
                  <a:latin typeface="Comic Sans MS"/>
                  <a:cs typeface="Comic Sans MS"/>
                </a:rPr>
                <a:t>0000011</a:t>
              </a:r>
              <a:r>
                <a:rPr lang="it-IT" sz="2400" baseline="-20833" dirty="0">
                  <a:solidFill>
                    <a:srgbClr val="0000FF"/>
                  </a:solidFill>
                  <a:latin typeface="Comic Sans MS"/>
                  <a:cs typeface="Comic Sans MS"/>
                </a:rPr>
                <a:t>2</a:t>
              </a:r>
              <a:endParaRPr sz="2400" baseline="-20833" dirty="0">
                <a:solidFill>
                  <a:srgbClr val="0000FF"/>
                </a:solidFill>
                <a:latin typeface="Comic Sans MS"/>
                <a:cs typeface="Comic Sans MS"/>
              </a:endParaRPr>
            </a:p>
          </p:txBody>
        </p:sp>
      </p:grpSp>
      <p:sp>
        <p:nvSpPr>
          <p:cNvPr id="40" name="object 14"/>
          <p:cNvSpPr/>
          <p:nvPr/>
        </p:nvSpPr>
        <p:spPr>
          <a:xfrm>
            <a:off x="4860032" y="5301208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5"/>
          <p:cNvSpPr/>
          <p:nvPr/>
        </p:nvSpPr>
        <p:spPr>
          <a:xfrm>
            <a:off x="4885928" y="558924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9"/>
          <p:cNvSpPr txBox="1"/>
          <p:nvPr/>
        </p:nvSpPr>
        <p:spPr>
          <a:xfrm>
            <a:off x="4936610" y="5229200"/>
            <a:ext cx="211454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  <a:r>
              <a:rPr lang="it-IT" sz="2400" dirty="0">
                <a:latin typeface="Comic Sans MS"/>
                <a:cs typeface="Comic Sans MS"/>
              </a:rPr>
              <a:t>4</a:t>
            </a:r>
          </a:p>
          <a:p>
            <a:pPr marL="12700">
              <a:lnSpc>
                <a:spcPct val="100000"/>
              </a:lnSpc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0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43" name="object 14"/>
          <p:cNvSpPr/>
          <p:nvPr/>
        </p:nvSpPr>
        <p:spPr>
          <a:xfrm>
            <a:off x="5724128" y="5589240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/>
          <p:cNvSpPr/>
          <p:nvPr/>
        </p:nvSpPr>
        <p:spPr>
          <a:xfrm>
            <a:off x="5750024" y="5877272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9"/>
          <p:cNvSpPr txBox="1"/>
          <p:nvPr/>
        </p:nvSpPr>
        <p:spPr>
          <a:xfrm>
            <a:off x="5796136" y="5517232"/>
            <a:ext cx="211454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  <a:r>
              <a:rPr lang="it-IT" sz="2400" dirty="0">
                <a:latin typeface="Comic Sans MS"/>
                <a:cs typeface="Comic Sans MS"/>
              </a:rPr>
              <a:t>2</a:t>
            </a:r>
          </a:p>
          <a:p>
            <a:pPr marL="12700">
              <a:lnSpc>
                <a:spcPct val="100000"/>
              </a:lnSpc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0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47" name="object 14"/>
          <p:cNvSpPr/>
          <p:nvPr/>
        </p:nvSpPr>
        <p:spPr>
          <a:xfrm>
            <a:off x="6588224" y="5877272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5"/>
          <p:cNvSpPr/>
          <p:nvPr/>
        </p:nvSpPr>
        <p:spPr>
          <a:xfrm>
            <a:off x="6614120" y="6165304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 txBox="1"/>
          <p:nvPr/>
        </p:nvSpPr>
        <p:spPr>
          <a:xfrm>
            <a:off x="6732240" y="5805264"/>
            <a:ext cx="211454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2</a:t>
            </a:r>
            <a:r>
              <a:rPr lang="it-IT" sz="2400" dirty="0">
                <a:latin typeface="Comic Sans MS"/>
                <a:cs typeface="Comic Sans MS"/>
              </a:rPr>
              <a:t>1</a:t>
            </a:r>
          </a:p>
          <a:p>
            <a:pPr marL="12700">
              <a:lnSpc>
                <a:spcPct val="100000"/>
              </a:lnSpc>
            </a:pPr>
            <a:r>
              <a:rPr lang="it-IT" sz="2400" dirty="0">
                <a:solidFill>
                  <a:srgbClr val="0000FF"/>
                </a:solidFill>
                <a:latin typeface="Comic Sans MS"/>
                <a:cs typeface="Comic Sans MS"/>
              </a:rPr>
              <a:t>1</a:t>
            </a:r>
            <a:endParaRPr sz="2400" dirty="0">
              <a:solidFill>
                <a:srgbClr val="0000FF"/>
              </a:solidFill>
              <a:latin typeface="Comic Sans MS"/>
              <a:cs typeface="Comic Sans MS"/>
            </a:endParaRPr>
          </a:p>
          <a:p>
            <a:pPr marL="12700">
              <a:lnSpc>
                <a:spcPts val="2640"/>
              </a:lnSpc>
            </a:pP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50" name="object 14"/>
          <p:cNvSpPr/>
          <p:nvPr/>
        </p:nvSpPr>
        <p:spPr>
          <a:xfrm>
            <a:off x="7452320" y="6165304"/>
            <a:ext cx="0" cy="623274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5"/>
          <p:cNvSpPr/>
          <p:nvPr/>
        </p:nvSpPr>
        <p:spPr>
          <a:xfrm>
            <a:off x="7478216" y="6453336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7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0" grpId="0" animBg="1"/>
      <p:bldP spid="41" grpId="0" animBg="1"/>
      <p:bldP spid="42" grpId="0"/>
      <p:bldP spid="43" grpId="0" animBg="1"/>
      <p:bldP spid="44" grpId="0" animBg="1"/>
      <p:bldP spid="45" grpId="0"/>
      <p:bldP spid="47" grpId="0" animBg="1"/>
      <p:bldP spid="48" grpId="0" animBg="1"/>
      <p:bldP spid="49" grpId="0"/>
      <p:bldP spid="50" grpId="0" animBg="1"/>
      <p:bldP spid="5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98282" y="1484784"/>
            <a:ext cx="7922190" cy="2880320"/>
          </a:xfrm>
        </p:spPr>
        <p:txBody>
          <a:bodyPr/>
          <a:lstStyle/>
          <a:p>
            <a:pPr>
              <a:buClr>
                <a:srgbClr val="1CADE4"/>
              </a:buClr>
            </a:pPr>
            <a:r>
              <a:rPr lang="it-IT" sz="2400" dirty="0">
                <a:ea typeface="MS PGothic" charset="0"/>
              </a:rPr>
              <a:t>In definitiva:</a:t>
            </a:r>
          </a:p>
          <a:p>
            <a:pPr>
              <a:buFont typeface="Wingdings" charset="2"/>
              <a:buChar char="Ø"/>
            </a:pPr>
            <a:r>
              <a:rPr lang="it-IT" sz="2400" dirty="0" err="1">
                <a:solidFill>
                  <a:schemeClr val="accent2"/>
                </a:solidFill>
                <a:ea typeface="MS PGothic" charset="0"/>
              </a:rPr>
              <a:t>s</a:t>
            </a:r>
            <a:r>
              <a:rPr lang="it-IT" sz="2400" dirty="0">
                <a:solidFill>
                  <a:schemeClr val="accent2"/>
                </a:solidFill>
                <a:ea typeface="MS PGothic" charset="0"/>
              </a:rPr>
              <a:t>=0</a:t>
            </a:r>
          </a:p>
          <a:p>
            <a:pPr>
              <a:buFont typeface="Wingdings" charset="2"/>
              <a:buChar char="Ø"/>
            </a:pPr>
            <a:r>
              <a:rPr lang="it-IT" sz="2400" dirty="0">
                <a:solidFill>
                  <a:schemeClr val="accent1"/>
                </a:solidFill>
                <a:ea typeface="MS PGothic" charset="0"/>
              </a:rPr>
              <a:t>M= </a:t>
            </a:r>
            <a:r>
              <a:rPr lang="it-IT" sz="2400" dirty="0">
                <a:solidFill>
                  <a:srgbClr val="FF6600"/>
                </a:solidFill>
              </a:rPr>
              <a:t>0111</a:t>
            </a:r>
            <a:r>
              <a:rPr lang="it-IT" altLang="it-IT" sz="2400" dirty="0">
                <a:solidFill>
                  <a:srgbClr val="FF6600"/>
                </a:solidFill>
              </a:rPr>
              <a:t>011</a:t>
            </a:r>
            <a:r>
              <a:rPr lang="it-IT" sz="2400" dirty="0">
                <a:solidFill>
                  <a:schemeClr val="accent1"/>
                </a:solidFill>
                <a:ea typeface="MS PGothic" charset="0"/>
              </a:rPr>
              <a:t>0000000000000000</a:t>
            </a:r>
            <a:r>
              <a:rPr lang="it-IT" sz="2400" baseline="-25000" dirty="0">
                <a:solidFill>
                  <a:srgbClr val="000000"/>
                </a:solidFill>
                <a:ea typeface="MS PGothic" charset="0"/>
              </a:rPr>
              <a:t>2</a:t>
            </a:r>
            <a:endParaRPr lang="it-IT" altLang="it-IT" sz="2400" baseline="-25000" dirty="0">
              <a:solidFill>
                <a:srgbClr val="000000"/>
              </a:solidFill>
            </a:endParaRPr>
          </a:p>
          <a:p>
            <a:pPr>
              <a:buFont typeface="Wingdings" charset="2"/>
              <a:buChar char="Ø"/>
            </a:pPr>
            <a:r>
              <a:rPr lang="it-IT" sz="2400" dirty="0">
                <a:solidFill>
                  <a:srgbClr val="33CC33"/>
                </a:solidFill>
                <a:ea typeface="MS PGothic" charset="0"/>
              </a:rPr>
              <a:t>e= </a:t>
            </a:r>
            <a:r>
              <a:rPr lang="it-IT" sz="2400" dirty="0">
                <a:solidFill>
                  <a:srgbClr val="33CC33"/>
                </a:solidFill>
                <a:cs typeface="Comic Sans MS"/>
              </a:rPr>
              <a:t>10000011</a:t>
            </a:r>
            <a:r>
              <a:rPr lang="it-IT" sz="2400" baseline="-25000" dirty="0">
                <a:solidFill>
                  <a:srgbClr val="000000"/>
                </a:solidFill>
                <a:cs typeface="Comic Sans MS"/>
              </a:rPr>
              <a:t>2</a:t>
            </a:r>
          </a:p>
          <a:p>
            <a:pPr>
              <a:buFont typeface="Wingdings" charset="2"/>
              <a:buChar char="Ø"/>
            </a:pPr>
            <a:endParaRPr lang="it-IT" sz="2400" dirty="0">
              <a:solidFill>
                <a:srgbClr val="33CC33"/>
              </a:solidFill>
              <a:ea typeface="MS PGothic" charset="0"/>
              <a:cs typeface="Comic Sans MS"/>
            </a:endParaRPr>
          </a:p>
          <a:p>
            <a:pPr marL="0" indent="0"/>
            <a:endParaRPr lang="it-IT" sz="2400" dirty="0">
              <a:solidFill>
                <a:srgbClr val="33CC33"/>
              </a:solidFill>
              <a:ea typeface="MS PGothic" charset="0"/>
              <a:cs typeface="Comic Sans MS"/>
            </a:endParaRPr>
          </a:p>
          <a:p>
            <a:pPr marL="0" indent="0">
              <a:lnSpc>
                <a:spcPct val="50000"/>
              </a:lnSpc>
            </a:pPr>
            <a:endParaRPr lang="it-IT" sz="2400" dirty="0">
              <a:solidFill>
                <a:srgbClr val="33CC33"/>
              </a:solidFill>
              <a:ea typeface="MS PGothic" charset="0"/>
              <a:cs typeface="Comic Sans MS"/>
            </a:endParaRPr>
          </a:p>
          <a:p>
            <a:pPr>
              <a:buFont typeface="Wingdings" charset="2"/>
              <a:buChar char="Ø"/>
            </a:pPr>
            <a:r>
              <a:rPr lang="it-IT" sz="2400" dirty="0">
                <a:ea typeface="MS PGothic" charset="0"/>
                <a:cs typeface="Comic Sans MS"/>
              </a:rPr>
              <a:t>La rappresentazione di </a:t>
            </a:r>
            <a:r>
              <a:rPr lang="it-IT" sz="24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23,375</a:t>
            </a:r>
            <a:r>
              <a:rPr lang="it-IT" sz="8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10</a:t>
            </a:r>
            <a:r>
              <a:rPr lang="it-IT" sz="1400" dirty="0">
                <a:effectLst>
                  <a:outerShdw blurRad="38100" dist="38100" dir="2700000" algn="tl">
                    <a:srgbClr val="DDDDDD"/>
                  </a:outerShdw>
                </a:effectLst>
                <a:ea typeface="MS PGothic" charset="0"/>
              </a:rPr>
              <a:t> </a:t>
            </a:r>
            <a:r>
              <a:rPr lang="it-IT" sz="2400" dirty="0">
                <a:ea typeface="MS PGothic" charset="0"/>
                <a:cs typeface="Comic Sans MS"/>
              </a:rPr>
              <a:t>quindi è </a:t>
            </a:r>
          </a:p>
          <a:p>
            <a:pPr marL="0" indent="0"/>
            <a:r>
              <a:rPr lang="it-IT" sz="2400" dirty="0">
                <a:ea typeface="MS PGothic" charset="0"/>
                <a:cs typeface="Comic Sans MS"/>
              </a:rPr>
              <a:t>   </a:t>
            </a:r>
            <a:r>
              <a:rPr lang="it-IT" sz="2400" dirty="0">
                <a:solidFill>
                  <a:schemeClr val="accent2"/>
                </a:solidFill>
                <a:ea typeface="MS PGothic" charset="0"/>
                <a:cs typeface="Comic Sans MS"/>
              </a:rPr>
              <a:t>0</a:t>
            </a:r>
            <a:r>
              <a:rPr lang="it-IT" sz="2400" dirty="0">
                <a:ea typeface="MS PGothic" charset="0"/>
                <a:cs typeface="Comic Sans MS"/>
              </a:rPr>
              <a:t> </a:t>
            </a:r>
            <a:r>
              <a:rPr lang="it-IT" sz="2400" dirty="0">
                <a:solidFill>
                  <a:srgbClr val="33CC33"/>
                </a:solidFill>
                <a:cs typeface="Comic Sans MS"/>
              </a:rPr>
              <a:t>10000011 </a:t>
            </a:r>
            <a:r>
              <a:rPr lang="it-IT" sz="2400" dirty="0">
                <a:solidFill>
                  <a:srgbClr val="FF6600"/>
                </a:solidFill>
              </a:rPr>
              <a:t>0111</a:t>
            </a:r>
            <a:r>
              <a:rPr lang="it-IT" altLang="it-IT" sz="2400" dirty="0">
                <a:solidFill>
                  <a:srgbClr val="FF6600"/>
                </a:solidFill>
              </a:rPr>
              <a:t>011</a:t>
            </a:r>
            <a:r>
              <a:rPr lang="it-IT" sz="2400" dirty="0">
                <a:solidFill>
                  <a:schemeClr val="accent1"/>
                </a:solidFill>
                <a:ea typeface="MS PGothic" charset="0"/>
              </a:rPr>
              <a:t>0000000000000000</a:t>
            </a:r>
            <a:endParaRPr lang="it-IT" altLang="it-IT" sz="2400" baseline="-25000" dirty="0">
              <a:solidFill>
                <a:srgbClr val="000000"/>
              </a:solidFill>
            </a:endParaRPr>
          </a:p>
          <a:p>
            <a:pPr marL="457200" indent="-457200">
              <a:buFont typeface="Wingdings" charset="2"/>
              <a:buChar char="Ø"/>
              <a:defRPr/>
            </a:pPr>
            <a:r>
              <a:rPr lang="it-IT" sz="2400" dirty="0">
                <a:cs typeface="ＭＳ Ｐゴシック" charset="0"/>
              </a:rPr>
              <a:t>Convertiamo in formato esadecimale:</a:t>
            </a:r>
            <a:br>
              <a:rPr lang="it-IT" sz="2400" dirty="0">
                <a:cs typeface="ＭＳ Ｐゴシック" charset="0"/>
              </a:rPr>
            </a:br>
            <a:r>
              <a:rPr lang="it-IT" sz="2400" dirty="0">
                <a:cs typeface="ＭＳ Ｐゴシック" charset="0"/>
              </a:rPr>
              <a:t>0100 0001 1011 1011 0000 0000 0000 0000</a:t>
            </a:r>
            <a:endParaRPr lang="it-IT" sz="1050" dirty="0">
              <a:cs typeface="ＭＳ Ｐゴシック" charset="0"/>
            </a:endParaRPr>
          </a:p>
          <a:p>
            <a:pPr marL="0" indent="0" algn="ctr">
              <a:defRPr/>
            </a:pPr>
            <a:r>
              <a:rPr lang="it-IT" sz="2400" b="1" dirty="0">
                <a:solidFill>
                  <a:srgbClr val="FF0000"/>
                </a:solidFill>
                <a:cs typeface="ＭＳ Ｐゴシック" charset="0"/>
              </a:rPr>
              <a:t>41bb0000</a:t>
            </a:r>
            <a:r>
              <a:rPr lang="it-IT" sz="2400" b="1" baseline="-25000" dirty="0">
                <a:solidFill>
                  <a:srgbClr val="FF0000"/>
                </a:solidFill>
                <a:cs typeface="ＭＳ Ｐゴシック" charset="0"/>
              </a:rPr>
              <a:t>16</a:t>
            </a:r>
            <a:r>
              <a:rPr lang="it-IT" sz="2400" dirty="0">
                <a:cs typeface="ＭＳ Ｐゴシック" charset="0"/>
              </a:rPr>
              <a:t>	</a:t>
            </a:r>
            <a:endParaRPr lang="it-IT" sz="2400" dirty="0">
              <a:ea typeface="MS PGothic" charset="0"/>
              <a:cs typeface="Comic Sans MS"/>
            </a:endParaRPr>
          </a:p>
          <a:p>
            <a:pPr algn="just"/>
            <a:r>
              <a:rPr lang="it-IT" sz="2400" dirty="0">
                <a:ea typeface="MS PGothic" charset="0"/>
              </a:rPr>
              <a:t> </a:t>
            </a:r>
          </a:p>
        </p:txBody>
      </p:sp>
      <p:sp>
        <p:nvSpPr>
          <p:cNvPr id="6" name="Titolo 1"/>
          <p:cNvSpPr>
            <a:spLocks noGrp="1"/>
          </p:cNvSpPr>
          <p:nvPr>
            <p:ph type="title"/>
          </p:nvPr>
        </p:nvSpPr>
        <p:spPr>
          <a:xfrm>
            <a:off x="608136" y="587152"/>
            <a:ext cx="7926265" cy="609600"/>
          </a:xfrm>
        </p:spPr>
        <p:txBody>
          <a:bodyPr/>
          <a:lstStyle/>
          <a:p>
            <a:r>
              <a:rPr lang="it-IT" sz="4800" dirty="0">
                <a:ea typeface="MS PGothic" charset="0"/>
              </a:rPr>
              <a:t>Esercizio 4: Soluzione </a:t>
            </a:r>
          </a:p>
        </p:txBody>
      </p:sp>
      <p:grpSp>
        <p:nvGrpSpPr>
          <p:cNvPr id="46" name="Group 13"/>
          <p:cNvGrpSpPr>
            <a:grpSpLocks/>
          </p:cNvGrpSpPr>
          <p:nvPr/>
        </p:nvGrpSpPr>
        <p:grpSpPr bwMode="auto">
          <a:xfrm>
            <a:off x="658688" y="3284984"/>
            <a:ext cx="8305800" cy="836613"/>
            <a:chOff x="295" y="1252"/>
            <a:chExt cx="5232" cy="527"/>
          </a:xfrm>
        </p:grpSpPr>
        <p:sp>
          <p:nvSpPr>
            <p:cNvPr id="52" name="Rectangle 5"/>
            <p:cNvSpPr>
              <a:spLocks noChangeArrowheads="1"/>
            </p:cNvSpPr>
            <p:nvPr/>
          </p:nvSpPr>
          <p:spPr bwMode="auto">
            <a:xfrm>
              <a:off x="295" y="1258"/>
              <a:ext cx="288" cy="50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Rectangle 6"/>
            <p:cNvSpPr>
              <a:spLocks noChangeArrowheads="1"/>
            </p:cNvSpPr>
            <p:nvPr/>
          </p:nvSpPr>
          <p:spPr bwMode="auto">
            <a:xfrm>
              <a:off x="583" y="1258"/>
              <a:ext cx="864" cy="507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Text Box 7"/>
            <p:cNvSpPr txBox="1">
              <a:spLocks noChangeArrowheads="1"/>
            </p:cNvSpPr>
            <p:nvPr/>
          </p:nvSpPr>
          <p:spPr bwMode="auto">
            <a:xfrm rot="16200000">
              <a:off x="186" y="1399"/>
              <a:ext cx="5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b="0" dirty="0">
                  <a:latin typeface="+mn-lt"/>
                </a:rPr>
                <a:t>Segno</a:t>
              </a:r>
            </a:p>
          </p:txBody>
        </p:sp>
        <p:sp>
          <p:nvSpPr>
            <p:cNvPr id="55" name="Text Box 9"/>
            <p:cNvSpPr txBox="1">
              <a:spLocks noChangeArrowheads="1"/>
            </p:cNvSpPr>
            <p:nvPr/>
          </p:nvSpPr>
          <p:spPr bwMode="auto">
            <a:xfrm>
              <a:off x="384" y="1274"/>
              <a:ext cx="1197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800" b="0" dirty="0" err="1">
                  <a:latin typeface="+mn-lt"/>
                </a:rPr>
                <a:t>Esponente</a:t>
              </a:r>
              <a:endParaRPr lang="en-US" sz="1800" b="0" dirty="0">
                <a:latin typeface="+mn-lt"/>
              </a:endParaRPr>
            </a:p>
            <a:p>
              <a:pPr algn="ctr" eaLnBrk="0" hangingPunct="0"/>
              <a:r>
                <a:rPr lang="en-US" sz="1800" b="0" dirty="0">
                  <a:latin typeface="+mn-lt"/>
                </a:rPr>
                <a:t>(8 bit)</a:t>
              </a:r>
            </a:p>
          </p:txBody>
        </p:sp>
        <p:sp>
          <p:nvSpPr>
            <p:cNvPr id="56" name="Rectangle 10"/>
            <p:cNvSpPr>
              <a:spLocks noChangeArrowheads="1"/>
            </p:cNvSpPr>
            <p:nvPr/>
          </p:nvSpPr>
          <p:spPr bwMode="auto">
            <a:xfrm>
              <a:off x="1447" y="1258"/>
              <a:ext cx="4080" cy="50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Text Box 11"/>
            <p:cNvSpPr txBox="1">
              <a:spLocks noChangeArrowheads="1"/>
            </p:cNvSpPr>
            <p:nvPr/>
          </p:nvSpPr>
          <p:spPr bwMode="auto">
            <a:xfrm>
              <a:off x="2763" y="1274"/>
              <a:ext cx="789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000" b="0" dirty="0">
                  <a:latin typeface="+mn-lt"/>
                </a:rPr>
                <a:t>Mantissa</a:t>
              </a:r>
            </a:p>
            <a:p>
              <a:pPr algn="ctr" eaLnBrk="0" hangingPunct="0"/>
              <a:r>
                <a:rPr lang="en-US" sz="2000" b="0" dirty="0">
                  <a:latin typeface="+mn-lt"/>
                </a:rPr>
                <a:t>(23 bit)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902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1143000"/>
          </a:xfrm>
        </p:spPr>
        <p:txBody>
          <a:bodyPr/>
          <a:lstStyle/>
          <a:p>
            <a:r>
              <a:rPr lang="en-US" altLang="it-IT" sz="4800" dirty="0" err="1"/>
              <a:t>Esercizio</a:t>
            </a:r>
            <a:r>
              <a:rPr lang="en-US" altLang="it-IT" sz="4800" dirty="0"/>
              <a:t> 5</a:t>
            </a:r>
          </a:p>
        </p:txBody>
      </p:sp>
      <p:sp>
        <p:nvSpPr>
          <p:cNvPr id="4" name="Segnaposto contenuto 2"/>
          <p:cNvSpPr>
            <a:spLocks noGrp="1"/>
          </p:cNvSpPr>
          <p:nvPr>
            <p:ph idx="1"/>
          </p:nvPr>
        </p:nvSpPr>
        <p:spPr>
          <a:xfrm>
            <a:off x="457200" y="1556792"/>
            <a:ext cx="8579296" cy="4104456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sz="2400" dirty="0"/>
              <a:t>Calcolare </a:t>
            </a:r>
            <a:r>
              <a:rPr lang="it-IT" sz="2400" dirty="0">
                <a:solidFill>
                  <a:srgbClr val="000000"/>
                </a:solidFill>
              </a:rPr>
              <a:t>23,375</a:t>
            </a:r>
            <a:r>
              <a:rPr lang="it-IT" sz="2400" baseline="-25000" dirty="0">
                <a:solidFill>
                  <a:srgbClr val="000000"/>
                </a:solidFill>
              </a:rPr>
              <a:t>10 </a:t>
            </a:r>
            <a:r>
              <a:rPr lang="it-IT" sz="2400" dirty="0">
                <a:solidFill>
                  <a:srgbClr val="000000"/>
                </a:solidFill>
              </a:rPr>
              <a:t>- 22,5</a:t>
            </a:r>
            <a:r>
              <a:rPr lang="it-IT" sz="2400" baseline="-25000" dirty="0">
                <a:solidFill>
                  <a:srgbClr val="000000"/>
                </a:solidFill>
              </a:rPr>
              <a:t>10 </a:t>
            </a:r>
            <a:r>
              <a:rPr lang="it-IT" sz="2400" dirty="0">
                <a:solidFill>
                  <a:srgbClr val="000000"/>
                </a:solidFill>
              </a:rPr>
              <a:t>ed esprimere il risultato </a:t>
            </a:r>
            <a:r>
              <a:rPr lang="it-IT" sz="2400" dirty="0">
                <a:cs typeface="ＭＳ Ｐゴシック" charset="0"/>
              </a:rPr>
              <a:t>in formato a virgola mobile </a:t>
            </a:r>
            <a:r>
              <a:rPr lang="it-IT" sz="2400" dirty="0">
                <a:solidFill>
                  <a:srgbClr val="0000FF"/>
                </a:solidFill>
                <a:cs typeface="ＭＳ Ｐゴシック" charset="0"/>
              </a:rPr>
              <a:t>IEEE 754 (precisione singola)</a:t>
            </a:r>
            <a:endParaRPr lang="it-IT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98707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1143000"/>
          </a:xfrm>
        </p:spPr>
        <p:txBody>
          <a:bodyPr/>
          <a:lstStyle/>
          <a:p>
            <a:r>
              <a:rPr lang="en-US" altLang="it-IT" sz="4800" dirty="0" err="1"/>
              <a:t>Esercizio</a:t>
            </a:r>
            <a:r>
              <a:rPr lang="en-US" altLang="it-IT" sz="4800" dirty="0"/>
              <a:t> 5: </a:t>
            </a:r>
            <a:r>
              <a:rPr lang="en-US" altLang="it-IT" sz="4800" dirty="0" err="1"/>
              <a:t>Soluzione</a:t>
            </a:r>
            <a:endParaRPr lang="en-US" altLang="it-IT" sz="4800" dirty="0"/>
          </a:p>
        </p:txBody>
      </p:sp>
      <p:sp>
        <p:nvSpPr>
          <p:cNvPr id="4" name="Segnaposto contenuto 2"/>
          <p:cNvSpPr>
            <a:spLocks noGrp="1"/>
          </p:cNvSpPr>
          <p:nvPr>
            <p:ph idx="1"/>
          </p:nvPr>
        </p:nvSpPr>
        <p:spPr>
          <a:xfrm>
            <a:off x="457200" y="1556792"/>
            <a:ext cx="8579296" cy="4104456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sz="1600" dirty="0"/>
              <a:t>Calcolare </a:t>
            </a:r>
            <a:r>
              <a:rPr lang="it-IT" sz="1600" dirty="0">
                <a:solidFill>
                  <a:srgbClr val="000000"/>
                </a:solidFill>
              </a:rPr>
              <a:t>23,375</a:t>
            </a:r>
            <a:r>
              <a:rPr lang="it-IT" sz="1600" baseline="-25000" dirty="0">
                <a:solidFill>
                  <a:srgbClr val="000000"/>
                </a:solidFill>
              </a:rPr>
              <a:t>10 </a:t>
            </a:r>
            <a:r>
              <a:rPr lang="it-IT" sz="1600" dirty="0">
                <a:solidFill>
                  <a:srgbClr val="000000"/>
                </a:solidFill>
              </a:rPr>
              <a:t>- 22,5</a:t>
            </a:r>
            <a:r>
              <a:rPr lang="it-IT" sz="1600" baseline="-25000" dirty="0">
                <a:solidFill>
                  <a:srgbClr val="000000"/>
                </a:solidFill>
              </a:rPr>
              <a:t>10</a:t>
            </a:r>
            <a:r>
              <a:rPr lang="it-IT" sz="1600" dirty="0">
                <a:solidFill>
                  <a:srgbClr val="000000"/>
                </a:solidFill>
              </a:rPr>
              <a:t> ed esprimere il risultato </a:t>
            </a:r>
            <a:r>
              <a:rPr lang="it-IT" sz="1600" dirty="0">
                <a:cs typeface="ＭＳ Ｐゴシック" charset="0"/>
              </a:rPr>
              <a:t>in formato a virgola mobile </a:t>
            </a:r>
            <a:r>
              <a:rPr lang="it-IT" sz="1600" dirty="0">
                <a:solidFill>
                  <a:srgbClr val="0000FF"/>
                </a:solidFill>
                <a:cs typeface="ＭＳ Ｐゴシック" charset="0"/>
              </a:rPr>
              <a:t>IEEE 754 (precisione singola)</a:t>
            </a:r>
            <a:r>
              <a:rPr lang="it-IT" sz="1600" dirty="0">
                <a:solidFill>
                  <a:srgbClr val="000000"/>
                </a:solidFill>
              </a:rPr>
              <a:t> 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solidFill>
                  <a:srgbClr val="000000"/>
                </a:solidFill>
              </a:rPr>
              <a:t>23,375</a:t>
            </a:r>
            <a:r>
              <a:rPr lang="it-IT" sz="2400" baseline="-25000" dirty="0">
                <a:solidFill>
                  <a:srgbClr val="000000"/>
                </a:solidFill>
              </a:rPr>
              <a:t>10</a:t>
            </a:r>
            <a:r>
              <a:rPr lang="it-IT" sz="2400" dirty="0">
                <a:solidFill>
                  <a:srgbClr val="000000"/>
                </a:solidFill>
              </a:rPr>
              <a:t> =</a:t>
            </a:r>
            <a:r>
              <a:rPr lang="it-IT" sz="2400" dirty="0">
                <a:solidFill>
                  <a:srgbClr val="0000FF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  <a:cs typeface="Comic Sans MS"/>
              </a:rPr>
              <a:t>10111</a:t>
            </a:r>
            <a:r>
              <a:rPr lang="it-IT" sz="2400" dirty="0">
                <a:solidFill>
                  <a:srgbClr val="000000"/>
                </a:solidFill>
                <a:cs typeface="Comic Sans MS"/>
              </a:rPr>
              <a:t>,</a:t>
            </a:r>
            <a:r>
              <a:rPr lang="it-IT" altLang="it-IT" sz="2400" dirty="0">
                <a:solidFill>
                  <a:srgbClr val="FF3300"/>
                </a:solidFill>
              </a:rPr>
              <a:t>011</a:t>
            </a:r>
            <a:r>
              <a:rPr lang="it-IT" altLang="it-IT" sz="2400" baseline="-25000" dirty="0">
                <a:solidFill>
                  <a:srgbClr val="000000"/>
                </a:solidFill>
              </a:rPr>
              <a:t>2 </a:t>
            </a:r>
            <a:r>
              <a:rPr lang="it-IT" altLang="it-IT" sz="2400" dirty="0">
                <a:solidFill>
                  <a:srgbClr val="000000"/>
                </a:solidFill>
              </a:rPr>
              <a:t>=</a:t>
            </a:r>
            <a:r>
              <a:rPr lang="it-IT" altLang="it-IT" sz="2400" dirty="0">
                <a:solidFill>
                  <a:srgbClr val="FF33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  <a:cs typeface="Comic Sans MS"/>
              </a:rPr>
              <a:t>1,</a:t>
            </a:r>
            <a:r>
              <a:rPr lang="it-IT" sz="2400" dirty="0">
                <a:solidFill>
                  <a:schemeClr val="accent1"/>
                </a:solidFill>
                <a:cs typeface="Comic Sans MS"/>
              </a:rPr>
              <a:t>0111</a:t>
            </a:r>
            <a:r>
              <a:rPr lang="it-IT" altLang="it-IT" sz="2400" dirty="0">
                <a:solidFill>
                  <a:schemeClr val="accent1"/>
                </a:solidFill>
              </a:rPr>
              <a:t>011</a:t>
            </a:r>
            <a:r>
              <a:rPr lang="it-IT" altLang="it-IT" sz="2400" baseline="-25000" dirty="0">
                <a:solidFill>
                  <a:srgbClr val="000000"/>
                </a:solidFill>
              </a:rPr>
              <a:t>2 </a:t>
            </a:r>
            <a:r>
              <a:rPr lang="it-IT" altLang="it-IT" sz="2400" dirty="0">
                <a:solidFill>
                  <a:srgbClr val="000000"/>
                </a:solidFill>
              </a:rPr>
              <a:t>x 2</a:t>
            </a:r>
            <a:r>
              <a:rPr lang="it-IT" altLang="it-IT" sz="2400" baseline="30000" dirty="0">
                <a:solidFill>
                  <a:srgbClr val="33CC33"/>
                </a:solidFill>
              </a:rPr>
              <a:t>2</a:t>
            </a:r>
            <a:endParaRPr lang="it-IT" altLang="it-IT" sz="2400" baseline="-25000" dirty="0">
              <a:solidFill>
                <a:srgbClr val="000000"/>
              </a:solidFill>
            </a:endParaRP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solidFill>
                  <a:srgbClr val="000000"/>
                </a:solidFill>
              </a:rPr>
              <a:t>22,5</a:t>
            </a:r>
            <a:r>
              <a:rPr lang="it-IT" sz="2400" baseline="-25000" dirty="0">
                <a:solidFill>
                  <a:srgbClr val="000000"/>
                </a:solidFill>
              </a:rPr>
              <a:t>10 </a:t>
            </a:r>
            <a:r>
              <a:rPr lang="it-IT" sz="2400" dirty="0">
                <a:solidFill>
                  <a:srgbClr val="000000"/>
                </a:solidFill>
              </a:rPr>
              <a:t>= </a:t>
            </a:r>
            <a:r>
              <a:rPr lang="it-IT" sz="2400" dirty="0">
                <a:solidFill>
                  <a:srgbClr val="0000FF"/>
                </a:solidFill>
                <a:cs typeface="Comic Sans MS"/>
              </a:rPr>
              <a:t>10110</a:t>
            </a:r>
            <a:r>
              <a:rPr lang="it-IT" sz="2400" dirty="0">
                <a:solidFill>
                  <a:srgbClr val="000000"/>
                </a:solidFill>
                <a:cs typeface="Comic Sans MS"/>
              </a:rPr>
              <a:t>,</a:t>
            </a:r>
            <a:r>
              <a:rPr lang="it-IT" altLang="it-IT" sz="2400" dirty="0">
                <a:solidFill>
                  <a:srgbClr val="FF3300"/>
                </a:solidFill>
              </a:rPr>
              <a:t>1</a:t>
            </a:r>
            <a:r>
              <a:rPr lang="it-IT" altLang="it-IT" sz="2400" baseline="-25000" dirty="0">
                <a:solidFill>
                  <a:srgbClr val="000000"/>
                </a:solidFill>
              </a:rPr>
              <a:t>2 </a:t>
            </a:r>
            <a:r>
              <a:rPr lang="it-IT" altLang="it-IT" sz="2400" dirty="0">
                <a:solidFill>
                  <a:srgbClr val="000000"/>
                </a:solidFill>
              </a:rPr>
              <a:t>=</a:t>
            </a:r>
            <a:r>
              <a:rPr lang="it-IT" altLang="it-IT" sz="2400" dirty="0">
                <a:solidFill>
                  <a:srgbClr val="FF33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  <a:cs typeface="Comic Sans MS"/>
              </a:rPr>
              <a:t>1,</a:t>
            </a:r>
            <a:r>
              <a:rPr lang="it-IT" sz="2400" dirty="0">
                <a:solidFill>
                  <a:schemeClr val="accent1"/>
                </a:solidFill>
                <a:cs typeface="Comic Sans MS"/>
              </a:rPr>
              <a:t>0110</a:t>
            </a:r>
            <a:r>
              <a:rPr lang="it-IT" altLang="it-IT" sz="2400" dirty="0">
                <a:solidFill>
                  <a:schemeClr val="accent1"/>
                </a:solidFill>
              </a:rPr>
              <a:t>1</a:t>
            </a:r>
            <a:r>
              <a:rPr lang="it-IT" altLang="it-IT" sz="2400" baseline="-25000" dirty="0">
                <a:solidFill>
                  <a:srgbClr val="000000"/>
                </a:solidFill>
              </a:rPr>
              <a:t>2 </a:t>
            </a:r>
            <a:r>
              <a:rPr lang="it-IT" altLang="it-IT" sz="2400" dirty="0">
                <a:solidFill>
                  <a:srgbClr val="000000"/>
                </a:solidFill>
              </a:rPr>
              <a:t>x 2</a:t>
            </a:r>
            <a:r>
              <a:rPr lang="it-IT" altLang="it-IT" sz="2400" baseline="30000" dirty="0">
                <a:solidFill>
                  <a:srgbClr val="33CC33"/>
                </a:solidFill>
              </a:rPr>
              <a:t>2</a:t>
            </a:r>
            <a:r>
              <a:rPr lang="it-IT" altLang="it-IT" sz="2400" baseline="-25000" dirty="0">
                <a:solidFill>
                  <a:srgbClr val="000000"/>
                </a:solidFill>
              </a:rPr>
              <a:t> </a:t>
            </a:r>
            <a:endParaRPr lang="it-IT" sz="2400" baseline="30000" dirty="0">
              <a:solidFill>
                <a:srgbClr val="0000FF"/>
              </a:solidFill>
            </a:endParaRP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/>
              <a:t>Hanno lo stesso ordine di grandezza! </a:t>
            </a:r>
            <a:r>
              <a:rPr lang="it-IT" sz="1600" dirty="0"/>
              <a:t>(altrimenti sposto virgola a sinistra sull’ esponente </a:t>
            </a:r>
            <a:r>
              <a:rPr lang="it-IT" sz="1600" dirty="0" err="1"/>
              <a:t>piu</a:t>
            </a:r>
            <a:r>
              <a:rPr lang="it-IT" sz="1600" dirty="0"/>
              <a:t> piccolo)</a:t>
            </a:r>
            <a:endParaRPr lang="it-IT" sz="1050" dirty="0"/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/>
              <a:t>Effettuiamo la</a:t>
            </a:r>
            <a:r>
              <a:rPr lang="it-IT" sz="2400" dirty="0">
                <a:solidFill>
                  <a:srgbClr val="CC0000"/>
                </a:solidFill>
              </a:rPr>
              <a:t> sottrazione in binario puro</a:t>
            </a:r>
            <a:r>
              <a:rPr lang="it-IT" sz="2400" dirty="0"/>
              <a:t> dei valori ottenuti:</a:t>
            </a:r>
            <a:br>
              <a:rPr lang="it-IT" sz="2400" dirty="0"/>
            </a:br>
            <a:r>
              <a:rPr lang="it-IT" sz="2400" dirty="0"/>
              <a:t>	        </a:t>
            </a:r>
            <a:r>
              <a:rPr lang="it-IT" sz="2400" b="1" dirty="0">
                <a:solidFill>
                  <a:srgbClr val="CC0000"/>
                </a:solidFill>
                <a:latin typeface="Courier"/>
                <a:cs typeface="Courier"/>
              </a:rPr>
              <a:t> </a:t>
            </a:r>
            <a:r>
              <a:rPr lang="it-IT" sz="2400" b="1" dirty="0">
                <a:solidFill>
                  <a:srgbClr val="000000"/>
                </a:solidFill>
                <a:latin typeface="Courier"/>
                <a:cs typeface="Courier"/>
              </a:rPr>
              <a:t>1,0111011-</a:t>
            </a:r>
            <a:br>
              <a:rPr lang="it-IT" sz="2400" b="1" dirty="0">
                <a:solidFill>
                  <a:srgbClr val="000000"/>
                </a:solidFill>
                <a:latin typeface="Courier"/>
                <a:cs typeface="Courier"/>
              </a:rPr>
            </a:br>
            <a:r>
              <a:rPr lang="it-IT" sz="2400" b="1" dirty="0">
                <a:solidFill>
                  <a:srgbClr val="000000"/>
                </a:solidFill>
                <a:latin typeface="Courier"/>
                <a:cs typeface="Courier"/>
              </a:rPr>
              <a:t>		</a:t>
            </a:r>
            <a:r>
              <a:rPr lang="it-IT" sz="2400" b="1" u="sng" dirty="0">
                <a:solidFill>
                  <a:srgbClr val="000000"/>
                </a:solidFill>
                <a:latin typeface="Courier"/>
                <a:cs typeface="Courier"/>
              </a:rPr>
              <a:t>1,0110100=</a:t>
            </a:r>
            <a:br>
              <a:rPr lang="it-IT" sz="2400" b="1" u="sng" dirty="0">
                <a:solidFill>
                  <a:srgbClr val="000000"/>
                </a:solidFill>
                <a:latin typeface="Courier"/>
                <a:cs typeface="Courier"/>
              </a:rPr>
            </a:br>
            <a:r>
              <a:rPr lang="it-IT" sz="2400" b="1" dirty="0">
                <a:latin typeface="Courier"/>
                <a:cs typeface="Courier"/>
              </a:rPr>
              <a:t>	     </a:t>
            </a:r>
            <a:r>
              <a:rPr lang="it-IT" sz="2400" b="1" dirty="0">
                <a:solidFill>
                  <a:srgbClr val="33CC33"/>
                </a:solidFill>
                <a:latin typeface="Courier"/>
                <a:cs typeface="Courier"/>
              </a:rPr>
              <a:t>0,0000111 </a:t>
            </a:r>
            <a:r>
              <a:rPr lang="it-IT" sz="2400" b="1" dirty="0">
                <a:solidFill>
                  <a:srgbClr val="33CC33"/>
                </a:solidFill>
                <a:cs typeface="Courier"/>
              </a:rPr>
              <a:t>x</a:t>
            </a:r>
            <a:r>
              <a:rPr lang="it-IT" sz="2400" b="1" dirty="0">
                <a:solidFill>
                  <a:srgbClr val="33CC33"/>
                </a:solidFill>
                <a:latin typeface="Courier"/>
                <a:cs typeface="Courier"/>
              </a:rPr>
              <a:t> 2</a:t>
            </a:r>
            <a:r>
              <a:rPr lang="it-IT" sz="2400" b="1" baseline="30000" dirty="0">
                <a:solidFill>
                  <a:srgbClr val="33CC33"/>
                </a:solidFill>
                <a:latin typeface="Courier"/>
                <a:cs typeface="Courier"/>
              </a:rPr>
              <a:t>4</a:t>
            </a:r>
            <a:endParaRPr lang="it-IT" sz="2400" b="1" u="sng" baseline="30000" dirty="0">
              <a:solidFill>
                <a:srgbClr val="33CC33"/>
              </a:solidFill>
              <a:latin typeface="Courier"/>
              <a:cs typeface="Courier"/>
            </a:endParaRP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/>
              <a:t>Normalizziamo il risultato, spostando la virgola a dx di 5 posti:</a:t>
            </a:r>
          </a:p>
          <a:p>
            <a:pPr marL="400050" lvl="1" indent="0">
              <a:buNone/>
            </a:pPr>
            <a:r>
              <a:rPr lang="it-IT" sz="2400" b="1" dirty="0">
                <a:solidFill>
                  <a:srgbClr val="33CC33"/>
                </a:solidFill>
                <a:latin typeface="Courier"/>
                <a:cs typeface="Courier"/>
              </a:rPr>
              <a:t>			1,11</a:t>
            </a:r>
            <a:r>
              <a:rPr lang="it-IT" sz="2400" b="1" baseline="-25000" dirty="0">
                <a:solidFill>
                  <a:srgbClr val="000000"/>
                </a:solidFill>
                <a:latin typeface="Courier"/>
                <a:cs typeface="Courier"/>
              </a:rPr>
              <a:t>2</a:t>
            </a:r>
            <a:r>
              <a:rPr lang="it-IT" sz="2400" b="1" dirty="0">
                <a:solidFill>
                  <a:srgbClr val="33CC33"/>
                </a:solidFill>
                <a:latin typeface="Courier"/>
                <a:cs typeface="Courier"/>
              </a:rPr>
              <a:t> </a:t>
            </a:r>
            <a:r>
              <a:rPr lang="it-IT" sz="2400" b="1" dirty="0">
                <a:solidFill>
                  <a:srgbClr val="33CC33"/>
                </a:solidFill>
                <a:cs typeface="Courier"/>
              </a:rPr>
              <a:t>x</a:t>
            </a:r>
            <a:r>
              <a:rPr lang="it-IT" sz="2400" b="1" dirty="0">
                <a:solidFill>
                  <a:srgbClr val="33CC33"/>
                </a:solidFill>
                <a:latin typeface="Courier"/>
                <a:cs typeface="Courier"/>
              </a:rPr>
              <a:t> 2</a:t>
            </a:r>
            <a:r>
              <a:rPr lang="it-IT" sz="2400" b="1" baseline="30000" dirty="0">
                <a:solidFill>
                  <a:srgbClr val="33CC33"/>
                </a:solidFill>
                <a:latin typeface="Courier"/>
                <a:cs typeface="Courier"/>
              </a:rPr>
              <a:t>-1</a:t>
            </a:r>
            <a:endParaRPr lang="it-IT" sz="2400" b="1" u="sng" baseline="30000" dirty="0">
              <a:solidFill>
                <a:srgbClr val="33CC33"/>
              </a:solidFill>
              <a:latin typeface="Courier"/>
              <a:cs typeface="Courier"/>
            </a:endParaRPr>
          </a:p>
          <a:p>
            <a:pPr marL="857250" lvl="1" indent="-457200">
              <a:buFont typeface="Wingdings" charset="2"/>
              <a:buChar char="Ø"/>
            </a:pPr>
            <a:endParaRPr lang="it-IT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24826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1143000"/>
          </a:xfrm>
        </p:spPr>
        <p:txBody>
          <a:bodyPr/>
          <a:lstStyle/>
          <a:p>
            <a:r>
              <a:rPr lang="en-US" altLang="it-IT" sz="4800" dirty="0" err="1"/>
              <a:t>Esercizio</a:t>
            </a:r>
            <a:r>
              <a:rPr lang="en-US" altLang="it-IT" sz="4800" dirty="0"/>
              <a:t> 5: </a:t>
            </a:r>
            <a:r>
              <a:rPr lang="en-US" altLang="it-IT" sz="4800" dirty="0" err="1"/>
              <a:t>Soluzione</a:t>
            </a:r>
            <a:endParaRPr lang="en-US" altLang="it-IT" sz="4800" dirty="0"/>
          </a:p>
        </p:txBody>
      </p:sp>
      <p:sp>
        <p:nvSpPr>
          <p:cNvPr id="4" name="Segnaposto contenuto 2"/>
          <p:cNvSpPr>
            <a:spLocks noGrp="1"/>
          </p:cNvSpPr>
          <p:nvPr>
            <p:ph idx="1"/>
          </p:nvPr>
        </p:nvSpPr>
        <p:spPr>
          <a:xfrm>
            <a:off x="529208" y="1700808"/>
            <a:ext cx="8579296" cy="4104456"/>
          </a:xfrm>
        </p:spPr>
        <p:txBody>
          <a:bodyPr/>
          <a:lstStyle/>
          <a:p>
            <a:pPr marL="400050" lvl="1" indent="0">
              <a:buNone/>
            </a:pPr>
            <a:r>
              <a:rPr lang="it-IT" sz="2800" dirty="0"/>
              <a:t>Il risultato ottenuto per </a:t>
            </a:r>
            <a:r>
              <a:rPr lang="it-IT" dirty="0">
                <a:solidFill>
                  <a:srgbClr val="000000"/>
                </a:solidFill>
              </a:rPr>
              <a:t>23,375</a:t>
            </a:r>
            <a:r>
              <a:rPr lang="it-IT" baseline="-25000" dirty="0">
                <a:solidFill>
                  <a:srgbClr val="000000"/>
                </a:solidFill>
              </a:rPr>
              <a:t>10 </a:t>
            </a:r>
            <a:r>
              <a:rPr lang="it-IT" dirty="0">
                <a:solidFill>
                  <a:srgbClr val="000000"/>
                </a:solidFill>
              </a:rPr>
              <a:t>- 22,5</a:t>
            </a:r>
            <a:r>
              <a:rPr lang="it-IT" baseline="-25000" dirty="0">
                <a:solidFill>
                  <a:srgbClr val="000000"/>
                </a:solidFill>
              </a:rPr>
              <a:t>10</a:t>
            </a:r>
            <a:r>
              <a:rPr lang="it-IT" dirty="0">
                <a:solidFill>
                  <a:srgbClr val="000000"/>
                </a:solidFill>
              </a:rPr>
              <a:t> </a:t>
            </a:r>
            <a:r>
              <a:rPr lang="it-IT" sz="2800" dirty="0"/>
              <a:t>è	       			</a:t>
            </a:r>
            <a:r>
              <a:rPr lang="it-IT" b="1" dirty="0">
                <a:solidFill>
                  <a:srgbClr val="33CC33"/>
                </a:solidFill>
                <a:latin typeface="Courier"/>
                <a:cs typeface="Courier"/>
              </a:rPr>
              <a:t>1,11</a:t>
            </a:r>
            <a:r>
              <a:rPr lang="it-IT" b="1" baseline="-25000" dirty="0">
                <a:solidFill>
                  <a:srgbClr val="000000"/>
                </a:solidFill>
                <a:latin typeface="Courier"/>
                <a:cs typeface="Courier"/>
              </a:rPr>
              <a:t>2</a:t>
            </a:r>
            <a:r>
              <a:rPr lang="it-IT" b="1" dirty="0">
                <a:solidFill>
                  <a:srgbClr val="33CC33"/>
                </a:solidFill>
                <a:latin typeface="Courier"/>
                <a:cs typeface="Courier"/>
              </a:rPr>
              <a:t> </a:t>
            </a:r>
            <a:r>
              <a:rPr lang="it-IT" b="1" dirty="0">
                <a:solidFill>
                  <a:srgbClr val="33CC33"/>
                </a:solidFill>
                <a:cs typeface="Courier"/>
              </a:rPr>
              <a:t>x</a:t>
            </a:r>
            <a:r>
              <a:rPr lang="it-IT" b="1" dirty="0">
                <a:solidFill>
                  <a:srgbClr val="33CC33"/>
                </a:solidFill>
                <a:latin typeface="Courier"/>
                <a:cs typeface="Courier"/>
              </a:rPr>
              <a:t> 2</a:t>
            </a:r>
            <a:r>
              <a:rPr lang="it-IT" b="1" baseline="30000" dirty="0">
                <a:solidFill>
                  <a:srgbClr val="33CC33"/>
                </a:solidFill>
                <a:latin typeface="Courier"/>
                <a:cs typeface="Courier"/>
              </a:rPr>
              <a:t>-1</a:t>
            </a:r>
            <a:endParaRPr lang="it-IT" b="1" u="sng" baseline="30000" dirty="0">
              <a:solidFill>
                <a:srgbClr val="33CC33"/>
              </a:solidFill>
              <a:latin typeface="Courier"/>
              <a:cs typeface="Courier"/>
            </a:endParaRPr>
          </a:p>
          <a:p>
            <a:pPr marL="0" lvl="1" indent="0">
              <a:buNone/>
            </a:pPr>
            <a:r>
              <a:rPr lang="it-IT" dirty="0"/>
              <a:t>    </a:t>
            </a:r>
            <a:r>
              <a:rPr lang="it-IT" sz="2800" dirty="0"/>
              <a:t>che corrisponde a 0,111</a:t>
            </a:r>
            <a:r>
              <a:rPr lang="it-IT" sz="2800" baseline="-25000" dirty="0"/>
              <a:t>2</a:t>
            </a:r>
            <a:r>
              <a:rPr lang="it-IT" sz="2800" dirty="0"/>
              <a:t> = </a:t>
            </a:r>
            <a:br>
              <a:rPr lang="it-IT" sz="2800" dirty="0"/>
            </a:br>
            <a:r>
              <a:rPr lang="it-IT" dirty="0"/>
              <a:t>0,111</a:t>
            </a:r>
            <a:r>
              <a:rPr lang="it-IT" baseline="-25000" dirty="0"/>
              <a:t>2</a:t>
            </a:r>
            <a:r>
              <a:rPr lang="it-IT" dirty="0"/>
              <a:t>​=1⋅2</a:t>
            </a:r>
            <a:r>
              <a:rPr lang="it-IT" b="1" baseline="30000" dirty="0">
                <a:latin typeface="Courier"/>
                <a:cs typeface="Courier"/>
              </a:rPr>
              <a:t>-1</a:t>
            </a:r>
            <a:r>
              <a:rPr lang="it-IT" dirty="0"/>
              <a:t>+1⋅2</a:t>
            </a:r>
            <a:r>
              <a:rPr lang="it-IT" b="1" baseline="30000" dirty="0">
                <a:latin typeface="Courier"/>
                <a:cs typeface="Courier"/>
              </a:rPr>
              <a:t>-2</a:t>
            </a:r>
            <a:r>
              <a:rPr lang="it-IT" dirty="0"/>
              <a:t>+1⋅2</a:t>
            </a:r>
            <a:r>
              <a:rPr lang="it-IT" b="1" baseline="30000" dirty="0">
                <a:latin typeface="Courier"/>
                <a:cs typeface="Courier"/>
              </a:rPr>
              <a:t>-3</a:t>
            </a:r>
            <a:r>
              <a:rPr lang="it-IT" dirty="0">
                <a:cs typeface="Courier"/>
              </a:rPr>
              <a:t>= </a:t>
            </a:r>
            <a:r>
              <a:rPr lang="it-IT" sz="2800" dirty="0"/>
              <a:t>0,875</a:t>
            </a:r>
            <a:r>
              <a:rPr lang="it-IT" sz="2800" baseline="-25000" dirty="0"/>
              <a:t>10</a:t>
            </a:r>
          </a:p>
          <a:p>
            <a:pPr marL="457200" indent="-457200">
              <a:buFont typeface="Wingdings" charset="2"/>
              <a:buChar char="Ø"/>
            </a:pPr>
            <a:endParaRPr lang="it-IT" sz="2400" dirty="0">
              <a:solidFill>
                <a:srgbClr val="33CC33"/>
              </a:solidFill>
            </a:endParaRPr>
          </a:p>
          <a:p>
            <a:pPr marL="457200" indent="-457200">
              <a:buFont typeface="Wingdings" charset="2"/>
              <a:buChar char="Ø"/>
            </a:pPr>
            <a:r>
              <a:rPr lang="it-IT" sz="2800" dirty="0"/>
              <a:t>Facendo la sottrazione in decimale si ha che </a:t>
            </a:r>
            <a:br>
              <a:rPr lang="it-IT" sz="2800" dirty="0"/>
            </a:br>
            <a:r>
              <a:rPr lang="it-IT" sz="2800" dirty="0"/>
              <a:t>		   </a:t>
            </a:r>
            <a:r>
              <a:rPr lang="it-IT" sz="2800" dirty="0">
                <a:solidFill>
                  <a:srgbClr val="000000"/>
                </a:solidFill>
              </a:rPr>
              <a:t>23,375</a:t>
            </a:r>
            <a:r>
              <a:rPr lang="it-IT" sz="2800" baseline="-25000" dirty="0">
                <a:solidFill>
                  <a:srgbClr val="000000"/>
                </a:solidFill>
              </a:rPr>
              <a:t>10 </a:t>
            </a:r>
            <a:r>
              <a:rPr lang="it-IT" sz="2800" dirty="0">
                <a:solidFill>
                  <a:srgbClr val="000000"/>
                </a:solidFill>
              </a:rPr>
              <a:t>- 22,5</a:t>
            </a:r>
            <a:r>
              <a:rPr lang="it-IT" sz="2800" baseline="-25000" dirty="0">
                <a:solidFill>
                  <a:srgbClr val="000000"/>
                </a:solidFill>
              </a:rPr>
              <a:t>10</a:t>
            </a:r>
            <a:r>
              <a:rPr lang="it-IT" sz="2800" dirty="0">
                <a:solidFill>
                  <a:srgbClr val="000000"/>
                </a:solidFill>
              </a:rPr>
              <a:t> </a:t>
            </a:r>
            <a:r>
              <a:rPr lang="it-IT" sz="2400" dirty="0"/>
              <a:t>= </a:t>
            </a:r>
            <a:r>
              <a:rPr lang="it-IT" sz="2800" dirty="0"/>
              <a:t>0,875</a:t>
            </a:r>
            <a:r>
              <a:rPr lang="it-IT" sz="2800" baseline="-25000" dirty="0"/>
              <a:t>10</a:t>
            </a:r>
          </a:p>
          <a:p>
            <a:pPr marL="400050" lvl="1" indent="0">
              <a:buNone/>
            </a:pPr>
            <a:r>
              <a:rPr lang="it-IT" dirty="0">
                <a:solidFill>
                  <a:srgbClr val="000000"/>
                </a:solidFill>
              </a:rPr>
              <a:t> </a:t>
            </a:r>
            <a:endParaRPr lang="it-IT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263480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341784"/>
            <a:ext cx="8356600" cy="1143000"/>
          </a:xfrm>
        </p:spPr>
        <p:txBody>
          <a:bodyPr/>
          <a:lstStyle/>
          <a:p>
            <a:r>
              <a:rPr lang="it-IT" sz="4800" dirty="0"/>
              <a:t>Su </a:t>
            </a:r>
            <a:r>
              <a:rPr lang="it-IT" sz="4800"/>
              <a:t>cosa </a:t>
            </a:r>
            <a:br>
              <a:rPr lang="it-IT" sz="4800"/>
            </a:br>
            <a:r>
              <a:rPr lang="it-IT" sz="4800"/>
              <a:t>ci esercitiamo </a:t>
            </a:r>
            <a:r>
              <a:rPr lang="it-IT" sz="4800" dirty="0"/>
              <a:t>oggi?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412776"/>
            <a:ext cx="8507288" cy="4171950"/>
          </a:xfrm>
        </p:spPr>
        <p:txBody>
          <a:bodyPr/>
          <a:lstStyle/>
          <a:p>
            <a:pPr marL="400050" lvl="1" indent="0">
              <a:buNone/>
            </a:pPr>
            <a:endParaRPr lang="it-IT" dirty="0">
              <a:solidFill>
                <a:srgbClr val="FF3300"/>
              </a:solidFill>
              <a:ea typeface="MS PGothic" charset="-128"/>
            </a:endParaRPr>
          </a:p>
          <a:p>
            <a:pPr marL="457200" indent="-457200">
              <a:buFont typeface="Wingdings" charset="2"/>
              <a:buChar char="Ø"/>
            </a:pPr>
            <a:r>
              <a:rPr lang="it-IT" sz="2800" dirty="0">
                <a:ea typeface="MS PGothic" charset="-128"/>
              </a:rPr>
              <a:t>Algebra di </a:t>
            </a:r>
            <a:r>
              <a:rPr lang="it-IT" sz="2800" dirty="0" err="1">
                <a:ea typeface="MS PGothic" charset="-128"/>
              </a:rPr>
              <a:t>Boole</a:t>
            </a:r>
            <a:r>
              <a:rPr lang="it-IT" sz="2800" dirty="0">
                <a:ea typeface="MS PGothic" charset="-128"/>
              </a:rPr>
              <a:t> ed espressioni booleane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Minimizzazione di espressioni booleane</a:t>
            </a:r>
          </a:p>
          <a:p>
            <a:pPr marL="857250" lvl="1" indent="-457200">
              <a:buFont typeface="Wingdings" charset="2"/>
              <a:buChar char="Ø"/>
            </a:pPr>
            <a:endParaRPr lang="it-IT" sz="2400" dirty="0">
              <a:ea typeface="MS PGothic" charset="-128"/>
            </a:endParaRPr>
          </a:p>
          <a:p>
            <a:pPr marL="457200" indent="-457200">
              <a:buFont typeface="Wingdings" charset="2"/>
              <a:buChar char="Ø"/>
            </a:pPr>
            <a:r>
              <a:rPr lang="it-IT" sz="2800" dirty="0">
                <a:ea typeface="MS PGothic" charset="-128"/>
              </a:rPr>
              <a:t>Funzioni di commutazione 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Costruzione di tavole di verità</a:t>
            </a:r>
          </a:p>
          <a:p>
            <a:pPr marL="857250" lvl="1" indent="-457200">
              <a:buFont typeface="Wingdings" charset="2"/>
              <a:buChar char="Ø"/>
            </a:pPr>
            <a:endParaRPr lang="it-IT" sz="2400" dirty="0">
              <a:ea typeface="MS PGothic" charset="-128"/>
            </a:endParaRPr>
          </a:p>
          <a:p>
            <a:pPr marL="457200" indent="-457200">
              <a:buFont typeface="Wingdings" charset="2"/>
              <a:buChar char="Ø"/>
            </a:pPr>
            <a:r>
              <a:rPr lang="it-IT" sz="2800" dirty="0">
                <a:ea typeface="MS PGothic" charset="-128"/>
              </a:rPr>
              <a:t>Analisi di reti logiche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Calcolo della funzione associata a una rete logica</a:t>
            </a:r>
          </a:p>
          <a:p>
            <a:pPr marL="857250" lvl="1" indent="-457200">
              <a:buNone/>
            </a:pPr>
            <a:endParaRPr lang="it-IT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025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611560" y="1700808"/>
            <a:ext cx="8424936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</a:rPr>
              <a:t>Le costanti 0 e 1 godono delle seguenti proprietà</a:t>
            </a:r>
          </a:p>
          <a:p>
            <a:pPr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000000"/>
              </a:solidFill>
              <a:latin typeface="+mn-lt"/>
            </a:endParaRPr>
          </a:p>
          <a:p>
            <a:pPr lvl="1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0 = 1                       1 = 0</a:t>
            </a:r>
          </a:p>
          <a:p>
            <a:pPr lvl="1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x </a:t>
            </a:r>
            <a:r>
              <a:rPr lang="it-IT" sz="2400" dirty="0">
                <a:solidFill>
                  <a:srgbClr val="FF0000"/>
                </a:solidFill>
                <a:sym typeface="Symbol"/>
              </a:rPr>
              <a:t></a:t>
            </a:r>
            <a:r>
              <a:rPr lang="it-IT" sz="2400" b="0" dirty="0">
                <a:latin typeface="+mn-lt"/>
              </a:rPr>
              <a:t> 1 = x 		x </a:t>
            </a:r>
            <a:r>
              <a:rPr lang="it-IT" sz="2400" b="0" dirty="0">
                <a:solidFill>
                  <a:srgbClr val="CC0000"/>
                </a:solidFill>
                <a:latin typeface="+mn-lt"/>
                <a:sym typeface="Symbol"/>
              </a:rPr>
              <a:t>+</a:t>
            </a:r>
            <a:r>
              <a:rPr lang="it-IT" sz="2400" b="0" dirty="0">
                <a:latin typeface="+mn-lt"/>
              </a:rPr>
              <a:t> 0 = x</a:t>
            </a:r>
          </a:p>
          <a:p>
            <a:pPr lvl="1" algn="l" eaLnBrk="1" hangingPunct="1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x </a:t>
            </a:r>
            <a:r>
              <a:rPr lang="it-IT" sz="2400" dirty="0">
                <a:solidFill>
                  <a:srgbClr val="FF0000"/>
                </a:solidFill>
                <a:sym typeface="Symbol"/>
              </a:rPr>
              <a:t></a:t>
            </a:r>
            <a:r>
              <a:rPr lang="it-IT" sz="2400" b="0" dirty="0">
                <a:latin typeface="+mn-lt"/>
              </a:rPr>
              <a:t> 0 = 0		x </a:t>
            </a:r>
            <a:r>
              <a:rPr lang="it-IT" sz="2400" b="0" dirty="0">
                <a:solidFill>
                  <a:srgbClr val="CC0000"/>
                </a:solidFill>
                <a:sym typeface="Symbol"/>
              </a:rPr>
              <a:t>+ </a:t>
            </a:r>
            <a:r>
              <a:rPr lang="it-IT" sz="2400" b="0" dirty="0">
                <a:latin typeface="+mn-lt"/>
              </a:rPr>
              <a:t>1 = 1</a:t>
            </a:r>
          </a:p>
          <a:p>
            <a:pPr lvl="1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000000"/>
              </a:solidFill>
              <a:latin typeface="+mn-lt"/>
            </a:endParaRPr>
          </a:p>
          <a:p>
            <a:pPr algn="l" eaLnBrk="1" hangingPunct="1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406400" y="269776"/>
            <a:ext cx="8356600" cy="1143000"/>
          </a:xfrm>
        </p:spPr>
        <p:txBody>
          <a:bodyPr/>
          <a:lstStyle/>
          <a:p>
            <a:r>
              <a:rPr lang="it-IT" sz="4800" dirty="0"/>
              <a:t>Algebra di </a:t>
            </a:r>
            <a:r>
              <a:rPr lang="it-IT" sz="4800" dirty="0" err="1"/>
              <a:t>Boole</a:t>
            </a:r>
            <a:endParaRPr lang="it-IT" sz="4800" dirty="0"/>
          </a:p>
        </p:txBody>
      </p:sp>
      <p:sp>
        <p:nvSpPr>
          <p:cNvPr id="4" name="Line 22">
            <a:extLst>
              <a:ext uri="{FF2B5EF4-FFF2-40B4-BE49-F238E27FC236}">
                <a16:creationId xmlns:a16="http://schemas.microsoft.com/office/drawing/2014/main" id="{937B5958-AD50-9849-90BB-3C4147B617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672" y="2996952"/>
            <a:ext cx="1524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1400" b="0">
              <a:latin typeface="+mn-lt"/>
            </a:endParaRPr>
          </a:p>
        </p:txBody>
      </p:sp>
      <p:sp>
        <p:nvSpPr>
          <p:cNvPr id="5" name="Line 22">
            <a:extLst>
              <a:ext uri="{FF2B5EF4-FFF2-40B4-BE49-F238E27FC236}">
                <a16:creationId xmlns:a16="http://schemas.microsoft.com/office/drawing/2014/main" id="{9A20D28F-38FE-A24A-9B25-E1766BEC75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976" y="2996952"/>
            <a:ext cx="1524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14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756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116632"/>
            <a:ext cx="8356600" cy="1143000"/>
          </a:xfrm>
        </p:spPr>
        <p:txBody>
          <a:bodyPr/>
          <a:lstStyle/>
          <a:p>
            <a:r>
              <a:rPr lang="it-IT" sz="4800" dirty="0"/>
              <a:t>Esercizio 2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69664" y="1772816"/>
            <a:ext cx="8178800" cy="2232248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sz="2800" dirty="0"/>
              <a:t>Minimizzare la seguente funzione </a:t>
            </a:r>
          </a:p>
          <a:p>
            <a:pPr marL="400050" lvl="1" indent="0">
              <a:buNone/>
            </a:pPr>
            <a:r>
              <a:rPr lang="it-IT" sz="2400" dirty="0"/>
              <a:t>     			</a:t>
            </a:r>
            <a:r>
              <a:rPr lang="it-IT" sz="2400" dirty="0" err="1">
                <a:solidFill>
                  <a:srgbClr val="FF0000"/>
                </a:solidFill>
              </a:rPr>
              <a:t>F</a:t>
            </a:r>
            <a:r>
              <a:rPr lang="it-IT" sz="2400" dirty="0">
                <a:solidFill>
                  <a:srgbClr val="FF0000"/>
                </a:solidFill>
              </a:rPr>
              <a:t>=x(</a:t>
            </a:r>
            <a:r>
              <a:rPr lang="it-IT" sz="2400" dirty="0" err="1">
                <a:solidFill>
                  <a:srgbClr val="FF0000"/>
                </a:solidFill>
              </a:rPr>
              <a:t>x+y</a:t>
            </a:r>
            <a:r>
              <a:rPr lang="it-IT" sz="2400" dirty="0">
                <a:solidFill>
                  <a:srgbClr val="FF0000"/>
                </a:solidFill>
              </a:rPr>
              <a:t>)+</a:t>
            </a:r>
            <a:r>
              <a:rPr lang="it-IT" sz="2400" dirty="0" err="1">
                <a:solidFill>
                  <a:srgbClr val="FF0000"/>
                </a:solidFill>
              </a:rPr>
              <a:t>z+yz</a:t>
            </a:r>
            <a:endParaRPr lang="it-IT" sz="2400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endParaRPr lang="it-IT" sz="2400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endParaRPr lang="it-IT" sz="2400" dirty="0"/>
          </a:p>
        </p:txBody>
      </p:sp>
      <p:cxnSp>
        <p:nvCxnSpPr>
          <p:cNvPr id="12" name="Connettore 1 7"/>
          <p:cNvCxnSpPr/>
          <p:nvPr/>
        </p:nvCxnSpPr>
        <p:spPr>
          <a:xfrm>
            <a:off x="3707904" y="2420888"/>
            <a:ext cx="216024" cy="0"/>
          </a:xfrm>
          <a:prstGeom prst="line">
            <a:avLst/>
          </a:prstGeom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7"/>
          <p:cNvCxnSpPr/>
          <p:nvPr/>
        </p:nvCxnSpPr>
        <p:spPr>
          <a:xfrm>
            <a:off x="4716016" y="2420888"/>
            <a:ext cx="216024" cy="0"/>
          </a:xfrm>
          <a:prstGeom prst="line">
            <a:avLst/>
          </a:prstGeom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7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116632"/>
            <a:ext cx="8356600" cy="1143000"/>
          </a:xfrm>
        </p:spPr>
        <p:txBody>
          <a:bodyPr/>
          <a:lstStyle/>
          <a:p>
            <a:r>
              <a:rPr lang="it-IT" sz="4800" dirty="0"/>
              <a:t>Esercizio 2: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69664" y="1772816"/>
            <a:ext cx="8178800" cy="4896544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sz="2800" dirty="0"/>
              <a:t>Minimizzare la seguente funzione </a:t>
            </a:r>
          </a:p>
          <a:p>
            <a:pPr marL="400050" lvl="1" indent="0">
              <a:buNone/>
            </a:pPr>
            <a:r>
              <a:rPr lang="it-IT" sz="2400" dirty="0"/>
              <a:t>     			</a:t>
            </a:r>
            <a:r>
              <a:rPr lang="it-IT" sz="2400" dirty="0" err="1">
                <a:solidFill>
                  <a:srgbClr val="FF0000"/>
                </a:solidFill>
              </a:rPr>
              <a:t>F</a:t>
            </a:r>
            <a:r>
              <a:rPr lang="it-IT" sz="2400" dirty="0">
                <a:solidFill>
                  <a:srgbClr val="FF0000"/>
                </a:solidFill>
              </a:rPr>
              <a:t>=x(</a:t>
            </a:r>
            <a:r>
              <a:rPr lang="it-IT" sz="2400" dirty="0" err="1">
                <a:solidFill>
                  <a:srgbClr val="FF0000"/>
                </a:solidFill>
              </a:rPr>
              <a:t>x+y</a:t>
            </a:r>
            <a:r>
              <a:rPr lang="it-IT" sz="2400" dirty="0">
                <a:solidFill>
                  <a:srgbClr val="FF0000"/>
                </a:solidFill>
              </a:rPr>
              <a:t>)+</a:t>
            </a:r>
            <a:r>
              <a:rPr lang="it-IT" sz="2400" dirty="0" err="1">
                <a:solidFill>
                  <a:srgbClr val="FF0000"/>
                </a:solidFill>
              </a:rPr>
              <a:t>z+yz</a:t>
            </a:r>
            <a:endParaRPr lang="it-IT" sz="2400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r>
              <a:rPr lang="it-IT" sz="2400" dirty="0"/>
              <a:t>Si ha</a:t>
            </a:r>
            <a:br>
              <a:rPr lang="it-IT" sz="2400" dirty="0"/>
            </a:br>
            <a:r>
              <a:rPr lang="it-IT" sz="2400" dirty="0"/>
              <a:t>     </a:t>
            </a:r>
            <a:r>
              <a:rPr lang="it-IT" sz="2400" dirty="0" err="1"/>
              <a:t>F</a:t>
            </a:r>
            <a:r>
              <a:rPr lang="it-IT" sz="2400" dirty="0"/>
              <a:t>=x(</a:t>
            </a:r>
            <a:r>
              <a:rPr lang="it-IT" sz="2400" dirty="0" err="1"/>
              <a:t>x+y</a:t>
            </a:r>
            <a:r>
              <a:rPr lang="it-IT" sz="2400" dirty="0"/>
              <a:t>)+</a:t>
            </a:r>
            <a:r>
              <a:rPr lang="it-IT" sz="2400" dirty="0" err="1"/>
              <a:t>z+yz</a:t>
            </a:r>
            <a:endParaRPr lang="it-IT" sz="2400" dirty="0"/>
          </a:p>
          <a:p>
            <a:pPr marL="400050" lvl="1" indent="0">
              <a:buNone/>
            </a:pPr>
            <a:r>
              <a:rPr lang="it-IT" sz="2400" dirty="0"/>
              <a:t>       =</a:t>
            </a:r>
            <a:r>
              <a:rPr lang="it-IT" sz="2400" dirty="0" err="1"/>
              <a:t>xx+xy+z+yz</a:t>
            </a:r>
            <a:r>
              <a:rPr lang="it-IT" sz="2400" dirty="0"/>
              <a:t> </a:t>
            </a:r>
            <a:r>
              <a:rPr lang="it-IT" sz="2400" dirty="0">
                <a:solidFill>
                  <a:srgbClr val="0000FF"/>
                </a:solidFill>
              </a:rPr>
              <a:t>(</a:t>
            </a:r>
            <a:r>
              <a:rPr lang="it-IT" sz="2400" dirty="0" err="1">
                <a:solidFill>
                  <a:srgbClr val="0000FF"/>
                </a:solidFill>
              </a:rPr>
              <a:t>prop</a:t>
            </a:r>
            <a:r>
              <a:rPr lang="it-IT" sz="2400" dirty="0">
                <a:solidFill>
                  <a:srgbClr val="0000FF"/>
                </a:solidFill>
              </a:rPr>
              <a:t>. distributiva)</a:t>
            </a:r>
          </a:p>
          <a:p>
            <a:pPr marL="400050" lvl="1" indent="0">
              <a:buNone/>
            </a:pPr>
            <a:r>
              <a:rPr lang="it-IT" sz="2400" dirty="0"/>
              <a:t>       =</a:t>
            </a:r>
            <a:r>
              <a:rPr lang="it-IT" sz="2400" dirty="0" err="1"/>
              <a:t>xy+z+yz</a:t>
            </a:r>
            <a:r>
              <a:rPr lang="it-IT" sz="2400" dirty="0"/>
              <a:t> </a:t>
            </a:r>
            <a:r>
              <a:rPr lang="it-IT" sz="2400" dirty="0">
                <a:solidFill>
                  <a:srgbClr val="0000FF"/>
                </a:solidFill>
              </a:rPr>
              <a:t>(</a:t>
            </a:r>
            <a:r>
              <a:rPr lang="it-IT" sz="2400" dirty="0" err="1">
                <a:solidFill>
                  <a:srgbClr val="0000FF"/>
                </a:solidFill>
              </a:rPr>
              <a:t>prop.complemento</a:t>
            </a:r>
            <a:r>
              <a:rPr lang="it-IT" sz="2400" dirty="0">
                <a:solidFill>
                  <a:srgbClr val="0000FF"/>
                </a:solidFill>
              </a:rPr>
              <a:t>)</a:t>
            </a:r>
          </a:p>
          <a:p>
            <a:pPr marL="400050" lvl="1" indent="0">
              <a:buNone/>
            </a:pPr>
            <a:r>
              <a:rPr lang="it-IT" sz="2400" dirty="0"/>
              <a:t>	 =</a:t>
            </a:r>
            <a:r>
              <a:rPr lang="it-IT" sz="2400" dirty="0" err="1"/>
              <a:t>xy</a:t>
            </a:r>
            <a:r>
              <a:rPr lang="it-IT" sz="2400" dirty="0"/>
              <a:t>+(</a:t>
            </a:r>
            <a:r>
              <a:rPr lang="it-IT" sz="2400" dirty="0" err="1"/>
              <a:t>z+yz</a:t>
            </a:r>
            <a:r>
              <a:rPr lang="it-IT" sz="2400" dirty="0"/>
              <a:t>) (raggruppiamo i termini simili !)</a:t>
            </a:r>
          </a:p>
          <a:p>
            <a:pPr marL="400050" lvl="1" indent="0">
              <a:buNone/>
            </a:pPr>
            <a:r>
              <a:rPr lang="it-IT" sz="2400" dirty="0"/>
              <a:t>       =</a:t>
            </a:r>
            <a:r>
              <a:rPr lang="it-IT" sz="2400" dirty="0" err="1"/>
              <a:t>xy+z+y</a:t>
            </a:r>
            <a:r>
              <a:rPr lang="it-IT" sz="2400" dirty="0"/>
              <a:t> </a:t>
            </a:r>
            <a:r>
              <a:rPr lang="it-IT" sz="2400" dirty="0">
                <a:solidFill>
                  <a:srgbClr val="0000FF"/>
                </a:solidFill>
              </a:rPr>
              <a:t>(secondo teorema assorbimento) </a:t>
            </a:r>
          </a:p>
          <a:p>
            <a:pPr marL="400050" lvl="1" indent="0">
              <a:buNone/>
            </a:pPr>
            <a:r>
              <a:rPr lang="it-IT" sz="2400" dirty="0"/>
              <a:t>       =y(x+1)+</a:t>
            </a:r>
            <a:r>
              <a:rPr lang="it-IT" sz="2400" dirty="0" err="1"/>
              <a:t>z</a:t>
            </a:r>
            <a:r>
              <a:rPr lang="it-IT" sz="2400" dirty="0"/>
              <a:t> </a:t>
            </a:r>
            <a:r>
              <a:rPr lang="it-IT" sz="2400" dirty="0">
                <a:solidFill>
                  <a:srgbClr val="0000FF"/>
                </a:solidFill>
              </a:rPr>
              <a:t>(</a:t>
            </a:r>
            <a:r>
              <a:rPr lang="it-IT" sz="2400" dirty="0" err="1">
                <a:solidFill>
                  <a:srgbClr val="0000FF"/>
                </a:solidFill>
              </a:rPr>
              <a:t>prop</a:t>
            </a:r>
            <a:r>
              <a:rPr lang="it-IT" sz="2400" dirty="0">
                <a:solidFill>
                  <a:srgbClr val="0000FF"/>
                </a:solidFill>
              </a:rPr>
              <a:t>. distributiva) (x+1=1 !) </a:t>
            </a:r>
            <a:r>
              <a:rPr lang="it-IT" sz="2400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r>
              <a:rPr lang="it-IT" sz="2400" dirty="0">
                <a:solidFill>
                  <a:srgbClr val="0000FF"/>
                </a:solidFill>
              </a:rPr>
              <a:t>(y*1 +z)</a:t>
            </a:r>
            <a:endParaRPr lang="it-IT" sz="2400" dirty="0"/>
          </a:p>
          <a:p>
            <a:pPr marL="400050" lvl="1" indent="0">
              <a:buNone/>
            </a:pPr>
            <a:r>
              <a:rPr lang="it-IT" sz="2400" dirty="0"/>
              <a:t>       =</a:t>
            </a:r>
            <a:r>
              <a:rPr lang="it-IT" sz="2400" dirty="0" err="1"/>
              <a:t>y+z</a:t>
            </a:r>
            <a:r>
              <a:rPr lang="it-IT" sz="2400" dirty="0"/>
              <a:t> </a:t>
            </a:r>
            <a:r>
              <a:rPr lang="it-IT" sz="2400" dirty="0">
                <a:solidFill>
                  <a:srgbClr val="0000FF"/>
                </a:solidFill>
              </a:rPr>
              <a:t>(proprietà della costante 1)</a:t>
            </a:r>
          </a:p>
          <a:p>
            <a:pPr marL="400050" lvl="1" indent="0">
              <a:buNone/>
            </a:pPr>
            <a:endParaRPr lang="it-IT" sz="2400" dirty="0"/>
          </a:p>
          <a:p>
            <a:pPr marL="400050" lvl="1" indent="0">
              <a:buNone/>
            </a:pPr>
            <a:endParaRPr lang="it-IT" sz="2400" dirty="0"/>
          </a:p>
        </p:txBody>
      </p:sp>
      <p:cxnSp>
        <p:nvCxnSpPr>
          <p:cNvPr id="12" name="Connettore 1 7"/>
          <p:cNvCxnSpPr/>
          <p:nvPr/>
        </p:nvCxnSpPr>
        <p:spPr>
          <a:xfrm>
            <a:off x="3707904" y="2420888"/>
            <a:ext cx="216024" cy="0"/>
          </a:xfrm>
          <a:prstGeom prst="line">
            <a:avLst/>
          </a:prstGeom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7"/>
          <p:cNvCxnSpPr/>
          <p:nvPr/>
        </p:nvCxnSpPr>
        <p:spPr>
          <a:xfrm>
            <a:off x="4716016" y="2420888"/>
            <a:ext cx="216024" cy="0"/>
          </a:xfrm>
          <a:prstGeom prst="line">
            <a:avLst/>
          </a:prstGeom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7"/>
          <p:cNvCxnSpPr/>
          <p:nvPr/>
        </p:nvCxnSpPr>
        <p:spPr>
          <a:xfrm>
            <a:off x="1835696" y="3212976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7"/>
          <p:cNvCxnSpPr/>
          <p:nvPr/>
        </p:nvCxnSpPr>
        <p:spPr>
          <a:xfrm>
            <a:off x="2987824" y="-747464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1 7"/>
          <p:cNvCxnSpPr/>
          <p:nvPr/>
        </p:nvCxnSpPr>
        <p:spPr>
          <a:xfrm>
            <a:off x="2123728" y="5805264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7"/>
          <p:cNvCxnSpPr/>
          <p:nvPr/>
        </p:nvCxnSpPr>
        <p:spPr>
          <a:xfrm>
            <a:off x="1835696" y="3645024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1 7"/>
          <p:cNvCxnSpPr/>
          <p:nvPr/>
        </p:nvCxnSpPr>
        <p:spPr>
          <a:xfrm>
            <a:off x="1907704" y="4077072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1 7"/>
          <p:cNvCxnSpPr/>
          <p:nvPr/>
        </p:nvCxnSpPr>
        <p:spPr>
          <a:xfrm>
            <a:off x="1835696" y="450912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7"/>
          <p:cNvCxnSpPr/>
          <p:nvPr/>
        </p:nvCxnSpPr>
        <p:spPr>
          <a:xfrm>
            <a:off x="1835696" y="4941168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1 7"/>
          <p:cNvCxnSpPr/>
          <p:nvPr/>
        </p:nvCxnSpPr>
        <p:spPr>
          <a:xfrm>
            <a:off x="2843808" y="3212976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1 7"/>
          <p:cNvCxnSpPr/>
          <p:nvPr/>
        </p:nvCxnSpPr>
        <p:spPr>
          <a:xfrm>
            <a:off x="2339752" y="3645024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1 7"/>
          <p:cNvCxnSpPr/>
          <p:nvPr/>
        </p:nvCxnSpPr>
        <p:spPr>
          <a:xfrm>
            <a:off x="2843808" y="3645024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7"/>
          <p:cNvCxnSpPr/>
          <p:nvPr/>
        </p:nvCxnSpPr>
        <p:spPr>
          <a:xfrm>
            <a:off x="2339752" y="4077072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1 7"/>
          <p:cNvCxnSpPr/>
          <p:nvPr/>
        </p:nvCxnSpPr>
        <p:spPr>
          <a:xfrm>
            <a:off x="2411760" y="450912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1 7"/>
          <p:cNvCxnSpPr/>
          <p:nvPr/>
        </p:nvCxnSpPr>
        <p:spPr>
          <a:xfrm>
            <a:off x="2339752" y="4941168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1 7"/>
          <p:cNvCxnSpPr/>
          <p:nvPr/>
        </p:nvCxnSpPr>
        <p:spPr>
          <a:xfrm>
            <a:off x="2843808" y="5373216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1 7"/>
          <p:cNvCxnSpPr/>
          <p:nvPr/>
        </p:nvCxnSpPr>
        <p:spPr>
          <a:xfrm>
            <a:off x="2123728" y="5373216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1 7">
            <a:extLst>
              <a:ext uri="{FF2B5EF4-FFF2-40B4-BE49-F238E27FC236}">
                <a16:creationId xmlns:a16="http://schemas.microsoft.com/office/drawing/2014/main" id="{1593CD0D-05EF-B536-C94D-5F68E0C3E8EC}"/>
              </a:ext>
            </a:extLst>
          </p:cNvPr>
          <p:cNvCxnSpPr/>
          <p:nvPr/>
        </p:nvCxnSpPr>
        <p:spPr>
          <a:xfrm>
            <a:off x="8172400" y="5387280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7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700808"/>
            <a:ext cx="84604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800" b="0" dirty="0">
                <a:latin typeface="+mn-lt"/>
              </a:rPr>
              <a:t>Ricavare la 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tavola di verità </a:t>
            </a:r>
            <a:r>
              <a:rPr lang="it-IT" sz="2800" b="0" dirty="0">
                <a:latin typeface="+mn-lt"/>
              </a:rPr>
              <a:t>della seguente funzione </a:t>
            </a:r>
            <a:endParaRPr lang="it-IT" sz="2800" b="0" dirty="0">
              <a:latin typeface="+mn-lt"/>
              <a:ea typeface="Cambria Math" charset="0"/>
              <a:cs typeface="Cambria Math" charset="0"/>
            </a:endParaRP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			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=x</a:t>
            </a:r>
            <a:r>
              <a:rPr lang="it-IT" sz="2800" dirty="0">
                <a:solidFill>
                  <a:srgbClr val="FF3300"/>
                </a:solidFill>
                <a:sym typeface="Symbol"/>
              </a:rPr>
              <a:t>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(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y+z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)</a:t>
            </a:r>
          </a:p>
          <a:p>
            <a:pPr algn="l"/>
            <a:br>
              <a:rPr lang="it-IT" sz="2800" b="0" dirty="0">
                <a:latin typeface="+mn-lt"/>
                <a:ea typeface="Cambria Math" charset="0"/>
                <a:cs typeface="Cambria Math" charset="0"/>
              </a:rPr>
            </a:br>
            <a:endParaRPr lang="en-US" sz="2800" b="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Connettore 1 6"/>
          <p:cNvCxnSpPr/>
          <p:nvPr/>
        </p:nvCxnSpPr>
        <p:spPr>
          <a:xfrm>
            <a:off x="4211960" y="2636912"/>
            <a:ext cx="720080" cy="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78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600200"/>
            <a:ext cx="81556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accent2"/>
              </a:buClr>
            </a:pPr>
            <a:r>
              <a:rPr lang="it-IT" sz="2800" b="0" dirty="0">
                <a:latin typeface="+mn-lt"/>
              </a:rPr>
              <a:t>Per ottenere la 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tavola di verità </a:t>
            </a:r>
            <a:r>
              <a:rPr lang="it-IT" sz="2800" b="0" dirty="0">
                <a:latin typeface="+mn-lt"/>
              </a:rPr>
              <a:t>della funzione 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=x</a:t>
            </a:r>
            <a:r>
              <a:rPr lang="it-IT" sz="2800" dirty="0">
                <a:solidFill>
                  <a:srgbClr val="FF3300"/>
                </a:solidFill>
                <a:sym typeface="Symbol"/>
              </a:rPr>
              <a:t>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(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y+z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)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, creiamo</a:t>
            </a:r>
            <a:r>
              <a:rPr lang="en-US" sz="2800" b="0" dirty="0">
                <a:latin typeface="+mn-lt"/>
              </a:rPr>
              <a:t> </a:t>
            </a:r>
            <a:r>
              <a:rPr lang="it-IT" sz="2800" b="0" dirty="0">
                <a:latin typeface="+mn-lt"/>
              </a:rPr>
              <a:t>una tabella con </a:t>
            </a:r>
          </a:p>
          <a:p>
            <a:pPr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 err="1">
                <a:latin typeface="+mn-lt"/>
              </a:rPr>
              <a:t>3</a:t>
            </a:r>
            <a:r>
              <a:rPr lang="it-IT" sz="2400" b="0" dirty="0">
                <a:latin typeface="+mn-lt"/>
              </a:rPr>
              <a:t> colonne, (corrispondenti agli input </a:t>
            </a:r>
            <a:r>
              <a:rPr lang="it-IT" sz="2400" b="0" dirty="0" err="1">
                <a:latin typeface="+mn-lt"/>
              </a:rPr>
              <a:t>x</a:t>
            </a:r>
            <a:r>
              <a:rPr lang="it-IT" sz="2400" b="0" dirty="0">
                <a:latin typeface="+mn-lt"/>
              </a:rPr>
              <a:t>,</a:t>
            </a:r>
            <a:r>
              <a:rPr lang="it-IT" sz="2400" b="0" dirty="0" err="1">
                <a:latin typeface="+mn-lt"/>
              </a:rPr>
              <a:t>y</a:t>
            </a:r>
            <a:r>
              <a:rPr lang="it-IT" sz="2400" b="0" dirty="0">
                <a:latin typeface="+mn-lt"/>
              </a:rPr>
              <a:t>,</a:t>
            </a:r>
            <a:r>
              <a:rPr lang="it-IT" sz="2400" b="0" dirty="0" err="1">
                <a:latin typeface="+mn-lt"/>
              </a:rPr>
              <a:t>z</a:t>
            </a:r>
            <a:r>
              <a:rPr lang="it-IT" sz="2400" b="0" dirty="0">
                <a:latin typeface="+mn-lt"/>
              </a:rPr>
              <a:t>)  </a:t>
            </a:r>
          </a:p>
          <a:p>
            <a:pPr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2</a:t>
            </a:r>
            <a:r>
              <a:rPr lang="it-IT" sz="2400" b="0" baseline="30000" dirty="0">
                <a:latin typeface="+mn-lt"/>
              </a:rPr>
              <a:t>3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8</a:t>
            </a:r>
            <a:r>
              <a:rPr lang="it-IT" sz="2400" b="0" dirty="0">
                <a:latin typeface="+mn-lt"/>
              </a:rPr>
              <a:t> righe (corrispondenti a tutti i possibili valori </a:t>
            </a:r>
            <a:br>
              <a:rPr lang="it-IT" sz="2400" b="0" dirty="0">
                <a:latin typeface="+mn-lt"/>
              </a:rPr>
            </a:br>
            <a:r>
              <a:rPr lang="it-IT" sz="2400" b="0" dirty="0">
                <a:latin typeface="+mn-lt"/>
              </a:rPr>
              <a:t>  degli input)</a:t>
            </a:r>
            <a:endParaRPr lang="en-US" sz="2400" b="0" dirty="0">
              <a:latin typeface="+mn-lt"/>
            </a:endParaRPr>
          </a:p>
        </p:txBody>
      </p:sp>
      <p:cxnSp>
        <p:nvCxnSpPr>
          <p:cNvPr id="5" name="Connettore 1 6"/>
          <p:cNvCxnSpPr/>
          <p:nvPr/>
        </p:nvCxnSpPr>
        <p:spPr>
          <a:xfrm>
            <a:off x="1475656" y="2133600"/>
            <a:ext cx="720080" cy="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Segnaposto contenuto 11"/>
          <p:cNvGraphicFramePr>
            <a:graphicFrameLocks noGrp="1"/>
          </p:cNvGraphicFramePr>
          <p:nvPr>
            <p:ph sz="half" idx="2"/>
          </p:nvPr>
        </p:nvGraphicFramePr>
        <p:xfrm>
          <a:off x="3254376" y="3368040"/>
          <a:ext cx="1851024" cy="33375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1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z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8" name="Connettore 1 6"/>
          <p:cNvCxnSpPr/>
          <p:nvPr/>
        </p:nvCxnSpPr>
        <p:spPr>
          <a:xfrm>
            <a:off x="5257800" y="32766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95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712893"/>
            <a:ext cx="84604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800" b="0" dirty="0">
                <a:latin typeface="+mn-lt"/>
              </a:rPr>
              <a:t>Poi aggiungiamo una colonna per valutare </a:t>
            </a:r>
            <a:r>
              <a:rPr lang="it-IT" sz="2800" b="0" dirty="0" err="1">
                <a:solidFill>
                  <a:srgbClr val="FF3300"/>
                </a:solidFill>
                <a:latin typeface="+mn-lt"/>
              </a:rPr>
              <a:t>y+z</a:t>
            </a:r>
            <a:r>
              <a:rPr lang="it-IT" sz="2800" b="0" dirty="0">
                <a:latin typeface="+mn-lt"/>
              </a:rPr>
              <a:t> in corrispondenza di tutti i possibili input</a:t>
            </a:r>
            <a:endParaRPr lang="it-IT" sz="2800" b="0" dirty="0">
              <a:latin typeface="+mn-lt"/>
              <a:ea typeface="Cambria Math" charset="0"/>
              <a:cs typeface="Cambria Math" charset="0"/>
            </a:endParaRP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			</a:t>
            </a:r>
            <a:endParaRPr lang="en-US" sz="2800" b="0" dirty="0">
              <a:latin typeface="+mn-lt"/>
            </a:endParaRPr>
          </a:p>
        </p:txBody>
      </p:sp>
      <p:graphicFrame>
        <p:nvGraphicFramePr>
          <p:cNvPr id="7" name="Segnaposto contenuto 11"/>
          <p:cNvGraphicFramePr>
            <a:graphicFrameLocks noGrp="1"/>
          </p:cNvGraphicFramePr>
          <p:nvPr>
            <p:ph sz="half" idx="2"/>
          </p:nvPr>
        </p:nvGraphicFramePr>
        <p:xfrm>
          <a:off x="1341968" y="2971800"/>
          <a:ext cx="2468032" cy="33375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1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z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y+z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8" name="Connettore 1 6"/>
          <p:cNvCxnSpPr/>
          <p:nvPr/>
        </p:nvCxnSpPr>
        <p:spPr>
          <a:xfrm>
            <a:off x="5257800" y="32766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2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712893"/>
            <a:ext cx="8460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800" b="0" dirty="0">
                <a:latin typeface="+mn-lt"/>
              </a:rPr>
              <a:t>Aggiungiamo un’altra colonna per valutare  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y+z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 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in corrispondenza di tutti i possibili input</a:t>
            </a:r>
            <a:endParaRPr lang="en-US" sz="2800" b="0" dirty="0">
              <a:latin typeface="+mn-lt"/>
            </a:endParaRPr>
          </a:p>
        </p:txBody>
      </p:sp>
      <p:cxnSp>
        <p:nvCxnSpPr>
          <p:cNvPr id="5" name="Connettore 1 6"/>
          <p:cNvCxnSpPr/>
          <p:nvPr/>
        </p:nvCxnSpPr>
        <p:spPr>
          <a:xfrm>
            <a:off x="7696200" y="1828800"/>
            <a:ext cx="720080" cy="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Segnaposto contenuto 11"/>
          <p:cNvGraphicFramePr>
            <a:graphicFrameLocks noGrp="1"/>
          </p:cNvGraphicFramePr>
          <p:nvPr>
            <p:ph sz="half" idx="2"/>
          </p:nvPr>
        </p:nvGraphicFramePr>
        <p:xfrm>
          <a:off x="1143000" y="2834640"/>
          <a:ext cx="3085040" cy="33375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1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z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y+z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y+z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8" name="Connettore 1 6"/>
          <p:cNvCxnSpPr/>
          <p:nvPr/>
        </p:nvCxnSpPr>
        <p:spPr>
          <a:xfrm>
            <a:off x="5257800" y="32766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6"/>
          <p:cNvCxnSpPr/>
          <p:nvPr/>
        </p:nvCxnSpPr>
        <p:spPr>
          <a:xfrm>
            <a:off x="3733800" y="28956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6"/>
          <p:cNvCxnSpPr/>
          <p:nvPr/>
        </p:nvCxnSpPr>
        <p:spPr>
          <a:xfrm>
            <a:off x="3707904" y="2924944"/>
            <a:ext cx="4320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78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712893"/>
            <a:ext cx="84604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800" b="0" dirty="0">
                <a:latin typeface="+mn-lt"/>
              </a:rPr>
              <a:t>Infine, aggiungiamo una colonna per valutare</a:t>
            </a:r>
            <a:endParaRPr lang="it-IT" sz="2800" b="0" dirty="0">
              <a:latin typeface="+mn-lt"/>
              <a:ea typeface="Cambria Math" charset="0"/>
              <a:cs typeface="Cambria Math" charset="0"/>
            </a:endParaRPr>
          </a:p>
          <a:p>
            <a:pPr algn="l"/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 = x</a:t>
            </a:r>
            <a:r>
              <a:rPr lang="it-IT" sz="2800" dirty="0">
                <a:solidFill>
                  <a:srgbClr val="FF3300"/>
                </a:solidFill>
                <a:sym typeface="Symbol"/>
              </a:rPr>
              <a:t>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(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y+z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) 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in corrispondenza di tutti i possibili input</a:t>
            </a:r>
            <a:endParaRPr lang="en-US" sz="2800" b="0" dirty="0">
              <a:latin typeface="+mn-lt"/>
            </a:endParaRPr>
          </a:p>
        </p:txBody>
      </p:sp>
      <p:cxnSp>
        <p:nvCxnSpPr>
          <p:cNvPr id="5" name="Connettore 1 6"/>
          <p:cNvCxnSpPr/>
          <p:nvPr/>
        </p:nvCxnSpPr>
        <p:spPr>
          <a:xfrm>
            <a:off x="1835696" y="2276872"/>
            <a:ext cx="576064" cy="912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Segnaposto contenuto 11"/>
          <p:cNvGraphicFramePr>
            <a:graphicFrameLocks noGrp="1"/>
          </p:cNvGraphicFramePr>
          <p:nvPr>
            <p:ph sz="half" idx="2"/>
          </p:nvPr>
        </p:nvGraphicFramePr>
        <p:xfrm>
          <a:off x="1066800" y="3124200"/>
          <a:ext cx="3702048" cy="33375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1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z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y+z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y+z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F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it-IT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8" name="Connettore 1 6"/>
          <p:cNvCxnSpPr/>
          <p:nvPr/>
        </p:nvCxnSpPr>
        <p:spPr>
          <a:xfrm>
            <a:off x="5257800" y="32766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1 6"/>
          <p:cNvCxnSpPr/>
          <p:nvPr/>
        </p:nvCxnSpPr>
        <p:spPr>
          <a:xfrm>
            <a:off x="3657600" y="32004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6"/>
          <p:cNvSpPr txBox="1"/>
          <p:nvPr/>
        </p:nvSpPr>
        <p:spPr>
          <a:xfrm>
            <a:off x="1856896" y="6488668"/>
            <a:ext cx="195310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it-IT" sz="1800" dirty="0">
                <a:latin typeface="+mn-lt"/>
              </a:rPr>
              <a:t>Tavola di verità</a:t>
            </a:r>
          </a:p>
        </p:txBody>
      </p:sp>
      <p:cxnSp>
        <p:nvCxnSpPr>
          <p:cNvPr id="21" name="Connettore 1 6"/>
          <p:cNvCxnSpPr/>
          <p:nvPr/>
        </p:nvCxnSpPr>
        <p:spPr>
          <a:xfrm>
            <a:off x="3635896" y="3212976"/>
            <a:ext cx="4320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74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700808"/>
            <a:ext cx="84604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800" b="0" dirty="0">
                <a:latin typeface="+mn-lt"/>
              </a:rPr>
              <a:t>Ricavare la 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tavola di verità </a:t>
            </a:r>
            <a:r>
              <a:rPr lang="it-IT" sz="2800" b="0" dirty="0">
                <a:latin typeface="+mn-lt"/>
              </a:rPr>
              <a:t>della seguente funzione </a:t>
            </a:r>
            <a:endParaRPr lang="it-IT" sz="2800" b="0" dirty="0">
              <a:latin typeface="+mn-lt"/>
              <a:ea typeface="Cambria Math" charset="0"/>
              <a:cs typeface="Cambria Math" charset="0"/>
            </a:endParaRP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			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=x</a:t>
            </a:r>
            <a:r>
              <a:rPr lang="it-IT" sz="2800" dirty="0">
                <a:solidFill>
                  <a:srgbClr val="FF3300"/>
                </a:solidFill>
                <a:sym typeface="Symbol"/>
              </a:rPr>
              <a:t>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(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x+y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)</a:t>
            </a:r>
            <a:b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</a:br>
            <a:br>
              <a:rPr lang="it-IT" sz="2800" b="0" dirty="0">
                <a:latin typeface="+mn-lt"/>
                <a:ea typeface="Cambria Math" charset="0"/>
                <a:cs typeface="Cambria Math" charset="0"/>
              </a:rPr>
            </a:b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Inoltre considerare la funzione 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e ricavare </a:t>
            </a:r>
            <a:br>
              <a:rPr lang="it-IT" sz="2800" b="0" dirty="0">
                <a:latin typeface="+mn-lt"/>
                <a:ea typeface="Cambria Math" charset="0"/>
                <a:cs typeface="Cambria Math" charset="0"/>
              </a:rPr>
            </a:b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la sua </a:t>
            </a:r>
            <a:r>
              <a:rPr lang="it-IT" sz="28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tavola di verità</a:t>
            </a:r>
          </a:p>
        </p:txBody>
      </p:sp>
      <p:cxnSp>
        <p:nvCxnSpPr>
          <p:cNvPr id="5" name="Connettore 1 6"/>
          <p:cNvCxnSpPr/>
          <p:nvPr/>
        </p:nvCxnSpPr>
        <p:spPr>
          <a:xfrm>
            <a:off x="4283968" y="2636912"/>
            <a:ext cx="720080" cy="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6"/>
          <p:cNvCxnSpPr/>
          <p:nvPr/>
        </p:nvCxnSpPr>
        <p:spPr>
          <a:xfrm>
            <a:off x="6012160" y="3501008"/>
            <a:ext cx="2160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74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600200"/>
            <a:ext cx="81556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accent2"/>
              </a:buClr>
            </a:pPr>
            <a:r>
              <a:rPr lang="it-IT" sz="2800" b="0" dirty="0">
                <a:latin typeface="+mn-lt"/>
              </a:rPr>
              <a:t>Per ottenere la 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tavola di verità </a:t>
            </a:r>
            <a:r>
              <a:rPr lang="it-IT" sz="2800" b="0" dirty="0">
                <a:latin typeface="+mn-lt"/>
              </a:rPr>
              <a:t>della funzione 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=x</a:t>
            </a:r>
            <a:r>
              <a:rPr lang="it-IT" sz="2800" dirty="0">
                <a:solidFill>
                  <a:srgbClr val="FF3300"/>
                </a:solidFill>
                <a:sym typeface="Symbol"/>
              </a:rPr>
              <a:t>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(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x+y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)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, creiamo</a:t>
            </a:r>
            <a:r>
              <a:rPr lang="en-US" sz="2800" b="0" dirty="0">
                <a:latin typeface="+mn-lt"/>
              </a:rPr>
              <a:t> </a:t>
            </a:r>
            <a:r>
              <a:rPr lang="it-IT" sz="2800" b="0" dirty="0">
                <a:latin typeface="+mn-lt"/>
              </a:rPr>
              <a:t>una tabella con </a:t>
            </a:r>
          </a:p>
          <a:p>
            <a:pPr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 err="1">
                <a:latin typeface="+mn-lt"/>
              </a:rPr>
              <a:t>2</a:t>
            </a:r>
            <a:r>
              <a:rPr lang="it-IT" sz="2400" b="0" dirty="0">
                <a:latin typeface="+mn-lt"/>
              </a:rPr>
              <a:t> colonne, (corrispondenti agli input </a:t>
            </a:r>
            <a:r>
              <a:rPr lang="it-IT" sz="2400" b="0" dirty="0" err="1">
                <a:latin typeface="+mn-lt"/>
              </a:rPr>
              <a:t>x</a:t>
            </a:r>
            <a:r>
              <a:rPr lang="it-IT" sz="2400" b="0" dirty="0">
                <a:latin typeface="+mn-lt"/>
              </a:rPr>
              <a:t>,</a:t>
            </a:r>
            <a:r>
              <a:rPr lang="it-IT" sz="2400" b="0" dirty="0" err="1">
                <a:latin typeface="+mn-lt"/>
              </a:rPr>
              <a:t>y</a:t>
            </a:r>
            <a:r>
              <a:rPr lang="it-IT" sz="2400" b="0" dirty="0">
                <a:latin typeface="+mn-lt"/>
              </a:rPr>
              <a:t>)  </a:t>
            </a:r>
          </a:p>
          <a:p>
            <a:pPr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2</a:t>
            </a:r>
            <a:r>
              <a:rPr lang="it-IT" sz="2400" b="0" baseline="30000" dirty="0">
                <a:latin typeface="+mn-lt"/>
              </a:rPr>
              <a:t>2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4</a:t>
            </a:r>
            <a:r>
              <a:rPr lang="it-IT" sz="2400" b="0" dirty="0">
                <a:latin typeface="+mn-lt"/>
              </a:rPr>
              <a:t> righe (corrispondenti a tutti i possibili valori </a:t>
            </a:r>
            <a:br>
              <a:rPr lang="it-IT" sz="2400" b="0" dirty="0">
                <a:latin typeface="+mn-lt"/>
              </a:rPr>
            </a:br>
            <a:r>
              <a:rPr lang="it-IT" sz="2400" b="0" dirty="0">
                <a:latin typeface="+mn-lt"/>
              </a:rPr>
              <a:t>  degli input)</a:t>
            </a:r>
            <a:endParaRPr lang="en-US" sz="2400" b="0" dirty="0">
              <a:latin typeface="+mn-lt"/>
            </a:endParaRPr>
          </a:p>
        </p:txBody>
      </p:sp>
      <p:cxnSp>
        <p:nvCxnSpPr>
          <p:cNvPr id="5" name="Connettore 1 6"/>
          <p:cNvCxnSpPr/>
          <p:nvPr/>
        </p:nvCxnSpPr>
        <p:spPr>
          <a:xfrm>
            <a:off x="1619672" y="2132856"/>
            <a:ext cx="576064" cy="744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Segnaposto contenuto 11"/>
          <p:cNvGraphicFramePr>
            <a:graphicFrameLocks noGrp="1"/>
          </p:cNvGraphicFramePr>
          <p:nvPr>
            <p:ph sz="half" idx="2"/>
          </p:nvPr>
        </p:nvGraphicFramePr>
        <p:xfrm>
          <a:off x="1371600" y="3937000"/>
          <a:ext cx="1234016" cy="1854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1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8" name="Connettore 1 6"/>
          <p:cNvCxnSpPr/>
          <p:nvPr/>
        </p:nvCxnSpPr>
        <p:spPr>
          <a:xfrm>
            <a:off x="5257800" y="32766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76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712893"/>
            <a:ext cx="84604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800" b="0" dirty="0">
                <a:latin typeface="+mn-lt"/>
              </a:rPr>
              <a:t>Poi aggiungiamo una colonna per valutare </a:t>
            </a:r>
            <a:r>
              <a:rPr lang="it-IT" sz="2800" b="0" dirty="0" err="1">
                <a:solidFill>
                  <a:srgbClr val="FF3300"/>
                </a:solidFill>
                <a:latin typeface="+mn-lt"/>
              </a:rPr>
              <a:t>x+y</a:t>
            </a:r>
            <a:r>
              <a:rPr lang="it-IT" sz="2800" b="0" dirty="0">
                <a:latin typeface="+mn-lt"/>
              </a:rPr>
              <a:t> in corrispondenza di tutti i possibili input</a:t>
            </a:r>
            <a:endParaRPr lang="it-IT" sz="2800" b="0" dirty="0">
              <a:latin typeface="+mn-lt"/>
              <a:ea typeface="Cambria Math" charset="0"/>
              <a:cs typeface="Cambria Math" charset="0"/>
            </a:endParaRP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			</a:t>
            </a:r>
            <a:endParaRPr lang="en-US" sz="2800" b="0" dirty="0">
              <a:latin typeface="+mn-lt"/>
            </a:endParaRPr>
          </a:p>
        </p:txBody>
      </p:sp>
      <p:graphicFrame>
        <p:nvGraphicFramePr>
          <p:cNvPr id="7" name="Segnaposto contenuto 11"/>
          <p:cNvGraphicFramePr>
            <a:graphicFrameLocks noGrp="1"/>
          </p:cNvGraphicFramePr>
          <p:nvPr>
            <p:ph sz="half" idx="2"/>
          </p:nvPr>
        </p:nvGraphicFramePr>
        <p:xfrm>
          <a:off x="1341968" y="2971800"/>
          <a:ext cx="1851024" cy="1854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1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x+y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8" name="Connettore 1 6"/>
          <p:cNvCxnSpPr/>
          <p:nvPr/>
        </p:nvCxnSpPr>
        <p:spPr>
          <a:xfrm>
            <a:off x="5257800" y="32766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64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712893"/>
            <a:ext cx="8460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800" b="0" dirty="0">
                <a:latin typeface="+mn-lt"/>
              </a:rPr>
              <a:t>Aggiungiamo un’altra colonna per valutare  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x+y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in corrispondenza di tutti i possibili input</a:t>
            </a:r>
            <a:endParaRPr lang="en-US" sz="2800" b="0" dirty="0">
              <a:latin typeface="+mn-lt"/>
            </a:endParaRPr>
          </a:p>
        </p:txBody>
      </p:sp>
      <p:cxnSp>
        <p:nvCxnSpPr>
          <p:cNvPr id="5" name="Connettore 1 6"/>
          <p:cNvCxnSpPr/>
          <p:nvPr/>
        </p:nvCxnSpPr>
        <p:spPr>
          <a:xfrm>
            <a:off x="7696200" y="1828800"/>
            <a:ext cx="720080" cy="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Segnaposto contenuto 11"/>
          <p:cNvGraphicFramePr>
            <a:graphicFrameLocks noGrp="1"/>
          </p:cNvGraphicFramePr>
          <p:nvPr>
            <p:ph sz="half" idx="2"/>
          </p:nvPr>
        </p:nvGraphicFramePr>
        <p:xfrm>
          <a:off x="1143000" y="2834640"/>
          <a:ext cx="2468032" cy="1854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1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x+y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x+y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8" name="Connettore 1 6"/>
          <p:cNvCxnSpPr/>
          <p:nvPr/>
        </p:nvCxnSpPr>
        <p:spPr>
          <a:xfrm>
            <a:off x="5257800" y="32766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6"/>
          <p:cNvCxnSpPr/>
          <p:nvPr/>
        </p:nvCxnSpPr>
        <p:spPr>
          <a:xfrm>
            <a:off x="3733800" y="28956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6"/>
          <p:cNvCxnSpPr/>
          <p:nvPr/>
        </p:nvCxnSpPr>
        <p:spPr>
          <a:xfrm>
            <a:off x="3048000" y="2894012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6"/>
          <p:cNvCxnSpPr/>
          <p:nvPr/>
        </p:nvCxnSpPr>
        <p:spPr>
          <a:xfrm>
            <a:off x="3131840" y="2924944"/>
            <a:ext cx="4320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61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712893"/>
            <a:ext cx="84604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800" b="0" dirty="0">
                <a:latin typeface="+mn-lt"/>
              </a:rPr>
              <a:t>Infine, aggiungiamo una colonna per valutare</a:t>
            </a:r>
            <a:endParaRPr lang="it-IT" sz="2800" b="0" dirty="0">
              <a:latin typeface="+mn-lt"/>
              <a:ea typeface="Cambria Math" charset="0"/>
              <a:cs typeface="Cambria Math" charset="0"/>
            </a:endParaRPr>
          </a:p>
          <a:p>
            <a:pPr algn="l"/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 = x</a:t>
            </a:r>
            <a:r>
              <a:rPr lang="it-IT" sz="2800" dirty="0">
                <a:solidFill>
                  <a:srgbClr val="FF3300"/>
                </a:solidFill>
                <a:sym typeface="Symbol"/>
              </a:rPr>
              <a:t>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(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x+y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) 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in corrispondenza di tutti i possibili input</a:t>
            </a:r>
            <a:endParaRPr lang="en-US" sz="2800" b="0" dirty="0">
              <a:latin typeface="+mn-lt"/>
            </a:endParaRPr>
          </a:p>
        </p:txBody>
      </p:sp>
      <p:cxnSp>
        <p:nvCxnSpPr>
          <p:cNvPr id="5" name="Connettore 1 6"/>
          <p:cNvCxnSpPr/>
          <p:nvPr/>
        </p:nvCxnSpPr>
        <p:spPr>
          <a:xfrm>
            <a:off x="1835696" y="2276872"/>
            <a:ext cx="576064" cy="912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Segnaposto contenuto 11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68331772"/>
              </p:ext>
            </p:extLst>
          </p:nvPr>
        </p:nvGraphicFramePr>
        <p:xfrm>
          <a:off x="994056" y="3055104"/>
          <a:ext cx="3085040" cy="1854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1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x+y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x+y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F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1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8" name="Connettore 1 6"/>
          <p:cNvCxnSpPr/>
          <p:nvPr/>
        </p:nvCxnSpPr>
        <p:spPr>
          <a:xfrm>
            <a:off x="5257800" y="32766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tangolo 9"/>
          <p:cNvSpPr/>
          <p:nvPr/>
        </p:nvSpPr>
        <p:spPr>
          <a:xfrm>
            <a:off x="4114800" y="2895600"/>
            <a:ext cx="50405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0" dirty="0">
                <a:latin typeface="+mn-lt"/>
              </a:rPr>
              <a:t>La tavola di verità di F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ha tutti </a:t>
            </a:r>
            <a:r>
              <a:rPr lang="it-IT" sz="2400" b="0" dirty="0" err="1">
                <a:solidFill>
                  <a:srgbClr val="0000FF"/>
                </a:solidFill>
                <a:latin typeface="+mn-lt"/>
              </a:rPr>
              <a:t>0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 </a:t>
            </a:r>
            <a:endParaRPr lang="it-IT" sz="2400" b="0" dirty="0">
              <a:solidFill>
                <a:srgbClr val="FF3300"/>
              </a:solidFill>
              <a:latin typeface="+mn-lt"/>
            </a:endParaRPr>
          </a:p>
          <a:p>
            <a:pPr algn="ctr"/>
            <a:endParaRPr lang="it-IT" sz="2400" b="0" dirty="0">
              <a:latin typeface="+mn-lt"/>
            </a:endParaRPr>
          </a:p>
        </p:txBody>
      </p:sp>
      <p:sp>
        <p:nvSpPr>
          <p:cNvPr id="11" name="Rettangolo 10"/>
          <p:cNvSpPr/>
          <p:nvPr/>
        </p:nvSpPr>
        <p:spPr>
          <a:xfrm>
            <a:off x="4191000" y="3733800"/>
            <a:ext cx="50405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= x</a:t>
            </a:r>
            <a:r>
              <a:rPr lang="it-IT" sz="2400" dirty="0">
                <a:sym typeface="Symbol"/>
              </a:rPr>
              <a:t></a:t>
            </a:r>
            <a:r>
              <a:rPr lang="it-IT" sz="2400" b="0" dirty="0">
                <a:latin typeface="+mn-lt"/>
              </a:rPr>
              <a:t>(</a:t>
            </a:r>
            <a:r>
              <a:rPr lang="it-IT" sz="2400" b="0" dirty="0" err="1">
                <a:latin typeface="+mn-lt"/>
              </a:rPr>
              <a:t>x+y</a:t>
            </a:r>
            <a:r>
              <a:rPr lang="it-IT" sz="2400" b="0" dirty="0">
                <a:latin typeface="+mn-lt"/>
              </a:rPr>
              <a:t>) </a:t>
            </a:r>
          </a:p>
          <a:p>
            <a:pPr algn="l"/>
            <a:r>
              <a:rPr lang="it-IT" sz="2400" b="0" dirty="0">
                <a:latin typeface="+mn-lt"/>
              </a:rPr>
              <a:t>   = x</a:t>
            </a:r>
            <a:r>
              <a:rPr lang="it-IT" sz="2400" dirty="0">
                <a:sym typeface="Symbol"/>
              </a:rPr>
              <a:t></a:t>
            </a:r>
            <a:r>
              <a:rPr lang="it-IT" sz="2400" b="0" dirty="0">
                <a:latin typeface="+mn-lt"/>
              </a:rPr>
              <a:t>(</a:t>
            </a:r>
            <a:r>
              <a:rPr lang="it-IT" sz="2400" b="0" dirty="0" err="1">
                <a:latin typeface="+mn-lt"/>
              </a:rPr>
              <a:t>x</a:t>
            </a:r>
            <a:r>
              <a:rPr lang="it-IT" sz="2400" dirty="0" err="1">
                <a:sym typeface="Symbol"/>
              </a:rPr>
              <a:t></a:t>
            </a:r>
            <a:r>
              <a:rPr lang="it-IT" sz="2400" b="0" dirty="0" err="1">
                <a:latin typeface="+mn-lt"/>
              </a:rPr>
              <a:t>y</a:t>
            </a:r>
            <a:r>
              <a:rPr lang="it-IT" sz="2400" b="0" dirty="0">
                <a:latin typeface="+mn-lt"/>
              </a:rPr>
              <a:t>)</a:t>
            </a:r>
            <a:br>
              <a:rPr lang="it-IT" sz="2400" b="0" dirty="0">
                <a:latin typeface="+mn-lt"/>
              </a:rPr>
            </a:br>
            <a:r>
              <a:rPr lang="it-IT" sz="2400" b="0" dirty="0">
                <a:latin typeface="+mn-lt"/>
              </a:rPr>
              <a:t>   = </a:t>
            </a:r>
            <a:r>
              <a:rPr lang="it-IT" sz="2400" b="0" dirty="0" err="1">
                <a:latin typeface="+mn-lt"/>
              </a:rPr>
              <a:t>x</a:t>
            </a:r>
            <a:r>
              <a:rPr lang="it-IT" sz="2400" dirty="0" err="1">
                <a:sym typeface="Symbol"/>
              </a:rPr>
              <a:t></a:t>
            </a:r>
            <a:r>
              <a:rPr lang="it-IT" sz="2400" b="0" dirty="0" err="1">
                <a:latin typeface="+mn-lt"/>
              </a:rPr>
              <a:t>x</a:t>
            </a:r>
            <a:r>
              <a:rPr lang="it-IT" sz="2400" dirty="0" err="1">
                <a:sym typeface="Symbol"/>
              </a:rPr>
              <a:t></a:t>
            </a:r>
            <a:r>
              <a:rPr lang="it-IT" sz="2400" b="0" dirty="0" err="1">
                <a:latin typeface="+mn-lt"/>
              </a:rPr>
              <a:t>y</a:t>
            </a:r>
            <a:br>
              <a:rPr lang="it-IT" sz="2400" b="0" dirty="0">
                <a:latin typeface="+mn-lt"/>
              </a:rPr>
            </a:br>
            <a:r>
              <a:rPr lang="it-IT" sz="2400" b="0" dirty="0">
                <a:latin typeface="+mn-lt"/>
              </a:rPr>
              <a:t>   = 0 </a:t>
            </a:r>
          </a:p>
          <a:p>
            <a:pPr algn="l"/>
            <a:endParaRPr lang="it-IT" sz="2400" b="0" dirty="0">
              <a:latin typeface="+mn-lt"/>
            </a:endParaRPr>
          </a:p>
        </p:txBody>
      </p:sp>
      <p:cxnSp>
        <p:nvCxnSpPr>
          <p:cNvPr id="12" name="Connettore 1 6"/>
          <p:cNvCxnSpPr/>
          <p:nvPr/>
        </p:nvCxnSpPr>
        <p:spPr>
          <a:xfrm>
            <a:off x="5076056" y="4581128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1 6"/>
          <p:cNvCxnSpPr/>
          <p:nvPr/>
        </p:nvCxnSpPr>
        <p:spPr>
          <a:xfrm>
            <a:off x="5304656" y="4581128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1 6"/>
          <p:cNvCxnSpPr/>
          <p:nvPr/>
        </p:nvCxnSpPr>
        <p:spPr>
          <a:xfrm>
            <a:off x="3048000" y="32004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6"/>
          <p:cNvSpPr txBox="1"/>
          <p:nvPr/>
        </p:nvSpPr>
        <p:spPr>
          <a:xfrm>
            <a:off x="1600200" y="5105400"/>
            <a:ext cx="195310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it-IT" sz="1800" dirty="0">
                <a:latin typeface="+mn-lt"/>
              </a:rPr>
              <a:t>Tavola di verità</a:t>
            </a:r>
          </a:p>
        </p:txBody>
      </p:sp>
      <p:cxnSp>
        <p:nvCxnSpPr>
          <p:cNvPr id="20" name="Connettore 1 6"/>
          <p:cNvCxnSpPr/>
          <p:nvPr/>
        </p:nvCxnSpPr>
        <p:spPr>
          <a:xfrm>
            <a:off x="5160640" y="3810000"/>
            <a:ext cx="49148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1 6"/>
          <p:cNvCxnSpPr/>
          <p:nvPr/>
        </p:nvCxnSpPr>
        <p:spPr>
          <a:xfrm>
            <a:off x="5199112" y="4221088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6"/>
          <p:cNvCxnSpPr/>
          <p:nvPr/>
        </p:nvCxnSpPr>
        <p:spPr>
          <a:xfrm>
            <a:off x="5427712" y="4221088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tangolo 29"/>
          <p:cNvSpPr/>
          <p:nvPr/>
        </p:nvSpPr>
        <p:spPr>
          <a:xfrm>
            <a:off x="4179640" y="5417403"/>
            <a:ext cx="50405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è la funzione costante </a:t>
            </a:r>
            <a:r>
              <a:rPr lang="it-IT" sz="2400" b="0" dirty="0" err="1">
                <a:solidFill>
                  <a:srgbClr val="0000FF"/>
                </a:solidFill>
                <a:latin typeface="+mn-lt"/>
              </a:rPr>
              <a:t>0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 </a:t>
            </a:r>
            <a:endParaRPr lang="it-IT" sz="2400" b="0" dirty="0">
              <a:solidFill>
                <a:srgbClr val="FF3300"/>
              </a:solidFill>
              <a:latin typeface="+mn-lt"/>
            </a:endParaRPr>
          </a:p>
          <a:p>
            <a:pPr algn="ctr"/>
            <a:endParaRPr lang="it-IT" sz="2400" b="0" dirty="0">
              <a:latin typeface="+mn-lt"/>
            </a:endParaRPr>
          </a:p>
        </p:txBody>
      </p:sp>
      <p:sp>
        <p:nvSpPr>
          <p:cNvPr id="21" name="Rettangolo 17"/>
          <p:cNvSpPr/>
          <p:nvPr/>
        </p:nvSpPr>
        <p:spPr>
          <a:xfrm>
            <a:off x="4355976" y="4149080"/>
            <a:ext cx="5040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800" b="0" dirty="0">
                <a:solidFill>
                  <a:srgbClr val="CC0000"/>
                </a:solidFill>
                <a:latin typeface="+mn-lt"/>
              </a:rPr>
              <a:t>(legge di De Morgan)</a:t>
            </a:r>
          </a:p>
        </p:txBody>
      </p:sp>
      <p:sp>
        <p:nvSpPr>
          <p:cNvPr id="22" name="Rettangolo 17"/>
          <p:cNvSpPr/>
          <p:nvPr/>
        </p:nvSpPr>
        <p:spPr>
          <a:xfrm>
            <a:off x="3707904" y="4859868"/>
            <a:ext cx="5040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800" b="0" dirty="0">
                <a:solidFill>
                  <a:srgbClr val="CC0000"/>
                </a:solidFill>
                <a:latin typeface="+mn-lt"/>
              </a:rPr>
              <a:t>(</a:t>
            </a:r>
            <a:r>
              <a:rPr lang="it-IT" sz="1800" b="0" dirty="0" err="1">
                <a:solidFill>
                  <a:srgbClr val="CC0000"/>
                </a:solidFill>
                <a:latin typeface="+mn-lt"/>
              </a:rPr>
              <a:t>prop</a:t>
            </a:r>
            <a:r>
              <a:rPr lang="it-IT" sz="1800" b="0" dirty="0">
                <a:solidFill>
                  <a:srgbClr val="CC0000"/>
                </a:solidFill>
                <a:latin typeface="+mn-lt"/>
              </a:rPr>
              <a:t>. complemento)</a:t>
            </a:r>
          </a:p>
        </p:txBody>
      </p:sp>
      <p:cxnSp>
        <p:nvCxnSpPr>
          <p:cNvPr id="23" name="Connettore 1 6"/>
          <p:cNvCxnSpPr/>
          <p:nvPr/>
        </p:nvCxnSpPr>
        <p:spPr>
          <a:xfrm>
            <a:off x="3059832" y="3212976"/>
            <a:ext cx="4320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5666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700808"/>
            <a:ext cx="84604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800" b="0" dirty="0">
                <a:latin typeface="+mn-lt"/>
              </a:rPr>
              <a:t>Ora consideriamo la funzione negata della precedente:</a:t>
            </a: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			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=x</a:t>
            </a:r>
            <a:r>
              <a:rPr lang="it-IT" sz="2800" dirty="0">
                <a:solidFill>
                  <a:srgbClr val="FF3300"/>
                </a:solidFill>
                <a:sym typeface="Symbol"/>
              </a:rPr>
              <a:t>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(</a:t>
            </a:r>
            <a:r>
              <a:rPr lang="it-IT" sz="2800" b="0" dirty="0" err="1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x+y</a:t>
            </a:r>
            <a:r>
              <a:rPr lang="it-IT" sz="2800" b="0" dirty="0">
                <a:solidFill>
                  <a:srgbClr val="FF3300"/>
                </a:solidFill>
                <a:latin typeface="+mn-lt"/>
                <a:ea typeface="Cambria Math" charset="0"/>
                <a:cs typeface="Cambria Math" charset="0"/>
              </a:rPr>
              <a:t>)</a:t>
            </a:r>
            <a:endParaRPr lang="en-US" sz="2800" b="0" dirty="0">
              <a:solidFill>
                <a:srgbClr val="FF3300"/>
              </a:solidFill>
              <a:latin typeface="+mn-lt"/>
            </a:endParaRPr>
          </a:p>
        </p:txBody>
      </p:sp>
      <p:cxnSp>
        <p:nvCxnSpPr>
          <p:cNvPr id="5" name="Connettore 1 6"/>
          <p:cNvCxnSpPr/>
          <p:nvPr/>
        </p:nvCxnSpPr>
        <p:spPr>
          <a:xfrm>
            <a:off x="4283968" y="2636912"/>
            <a:ext cx="720080" cy="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6"/>
          <p:cNvCxnSpPr/>
          <p:nvPr/>
        </p:nvCxnSpPr>
        <p:spPr>
          <a:xfrm>
            <a:off x="3505200" y="2514600"/>
            <a:ext cx="228600" cy="158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6"/>
          <p:cNvCxnSpPr/>
          <p:nvPr/>
        </p:nvCxnSpPr>
        <p:spPr>
          <a:xfrm>
            <a:off x="3937248" y="2514600"/>
            <a:ext cx="1066800" cy="158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"/>
          <p:cNvSpPr txBox="1"/>
          <p:nvPr/>
        </p:nvSpPr>
        <p:spPr>
          <a:xfrm>
            <a:off x="685800" y="3110805"/>
            <a:ext cx="846043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La sua </a:t>
            </a:r>
            <a:r>
              <a:rPr lang="it-IT" sz="2400" b="0" dirty="0">
                <a:solidFill>
                  <a:srgbClr val="CC0000"/>
                </a:solidFill>
                <a:latin typeface="+mn-lt"/>
              </a:rPr>
              <a:t>tavola di verità </a:t>
            </a:r>
            <a:r>
              <a:rPr lang="it-IT" sz="2400" b="0" dirty="0">
                <a:latin typeface="+mn-lt"/>
              </a:rPr>
              <a:t>si ottiene direttamente dalla tavola precedente, </a:t>
            </a:r>
            <a:r>
              <a:rPr lang="it-IT" sz="2400" b="0" dirty="0" err="1">
                <a:latin typeface="+mn-lt"/>
              </a:rPr>
              <a:t>complementando</a:t>
            </a:r>
            <a:r>
              <a:rPr lang="it-IT" sz="2400" b="0" dirty="0">
                <a:latin typeface="+mn-lt"/>
              </a:rPr>
              <a:t> tutti gli output:</a:t>
            </a:r>
          </a:p>
          <a:p>
            <a:pPr algn="l"/>
            <a:endParaRPr lang="it-IT" sz="2800" b="0" dirty="0">
              <a:latin typeface="+mn-lt"/>
            </a:endParaRP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			</a:t>
            </a:r>
            <a:endParaRPr lang="en-US" sz="2800" b="0" dirty="0">
              <a:latin typeface="+mn-lt"/>
            </a:endParaRPr>
          </a:p>
        </p:txBody>
      </p:sp>
      <p:graphicFrame>
        <p:nvGraphicFramePr>
          <p:cNvPr id="11" name="Segnaposto contenuto 11"/>
          <p:cNvGraphicFramePr>
            <a:graphicFrameLocks noGrp="1"/>
          </p:cNvGraphicFramePr>
          <p:nvPr>
            <p:ph sz="half" idx="2"/>
          </p:nvPr>
        </p:nvGraphicFramePr>
        <p:xfrm>
          <a:off x="755576" y="4149080"/>
          <a:ext cx="2468032" cy="1854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1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y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F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F</a:t>
                      </a:r>
                      <a:endParaRPr lang="it-IT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0</a:t>
                      </a:r>
                      <a:endParaRPr lang="it-IT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CasellaDiTesto 6"/>
          <p:cNvSpPr txBox="1"/>
          <p:nvPr/>
        </p:nvSpPr>
        <p:spPr>
          <a:xfrm>
            <a:off x="1187624" y="6143536"/>
            <a:ext cx="195310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it-IT" sz="1800" dirty="0">
                <a:latin typeface="+mn-lt"/>
              </a:rPr>
              <a:t>Tavola di verità</a:t>
            </a:r>
          </a:p>
        </p:txBody>
      </p:sp>
      <p:cxnSp>
        <p:nvCxnSpPr>
          <p:cNvPr id="13" name="Connettore 1 6"/>
          <p:cNvCxnSpPr/>
          <p:nvPr/>
        </p:nvCxnSpPr>
        <p:spPr>
          <a:xfrm>
            <a:off x="3210056" y="4225280"/>
            <a:ext cx="2286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6"/>
          <p:cNvCxnSpPr/>
          <p:nvPr/>
        </p:nvCxnSpPr>
        <p:spPr>
          <a:xfrm>
            <a:off x="4570296" y="4531668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tangolo 15"/>
          <p:cNvSpPr/>
          <p:nvPr/>
        </p:nvSpPr>
        <p:spPr>
          <a:xfrm>
            <a:off x="4139952" y="4150668"/>
            <a:ext cx="50405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000" b="0" dirty="0">
                <a:latin typeface="+mn-lt"/>
              </a:rPr>
              <a:t>La tavola di verità di F </a:t>
            </a:r>
            <a:r>
              <a:rPr lang="it-IT" sz="2000" b="0" dirty="0">
                <a:solidFill>
                  <a:srgbClr val="0000FF"/>
                </a:solidFill>
                <a:latin typeface="+mn-lt"/>
              </a:rPr>
              <a:t>ha tutti </a:t>
            </a:r>
            <a:r>
              <a:rPr lang="it-IT" sz="2000" b="0" dirty="0" err="1">
                <a:solidFill>
                  <a:srgbClr val="0000FF"/>
                </a:solidFill>
                <a:latin typeface="+mn-lt"/>
              </a:rPr>
              <a:t>1</a:t>
            </a:r>
            <a:r>
              <a:rPr lang="it-IT" sz="2000" b="0" dirty="0">
                <a:solidFill>
                  <a:srgbClr val="0000FF"/>
                </a:solidFill>
                <a:latin typeface="+mn-lt"/>
              </a:rPr>
              <a:t> </a:t>
            </a:r>
            <a:endParaRPr lang="it-IT" sz="2000" b="0" dirty="0">
              <a:solidFill>
                <a:srgbClr val="FF3300"/>
              </a:solidFill>
              <a:latin typeface="+mn-lt"/>
            </a:endParaRPr>
          </a:p>
          <a:p>
            <a:pPr algn="ctr"/>
            <a:endParaRPr lang="it-IT" sz="2000" b="0" dirty="0">
              <a:latin typeface="+mn-lt"/>
            </a:endParaRPr>
          </a:p>
        </p:txBody>
      </p:sp>
      <p:sp>
        <p:nvSpPr>
          <p:cNvPr id="23" name="Rettangolo 22"/>
          <p:cNvSpPr/>
          <p:nvPr/>
        </p:nvSpPr>
        <p:spPr>
          <a:xfrm>
            <a:off x="4283968" y="4531668"/>
            <a:ext cx="50405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000" b="0" dirty="0" err="1">
                <a:latin typeface="+mn-lt"/>
              </a:rPr>
              <a:t>F</a:t>
            </a:r>
            <a:r>
              <a:rPr lang="it-IT" sz="2000" b="0" dirty="0">
                <a:latin typeface="+mn-lt"/>
              </a:rPr>
              <a:t> </a:t>
            </a:r>
            <a:r>
              <a:rPr lang="it-IT" sz="2000" b="0" dirty="0">
                <a:solidFill>
                  <a:srgbClr val="0000FF"/>
                </a:solidFill>
                <a:latin typeface="+mn-lt"/>
              </a:rPr>
              <a:t>è la funzione costante </a:t>
            </a:r>
            <a:r>
              <a:rPr lang="it-IT" sz="2000" b="0" dirty="0" err="1">
                <a:solidFill>
                  <a:srgbClr val="0000FF"/>
                </a:solidFill>
                <a:latin typeface="+mn-lt"/>
              </a:rPr>
              <a:t>1</a:t>
            </a:r>
            <a:r>
              <a:rPr lang="it-IT" sz="2000" b="0" dirty="0">
                <a:solidFill>
                  <a:srgbClr val="0000FF"/>
                </a:solidFill>
                <a:latin typeface="+mn-lt"/>
              </a:rPr>
              <a:t> </a:t>
            </a:r>
            <a:endParaRPr lang="it-IT" sz="2000" b="0" dirty="0">
              <a:solidFill>
                <a:srgbClr val="FF3300"/>
              </a:solidFill>
              <a:latin typeface="+mn-lt"/>
            </a:endParaRPr>
          </a:p>
          <a:p>
            <a:pPr algn="ctr"/>
            <a:endParaRPr lang="it-IT" sz="2000" b="0" dirty="0">
              <a:latin typeface="+mn-lt"/>
            </a:endParaRPr>
          </a:p>
        </p:txBody>
      </p:sp>
      <p:cxnSp>
        <p:nvCxnSpPr>
          <p:cNvPr id="24" name="Connettore 1 6"/>
          <p:cNvCxnSpPr/>
          <p:nvPr/>
        </p:nvCxnSpPr>
        <p:spPr>
          <a:xfrm>
            <a:off x="7164288" y="4149080"/>
            <a:ext cx="2286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1 6"/>
          <p:cNvCxnSpPr/>
          <p:nvPr/>
        </p:nvCxnSpPr>
        <p:spPr>
          <a:xfrm>
            <a:off x="5220072" y="4531668"/>
            <a:ext cx="2286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1 6"/>
          <p:cNvCxnSpPr/>
          <p:nvPr/>
        </p:nvCxnSpPr>
        <p:spPr>
          <a:xfrm>
            <a:off x="2831232" y="4221088"/>
            <a:ext cx="2286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63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/>
      <p:bldP spid="2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700808"/>
            <a:ext cx="8460432" cy="3539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800" b="0" dirty="0">
                <a:latin typeface="+mn-lt"/>
              </a:rPr>
              <a:t>Applicando la </a:t>
            </a:r>
            <a:r>
              <a:rPr lang="it-IT" sz="2800" b="0" dirty="0">
                <a:solidFill>
                  <a:srgbClr val="CC0000"/>
                </a:solidFill>
                <a:latin typeface="+mn-lt"/>
              </a:rPr>
              <a:t>legge di De Morgan </a:t>
            </a:r>
            <a:r>
              <a:rPr lang="it-IT" sz="2800" b="0" dirty="0">
                <a:latin typeface="+mn-lt"/>
              </a:rPr>
              <a:t>si ha</a:t>
            </a: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			</a:t>
            </a:r>
            <a:br>
              <a:rPr lang="it-IT" sz="2800" b="0" dirty="0">
                <a:latin typeface="+mn-lt"/>
                <a:ea typeface="Cambria Math" charset="0"/>
                <a:cs typeface="Cambria Math" charset="0"/>
              </a:rPr>
            </a:b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= x</a:t>
            </a:r>
            <a:r>
              <a:rPr lang="it-IT" sz="2800" dirty="0">
                <a:sym typeface="Symbol"/>
              </a:rPr>
              <a:t>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(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x+y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)</a:t>
            </a: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  = 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x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+ (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x+y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)</a:t>
            </a: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  = 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x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+ (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x+y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)</a:t>
            </a: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  = 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x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+ 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x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+ 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y</a:t>
            </a:r>
            <a:endParaRPr lang="it-IT" sz="2800" b="0" dirty="0">
              <a:latin typeface="+mn-lt"/>
              <a:ea typeface="Cambria Math" charset="0"/>
              <a:cs typeface="Cambria Math" charset="0"/>
            </a:endParaRP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  = 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+ 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y</a:t>
            </a:r>
            <a:endParaRPr lang="it-IT" sz="2800" b="0" dirty="0">
              <a:latin typeface="+mn-lt"/>
              <a:ea typeface="Cambria Math" charset="0"/>
              <a:cs typeface="Cambria Math" charset="0"/>
            </a:endParaRPr>
          </a:p>
          <a:p>
            <a:pPr algn="l"/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  = 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 </a:t>
            </a:r>
            <a:endParaRPr lang="en-US" sz="2800" b="0" dirty="0">
              <a:latin typeface="+mn-lt"/>
            </a:endParaRPr>
          </a:p>
        </p:txBody>
      </p:sp>
      <p:cxnSp>
        <p:nvCxnSpPr>
          <p:cNvPr id="5" name="Connettore 1 6"/>
          <p:cNvCxnSpPr/>
          <p:nvPr/>
        </p:nvCxnSpPr>
        <p:spPr>
          <a:xfrm>
            <a:off x="1763688" y="2636912"/>
            <a:ext cx="7200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6"/>
          <p:cNvCxnSpPr/>
          <p:nvPr/>
        </p:nvCxnSpPr>
        <p:spPr>
          <a:xfrm>
            <a:off x="762000" y="2514600"/>
            <a:ext cx="2286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6"/>
          <p:cNvCxnSpPr/>
          <p:nvPr/>
        </p:nvCxnSpPr>
        <p:spPr>
          <a:xfrm>
            <a:off x="1447800" y="2514600"/>
            <a:ext cx="10668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6"/>
          <p:cNvCxnSpPr/>
          <p:nvPr/>
        </p:nvCxnSpPr>
        <p:spPr>
          <a:xfrm>
            <a:off x="4419600" y="4721224"/>
            <a:ext cx="2286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6"/>
          <p:cNvCxnSpPr/>
          <p:nvPr/>
        </p:nvCxnSpPr>
        <p:spPr>
          <a:xfrm>
            <a:off x="5779840" y="5027612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tangolo 22"/>
          <p:cNvSpPr/>
          <p:nvPr/>
        </p:nvSpPr>
        <p:spPr>
          <a:xfrm>
            <a:off x="2350840" y="5845314"/>
            <a:ext cx="50405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è la funzione costante </a:t>
            </a:r>
            <a:r>
              <a:rPr lang="it-IT" sz="2400" b="0" dirty="0" err="1">
                <a:solidFill>
                  <a:srgbClr val="0000FF"/>
                </a:solidFill>
                <a:latin typeface="+mn-lt"/>
              </a:rPr>
              <a:t>1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 </a:t>
            </a:r>
            <a:endParaRPr lang="it-IT" sz="2400" b="0" dirty="0">
              <a:solidFill>
                <a:srgbClr val="FF3300"/>
              </a:solidFill>
              <a:latin typeface="+mn-lt"/>
            </a:endParaRPr>
          </a:p>
          <a:p>
            <a:pPr algn="ctr"/>
            <a:endParaRPr lang="it-IT" sz="2400" b="0" dirty="0">
              <a:latin typeface="+mn-lt"/>
            </a:endParaRPr>
          </a:p>
        </p:txBody>
      </p:sp>
      <p:cxnSp>
        <p:nvCxnSpPr>
          <p:cNvPr id="25" name="Connettore 1 6"/>
          <p:cNvCxnSpPr/>
          <p:nvPr/>
        </p:nvCxnSpPr>
        <p:spPr>
          <a:xfrm>
            <a:off x="3047256" y="5865812"/>
            <a:ext cx="2286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6"/>
          <p:cNvCxnSpPr/>
          <p:nvPr/>
        </p:nvCxnSpPr>
        <p:spPr>
          <a:xfrm>
            <a:off x="1371600" y="3124200"/>
            <a:ext cx="2286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1 6"/>
          <p:cNvCxnSpPr/>
          <p:nvPr/>
        </p:nvCxnSpPr>
        <p:spPr>
          <a:xfrm>
            <a:off x="1371600" y="3579812"/>
            <a:ext cx="2286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1 6"/>
          <p:cNvCxnSpPr/>
          <p:nvPr/>
        </p:nvCxnSpPr>
        <p:spPr>
          <a:xfrm>
            <a:off x="2023120" y="3124200"/>
            <a:ext cx="7200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1 6"/>
          <p:cNvCxnSpPr/>
          <p:nvPr/>
        </p:nvCxnSpPr>
        <p:spPr>
          <a:xfrm>
            <a:off x="2051720" y="3048000"/>
            <a:ext cx="7200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6"/>
          <p:cNvCxnSpPr/>
          <p:nvPr/>
        </p:nvCxnSpPr>
        <p:spPr>
          <a:xfrm>
            <a:off x="1371600" y="3960812"/>
            <a:ext cx="2286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tangolo 17"/>
          <p:cNvSpPr/>
          <p:nvPr/>
        </p:nvSpPr>
        <p:spPr>
          <a:xfrm>
            <a:off x="899592" y="4365104"/>
            <a:ext cx="5040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800" b="0" dirty="0">
                <a:solidFill>
                  <a:srgbClr val="CC0000"/>
                </a:solidFill>
                <a:latin typeface="+mn-lt"/>
              </a:rPr>
              <a:t>(</a:t>
            </a:r>
            <a:r>
              <a:rPr lang="it-IT" sz="1800" b="0" dirty="0" err="1">
                <a:solidFill>
                  <a:srgbClr val="CC0000"/>
                </a:solidFill>
                <a:latin typeface="+mn-lt"/>
              </a:rPr>
              <a:t>prop</a:t>
            </a:r>
            <a:r>
              <a:rPr lang="it-IT" sz="1800" b="0" dirty="0">
                <a:solidFill>
                  <a:srgbClr val="CC0000"/>
                </a:solidFill>
                <a:latin typeface="+mn-lt"/>
              </a:rPr>
              <a:t>. complemento)</a:t>
            </a:r>
          </a:p>
        </p:txBody>
      </p:sp>
      <p:sp>
        <p:nvSpPr>
          <p:cNvPr id="18" name="Rettangolo 17"/>
          <p:cNvSpPr/>
          <p:nvPr/>
        </p:nvSpPr>
        <p:spPr>
          <a:xfrm>
            <a:off x="1475656" y="3501008"/>
            <a:ext cx="5040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800" b="0" dirty="0">
                <a:solidFill>
                  <a:srgbClr val="CC0000"/>
                </a:solidFill>
                <a:latin typeface="+mn-lt"/>
              </a:rPr>
              <a:t>(</a:t>
            </a:r>
            <a:r>
              <a:rPr lang="it-IT" sz="1800" b="0" dirty="0" err="1">
                <a:solidFill>
                  <a:srgbClr val="CC0000"/>
                </a:solidFill>
                <a:latin typeface="+mn-lt"/>
              </a:rPr>
              <a:t>prop</a:t>
            </a:r>
            <a:r>
              <a:rPr lang="it-IT" sz="1800" b="0" dirty="0">
                <a:solidFill>
                  <a:srgbClr val="CC0000"/>
                </a:solidFill>
                <a:latin typeface="+mn-lt"/>
              </a:rPr>
              <a:t>. involuzione)</a:t>
            </a:r>
          </a:p>
        </p:txBody>
      </p:sp>
      <p:sp>
        <p:nvSpPr>
          <p:cNvPr id="19" name="Rettangolo 17"/>
          <p:cNvSpPr/>
          <p:nvPr/>
        </p:nvSpPr>
        <p:spPr>
          <a:xfrm>
            <a:off x="539552" y="4787860"/>
            <a:ext cx="5040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800" b="0" dirty="0">
                <a:solidFill>
                  <a:srgbClr val="CC0000"/>
                </a:solidFill>
                <a:latin typeface="+mn-lt"/>
              </a:rPr>
              <a:t>(</a:t>
            </a:r>
            <a:r>
              <a:rPr lang="it-IT" sz="1800" b="0" dirty="0" err="1">
                <a:solidFill>
                  <a:srgbClr val="CC0000"/>
                </a:solidFill>
                <a:latin typeface="+mn-lt"/>
              </a:rPr>
              <a:t>prop</a:t>
            </a:r>
            <a:r>
              <a:rPr lang="it-IT" sz="1800" b="0" dirty="0">
                <a:solidFill>
                  <a:srgbClr val="CC0000"/>
                </a:solidFill>
                <a:latin typeface="+mn-lt"/>
              </a:rPr>
              <a:t>. della costante 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7288" y="2348880"/>
            <a:ext cx="8155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accent2"/>
              </a:buClr>
            </a:pP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=x</a:t>
            </a:r>
            <a:r>
              <a:rPr lang="it-IT" sz="2800" dirty="0">
                <a:sym typeface="Symbol"/>
              </a:rPr>
              <a:t>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(</a:t>
            </a:r>
            <a:r>
              <a:rPr lang="it-IT" sz="2800" b="0" dirty="0" err="1">
                <a:latin typeface="+mn-lt"/>
                <a:ea typeface="Cambria Math" charset="0"/>
                <a:cs typeface="Cambria Math" charset="0"/>
              </a:rPr>
              <a:t>x+y</a:t>
            </a: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)</a:t>
            </a:r>
            <a:endParaRPr lang="en-US" sz="2400" b="0" dirty="0">
              <a:latin typeface="+mn-lt"/>
            </a:endParaRPr>
          </a:p>
        </p:txBody>
      </p:sp>
      <p:cxnSp>
        <p:nvCxnSpPr>
          <p:cNvPr id="21" name="Connettore 1 6"/>
          <p:cNvCxnSpPr/>
          <p:nvPr/>
        </p:nvCxnSpPr>
        <p:spPr>
          <a:xfrm>
            <a:off x="5580112" y="2420888"/>
            <a:ext cx="7200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56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7" grpId="0"/>
      <p:bldP spid="18" grpId="0"/>
      <p:bldP spid="1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4800" dirty="0"/>
              <a:t>Esercizio 7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447800" y="2514600"/>
          <a:ext cx="5715000" cy="300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409700" imgH="749300" progId="">
                  <p:embed/>
                </p:oleObj>
              </mc:Choice>
              <mc:Fallback>
                <p:oleObj name="Visio" r:id="rId2" imgW="1409700" imgH="749300" progId="">
                  <p:embed/>
                  <p:pic>
                    <p:nvPicPr>
                      <p:cNvPr id="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14600"/>
                        <a:ext cx="5715000" cy="300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/>
              <p:cNvSpPr txBox="1"/>
              <p:nvPr/>
            </p:nvSpPr>
            <p:spPr>
              <a:xfrm>
                <a:off x="4442786" y="3111500"/>
                <a:ext cx="5001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3" name="CasellaDiTes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786" y="3111500"/>
                <a:ext cx="500137" cy="276999"/>
              </a:xfrm>
              <a:prstGeom prst="rect">
                <a:avLst/>
              </a:prstGeom>
              <a:blipFill rotWithShape="1">
                <a:blip r:embed="rId5"/>
                <a:stretch>
                  <a:fillRect l="-7229" t="-8696" r="-2410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/>
              <p:cNvSpPr txBox="1"/>
              <p:nvPr/>
            </p:nvSpPr>
            <p:spPr>
              <a:xfrm>
                <a:off x="4227272" y="4660900"/>
                <a:ext cx="205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4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272" y="4660900"/>
                <a:ext cx="205285" cy="276999"/>
              </a:xfrm>
              <a:prstGeom prst="rect">
                <a:avLst/>
              </a:prstGeom>
              <a:blipFill rotWithShape="1">
                <a:blip r:embed="rId6"/>
                <a:stretch>
                  <a:fillRect l="-17143" t="-8511" r="-2857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/>
              <p:cNvSpPr txBox="1"/>
              <p:nvPr/>
            </p:nvSpPr>
            <p:spPr>
              <a:xfrm>
                <a:off x="6910680" y="3965981"/>
                <a:ext cx="8275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5" name="CasellaDiTes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680" y="3965981"/>
                <a:ext cx="827588" cy="276999"/>
              </a:xfrm>
              <a:prstGeom prst="rect">
                <a:avLst/>
              </a:prstGeom>
              <a:blipFill rotWithShape="1">
                <a:blip r:embed="rId7"/>
                <a:stretch>
                  <a:fillRect l="-1460" t="-8511" r="-2920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800151" y="1683965"/>
            <a:ext cx="541804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0" dirty="0">
                <a:latin typeface="+mn-lt"/>
              </a:rPr>
              <a:t>Data la rete seguente, trovare </a:t>
            </a:r>
            <a:br>
              <a:rPr lang="it-IT" sz="2800" b="0" dirty="0">
                <a:latin typeface="+mn-lt"/>
              </a:rPr>
            </a:br>
            <a:r>
              <a:rPr lang="it-IT" sz="2800" b="0" dirty="0">
                <a:latin typeface="+mn-lt"/>
              </a:rPr>
              <a:t>l’espressione booleana all’uscita</a:t>
            </a:r>
          </a:p>
          <a:p>
            <a:pPr algn="ctr"/>
            <a:endParaRPr lang="en-US" sz="2800" b="0" dirty="0">
              <a:latin typeface="+mn-lt"/>
            </a:endParaRPr>
          </a:p>
        </p:txBody>
      </p:sp>
      <p:sp>
        <p:nvSpPr>
          <p:cNvPr id="25" name="AutoShape 22"/>
          <p:cNvSpPr>
            <a:spLocks noChangeArrowheads="1"/>
          </p:cNvSpPr>
          <p:nvPr/>
        </p:nvSpPr>
        <p:spPr bwMode="auto">
          <a:xfrm>
            <a:off x="5292080" y="3717032"/>
            <a:ext cx="1440160" cy="115212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6" name="AutoShape 27"/>
          <p:cNvSpPr>
            <a:spLocks noChangeArrowheads="1"/>
          </p:cNvSpPr>
          <p:nvPr/>
        </p:nvSpPr>
        <p:spPr bwMode="auto">
          <a:xfrm rot="10872147">
            <a:off x="2782968" y="2912339"/>
            <a:ext cx="1501854" cy="1080133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7" name="AutoShape 33"/>
          <p:cNvSpPr>
            <a:spLocks noChangeArrowheads="1"/>
          </p:cNvSpPr>
          <p:nvPr/>
        </p:nvSpPr>
        <p:spPr bwMode="auto">
          <a:xfrm rot="16092290">
            <a:off x="3098926" y="4485112"/>
            <a:ext cx="872237" cy="949572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8" name="Oval 80"/>
          <p:cNvSpPr>
            <a:spLocks noChangeArrowheads="1"/>
          </p:cNvSpPr>
          <p:nvPr/>
        </p:nvSpPr>
        <p:spPr bwMode="auto">
          <a:xfrm>
            <a:off x="3923928" y="4869160"/>
            <a:ext cx="174876" cy="168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5048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4800" dirty="0"/>
              <a:t>Esercizio 7: Soluzione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447800" y="2514600"/>
          <a:ext cx="5715000" cy="300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409700" imgH="749300" progId="">
                  <p:embed/>
                </p:oleObj>
              </mc:Choice>
              <mc:Fallback>
                <p:oleObj name="Visio" r:id="rId2" imgW="1409700" imgH="749300" progId="">
                  <p:embed/>
                  <p:pic>
                    <p:nvPicPr>
                      <p:cNvPr id="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14600"/>
                        <a:ext cx="5715000" cy="300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/>
              <p:cNvSpPr txBox="1"/>
              <p:nvPr/>
            </p:nvSpPr>
            <p:spPr>
              <a:xfrm>
                <a:off x="4442786" y="3111500"/>
                <a:ext cx="5001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3" name="CasellaDiTes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786" y="3111500"/>
                <a:ext cx="500137" cy="276999"/>
              </a:xfrm>
              <a:prstGeom prst="rect">
                <a:avLst/>
              </a:prstGeom>
              <a:blipFill rotWithShape="1">
                <a:blip r:embed="rId5"/>
                <a:stretch>
                  <a:fillRect l="-7229" t="-8696" r="-2410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/>
              <p:cNvSpPr txBox="1"/>
              <p:nvPr/>
            </p:nvSpPr>
            <p:spPr>
              <a:xfrm>
                <a:off x="4227272" y="4660900"/>
                <a:ext cx="205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4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272" y="4660900"/>
                <a:ext cx="205285" cy="276999"/>
              </a:xfrm>
              <a:prstGeom prst="rect">
                <a:avLst/>
              </a:prstGeom>
              <a:blipFill rotWithShape="1">
                <a:blip r:embed="rId6"/>
                <a:stretch>
                  <a:fillRect l="-17143" t="-8511" r="-2857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/>
              <p:cNvSpPr txBox="1"/>
              <p:nvPr/>
            </p:nvSpPr>
            <p:spPr>
              <a:xfrm>
                <a:off x="6910680" y="3965981"/>
                <a:ext cx="8275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5" name="CasellaDiTes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680" y="3965981"/>
                <a:ext cx="827588" cy="276999"/>
              </a:xfrm>
              <a:prstGeom prst="rect">
                <a:avLst/>
              </a:prstGeom>
              <a:blipFill rotWithShape="1">
                <a:blip r:embed="rId7"/>
                <a:stretch>
                  <a:fillRect l="-1460" t="-8511" r="-2920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ttore 1 6"/>
          <p:cNvCxnSpPr/>
          <p:nvPr/>
        </p:nvCxnSpPr>
        <p:spPr>
          <a:xfrm>
            <a:off x="7668344" y="4437112"/>
            <a:ext cx="1440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6"/>
          <p:cNvCxnSpPr/>
          <p:nvPr/>
        </p:nvCxnSpPr>
        <p:spPr>
          <a:xfrm>
            <a:off x="4139952" y="5229200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43224" y="2996952"/>
            <a:ext cx="804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</a:rPr>
              <a:t>x  +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5003" y="5147900"/>
            <a:ext cx="352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</a:rPr>
              <a:t>y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4248" y="4355812"/>
            <a:ext cx="99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</a:rPr>
              <a:t>(x  + y)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328" y="4365104"/>
            <a:ext cx="368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</a:rP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00" y="5733256"/>
            <a:ext cx="2144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1800" i="1" dirty="0">
                <a:latin typeface="Cambria Math"/>
                <a:cs typeface="Cambria Math"/>
                <a:sym typeface="Symbol"/>
              </a:rPr>
              <a:t>(</a:t>
            </a:r>
            <a:r>
              <a:rPr lang="it-IT" sz="1800" i="1" dirty="0" err="1">
                <a:latin typeface="Cambria Math"/>
                <a:cs typeface="Cambria Math"/>
                <a:sym typeface="Symbol"/>
              </a:rPr>
              <a:t>x+y</a:t>
            </a:r>
            <a:r>
              <a:rPr lang="it-IT" sz="1800" i="1" dirty="0">
                <a:latin typeface="Cambria Math"/>
                <a:cs typeface="Cambria Math"/>
                <a:sym typeface="Symbol"/>
              </a:rPr>
              <a:t>) </a:t>
            </a:r>
            <a:r>
              <a:rPr lang="en-US" sz="1800" i="1" dirty="0">
                <a:latin typeface="Cambria Math"/>
                <a:cs typeface="Cambria Math"/>
              </a:rPr>
              <a:t>y = x</a:t>
            </a:r>
            <a:r>
              <a:rPr lang="it-IT" sz="1800" i="1" dirty="0">
                <a:latin typeface="Cambria Math"/>
                <a:cs typeface="Cambria Math"/>
                <a:sym typeface="Symbol"/>
              </a:rPr>
              <a:t>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 err="1">
                <a:latin typeface="Cambria Math"/>
                <a:cs typeface="Cambria Math"/>
              </a:rPr>
              <a:t>y+y</a:t>
            </a:r>
            <a:r>
              <a:rPr lang="it-IT" sz="1800" i="1" dirty="0">
                <a:latin typeface="Cambria Math"/>
                <a:cs typeface="Cambria Math"/>
                <a:sym typeface="Symbol"/>
              </a:rPr>
              <a:t>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>
                <a:latin typeface="Cambria Math"/>
                <a:cs typeface="Cambria Math"/>
              </a:rPr>
              <a:t>y</a:t>
            </a:r>
          </a:p>
          <a:p>
            <a:pPr algn="l"/>
            <a:r>
              <a:rPr lang="en-US" sz="1800" i="1" dirty="0">
                <a:latin typeface="Cambria Math"/>
                <a:cs typeface="Cambria Math"/>
              </a:rPr>
              <a:t>                  = x</a:t>
            </a:r>
            <a:r>
              <a:rPr lang="it-IT" sz="1800" i="1" dirty="0">
                <a:latin typeface="Cambria Math"/>
                <a:cs typeface="Cambria Math"/>
                <a:sym typeface="Symbol"/>
              </a:rPr>
              <a:t>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>
                <a:latin typeface="Cambria Math"/>
                <a:cs typeface="Cambria Math"/>
              </a:rPr>
              <a:t>y</a:t>
            </a:r>
          </a:p>
          <a:p>
            <a:pPr algn="l"/>
            <a:r>
              <a:rPr lang="en-US" sz="1800" i="1" dirty="0">
                <a:latin typeface="Cambria Math"/>
                <a:cs typeface="Cambria Math"/>
              </a:rPr>
              <a:t> </a:t>
            </a:r>
          </a:p>
        </p:txBody>
      </p:sp>
      <p:cxnSp>
        <p:nvCxnSpPr>
          <p:cNvPr id="21" name="Connettore 1 6"/>
          <p:cNvCxnSpPr/>
          <p:nvPr/>
        </p:nvCxnSpPr>
        <p:spPr>
          <a:xfrm>
            <a:off x="7740352" y="5805264"/>
            <a:ext cx="1440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5292080" y="3717032"/>
            <a:ext cx="1440160" cy="115212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5" name="AutoShape 27"/>
          <p:cNvSpPr>
            <a:spLocks noChangeArrowheads="1"/>
          </p:cNvSpPr>
          <p:nvPr/>
        </p:nvSpPr>
        <p:spPr bwMode="auto">
          <a:xfrm rot="10872147">
            <a:off x="2782968" y="2912339"/>
            <a:ext cx="1501854" cy="1080133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6" name="AutoShape 33"/>
          <p:cNvSpPr>
            <a:spLocks noChangeArrowheads="1"/>
          </p:cNvSpPr>
          <p:nvPr/>
        </p:nvSpPr>
        <p:spPr bwMode="auto">
          <a:xfrm rot="16092290">
            <a:off x="3098926" y="4519660"/>
            <a:ext cx="872237" cy="949572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7" name="Oval 80"/>
          <p:cNvSpPr>
            <a:spLocks noChangeArrowheads="1"/>
          </p:cNvSpPr>
          <p:nvPr/>
        </p:nvSpPr>
        <p:spPr bwMode="auto">
          <a:xfrm>
            <a:off x="3923928" y="4869160"/>
            <a:ext cx="174876" cy="168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00151" y="1683965"/>
            <a:ext cx="541804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0" dirty="0">
                <a:latin typeface="+mn-lt"/>
              </a:rPr>
              <a:t>Data la rete seguente, trovare </a:t>
            </a:r>
            <a:br>
              <a:rPr lang="it-IT" sz="2800" b="0" dirty="0">
                <a:latin typeface="+mn-lt"/>
              </a:rPr>
            </a:br>
            <a:r>
              <a:rPr lang="it-IT" sz="2800" b="0" dirty="0">
                <a:latin typeface="+mn-lt"/>
              </a:rPr>
              <a:t>l’espressione booleana all’uscita</a:t>
            </a:r>
          </a:p>
          <a:p>
            <a:pPr algn="ctr"/>
            <a:endParaRPr lang="en-US" sz="2800" b="0" dirty="0">
              <a:latin typeface="+mn-lt"/>
            </a:endParaRPr>
          </a:p>
        </p:txBody>
      </p:sp>
      <p:cxnSp>
        <p:nvCxnSpPr>
          <p:cNvPr id="30" name="Connettore 1 6"/>
          <p:cNvCxnSpPr/>
          <p:nvPr/>
        </p:nvCxnSpPr>
        <p:spPr>
          <a:xfrm>
            <a:off x="7092280" y="5805264"/>
            <a:ext cx="1440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1 6"/>
          <p:cNvCxnSpPr/>
          <p:nvPr/>
        </p:nvCxnSpPr>
        <p:spPr>
          <a:xfrm>
            <a:off x="8244408" y="5805264"/>
            <a:ext cx="1440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6"/>
          <p:cNvCxnSpPr/>
          <p:nvPr/>
        </p:nvCxnSpPr>
        <p:spPr>
          <a:xfrm>
            <a:off x="7812360" y="6093296"/>
            <a:ext cx="1440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61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4800" dirty="0"/>
              <a:t>Esercizio 8</a:t>
            </a:r>
          </a:p>
        </p:txBody>
      </p:sp>
      <p:graphicFrame>
        <p:nvGraphicFramePr>
          <p:cNvPr id="30" name="Object 12"/>
          <p:cNvGraphicFramePr>
            <a:graphicFrameLocks noChangeAspect="1"/>
          </p:cNvGraphicFramePr>
          <p:nvPr/>
        </p:nvGraphicFramePr>
        <p:xfrm>
          <a:off x="1676400" y="2819400"/>
          <a:ext cx="6700838" cy="234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778000" imgH="635000" progId="">
                  <p:embed/>
                </p:oleObj>
              </mc:Choice>
              <mc:Fallback>
                <p:oleObj name="Visio" r:id="rId2" imgW="1778000" imgH="635000" progId="">
                  <p:embed/>
                  <p:pic>
                    <p:nvPicPr>
                      <p:cNvPr id="3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19400"/>
                        <a:ext cx="6700838" cy="234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Line 8"/>
          <p:cNvSpPr>
            <a:spLocks noChangeShapeType="1"/>
          </p:cNvSpPr>
          <p:nvPr/>
        </p:nvSpPr>
        <p:spPr bwMode="auto">
          <a:xfrm>
            <a:off x="3938588" y="-2983936"/>
            <a:ext cx="228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6" name="Line 11"/>
          <p:cNvSpPr>
            <a:spLocks noChangeShapeType="1"/>
          </p:cNvSpPr>
          <p:nvPr/>
        </p:nvSpPr>
        <p:spPr bwMode="auto">
          <a:xfrm>
            <a:off x="3862387" y="-1764736"/>
            <a:ext cx="228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8" name="AutoShape 22"/>
          <p:cNvSpPr>
            <a:spLocks noChangeArrowheads="1"/>
          </p:cNvSpPr>
          <p:nvPr/>
        </p:nvSpPr>
        <p:spPr bwMode="auto">
          <a:xfrm>
            <a:off x="4716016" y="3429000"/>
            <a:ext cx="1440160" cy="115212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9" name="AutoShape 33"/>
          <p:cNvSpPr>
            <a:spLocks noChangeArrowheads="1"/>
          </p:cNvSpPr>
          <p:nvPr/>
        </p:nvSpPr>
        <p:spPr bwMode="auto">
          <a:xfrm rot="16092290">
            <a:off x="2879116" y="4142393"/>
            <a:ext cx="937493" cy="979224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0" name="Oval 80"/>
          <p:cNvSpPr>
            <a:spLocks noChangeArrowheads="1"/>
          </p:cNvSpPr>
          <p:nvPr/>
        </p:nvSpPr>
        <p:spPr bwMode="auto">
          <a:xfrm>
            <a:off x="3720907" y="4557126"/>
            <a:ext cx="174876" cy="168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12" name="AutoShape 33"/>
          <p:cNvSpPr>
            <a:spLocks noChangeArrowheads="1"/>
          </p:cNvSpPr>
          <p:nvPr/>
        </p:nvSpPr>
        <p:spPr bwMode="auto">
          <a:xfrm rot="16092290">
            <a:off x="2841986" y="2849340"/>
            <a:ext cx="939749" cy="1051196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3" name="Oval 80"/>
          <p:cNvSpPr>
            <a:spLocks noChangeArrowheads="1"/>
          </p:cNvSpPr>
          <p:nvPr/>
        </p:nvSpPr>
        <p:spPr bwMode="auto">
          <a:xfrm>
            <a:off x="3720907" y="3284984"/>
            <a:ext cx="174876" cy="168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14" name="AutoShape 33"/>
          <p:cNvSpPr>
            <a:spLocks noChangeArrowheads="1"/>
          </p:cNvSpPr>
          <p:nvPr/>
        </p:nvSpPr>
        <p:spPr bwMode="auto">
          <a:xfrm rot="16092290">
            <a:off x="7000361" y="3549008"/>
            <a:ext cx="872237" cy="949572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5" name="Oval 80"/>
          <p:cNvSpPr>
            <a:spLocks noChangeArrowheads="1"/>
          </p:cNvSpPr>
          <p:nvPr/>
        </p:nvSpPr>
        <p:spPr bwMode="auto">
          <a:xfrm>
            <a:off x="7812360" y="3933056"/>
            <a:ext cx="174876" cy="168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00151" y="1683965"/>
            <a:ext cx="541804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0" dirty="0">
                <a:latin typeface="+mn-lt"/>
              </a:rPr>
              <a:t>Data la rete seguente, trovare </a:t>
            </a:r>
            <a:br>
              <a:rPr lang="it-IT" sz="2800" b="0" dirty="0">
                <a:latin typeface="+mn-lt"/>
              </a:rPr>
            </a:br>
            <a:r>
              <a:rPr lang="it-IT" sz="2800" b="0" dirty="0">
                <a:latin typeface="+mn-lt"/>
              </a:rPr>
              <a:t>l’espressione booleana all’uscita</a:t>
            </a:r>
          </a:p>
          <a:p>
            <a:pPr algn="ctr"/>
            <a:endParaRPr lang="en-US" sz="2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27968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4800" dirty="0"/>
              <a:t>Esercizio 8: Soluzione</a:t>
            </a:r>
          </a:p>
        </p:txBody>
      </p:sp>
      <p:graphicFrame>
        <p:nvGraphicFramePr>
          <p:cNvPr id="30" name="Object 12"/>
          <p:cNvGraphicFramePr>
            <a:graphicFrameLocks noChangeAspect="1"/>
          </p:cNvGraphicFramePr>
          <p:nvPr/>
        </p:nvGraphicFramePr>
        <p:xfrm>
          <a:off x="1676400" y="2819400"/>
          <a:ext cx="6700838" cy="234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778000" imgH="635000" progId="">
                  <p:embed/>
                </p:oleObj>
              </mc:Choice>
              <mc:Fallback>
                <p:oleObj name="Visio" r:id="rId2" imgW="1778000" imgH="635000" progId="">
                  <p:embed/>
                  <p:pic>
                    <p:nvPicPr>
                      <p:cNvPr id="3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19400"/>
                        <a:ext cx="6700838" cy="234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Line 8"/>
          <p:cNvSpPr>
            <a:spLocks noChangeShapeType="1"/>
          </p:cNvSpPr>
          <p:nvPr/>
        </p:nvSpPr>
        <p:spPr bwMode="auto">
          <a:xfrm>
            <a:off x="3938588" y="-2983936"/>
            <a:ext cx="228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6" name="Line 11"/>
          <p:cNvSpPr>
            <a:spLocks noChangeShapeType="1"/>
          </p:cNvSpPr>
          <p:nvPr/>
        </p:nvSpPr>
        <p:spPr bwMode="auto">
          <a:xfrm>
            <a:off x="3862387" y="-1764736"/>
            <a:ext cx="228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" name="TextBox 8"/>
          <p:cNvSpPr txBox="1"/>
          <p:nvPr/>
        </p:nvSpPr>
        <p:spPr>
          <a:xfrm>
            <a:off x="7524328" y="3573016"/>
            <a:ext cx="1425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  <a:sym typeface="Symbol"/>
              </a:rPr>
              <a:t>x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>
                <a:latin typeface="Cambria Math"/>
                <a:cs typeface="Cambria Math"/>
              </a:rPr>
              <a:t> y = x + y</a:t>
            </a:r>
          </a:p>
        </p:txBody>
      </p:sp>
      <p:cxnSp>
        <p:nvCxnSpPr>
          <p:cNvPr id="17" name="Connettore 1 6"/>
          <p:cNvCxnSpPr/>
          <p:nvPr/>
        </p:nvCxnSpPr>
        <p:spPr>
          <a:xfrm>
            <a:off x="3995936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1 6"/>
          <p:cNvCxnSpPr/>
          <p:nvPr/>
        </p:nvCxnSpPr>
        <p:spPr>
          <a:xfrm>
            <a:off x="4067944" y="479715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1 6"/>
          <p:cNvCxnSpPr/>
          <p:nvPr/>
        </p:nvCxnSpPr>
        <p:spPr>
          <a:xfrm>
            <a:off x="7668344" y="3573016"/>
            <a:ext cx="5040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1 6"/>
          <p:cNvCxnSpPr/>
          <p:nvPr/>
        </p:nvCxnSpPr>
        <p:spPr>
          <a:xfrm>
            <a:off x="7676728" y="3645024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1 6"/>
          <p:cNvCxnSpPr/>
          <p:nvPr/>
        </p:nvCxnSpPr>
        <p:spPr>
          <a:xfrm>
            <a:off x="7956376" y="3645024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56176" y="3645024"/>
            <a:ext cx="699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</a:rPr>
              <a:t>x 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>
                <a:latin typeface="Cambria Math"/>
                <a:cs typeface="Cambria Math"/>
              </a:rPr>
              <a:t> y</a:t>
            </a:r>
          </a:p>
        </p:txBody>
      </p:sp>
      <p:cxnSp>
        <p:nvCxnSpPr>
          <p:cNvPr id="24" name="Connettore 1 6"/>
          <p:cNvCxnSpPr/>
          <p:nvPr/>
        </p:nvCxnSpPr>
        <p:spPr>
          <a:xfrm>
            <a:off x="6300192" y="371703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1 6"/>
          <p:cNvCxnSpPr/>
          <p:nvPr/>
        </p:nvCxnSpPr>
        <p:spPr>
          <a:xfrm>
            <a:off x="6668616" y="371703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33"/>
          <p:cNvSpPr>
            <a:spLocks noChangeArrowheads="1"/>
          </p:cNvSpPr>
          <p:nvPr/>
        </p:nvSpPr>
        <p:spPr bwMode="auto">
          <a:xfrm rot="16092290">
            <a:off x="2924050" y="4197080"/>
            <a:ext cx="872237" cy="949572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6" name="Oval 80"/>
          <p:cNvSpPr>
            <a:spLocks noChangeArrowheads="1"/>
          </p:cNvSpPr>
          <p:nvPr/>
        </p:nvSpPr>
        <p:spPr bwMode="auto">
          <a:xfrm>
            <a:off x="3749052" y="4581128"/>
            <a:ext cx="174876" cy="168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27" name="AutoShape 33"/>
          <p:cNvSpPr>
            <a:spLocks noChangeArrowheads="1"/>
          </p:cNvSpPr>
          <p:nvPr/>
        </p:nvSpPr>
        <p:spPr bwMode="auto">
          <a:xfrm rot="16092290">
            <a:off x="2895905" y="2900936"/>
            <a:ext cx="872237" cy="949572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8" name="Oval 80"/>
          <p:cNvSpPr>
            <a:spLocks noChangeArrowheads="1"/>
          </p:cNvSpPr>
          <p:nvPr/>
        </p:nvSpPr>
        <p:spPr bwMode="auto">
          <a:xfrm>
            <a:off x="3720907" y="3284984"/>
            <a:ext cx="174876" cy="168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29" name="AutoShape 33"/>
          <p:cNvSpPr>
            <a:spLocks noChangeArrowheads="1"/>
          </p:cNvSpPr>
          <p:nvPr/>
        </p:nvSpPr>
        <p:spPr bwMode="auto">
          <a:xfrm rot="16092290">
            <a:off x="7000361" y="3549008"/>
            <a:ext cx="872237" cy="949572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31" name="Oval 80"/>
          <p:cNvSpPr>
            <a:spLocks noChangeArrowheads="1"/>
          </p:cNvSpPr>
          <p:nvPr/>
        </p:nvSpPr>
        <p:spPr bwMode="auto">
          <a:xfrm>
            <a:off x="7812360" y="3933056"/>
            <a:ext cx="174876" cy="168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32" name="AutoShape 22"/>
          <p:cNvSpPr>
            <a:spLocks noChangeArrowheads="1"/>
          </p:cNvSpPr>
          <p:nvPr/>
        </p:nvSpPr>
        <p:spPr bwMode="auto">
          <a:xfrm>
            <a:off x="4716016" y="3429000"/>
            <a:ext cx="1440160" cy="115212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34" name="TextBox 33"/>
          <p:cNvSpPr txBox="1"/>
          <p:nvPr/>
        </p:nvSpPr>
        <p:spPr>
          <a:xfrm>
            <a:off x="1800151" y="1683965"/>
            <a:ext cx="541804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0" dirty="0">
                <a:latin typeface="+mn-lt"/>
              </a:rPr>
              <a:t>Data la rete seguente, trovare </a:t>
            </a:r>
            <a:br>
              <a:rPr lang="it-IT" sz="2800" b="0" dirty="0">
                <a:latin typeface="+mn-lt"/>
              </a:rPr>
            </a:br>
            <a:r>
              <a:rPr lang="it-IT" sz="2800" b="0" dirty="0">
                <a:latin typeface="+mn-lt"/>
              </a:rPr>
              <a:t>l’espressione booleana all’uscita</a:t>
            </a:r>
          </a:p>
          <a:p>
            <a:pPr algn="ctr"/>
            <a:endParaRPr lang="en-US" sz="2800" b="0" dirty="0">
              <a:latin typeface="+mn-lt"/>
            </a:endParaRP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C2333D42-B71E-6348-A10A-2DF91FABE74D}"/>
              </a:ext>
            </a:extLst>
          </p:cNvPr>
          <p:cNvSpPr txBox="1"/>
          <p:nvPr/>
        </p:nvSpPr>
        <p:spPr>
          <a:xfrm>
            <a:off x="3907904" y="309337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</a:rPr>
              <a:t>x</a:t>
            </a:r>
          </a:p>
        </p:txBody>
      </p:sp>
      <p:sp>
        <p:nvSpPr>
          <p:cNvPr id="37" name="TextBox 22">
            <a:extLst>
              <a:ext uri="{FF2B5EF4-FFF2-40B4-BE49-F238E27FC236}">
                <a16:creationId xmlns:a16="http://schemas.microsoft.com/office/drawing/2014/main" id="{241B4F72-766A-D144-B120-A0711DBA03D6}"/>
              </a:ext>
            </a:extLst>
          </p:cNvPr>
          <p:cNvSpPr txBox="1"/>
          <p:nvPr/>
        </p:nvSpPr>
        <p:spPr>
          <a:xfrm>
            <a:off x="3991126" y="47878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16054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Esercizio 9</a:t>
            </a:r>
            <a:endParaRPr lang="it-IT" sz="5400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433712"/>
            <a:ext cx="8247850" cy="2867496"/>
          </a:xfrm>
          <a:prstGeom prst="rect">
            <a:avLst/>
          </a:prstGeom>
        </p:spPr>
      </p:pic>
      <p:sp>
        <p:nvSpPr>
          <p:cNvPr id="5" name="AutoShape 33"/>
          <p:cNvSpPr>
            <a:spLocks noChangeArrowheads="1"/>
          </p:cNvSpPr>
          <p:nvPr/>
        </p:nvSpPr>
        <p:spPr bwMode="auto">
          <a:xfrm rot="16092290">
            <a:off x="1985681" y="2729617"/>
            <a:ext cx="735466" cy="716147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7" name="Oval 80"/>
          <p:cNvSpPr>
            <a:spLocks noChangeArrowheads="1"/>
          </p:cNvSpPr>
          <p:nvPr/>
        </p:nvSpPr>
        <p:spPr bwMode="auto">
          <a:xfrm>
            <a:off x="2699792" y="2999296"/>
            <a:ext cx="131888" cy="1416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8" name="AutoShape 33"/>
          <p:cNvSpPr>
            <a:spLocks noChangeArrowheads="1"/>
          </p:cNvSpPr>
          <p:nvPr/>
        </p:nvSpPr>
        <p:spPr bwMode="auto">
          <a:xfrm rot="16092290">
            <a:off x="1981397" y="3881745"/>
            <a:ext cx="735466" cy="716147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9" name="Oval 80"/>
          <p:cNvSpPr>
            <a:spLocks noChangeArrowheads="1"/>
          </p:cNvSpPr>
          <p:nvPr/>
        </p:nvSpPr>
        <p:spPr bwMode="auto">
          <a:xfrm>
            <a:off x="2695508" y="4151424"/>
            <a:ext cx="131888" cy="1416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10" name="AutoShape 22"/>
          <p:cNvSpPr>
            <a:spLocks noChangeArrowheads="1"/>
          </p:cNvSpPr>
          <p:nvPr/>
        </p:nvSpPr>
        <p:spPr bwMode="auto">
          <a:xfrm>
            <a:off x="3995936" y="2564904"/>
            <a:ext cx="720080" cy="720080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2" name="AutoShape 22"/>
          <p:cNvSpPr>
            <a:spLocks noChangeArrowheads="1"/>
          </p:cNvSpPr>
          <p:nvPr/>
        </p:nvSpPr>
        <p:spPr bwMode="auto">
          <a:xfrm>
            <a:off x="3995936" y="4077072"/>
            <a:ext cx="720080" cy="720080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3" name="AutoShape 22"/>
          <p:cNvSpPr>
            <a:spLocks noChangeArrowheads="1"/>
          </p:cNvSpPr>
          <p:nvPr/>
        </p:nvSpPr>
        <p:spPr bwMode="auto">
          <a:xfrm>
            <a:off x="8028384" y="3789040"/>
            <a:ext cx="720080" cy="720080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5" name="AutoShape 27"/>
          <p:cNvSpPr>
            <a:spLocks noChangeArrowheads="1"/>
          </p:cNvSpPr>
          <p:nvPr/>
        </p:nvSpPr>
        <p:spPr bwMode="auto">
          <a:xfrm rot="10872147">
            <a:off x="5661251" y="3263325"/>
            <a:ext cx="856350" cy="879211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1800151" y="1556792"/>
            <a:ext cx="541804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0" dirty="0">
                <a:latin typeface="+mn-lt"/>
              </a:rPr>
              <a:t>Data la rete seguente, trovare </a:t>
            </a:r>
            <a:br>
              <a:rPr lang="it-IT" sz="2800" b="0" dirty="0">
                <a:latin typeface="+mn-lt"/>
              </a:rPr>
            </a:br>
            <a:r>
              <a:rPr lang="it-IT" sz="2800" b="0" dirty="0">
                <a:latin typeface="+mn-lt"/>
              </a:rPr>
              <a:t>l’espressione booleana all’uscita</a:t>
            </a:r>
          </a:p>
          <a:p>
            <a:pPr algn="ctr"/>
            <a:endParaRPr lang="en-US" sz="2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21879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Esercizio 9: Soluzione</a:t>
            </a:r>
            <a:endParaRPr lang="it-IT" sz="5400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433712"/>
            <a:ext cx="8247850" cy="2867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2"/>
              <p:cNvSpPr txBox="1"/>
              <p:nvPr/>
            </p:nvSpPr>
            <p:spPr>
              <a:xfrm>
                <a:off x="2708176" y="3872081"/>
                <a:ext cx="2004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7" name="CasellaDiTes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176" y="3872081"/>
                <a:ext cx="200438" cy="276999"/>
              </a:xfrm>
              <a:prstGeom prst="rect">
                <a:avLst/>
              </a:prstGeom>
              <a:blipFill rotWithShape="1">
                <a:blip r:embed="rId3"/>
                <a:stretch>
                  <a:fillRect l="-17647" t="-8696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ttore 1 6"/>
          <p:cNvCxnSpPr/>
          <p:nvPr/>
        </p:nvCxnSpPr>
        <p:spPr>
          <a:xfrm>
            <a:off x="2708176" y="4365104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6"/>
              <p:cNvSpPr txBox="1"/>
              <p:nvPr/>
            </p:nvSpPr>
            <p:spPr>
              <a:xfrm>
                <a:off x="2732120" y="3152001"/>
                <a:ext cx="205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9" name="CasellaDiTes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120" y="3152001"/>
                <a:ext cx="205285" cy="276999"/>
              </a:xfrm>
              <a:prstGeom prst="rect">
                <a:avLst/>
              </a:prstGeom>
              <a:blipFill rotWithShape="1">
                <a:blip r:embed="rId4"/>
                <a:stretch>
                  <a:fillRect l="-20588" t="-10870" r="-5882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ttore 1 6"/>
          <p:cNvCxnSpPr/>
          <p:nvPr/>
        </p:nvCxnSpPr>
        <p:spPr>
          <a:xfrm>
            <a:off x="2699792" y="3186653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3"/>
              <p:cNvSpPr txBox="1"/>
              <p:nvPr/>
            </p:nvSpPr>
            <p:spPr>
              <a:xfrm>
                <a:off x="4720831" y="4520153"/>
                <a:ext cx="3987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12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831" y="4520153"/>
                <a:ext cx="398764" cy="276999"/>
              </a:xfrm>
              <a:prstGeom prst="rect">
                <a:avLst/>
              </a:prstGeom>
              <a:blipFill rotWithShape="1">
                <a:blip r:embed="rId5"/>
                <a:stretch>
                  <a:fillRect l="-9091" t="-8696" r="-3030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3"/>
              <p:cNvSpPr txBox="1"/>
              <p:nvPr/>
            </p:nvSpPr>
            <p:spPr>
              <a:xfrm>
                <a:off x="4720831" y="2564904"/>
                <a:ext cx="3987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14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831" y="2564904"/>
                <a:ext cx="398764" cy="276999"/>
              </a:xfrm>
              <a:prstGeom prst="rect">
                <a:avLst/>
              </a:prstGeom>
              <a:blipFill rotWithShape="1">
                <a:blip r:embed="rId6"/>
                <a:stretch>
                  <a:fillRect l="-9091" t="-8511" r="-3030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3"/>
              <p:cNvSpPr txBox="1"/>
              <p:nvPr/>
            </p:nvSpPr>
            <p:spPr>
              <a:xfrm>
                <a:off x="6477492" y="3284984"/>
                <a:ext cx="3987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17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492" y="3284984"/>
                <a:ext cx="398764" cy="276999"/>
              </a:xfrm>
              <a:prstGeom prst="rect">
                <a:avLst/>
              </a:prstGeom>
              <a:blipFill rotWithShape="1">
                <a:blip r:embed="rId7"/>
                <a:stretch>
                  <a:fillRect l="-9091" t="-8511" r="-3030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3"/>
              <p:cNvSpPr txBox="1"/>
              <p:nvPr/>
            </p:nvSpPr>
            <p:spPr>
              <a:xfrm>
                <a:off x="7020272" y="3284984"/>
                <a:ext cx="3987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18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3284984"/>
                <a:ext cx="398764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8955" t="-8511" r="-1493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3"/>
              <p:cNvSpPr txBox="1"/>
              <p:nvPr/>
            </p:nvSpPr>
            <p:spPr>
              <a:xfrm>
                <a:off x="7734912" y="4664169"/>
                <a:ext cx="3987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23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912" y="4664169"/>
                <a:ext cx="398764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8955" t="-10870" r="-1493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3"/>
              <p:cNvSpPr txBox="1"/>
              <p:nvPr/>
            </p:nvSpPr>
            <p:spPr>
              <a:xfrm>
                <a:off x="8277692" y="4664169"/>
                <a:ext cx="3987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it-IT" sz="18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:mv="urn:schemas-microsoft-com:mac:vml" xmlns="">
          <p:sp>
            <p:nvSpPr>
              <p:cNvPr id="24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7692" y="4664169"/>
                <a:ext cx="398764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8955" t="-10870" r="-1493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83768" y="3068960"/>
            <a:ext cx="419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</a:rPr>
              <a:t> 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55776" y="429309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0011" y="4715852"/>
            <a:ext cx="598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</a:rPr>
              <a:t>x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>
                <a:latin typeface="Cambria Math"/>
                <a:cs typeface="Cambria Math"/>
              </a:rPr>
              <a:t>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2918" y="3140968"/>
            <a:ext cx="125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  <a:sym typeface="Symbol"/>
              </a:rPr>
              <a:t>x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>
                <a:latin typeface="Cambria Math"/>
                <a:cs typeface="Cambria Math"/>
              </a:rPr>
              <a:t>y +  </a:t>
            </a:r>
            <a:r>
              <a:rPr lang="en-US" sz="1800" i="1" dirty="0">
                <a:latin typeface="Cambria Math"/>
                <a:cs typeface="Cambria Math"/>
                <a:sym typeface="Symbol"/>
              </a:rPr>
              <a:t>x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>
                <a:latin typeface="Cambria Math"/>
                <a:cs typeface="Cambria Math"/>
              </a:rPr>
              <a:t>y </a:t>
            </a:r>
          </a:p>
        </p:txBody>
      </p:sp>
      <p:sp>
        <p:nvSpPr>
          <p:cNvPr id="41" name="AutoShape 33"/>
          <p:cNvSpPr>
            <a:spLocks noChangeArrowheads="1"/>
          </p:cNvSpPr>
          <p:nvPr/>
        </p:nvSpPr>
        <p:spPr bwMode="auto">
          <a:xfrm rot="16092290">
            <a:off x="1985681" y="2729617"/>
            <a:ext cx="735466" cy="716147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2" name="Oval 80"/>
          <p:cNvSpPr>
            <a:spLocks noChangeArrowheads="1"/>
          </p:cNvSpPr>
          <p:nvPr/>
        </p:nvSpPr>
        <p:spPr bwMode="auto">
          <a:xfrm>
            <a:off x="2699792" y="2999296"/>
            <a:ext cx="131888" cy="1416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43" name="AutoShape 33"/>
          <p:cNvSpPr>
            <a:spLocks noChangeArrowheads="1"/>
          </p:cNvSpPr>
          <p:nvPr/>
        </p:nvSpPr>
        <p:spPr bwMode="auto">
          <a:xfrm rot="16092290">
            <a:off x="1981397" y="3844284"/>
            <a:ext cx="735466" cy="716147"/>
          </a:xfrm>
          <a:prstGeom prst="flowChartMer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4" name="Oval 80"/>
          <p:cNvSpPr>
            <a:spLocks noChangeArrowheads="1"/>
          </p:cNvSpPr>
          <p:nvPr/>
        </p:nvSpPr>
        <p:spPr bwMode="auto">
          <a:xfrm>
            <a:off x="2695508" y="4113963"/>
            <a:ext cx="131888" cy="14167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45" name="AutoShape 22"/>
          <p:cNvSpPr>
            <a:spLocks noChangeArrowheads="1"/>
          </p:cNvSpPr>
          <p:nvPr/>
        </p:nvSpPr>
        <p:spPr bwMode="auto">
          <a:xfrm>
            <a:off x="3995936" y="2564904"/>
            <a:ext cx="720080" cy="720080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6" name="AutoShape 22"/>
          <p:cNvSpPr>
            <a:spLocks noChangeArrowheads="1"/>
          </p:cNvSpPr>
          <p:nvPr/>
        </p:nvSpPr>
        <p:spPr bwMode="auto">
          <a:xfrm>
            <a:off x="3995936" y="4077072"/>
            <a:ext cx="720080" cy="720080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7" name="AutoShape 22"/>
          <p:cNvSpPr>
            <a:spLocks noChangeArrowheads="1"/>
          </p:cNvSpPr>
          <p:nvPr/>
        </p:nvSpPr>
        <p:spPr bwMode="auto">
          <a:xfrm>
            <a:off x="8028384" y="3789040"/>
            <a:ext cx="720080" cy="720080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8" name="AutoShape 27"/>
          <p:cNvSpPr>
            <a:spLocks noChangeArrowheads="1"/>
          </p:cNvSpPr>
          <p:nvPr/>
        </p:nvSpPr>
        <p:spPr bwMode="auto">
          <a:xfrm rot="10872147">
            <a:off x="5589234" y="3279686"/>
            <a:ext cx="926831" cy="879211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9" name="TextBox 48"/>
          <p:cNvSpPr txBox="1"/>
          <p:nvPr/>
        </p:nvSpPr>
        <p:spPr>
          <a:xfrm>
            <a:off x="4766035" y="2564904"/>
            <a:ext cx="598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  <a:sym typeface="Symbol"/>
              </a:rPr>
              <a:t>x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>
                <a:latin typeface="Cambria Math"/>
                <a:cs typeface="Cambria Math"/>
              </a:rPr>
              <a:t>y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70350" y="1467941"/>
            <a:ext cx="54047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0" dirty="0">
                <a:latin typeface="+mn-lt"/>
              </a:rPr>
              <a:t>Data la rete seguente, trovare </a:t>
            </a:r>
            <a:br>
              <a:rPr lang="it-IT" sz="2800" b="0" dirty="0">
                <a:latin typeface="+mn-lt"/>
              </a:rPr>
            </a:br>
            <a:r>
              <a:rPr lang="it-IT" sz="2800" b="0" dirty="0">
                <a:latin typeface="+mn-lt"/>
              </a:rPr>
              <a:t>l’espressione booleana all’uscita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11930" y="5013176"/>
            <a:ext cx="166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mbria Math"/>
                <a:cs typeface="Cambria Math"/>
                <a:sym typeface="Symbol"/>
              </a:rPr>
              <a:t>(x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>
                <a:latin typeface="Cambria Math"/>
                <a:cs typeface="Cambria Math"/>
              </a:rPr>
              <a:t>y +  </a:t>
            </a:r>
            <a:r>
              <a:rPr lang="en-US" sz="1800" i="1" dirty="0">
                <a:latin typeface="Cambria Math"/>
                <a:cs typeface="Cambria Math"/>
                <a:sym typeface="Symbol"/>
              </a:rPr>
              <a:t>x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>
                <a:latin typeface="Cambria Math"/>
                <a:cs typeface="Cambria Math"/>
              </a:rPr>
              <a:t>y) </a:t>
            </a:r>
            <a:r>
              <a:rPr lang="it-IT" sz="1800" dirty="0">
                <a:sym typeface="Symbol"/>
              </a:rPr>
              <a:t></a:t>
            </a:r>
            <a:r>
              <a:rPr lang="en-US" sz="1800" i="1" dirty="0">
                <a:latin typeface="Cambria Math"/>
                <a:cs typeface="Cambria Math"/>
                <a:sym typeface="Symbol"/>
              </a:rPr>
              <a:t>z</a:t>
            </a:r>
            <a:r>
              <a:rPr lang="en-US" sz="1800" i="1" dirty="0">
                <a:latin typeface="Cambria Math"/>
                <a:cs typeface="Cambria Math"/>
              </a:rPr>
              <a:t>  </a:t>
            </a:r>
          </a:p>
        </p:txBody>
      </p:sp>
      <p:cxnSp>
        <p:nvCxnSpPr>
          <p:cNvPr id="40" name="Connettore 1 6"/>
          <p:cNvCxnSpPr/>
          <p:nvPr/>
        </p:nvCxnSpPr>
        <p:spPr>
          <a:xfrm>
            <a:off x="4716016" y="4797152"/>
            <a:ext cx="1440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1 6"/>
          <p:cNvCxnSpPr/>
          <p:nvPr/>
        </p:nvCxnSpPr>
        <p:spPr>
          <a:xfrm>
            <a:off x="5076056" y="2636912"/>
            <a:ext cx="1440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6"/>
          <p:cNvCxnSpPr/>
          <p:nvPr/>
        </p:nvCxnSpPr>
        <p:spPr>
          <a:xfrm>
            <a:off x="6948264" y="3212976"/>
            <a:ext cx="1440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1 6"/>
          <p:cNvCxnSpPr/>
          <p:nvPr/>
        </p:nvCxnSpPr>
        <p:spPr>
          <a:xfrm>
            <a:off x="7380312" y="3212976"/>
            <a:ext cx="1440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1 6"/>
          <p:cNvCxnSpPr/>
          <p:nvPr/>
        </p:nvCxnSpPr>
        <p:spPr>
          <a:xfrm>
            <a:off x="7452320" y="5085184"/>
            <a:ext cx="1440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1 6"/>
          <p:cNvCxnSpPr/>
          <p:nvPr/>
        </p:nvCxnSpPr>
        <p:spPr>
          <a:xfrm>
            <a:off x="7884368" y="5085184"/>
            <a:ext cx="1440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69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341784"/>
            <a:ext cx="8356600" cy="1143000"/>
          </a:xfrm>
        </p:spPr>
        <p:txBody>
          <a:bodyPr/>
          <a:lstStyle/>
          <a:p>
            <a:r>
              <a:rPr lang="it-IT" sz="4800" dirty="0"/>
              <a:t>Su </a:t>
            </a:r>
            <a:r>
              <a:rPr lang="it-IT" sz="4800"/>
              <a:t>cosa </a:t>
            </a:r>
            <a:br>
              <a:rPr lang="it-IT" sz="4800"/>
            </a:br>
            <a:r>
              <a:rPr lang="it-IT" sz="4800"/>
              <a:t>ci esercitiamo </a:t>
            </a:r>
            <a:r>
              <a:rPr lang="it-IT" sz="4800" dirty="0"/>
              <a:t>oggi?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73224" y="1705322"/>
            <a:ext cx="8507288" cy="4171950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sz="2800" dirty="0">
                <a:ea typeface="MS PGothic" charset="-128"/>
              </a:rPr>
              <a:t>Utilizzo di alcuni </a:t>
            </a:r>
            <a:r>
              <a:rPr lang="it-IT" sz="2800" dirty="0">
                <a:solidFill>
                  <a:srgbClr val="CC0000"/>
                </a:solidFill>
                <a:ea typeface="MS PGothic" charset="-128"/>
              </a:rPr>
              <a:t>moduli combinatori</a:t>
            </a:r>
            <a:r>
              <a:rPr lang="it-IT" sz="2800" dirty="0">
                <a:ea typeface="MS PGothic" charset="-128"/>
              </a:rPr>
              <a:t> nella realizzazione di reti logiche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Decodificatore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Multiplexer (MUX)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 err="1">
                <a:ea typeface="MS PGothic" charset="-128"/>
              </a:rPr>
              <a:t>Programmable</a:t>
            </a:r>
            <a:r>
              <a:rPr lang="it-IT" sz="2400" dirty="0">
                <a:ea typeface="MS PGothic" charset="-128"/>
              </a:rPr>
              <a:t> </a:t>
            </a:r>
            <a:r>
              <a:rPr lang="it-IT" sz="2400" dirty="0" err="1">
                <a:ea typeface="MS PGothic" charset="-128"/>
              </a:rPr>
              <a:t>Logic</a:t>
            </a:r>
            <a:r>
              <a:rPr lang="it-IT" sz="2400" dirty="0">
                <a:ea typeface="MS PGothic" charset="-128"/>
              </a:rPr>
              <a:t> Array (PLA)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Read </a:t>
            </a:r>
            <a:r>
              <a:rPr lang="it-IT" sz="2400" dirty="0" err="1">
                <a:ea typeface="MS PGothic" charset="-128"/>
              </a:rPr>
              <a:t>Only</a:t>
            </a:r>
            <a:r>
              <a:rPr lang="it-IT" sz="2400" dirty="0">
                <a:ea typeface="MS PGothic" charset="-128"/>
              </a:rPr>
              <a:t> Memory (ROM)</a:t>
            </a:r>
          </a:p>
          <a:p>
            <a:pPr marL="857250" lvl="1" indent="-457200">
              <a:buNone/>
            </a:pPr>
            <a:endParaRPr lang="it-IT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360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628800"/>
            <a:ext cx="784887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Date le tre funzioni logiche </a:t>
            </a:r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, G, ed H, definite dalla seguente tavola di verità</a:t>
            </a: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Progettare un </a:t>
            </a:r>
            <a:r>
              <a:rPr lang="it-IT" sz="2400" b="0" dirty="0">
                <a:solidFill>
                  <a:srgbClr val="33CC33"/>
                </a:solidFill>
                <a:latin typeface="+mn-lt"/>
                <a:ea typeface="Cambria Math" charset="0"/>
                <a:cs typeface="Cambria Math" charset="0"/>
              </a:rPr>
              <a:t>circuito 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che le realizzi utilizzando un 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decodificatore </a:t>
            </a:r>
            <a:r>
              <a:rPr lang="it-IT" sz="2400" b="0" dirty="0">
                <a:latin typeface="+mn-lt"/>
                <a:ea typeface="Cambria Math" charset="0"/>
                <a:cs typeface="Cambria Math" charset="0"/>
              </a:rPr>
              <a:t>e delle porte OR esterne</a:t>
            </a:r>
          </a:p>
        </p:txBody>
      </p:sp>
      <p:graphicFrame>
        <p:nvGraphicFramePr>
          <p:cNvPr id="17" name="Segnaposto contenuto 11"/>
          <p:cNvGraphicFramePr>
            <a:graphicFrameLocks noGrp="1"/>
          </p:cNvGraphicFramePr>
          <p:nvPr>
            <p:ph sz="half" idx="4294967295"/>
          </p:nvPr>
        </p:nvGraphicFramePr>
        <p:xfrm>
          <a:off x="1115618" y="2636912"/>
          <a:ext cx="2880318" cy="2743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A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B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C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F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G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H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882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628800"/>
            <a:ext cx="7848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Troviamo le forme canoniche SOP delle tre funzioni:</a:t>
            </a: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</p:txBody>
      </p:sp>
      <p:graphicFrame>
        <p:nvGraphicFramePr>
          <p:cNvPr id="17" name="Segnaposto contenuto 11"/>
          <p:cNvGraphicFramePr>
            <a:graphicFrameLocks noGrp="1"/>
          </p:cNvGraphicFramePr>
          <p:nvPr>
            <p:ph sz="half" idx="4294967295"/>
          </p:nvPr>
        </p:nvGraphicFramePr>
        <p:xfrm>
          <a:off x="755576" y="2636912"/>
          <a:ext cx="2880318" cy="2743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A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B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C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F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G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H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" name="Connettore 1 6"/>
          <p:cNvCxnSpPr/>
          <p:nvPr/>
        </p:nvCxnSpPr>
        <p:spPr>
          <a:xfrm>
            <a:off x="4681736" y="327660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tangolo 10"/>
          <p:cNvSpPr/>
          <p:nvPr/>
        </p:nvSpPr>
        <p:spPr>
          <a:xfrm>
            <a:off x="3779912" y="2564904"/>
            <a:ext cx="504056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F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</a:p>
          <a:p>
            <a:pPr algn="l"/>
            <a:endParaRPr lang="it-IT" sz="2400" b="0" dirty="0">
              <a:latin typeface="+mn-lt"/>
              <a:sym typeface="Symbol"/>
            </a:endParaRPr>
          </a:p>
          <a:p>
            <a:pPr algn="l"/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</a:rPr>
              <a:t>G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</a:p>
          <a:p>
            <a:pPr algn="l"/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</a:rPr>
              <a:t>H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</a:t>
            </a:r>
            <a:r>
              <a:rPr lang="it-IT" sz="2400" b="0" dirty="0">
                <a:latin typeface="+mn-lt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 + </a:t>
            </a:r>
            <a:r>
              <a:rPr lang="it-IT" sz="2400" b="0" dirty="0">
                <a:latin typeface="+mn-lt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 </a:t>
            </a:r>
          </a:p>
          <a:p>
            <a:pPr algn="l"/>
            <a:endParaRPr lang="it-IT" sz="2400" b="0" dirty="0">
              <a:latin typeface="+mn-lt"/>
            </a:endParaRPr>
          </a:p>
          <a:p>
            <a:pPr algn="l"/>
            <a:r>
              <a:rPr lang="it-IT" sz="2400" dirty="0">
                <a:latin typeface="+mn-lt"/>
                <a:sym typeface="Symbol"/>
              </a:rPr>
              <a:t> </a:t>
            </a:r>
            <a:endParaRPr lang="it-IT" sz="2400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sz="2400" b="0" dirty="0">
              <a:latin typeface="+mn-lt"/>
            </a:endParaRPr>
          </a:p>
        </p:txBody>
      </p:sp>
      <p:cxnSp>
        <p:nvCxnSpPr>
          <p:cNvPr id="7" name="Connettore 1 6"/>
          <p:cNvCxnSpPr/>
          <p:nvPr/>
        </p:nvCxnSpPr>
        <p:spPr>
          <a:xfrm>
            <a:off x="4427984" y="263691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6"/>
          <p:cNvCxnSpPr/>
          <p:nvPr/>
        </p:nvCxnSpPr>
        <p:spPr>
          <a:xfrm>
            <a:off x="4716016" y="263691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6"/>
          <p:cNvCxnSpPr/>
          <p:nvPr/>
        </p:nvCxnSpPr>
        <p:spPr>
          <a:xfrm>
            <a:off x="5796136" y="263691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6"/>
          <p:cNvCxnSpPr/>
          <p:nvPr/>
        </p:nvCxnSpPr>
        <p:spPr>
          <a:xfrm>
            <a:off x="4716016" y="443711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6"/>
          <p:cNvCxnSpPr/>
          <p:nvPr/>
        </p:nvCxnSpPr>
        <p:spPr>
          <a:xfrm>
            <a:off x="5004048" y="371703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6"/>
          <p:cNvCxnSpPr/>
          <p:nvPr/>
        </p:nvCxnSpPr>
        <p:spPr>
          <a:xfrm>
            <a:off x="6876256" y="371703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6"/>
          <p:cNvCxnSpPr/>
          <p:nvPr/>
        </p:nvCxnSpPr>
        <p:spPr>
          <a:xfrm>
            <a:off x="4427984" y="443711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6"/>
          <p:cNvCxnSpPr/>
          <p:nvPr/>
        </p:nvCxnSpPr>
        <p:spPr>
          <a:xfrm>
            <a:off x="4427984" y="371703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1 6"/>
          <p:cNvCxnSpPr/>
          <p:nvPr/>
        </p:nvCxnSpPr>
        <p:spPr>
          <a:xfrm>
            <a:off x="5580112" y="371703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1 6"/>
          <p:cNvCxnSpPr/>
          <p:nvPr/>
        </p:nvCxnSpPr>
        <p:spPr>
          <a:xfrm>
            <a:off x="7164288" y="371703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2"/>
          <p:cNvSpPr txBox="1"/>
          <p:nvPr/>
        </p:nvSpPr>
        <p:spPr>
          <a:xfrm>
            <a:off x="5142736" y="6063679"/>
            <a:ext cx="3749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Espressioni canoniche SOP</a:t>
            </a:r>
          </a:p>
        </p:txBody>
      </p:sp>
      <p:cxnSp>
        <p:nvCxnSpPr>
          <p:cNvPr id="21" name="Connettore 2 13"/>
          <p:cNvCxnSpPr/>
          <p:nvPr/>
        </p:nvCxnSpPr>
        <p:spPr>
          <a:xfrm flipH="1" flipV="1">
            <a:off x="6732240" y="4869160"/>
            <a:ext cx="1368152" cy="126749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13"/>
          <p:cNvCxnSpPr/>
          <p:nvPr/>
        </p:nvCxnSpPr>
        <p:spPr>
          <a:xfrm flipH="1" flipV="1">
            <a:off x="7452320" y="4149080"/>
            <a:ext cx="648072" cy="201622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13"/>
          <p:cNvCxnSpPr/>
          <p:nvPr/>
        </p:nvCxnSpPr>
        <p:spPr>
          <a:xfrm flipH="1" flipV="1">
            <a:off x="7524328" y="2924944"/>
            <a:ext cx="576064" cy="324036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6"/>
          <p:cNvCxnSpPr/>
          <p:nvPr/>
        </p:nvCxnSpPr>
        <p:spPr>
          <a:xfrm>
            <a:off x="5012432" y="263691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1 6"/>
          <p:cNvCxnSpPr/>
          <p:nvPr/>
        </p:nvCxnSpPr>
        <p:spPr>
          <a:xfrm>
            <a:off x="6092552" y="443711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30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628800"/>
            <a:ext cx="88569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latin typeface="+mn-lt"/>
              </a:rPr>
              <a:t>Poiché ci sono tre variabili, useremo un 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decodificatore</a:t>
            </a:r>
            <a:r>
              <a:rPr lang="it-IT" sz="2800" b="0" dirty="0">
                <a:latin typeface="+mn-lt"/>
              </a:rPr>
              <a:t> con 3 input (2</a:t>
            </a:r>
            <a:r>
              <a:rPr lang="it-IT" sz="2800" b="0" baseline="30000" dirty="0">
                <a:latin typeface="+mn-lt"/>
              </a:rPr>
              <a:t>3</a:t>
            </a:r>
            <a:r>
              <a:rPr lang="it-IT" sz="2800" b="0" dirty="0">
                <a:latin typeface="+mn-lt"/>
              </a:rPr>
              <a:t>=8 output) per generare tutti i possibili </a:t>
            </a:r>
            <a:r>
              <a:rPr lang="it-IT" sz="2800" b="0" dirty="0" err="1">
                <a:latin typeface="+mn-lt"/>
              </a:rPr>
              <a:t>mintermini</a:t>
            </a:r>
            <a:endParaRPr lang="it-IT" sz="2800" b="0" dirty="0">
              <a:latin typeface="+mn-lt"/>
            </a:endParaRPr>
          </a:p>
        </p:txBody>
      </p:sp>
      <p:sp>
        <p:nvSpPr>
          <p:cNvPr id="17" name="object 2"/>
          <p:cNvSpPr/>
          <p:nvPr/>
        </p:nvSpPr>
        <p:spPr>
          <a:xfrm>
            <a:off x="1100336" y="3140968"/>
            <a:ext cx="6568008" cy="2878832"/>
          </a:xfrm>
          <a:prstGeom prst="rect">
            <a:avLst/>
          </a:prstGeom>
          <a:blipFill>
            <a:blip r:embed="rId2" cstate="print"/>
            <a:srcRect/>
            <a:stretch>
              <a:fillRect l="-3891" t="-97723" r="-30735" b="-22393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46434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628800"/>
            <a:ext cx="88569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Gli output del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decodificatore</a:t>
            </a:r>
            <a:r>
              <a:rPr lang="it-IT" sz="2400" b="0" dirty="0">
                <a:latin typeface="+mn-lt"/>
              </a:rPr>
              <a:t> andranno in input a tre porte OR per generare gli output delle funzioni: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G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H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</a:t>
            </a:r>
            <a:r>
              <a:rPr lang="it-IT" sz="2400" b="0" dirty="0">
                <a:latin typeface="+mn-lt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 + </a:t>
            </a:r>
            <a:r>
              <a:rPr lang="it-IT" sz="2400" b="0" dirty="0">
                <a:latin typeface="+mn-lt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 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</p:txBody>
      </p:sp>
      <p:sp>
        <p:nvSpPr>
          <p:cNvPr id="17" name="object 2"/>
          <p:cNvSpPr/>
          <p:nvPr/>
        </p:nvSpPr>
        <p:spPr>
          <a:xfrm>
            <a:off x="1066800" y="3861048"/>
            <a:ext cx="2470944" cy="2184400"/>
          </a:xfrm>
          <a:prstGeom prst="rect">
            <a:avLst/>
          </a:prstGeom>
          <a:blipFill>
            <a:blip r:embed="rId2" cstate="print"/>
            <a:srcRect/>
            <a:stretch>
              <a:fillRect l="-21547" t="-223187" r="-389843" b="-8873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5" name="Connettore 1 6"/>
          <p:cNvCxnSpPr>
            <a:cxnSpLocks/>
          </p:cNvCxnSpPr>
          <p:nvPr/>
        </p:nvCxnSpPr>
        <p:spPr>
          <a:xfrm>
            <a:off x="4655592" y="4304560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>
            <a:off x="2123728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6"/>
          <p:cNvCxnSpPr/>
          <p:nvPr/>
        </p:nvCxnSpPr>
        <p:spPr>
          <a:xfrm>
            <a:off x="2411760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6"/>
          <p:cNvCxnSpPr/>
          <p:nvPr/>
        </p:nvCxnSpPr>
        <p:spPr>
          <a:xfrm>
            <a:off x="3491880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6"/>
          <p:cNvCxnSpPr/>
          <p:nvPr/>
        </p:nvCxnSpPr>
        <p:spPr>
          <a:xfrm>
            <a:off x="2123728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6"/>
          <p:cNvCxnSpPr/>
          <p:nvPr/>
        </p:nvCxnSpPr>
        <p:spPr>
          <a:xfrm>
            <a:off x="4572000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6"/>
          <p:cNvCxnSpPr/>
          <p:nvPr/>
        </p:nvCxnSpPr>
        <p:spPr>
          <a:xfrm>
            <a:off x="2051720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6"/>
          <p:cNvCxnSpPr/>
          <p:nvPr/>
        </p:nvCxnSpPr>
        <p:spPr>
          <a:xfrm>
            <a:off x="3275856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6"/>
          <p:cNvCxnSpPr/>
          <p:nvPr/>
        </p:nvCxnSpPr>
        <p:spPr>
          <a:xfrm>
            <a:off x="4940424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6"/>
          <p:cNvCxnSpPr/>
          <p:nvPr/>
        </p:nvCxnSpPr>
        <p:spPr>
          <a:xfrm>
            <a:off x="2627784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1 6"/>
          <p:cNvCxnSpPr/>
          <p:nvPr/>
        </p:nvCxnSpPr>
        <p:spPr>
          <a:xfrm>
            <a:off x="2708176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1 6"/>
          <p:cNvCxnSpPr/>
          <p:nvPr/>
        </p:nvCxnSpPr>
        <p:spPr>
          <a:xfrm>
            <a:off x="2420144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6"/>
          <p:cNvCxnSpPr>
            <a:cxnSpLocks/>
          </p:cNvCxnSpPr>
          <p:nvPr/>
        </p:nvCxnSpPr>
        <p:spPr>
          <a:xfrm>
            <a:off x="5044244" y="3160815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ine 28"/>
          <p:cNvSpPr>
            <a:spLocks noChangeShapeType="1"/>
          </p:cNvSpPr>
          <p:nvPr/>
        </p:nvSpPr>
        <p:spPr bwMode="auto">
          <a:xfrm flipV="1">
            <a:off x="3537744" y="4227435"/>
            <a:ext cx="2007840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>
            <a:off x="3546128" y="4456958"/>
            <a:ext cx="567680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 flipV="1">
            <a:off x="3546128" y="4672984"/>
            <a:ext cx="2007840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 flipV="1">
            <a:off x="3537744" y="4889008"/>
            <a:ext cx="2007840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cxnSp>
        <p:nvCxnSpPr>
          <p:cNvPr id="29" name="Connettore 1 6"/>
          <p:cNvCxnSpPr>
            <a:cxnSpLocks/>
          </p:cNvCxnSpPr>
          <p:nvPr/>
        </p:nvCxnSpPr>
        <p:spPr>
          <a:xfrm>
            <a:off x="4655592" y="5182157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Line 28"/>
          <p:cNvSpPr>
            <a:spLocks noChangeShapeType="1"/>
          </p:cNvSpPr>
          <p:nvPr/>
        </p:nvSpPr>
        <p:spPr bwMode="auto">
          <a:xfrm flipV="1">
            <a:off x="3546128" y="5537080"/>
            <a:ext cx="2007840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" name="Line 28"/>
          <p:cNvSpPr>
            <a:spLocks noChangeShapeType="1"/>
          </p:cNvSpPr>
          <p:nvPr/>
        </p:nvSpPr>
        <p:spPr bwMode="auto">
          <a:xfrm>
            <a:off x="4401840" y="4312944"/>
            <a:ext cx="0" cy="1008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" name="Line 28"/>
          <p:cNvSpPr>
            <a:spLocks noChangeShapeType="1"/>
          </p:cNvSpPr>
          <p:nvPr/>
        </p:nvSpPr>
        <p:spPr bwMode="auto">
          <a:xfrm flipV="1">
            <a:off x="4401840" y="4312943"/>
            <a:ext cx="1152128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9" name="Line 28"/>
          <p:cNvSpPr>
            <a:spLocks noChangeShapeType="1"/>
          </p:cNvSpPr>
          <p:nvPr/>
        </p:nvSpPr>
        <p:spPr bwMode="auto">
          <a:xfrm flipV="1">
            <a:off x="3537744" y="5739604"/>
            <a:ext cx="1944216" cy="1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" name="Line 28"/>
          <p:cNvSpPr>
            <a:spLocks noChangeShapeType="1"/>
          </p:cNvSpPr>
          <p:nvPr/>
        </p:nvSpPr>
        <p:spPr bwMode="auto">
          <a:xfrm>
            <a:off x="4617864" y="4384952"/>
            <a:ext cx="0" cy="13681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 flipV="1">
            <a:off x="4617864" y="4384952"/>
            <a:ext cx="936104" cy="218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" name="Line 28"/>
          <p:cNvSpPr>
            <a:spLocks noChangeShapeType="1"/>
          </p:cNvSpPr>
          <p:nvPr/>
        </p:nvSpPr>
        <p:spPr bwMode="auto">
          <a:xfrm>
            <a:off x="4113808" y="4456960"/>
            <a:ext cx="0" cy="1008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" name="Line 28"/>
          <p:cNvSpPr>
            <a:spLocks noChangeShapeType="1"/>
          </p:cNvSpPr>
          <p:nvPr/>
        </p:nvSpPr>
        <p:spPr bwMode="auto">
          <a:xfrm flipV="1">
            <a:off x="4113808" y="5465070"/>
            <a:ext cx="1440160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" name="Line 28"/>
          <p:cNvSpPr>
            <a:spLocks noChangeShapeType="1"/>
          </p:cNvSpPr>
          <p:nvPr/>
        </p:nvSpPr>
        <p:spPr bwMode="auto">
          <a:xfrm flipV="1">
            <a:off x="3537744" y="5307555"/>
            <a:ext cx="8640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AutoShape 27"/>
          <p:cNvSpPr>
            <a:spLocks noChangeArrowheads="1"/>
          </p:cNvSpPr>
          <p:nvPr/>
        </p:nvSpPr>
        <p:spPr bwMode="auto">
          <a:xfrm rot="10872147">
            <a:off x="5332308" y="4031339"/>
            <a:ext cx="618151" cy="530654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5" name="Line 28"/>
          <p:cNvSpPr>
            <a:spLocks noChangeShapeType="1"/>
          </p:cNvSpPr>
          <p:nvPr/>
        </p:nvSpPr>
        <p:spPr bwMode="auto">
          <a:xfrm flipV="1">
            <a:off x="3537744" y="5091531"/>
            <a:ext cx="2007840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" name="Line 30"/>
          <p:cNvSpPr>
            <a:spLocks noChangeShapeType="1"/>
          </p:cNvSpPr>
          <p:nvPr/>
        </p:nvSpPr>
        <p:spPr bwMode="auto">
          <a:xfrm rot="16271550">
            <a:off x="6104467" y="412640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" name="Line 30"/>
          <p:cNvSpPr>
            <a:spLocks noChangeShapeType="1"/>
          </p:cNvSpPr>
          <p:nvPr/>
        </p:nvSpPr>
        <p:spPr bwMode="auto">
          <a:xfrm rot="16271550">
            <a:off x="6104467" y="469454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8" name="Line 30"/>
          <p:cNvSpPr>
            <a:spLocks noChangeShapeType="1"/>
          </p:cNvSpPr>
          <p:nvPr/>
        </p:nvSpPr>
        <p:spPr bwMode="auto">
          <a:xfrm rot="16271550">
            <a:off x="6104467" y="541462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61680" y="3952904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61680" y="416892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61680" y="4384952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61680" y="4622462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61680" y="481700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61680" y="5033024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61680" y="524904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6</a:t>
            </a:r>
          </a:p>
        </p:txBody>
      </p:sp>
      <p:sp>
        <p:nvSpPr>
          <p:cNvPr id="55" name="AutoShape 27"/>
          <p:cNvSpPr>
            <a:spLocks noChangeArrowheads="1"/>
          </p:cNvSpPr>
          <p:nvPr/>
        </p:nvSpPr>
        <p:spPr bwMode="auto">
          <a:xfrm rot="10872147">
            <a:off x="5343444" y="4607404"/>
            <a:ext cx="618151" cy="530654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56" name="AutoShape 27"/>
          <p:cNvSpPr>
            <a:spLocks noChangeArrowheads="1"/>
          </p:cNvSpPr>
          <p:nvPr/>
        </p:nvSpPr>
        <p:spPr bwMode="auto">
          <a:xfrm rot="10872147">
            <a:off x="5343444" y="5288030"/>
            <a:ext cx="618151" cy="530654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57" name="TextBox 56"/>
          <p:cNvSpPr txBox="1"/>
          <p:nvPr/>
        </p:nvSpPr>
        <p:spPr>
          <a:xfrm>
            <a:off x="2961680" y="5465072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09952" y="409692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/>
                <a:cs typeface="Arial"/>
              </a:rPr>
              <a:t>F</a:t>
            </a:r>
            <a:endParaRPr lang="en-US" sz="1800" baseline="-25000" dirty="0">
              <a:latin typeface="Arial"/>
              <a:cs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409952" y="466369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/>
                <a:cs typeface="Arial"/>
              </a:rPr>
              <a:t>G</a:t>
            </a:r>
            <a:endParaRPr lang="en-US" sz="1800" baseline="-25000" dirty="0">
              <a:latin typeface="Arial"/>
              <a:cs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09952" y="538377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/>
                <a:cs typeface="Arial"/>
              </a:rPr>
              <a:t>H</a:t>
            </a:r>
            <a:endParaRPr lang="en-US" sz="1800" baseline="-25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464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32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628800"/>
            <a:ext cx="88569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Gli output del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decodificatore</a:t>
            </a:r>
            <a:r>
              <a:rPr lang="it-IT" sz="2400" b="0" dirty="0">
                <a:latin typeface="+mn-lt"/>
              </a:rPr>
              <a:t> andranno in input a tre porte OR per generare gli output delle funzioni: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G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H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</a:t>
            </a:r>
            <a:r>
              <a:rPr lang="it-IT" sz="2400" b="0" dirty="0">
                <a:latin typeface="+mn-lt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 + </a:t>
            </a:r>
            <a:r>
              <a:rPr lang="it-IT" sz="2400" b="0" dirty="0">
                <a:latin typeface="+mn-lt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 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</p:txBody>
      </p:sp>
      <p:sp>
        <p:nvSpPr>
          <p:cNvPr id="17" name="object 2"/>
          <p:cNvSpPr/>
          <p:nvPr/>
        </p:nvSpPr>
        <p:spPr>
          <a:xfrm>
            <a:off x="1066800" y="3861048"/>
            <a:ext cx="2470944" cy="2184400"/>
          </a:xfrm>
          <a:prstGeom prst="rect">
            <a:avLst/>
          </a:prstGeom>
          <a:blipFill>
            <a:blip r:embed="rId3" cstate="print"/>
            <a:srcRect/>
            <a:stretch>
              <a:fillRect l="-21547" t="-223187" r="-389843" b="-8873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7" name="Connettore 1 6"/>
          <p:cNvCxnSpPr/>
          <p:nvPr/>
        </p:nvCxnSpPr>
        <p:spPr>
          <a:xfrm>
            <a:off x="2123728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6"/>
          <p:cNvCxnSpPr/>
          <p:nvPr/>
        </p:nvCxnSpPr>
        <p:spPr>
          <a:xfrm>
            <a:off x="2411760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6"/>
          <p:cNvCxnSpPr/>
          <p:nvPr/>
        </p:nvCxnSpPr>
        <p:spPr>
          <a:xfrm>
            <a:off x="3491880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6"/>
          <p:cNvCxnSpPr/>
          <p:nvPr/>
        </p:nvCxnSpPr>
        <p:spPr>
          <a:xfrm>
            <a:off x="2123728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6"/>
          <p:cNvCxnSpPr/>
          <p:nvPr/>
        </p:nvCxnSpPr>
        <p:spPr>
          <a:xfrm>
            <a:off x="4572000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6"/>
          <p:cNvCxnSpPr/>
          <p:nvPr/>
        </p:nvCxnSpPr>
        <p:spPr>
          <a:xfrm>
            <a:off x="2051720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6"/>
          <p:cNvCxnSpPr/>
          <p:nvPr/>
        </p:nvCxnSpPr>
        <p:spPr>
          <a:xfrm>
            <a:off x="3275856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6"/>
          <p:cNvCxnSpPr/>
          <p:nvPr/>
        </p:nvCxnSpPr>
        <p:spPr>
          <a:xfrm>
            <a:off x="4940424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6"/>
          <p:cNvCxnSpPr/>
          <p:nvPr/>
        </p:nvCxnSpPr>
        <p:spPr>
          <a:xfrm>
            <a:off x="2627784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1 6"/>
          <p:cNvCxnSpPr/>
          <p:nvPr/>
        </p:nvCxnSpPr>
        <p:spPr>
          <a:xfrm>
            <a:off x="2708176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1 6"/>
          <p:cNvCxnSpPr/>
          <p:nvPr/>
        </p:nvCxnSpPr>
        <p:spPr>
          <a:xfrm>
            <a:off x="2420144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6"/>
          <p:cNvCxnSpPr/>
          <p:nvPr/>
        </p:nvCxnSpPr>
        <p:spPr>
          <a:xfrm>
            <a:off x="3779912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962522" y="3913311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62522" y="4129335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62522" y="4345359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62522" y="4582869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62522" y="4777407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62522" y="4993431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62522" y="5209455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62522" y="5425479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7</a:t>
            </a:r>
          </a:p>
        </p:txBody>
      </p:sp>
      <p:sp>
        <p:nvSpPr>
          <p:cNvPr id="61" name="Line 28"/>
          <p:cNvSpPr>
            <a:spLocks noChangeShapeType="1"/>
          </p:cNvSpPr>
          <p:nvPr/>
        </p:nvSpPr>
        <p:spPr bwMode="auto">
          <a:xfrm flipV="1">
            <a:off x="3466578" y="4187842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2" name="Line 28"/>
          <p:cNvSpPr>
            <a:spLocks noChangeShapeType="1"/>
          </p:cNvSpPr>
          <p:nvPr/>
        </p:nvSpPr>
        <p:spPr bwMode="auto">
          <a:xfrm flipV="1">
            <a:off x="3466578" y="4403866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3" name="Line 28"/>
          <p:cNvSpPr>
            <a:spLocks noChangeShapeType="1"/>
          </p:cNvSpPr>
          <p:nvPr/>
        </p:nvSpPr>
        <p:spPr bwMode="auto">
          <a:xfrm flipV="1">
            <a:off x="3466578" y="4619890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4" name="Line 28"/>
          <p:cNvSpPr>
            <a:spLocks noChangeShapeType="1"/>
          </p:cNvSpPr>
          <p:nvPr/>
        </p:nvSpPr>
        <p:spPr bwMode="auto">
          <a:xfrm flipV="1">
            <a:off x="3466578" y="4835914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5" name="Line 28"/>
          <p:cNvSpPr>
            <a:spLocks noChangeShapeType="1"/>
          </p:cNvSpPr>
          <p:nvPr/>
        </p:nvSpPr>
        <p:spPr bwMode="auto">
          <a:xfrm flipV="1">
            <a:off x="3466578" y="5051938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" name="Line 28"/>
          <p:cNvSpPr>
            <a:spLocks noChangeShapeType="1"/>
          </p:cNvSpPr>
          <p:nvPr/>
        </p:nvSpPr>
        <p:spPr bwMode="auto">
          <a:xfrm flipV="1">
            <a:off x="3466578" y="5267962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7" name="Line 28"/>
          <p:cNvSpPr>
            <a:spLocks noChangeShapeType="1"/>
          </p:cNvSpPr>
          <p:nvPr/>
        </p:nvSpPr>
        <p:spPr bwMode="auto">
          <a:xfrm flipV="1">
            <a:off x="3466578" y="5483986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" name="Line 28"/>
          <p:cNvSpPr>
            <a:spLocks noChangeShapeType="1"/>
          </p:cNvSpPr>
          <p:nvPr/>
        </p:nvSpPr>
        <p:spPr bwMode="auto">
          <a:xfrm flipV="1">
            <a:off x="3466578" y="5700010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" name="Line 30"/>
          <p:cNvSpPr>
            <a:spLocks noChangeShapeType="1"/>
          </p:cNvSpPr>
          <p:nvPr/>
        </p:nvSpPr>
        <p:spPr bwMode="auto">
          <a:xfrm>
            <a:off x="4330674" y="376929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0" name="Line 30"/>
          <p:cNvSpPr>
            <a:spLocks noChangeShapeType="1"/>
          </p:cNvSpPr>
          <p:nvPr/>
        </p:nvSpPr>
        <p:spPr bwMode="auto">
          <a:xfrm>
            <a:off x="4762722" y="376929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" name="Line 30"/>
          <p:cNvSpPr>
            <a:spLocks noChangeShapeType="1"/>
          </p:cNvSpPr>
          <p:nvPr/>
        </p:nvSpPr>
        <p:spPr bwMode="auto">
          <a:xfrm>
            <a:off x="5194770" y="376929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" name="Oval 81"/>
          <p:cNvSpPr/>
          <p:nvPr/>
        </p:nvSpPr>
        <p:spPr bwMode="auto">
          <a:xfrm>
            <a:off x="4258666" y="4129335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3" name="Oval 82"/>
          <p:cNvSpPr/>
          <p:nvPr/>
        </p:nvSpPr>
        <p:spPr bwMode="auto">
          <a:xfrm>
            <a:off x="5122762" y="4345359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4" name="Oval 83"/>
          <p:cNvSpPr/>
          <p:nvPr/>
        </p:nvSpPr>
        <p:spPr bwMode="auto">
          <a:xfrm>
            <a:off x="4690714" y="4561383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5" name="Oval 84"/>
          <p:cNvSpPr/>
          <p:nvPr/>
        </p:nvSpPr>
        <p:spPr bwMode="auto">
          <a:xfrm>
            <a:off x="4690714" y="4777407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6" name="Oval 85"/>
          <p:cNvSpPr/>
          <p:nvPr/>
        </p:nvSpPr>
        <p:spPr bwMode="auto">
          <a:xfrm>
            <a:off x="4690714" y="4993431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7" name="Oval 86"/>
          <p:cNvSpPr/>
          <p:nvPr/>
        </p:nvSpPr>
        <p:spPr bwMode="auto">
          <a:xfrm>
            <a:off x="4258666" y="5209455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8" name="Oval 87"/>
          <p:cNvSpPr/>
          <p:nvPr/>
        </p:nvSpPr>
        <p:spPr bwMode="auto">
          <a:xfrm>
            <a:off x="4258666" y="5641503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9" name="Oval 88"/>
          <p:cNvSpPr/>
          <p:nvPr/>
        </p:nvSpPr>
        <p:spPr bwMode="auto">
          <a:xfrm>
            <a:off x="5122762" y="5425479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0" name="Oval 89"/>
          <p:cNvSpPr/>
          <p:nvPr/>
        </p:nvSpPr>
        <p:spPr bwMode="auto">
          <a:xfrm>
            <a:off x="5122762" y="5641503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86658" y="621756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F   G   H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5EDC2D6F-A6E1-EFD2-496B-648D46785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372941"/>
              </p:ext>
            </p:extLst>
          </p:nvPr>
        </p:nvGraphicFramePr>
        <p:xfrm>
          <a:off x="6688830" y="3427472"/>
          <a:ext cx="1440159" cy="2743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1023583795"/>
                    </a:ext>
                  </a:extLst>
                </a:gridCol>
                <a:gridCol w="434645">
                  <a:extLst>
                    <a:ext uri="{9D8B030D-6E8A-4147-A177-3AD203B41FA5}">
                      <a16:colId xmlns:a16="http://schemas.microsoft.com/office/drawing/2014/main" val="2331112815"/>
                    </a:ext>
                  </a:extLst>
                </a:gridCol>
                <a:gridCol w="525461">
                  <a:extLst>
                    <a:ext uri="{9D8B030D-6E8A-4147-A177-3AD203B41FA5}">
                      <a16:colId xmlns:a16="http://schemas.microsoft.com/office/drawing/2014/main" val="3686293278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F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G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H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162014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41458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166544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908927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9924253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85265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19952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508345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848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3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400" y="140494"/>
            <a:ext cx="835660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1535">
              <a:lnSpc>
                <a:spcPct val="100000"/>
              </a:lnSpc>
            </a:pPr>
            <a:r>
              <a:rPr sz="4000" dirty="0">
                <a:solidFill>
                  <a:srgbClr val="000000"/>
                </a:solidFill>
              </a:rPr>
              <a:t>Multip</a:t>
            </a:r>
            <a:r>
              <a:rPr sz="4000" spc="-15" dirty="0">
                <a:solidFill>
                  <a:srgbClr val="000000"/>
                </a:solidFill>
              </a:rPr>
              <a:t>l</a:t>
            </a:r>
            <a:r>
              <a:rPr sz="4000" spc="-80" dirty="0">
                <a:solidFill>
                  <a:srgbClr val="000000"/>
                </a:solidFill>
              </a:rPr>
              <a:t>e</a:t>
            </a:r>
            <a:r>
              <a:rPr sz="4000" spc="-135" dirty="0">
                <a:solidFill>
                  <a:srgbClr val="000000"/>
                </a:solidFill>
              </a:rPr>
              <a:t>x</a:t>
            </a:r>
            <a:r>
              <a:rPr sz="4000" spc="-20" dirty="0">
                <a:solidFill>
                  <a:srgbClr val="000000"/>
                </a:solidFill>
              </a:rPr>
              <a:t>er</a:t>
            </a:r>
            <a:r>
              <a:rPr sz="4000" spc="-5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e</a:t>
            </a:r>
            <a:r>
              <a:rPr sz="4000" dirty="0">
                <a:solidFill>
                  <a:srgbClr val="000000"/>
                </a:solidFill>
              </a:rPr>
              <a:t> </a:t>
            </a:r>
            <a:br>
              <a:rPr lang="it-IT" sz="4000" dirty="0">
                <a:solidFill>
                  <a:srgbClr val="000000"/>
                </a:solidFill>
              </a:rPr>
            </a:br>
            <a:r>
              <a:rPr sz="4000" spc="-5" dirty="0">
                <a:solidFill>
                  <a:srgbClr val="000000"/>
                </a:solidFill>
              </a:rPr>
              <a:t>fun</a:t>
            </a:r>
            <a:r>
              <a:rPr sz="4000" spc="5" dirty="0">
                <a:solidFill>
                  <a:srgbClr val="000000"/>
                </a:solidFill>
              </a:rPr>
              <a:t>z</a:t>
            </a:r>
            <a:r>
              <a:rPr sz="4000" dirty="0">
                <a:solidFill>
                  <a:srgbClr val="000000"/>
                </a:solidFill>
              </a:rPr>
              <a:t>ioni</a:t>
            </a:r>
            <a:r>
              <a:rPr sz="4000" spc="-40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logiche 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861" y="1764757"/>
            <a:ext cx="7935595" cy="2585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 algn="l">
              <a:lnSpc>
                <a:spcPct val="100000"/>
              </a:lnSpc>
              <a:buClr>
                <a:schemeClr val="accent2"/>
              </a:buClr>
              <a:buFont typeface="Wingdings" charset="2"/>
              <a:buChar char="Ø"/>
            </a:pPr>
            <a:r>
              <a:rPr sz="2400" b="0" dirty="0">
                <a:latin typeface="+mn-lt"/>
                <a:cs typeface="Calibri"/>
              </a:rPr>
              <a:t>U</a:t>
            </a:r>
            <a:r>
              <a:rPr lang="it-IT" sz="2400" b="0" dirty="0" err="1">
                <a:latin typeface="+mn-lt"/>
                <a:cs typeface="Calibri"/>
              </a:rPr>
              <a:t>n</a:t>
            </a:r>
            <a:r>
              <a:rPr lang="it-IT" sz="2400" b="0" dirty="0">
                <a:latin typeface="+mn-lt"/>
                <a:cs typeface="Calibri"/>
              </a:rPr>
              <a:t> multiplexer con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Calibri"/>
              </a:rPr>
              <a:t>n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Calibri"/>
              </a:rPr>
              <a:t> variabili di selezione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può calcolare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qualsiasi funzione booleana di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Calibri"/>
              </a:rPr>
              <a:t>n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Calibri"/>
              </a:rPr>
              <a:t> variabili</a:t>
            </a:r>
            <a:r>
              <a:rPr lang="it-IT" sz="2400" b="0" dirty="0">
                <a:latin typeface="+mn-lt"/>
                <a:cs typeface="Calibri"/>
              </a:rPr>
              <a:t>, ponendo</a:t>
            </a:r>
          </a:p>
          <a:p>
            <a:pPr marL="8128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Le </a:t>
            </a:r>
            <a:r>
              <a:rPr lang="it-IT" sz="2400" b="0" dirty="0" err="1">
                <a:solidFill>
                  <a:srgbClr val="FF3300"/>
                </a:solidFill>
                <a:latin typeface="+mn-lt"/>
                <a:cs typeface="Calibri"/>
              </a:rPr>
              <a:t>n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 variabili </a:t>
            </a:r>
            <a:r>
              <a:rPr lang="it-IT" sz="2400" b="0" dirty="0">
                <a:latin typeface="+mn-lt"/>
                <a:cs typeface="Calibri"/>
              </a:rPr>
              <a:t>sulle </a:t>
            </a:r>
            <a:r>
              <a:rPr lang="it-IT" sz="2400" b="0" dirty="0" err="1">
                <a:solidFill>
                  <a:srgbClr val="FF3300"/>
                </a:solidFill>
                <a:latin typeface="+mn-lt"/>
                <a:cs typeface="Calibri"/>
              </a:rPr>
              <a:t>n</a:t>
            </a:r>
            <a:r>
              <a:rPr lang="it-IT" sz="2400" b="0" dirty="0">
                <a:solidFill>
                  <a:srgbClr val="FF3300"/>
                </a:solidFill>
                <a:latin typeface="+mn-lt"/>
                <a:cs typeface="Calibri"/>
              </a:rPr>
              <a:t> linee di selezione</a:t>
            </a:r>
          </a:p>
          <a:p>
            <a:pPr marL="812800" lvl="1" indent="-3429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  <a:cs typeface="Calibri"/>
              </a:rPr>
              <a:t>I </a:t>
            </a:r>
            <a:r>
              <a:rPr lang="it-IT" sz="2400" b="0" dirty="0">
                <a:solidFill>
                  <a:srgbClr val="0070C0"/>
                </a:solidFill>
                <a:latin typeface="+mn-lt"/>
                <a:cs typeface="Calibri"/>
              </a:rPr>
              <a:t>2</a:t>
            </a:r>
            <a:r>
              <a:rPr lang="it-IT" sz="2400" b="0" baseline="30000" dirty="0">
                <a:solidFill>
                  <a:srgbClr val="0070C0"/>
                </a:solidFill>
                <a:latin typeface="+mn-lt"/>
                <a:cs typeface="Calibri"/>
              </a:rPr>
              <a:t>n</a:t>
            </a:r>
            <a:r>
              <a:rPr lang="it-IT" sz="2400" b="0" dirty="0">
                <a:solidFill>
                  <a:srgbClr val="0070C0"/>
                </a:solidFill>
                <a:latin typeface="+mn-lt"/>
                <a:cs typeface="Calibri"/>
              </a:rPr>
              <a:t> valori della tavola di verità </a:t>
            </a:r>
            <a:r>
              <a:rPr lang="it-IT" sz="2400" b="0" dirty="0">
                <a:latin typeface="+mn-lt"/>
                <a:cs typeface="Calibri"/>
              </a:rPr>
              <a:t>della funzione sulle </a:t>
            </a:r>
            <a:r>
              <a:rPr lang="it-IT" sz="2400" b="0" dirty="0">
                <a:solidFill>
                  <a:srgbClr val="0070C0"/>
                </a:solidFill>
                <a:latin typeface="+mn-lt"/>
                <a:cs typeface="Calibri"/>
              </a:rPr>
              <a:t>2</a:t>
            </a:r>
            <a:r>
              <a:rPr lang="it-IT" sz="2400" b="0" baseline="30000" dirty="0">
                <a:solidFill>
                  <a:srgbClr val="0070C0"/>
                </a:solidFill>
                <a:latin typeface="+mn-lt"/>
                <a:cs typeface="Calibri"/>
              </a:rPr>
              <a:t>n</a:t>
            </a:r>
            <a:r>
              <a:rPr lang="it-IT" sz="2400" b="0" dirty="0">
                <a:solidFill>
                  <a:srgbClr val="0070C0"/>
                </a:solidFill>
                <a:latin typeface="+mn-lt"/>
                <a:cs typeface="Calibri"/>
              </a:rPr>
              <a:t> linee dati</a:t>
            </a:r>
            <a:r>
              <a:rPr lang="it-IT" sz="2400" b="0" dirty="0">
                <a:latin typeface="+mn-lt"/>
                <a:cs typeface="Calibri"/>
              </a:rPr>
              <a:t> del multiplexer</a:t>
            </a:r>
          </a:p>
          <a:p>
            <a:pPr marL="12700" algn="l">
              <a:lnSpc>
                <a:spcPct val="100000"/>
              </a:lnSpc>
              <a:buClr>
                <a:schemeClr val="accent2"/>
              </a:buClr>
            </a:pPr>
            <a:r>
              <a:rPr sz="2400" b="0" spc="-5" dirty="0">
                <a:latin typeface="+mn-lt"/>
                <a:cs typeface="Calibri"/>
              </a:rPr>
              <a:t> </a:t>
            </a:r>
            <a:endParaRPr sz="2400" b="0" dirty="0">
              <a:latin typeface="+mn-lt"/>
              <a:cs typeface="Calibri"/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DB916561-90EC-EA72-1B8B-AA384C7289DE}"/>
              </a:ext>
            </a:extLst>
          </p:cNvPr>
          <p:cNvSpPr/>
          <p:nvPr/>
        </p:nvSpPr>
        <p:spPr>
          <a:xfrm>
            <a:off x="3453151" y="4230980"/>
            <a:ext cx="2142356" cy="2172072"/>
          </a:xfrm>
          <a:prstGeom prst="rect">
            <a:avLst/>
          </a:prstGeom>
          <a:blipFill>
            <a:blip r:embed="rId3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 Box 159">
            <a:extLst>
              <a:ext uri="{FF2B5EF4-FFF2-40B4-BE49-F238E27FC236}">
                <a16:creationId xmlns:a16="http://schemas.microsoft.com/office/drawing/2014/main" id="{530C262B-8755-4353-29F3-508D45CFDFD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233153" y="4962556"/>
            <a:ext cx="19880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solidFill>
                  <a:srgbClr val="0070C0"/>
                </a:solidFill>
                <a:latin typeface="+mn-lt"/>
              </a:rPr>
              <a:t>tavola di verità</a:t>
            </a:r>
            <a:endParaRPr lang="it-IT" b="0" baseline="-25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762AC210-F8D0-6692-A2AF-22EC9C10A420}"/>
              </a:ext>
            </a:extLst>
          </p:cNvPr>
          <p:cNvSpPr/>
          <p:nvPr/>
        </p:nvSpPr>
        <p:spPr bwMode="auto">
          <a:xfrm>
            <a:off x="4673104" y="4581128"/>
            <a:ext cx="792088" cy="48235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1" name="Text Box 159">
            <a:extLst>
              <a:ext uri="{FF2B5EF4-FFF2-40B4-BE49-F238E27FC236}">
                <a16:creationId xmlns:a16="http://schemas.microsoft.com/office/drawing/2014/main" id="{7269384C-6145-35F9-C908-4CA6428AE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2" y="4653136"/>
            <a:ext cx="3403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F</a:t>
            </a:r>
            <a:endParaRPr lang="it-IT" b="0" baseline="-25000" dirty="0">
              <a:latin typeface="+mn-lt"/>
            </a:endParaRPr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1F316E69-5C6F-169B-D300-F20447D3B463}"/>
              </a:ext>
            </a:extLst>
          </p:cNvPr>
          <p:cNvSpPr/>
          <p:nvPr/>
        </p:nvSpPr>
        <p:spPr>
          <a:xfrm>
            <a:off x="3458808" y="4742284"/>
            <a:ext cx="481112" cy="342900"/>
          </a:xfrm>
          <a:prstGeom prst="rect">
            <a:avLst/>
          </a:prstGeom>
          <a:blipFill>
            <a:blip r:embed="rId3" cstate="print"/>
            <a:srcRect/>
            <a:stretch>
              <a:fillRect l="-216470" t="-882881" r="-1381356" b="-85876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9F1C1B7C-ED7E-22D8-CF64-46D05FA16546}"/>
              </a:ext>
            </a:extLst>
          </p:cNvPr>
          <p:cNvSpPr/>
          <p:nvPr/>
        </p:nvSpPr>
        <p:spPr>
          <a:xfrm>
            <a:off x="3458808" y="5102324"/>
            <a:ext cx="481112" cy="342900"/>
          </a:xfrm>
          <a:prstGeom prst="rect">
            <a:avLst/>
          </a:prstGeom>
          <a:blipFill>
            <a:blip r:embed="rId3" cstate="print"/>
            <a:srcRect/>
            <a:stretch>
              <a:fillRect l="-216470" t="-882881" r="-1381356" b="-85876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04AF63E1-8995-6DA3-4D1F-B72967169251}"/>
              </a:ext>
            </a:extLst>
          </p:cNvPr>
          <p:cNvSpPr/>
          <p:nvPr/>
        </p:nvSpPr>
        <p:spPr>
          <a:xfrm>
            <a:off x="3939920" y="4509120"/>
            <a:ext cx="210468" cy="254372"/>
          </a:xfrm>
          <a:prstGeom prst="rect">
            <a:avLst/>
          </a:prstGeom>
          <a:blipFill>
            <a:blip r:embed="rId3" cstate="print"/>
            <a:srcRect/>
            <a:stretch>
              <a:fillRect l="-736197" t="-1294843" r="-3044897" b="-108774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D6EA4E16-BB37-2CD3-4903-F0CF04BE2DB0}"/>
              </a:ext>
            </a:extLst>
          </p:cNvPr>
          <p:cNvSpPr/>
          <p:nvPr/>
        </p:nvSpPr>
        <p:spPr>
          <a:xfrm>
            <a:off x="3939920" y="5550892"/>
            <a:ext cx="210468" cy="254372"/>
          </a:xfrm>
          <a:prstGeom prst="rect">
            <a:avLst/>
          </a:prstGeom>
          <a:blipFill>
            <a:blip r:embed="rId3" cstate="print"/>
            <a:srcRect/>
            <a:stretch>
              <a:fillRect l="-736197" t="-1294843" r="-3044897" b="-108774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FF10B8D1-747F-64CB-2AA1-C7020F4C252E}"/>
              </a:ext>
            </a:extLst>
          </p:cNvPr>
          <p:cNvSpPr/>
          <p:nvPr/>
        </p:nvSpPr>
        <p:spPr>
          <a:xfrm>
            <a:off x="4232268" y="5949280"/>
            <a:ext cx="139700" cy="481236"/>
          </a:xfrm>
          <a:prstGeom prst="rect">
            <a:avLst/>
          </a:prstGeom>
          <a:blipFill>
            <a:blip r:embed="rId3" cstate="print"/>
            <a:srcRect/>
            <a:stretch>
              <a:fillRect l="-1190330" t="-945774" r="-4556814" b="-26647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Text Box 159">
            <a:extLst>
              <a:ext uri="{FF2B5EF4-FFF2-40B4-BE49-F238E27FC236}">
                <a16:creationId xmlns:a16="http://schemas.microsoft.com/office/drawing/2014/main" id="{9C2B7F9C-5B8C-8C52-7EBC-80B6913B6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785" y="6269250"/>
            <a:ext cx="11352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solidFill>
                  <a:srgbClr val="FF3300"/>
                </a:solidFill>
                <a:latin typeface="+mn-lt"/>
              </a:rPr>
              <a:t>variabili</a:t>
            </a:r>
            <a:endParaRPr lang="it-IT" b="0" baseline="-25000" dirty="0">
              <a:solidFill>
                <a:srgbClr val="FF33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65030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628800"/>
            <a:ext cx="7848872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Data la funzione logica </a:t>
            </a:r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, definita dalla seguente tavola di verità</a:t>
            </a: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marL="0" lvl="1" algn="l">
              <a:buClr>
                <a:schemeClr val="accent2"/>
              </a:buClr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algn="l">
              <a:buClr>
                <a:schemeClr val="accent2"/>
              </a:buClr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   progettare un </a:t>
            </a:r>
            <a:r>
              <a:rPr lang="it-IT" sz="2400" b="0" dirty="0">
                <a:solidFill>
                  <a:srgbClr val="33CC33"/>
                </a:solidFill>
                <a:latin typeface="+mn-lt"/>
                <a:ea typeface="Cambria Math" charset="0"/>
                <a:cs typeface="Cambria Math" charset="0"/>
              </a:rPr>
              <a:t>circuito 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che la realizzi utilizzando un </a:t>
            </a:r>
            <a:b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</a:b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   opportuno 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MUX</a:t>
            </a:r>
            <a:endParaRPr lang="it-IT" sz="2400" b="0" dirty="0">
              <a:latin typeface="+mn-lt"/>
              <a:ea typeface="Cambria Math" charset="0"/>
              <a:cs typeface="Cambria Math" charset="0"/>
            </a:endParaRPr>
          </a:p>
        </p:txBody>
      </p:sp>
      <p:graphicFrame>
        <p:nvGraphicFramePr>
          <p:cNvPr id="17" name="Segnaposto contenuto 11"/>
          <p:cNvGraphicFramePr>
            <a:graphicFrameLocks noGrp="1"/>
          </p:cNvGraphicFramePr>
          <p:nvPr>
            <p:ph sz="half" idx="4294967295"/>
          </p:nvPr>
        </p:nvGraphicFramePr>
        <p:xfrm>
          <a:off x="1115618" y="2636912"/>
          <a:ext cx="1440159" cy="1524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A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B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F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000000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000000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99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6081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628800"/>
            <a:ext cx="828092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Troviamo la forma canonica SOP della  funzione:</a:t>
            </a: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marL="0" lvl="1" algn="l">
              <a:buClr>
                <a:schemeClr val="accent2"/>
              </a:buClr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marL="0" lvl="1" algn="l">
              <a:buClr>
                <a:schemeClr val="accent2"/>
              </a:buClr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Poiché ci sono due variabili (A, B), useremo un 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MUX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con </a:t>
            </a:r>
            <a:r>
              <a:rPr lang="it-IT" sz="2400" b="0" dirty="0" err="1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n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=2 linee di selezione (s</a:t>
            </a:r>
            <a:r>
              <a:rPr lang="it-IT" sz="24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s</a:t>
            </a:r>
            <a:r>
              <a:rPr lang="it-IT" sz="24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) ed m=2</a:t>
            </a:r>
            <a:r>
              <a:rPr lang="it-IT" sz="2400" b="0" baseline="30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n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=2</a:t>
            </a:r>
            <a:r>
              <a:rPr lang="it-IT" sz="2400" b="0" baseline="30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2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=4 linee di input dati (x</a:t>
            </a:r>
            <a:r>
              <a:rPr lang="it-IT" sz="24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x</a:t>
            </a:r>
            <a:r>
              <a:rPr lang="it-IT" sz="24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x</a:t>
            </a:r>
            <a:r>
              <a:rPr lang="it-IT" sz="24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2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x</a:t>
            </a:r>
            <a:r>
              <a:rPr lang="it-IT" sz="24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3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) , ponendo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s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=A, s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=B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I 4 valori della tavola di verità di </a:t>
            </a:r>
            <a:r>
              <a:rPr lang="it-IT" sz="2000" b="0" dirty="0" err="1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sulle linee di input dati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ea typeface="Cambria Math" charset="0"/>
              <a:cs typeface="Cambria Math" charset="0"/>
            </a:endParaRPr>
          </a:p>
        </p:txBody>
      </p:sp>
      <p:graphicFrame>
        <p:nvGraphicFramePr>
          <p:cNvPr id="17" name="Segnaposto contenuto 11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755320907"/>
              </p:ext>
            </p:extLst>
          </p:nvPr>
        </p:nvGraphicFramePr>
        <p:xfrm>
          <a:off x="1115618" y="2348880"/>
          <a:ext cx="1440159" cy="1524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A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B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F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000000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000000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ttangolo 10"/>
          <p:cNvSpPr/>
          <p:nvPr/>
        </p:nvSpPr>
        <p:spPr>
          <a:xfrm>
            <a:off x="3779912" y="2564904"/>
            <a:ext cx="50405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F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 </a:t>
            </a:r>
          </a:p>
          <a:p>
            <a:pPr algn="l"/>
            <a:endParaRPr lang="it-IT" sz="2400" b="0" dirty="0">
              <a:latin typeface="+mn-lt"/>
              <a:sym typeface="Symbol"/>
            </a:endParaRPr>
          </a:p>
          <a:p>
            <a:pPr algn="l"/>
            <a:endParaRPr lang="it-IT" sz="2400" b="0" dirty="0">
              <a:latin typeface="+mn-lt"/>
            </a:endParaRPr>
          </a:p>
          <a:p>
            <a:pPr algn="l"/>
            <a:r>
              <a:rPr lang="it-IT" sz="2400" dirty="0">
                <a:latin typeface="+mn-lt"/>
                <a:sym typeface="Symbol"/>
              </a:rPr>
              <a:t> </a:t>
            </a:r>
            <a:endParaRPr lang="it-IT" sz="2400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sz="2400" b="0" dirty="0">
              <a:latin typeface="+mn-lt"/>
            </a:endParaRPr>
          </a:p>
        </p:txBody>
      </p:sp>
      <p:cxnSp>
        <p:nvCxnSpPr>
          <p:cNvPr id="6" name="Connettore 1 6"/>
          <p:cNvCxnSpPr/>
          <p:nvPr/>
        </p:nvCxnSpPr>
        <p:spPr>
          <a:xfrm>
            <a:off x="4427984" y="263691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12"/>
          <p:cNvSpPr txBox="1"/>
          <p:nvPr/>
        </p:nvSpPr>
        <p:spPr>
          <a:xfrm>
            <a:off x="3707904" y="3327375"/>
            <a:ext cx="3647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Espressione canonica SOP</a:t>
            </a:r>
          </a:p>
        </p:txBody>
      </p:sp>
      <p:cxnSp>
        <p:nvCxnSpPr>
          <p:cNvPr id="8" name="Connettore 2 13"/>
          <p:cNvCxnSpPr/>
          <p:nvPr/>
        </p:nvCxnSpPr>
        <p:spPr>
          <a:xfrm flipH="1" flipV="1">
            <a:off x="5174607" y="3039343"/>
            <a:ext cx="144016" cy="43204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01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628800"/>
            <a:ext cx="828092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Infatti, poiché la funzione realizzata dal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MUX 4:1 </a:t>
            </a:r>
            <a:r>
              <a:rPr lang="it-IT" sz="2400" b="0" dirty="0">
                <a:latin typeface="+mn-lt"/>
              </a:rPr>
              <a:t>è</a:t>
            </a: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  <a:cs typeface="Calibri"/>
              </a:rPr>
              <a:t>	     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FF0000"/>
                </a:solidFill>
                <a:latin typeface="+mn-lt"/>
                <a:cs typeface="Calibri"/>
              </a:rPr>
              <a:t>0</a:t>
            </a:r>
            <a:r>
              <a:rPr lang="it-IT" sz="2400" b="0" spc="-10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r>
              <a:rPr lang="it-IT" sz="2400" b="0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+ </a:t>
            </a:r>
            <a:r>
              <a:rPr lang="it-IT" sz="2400" b="0" dirty="0">
                <a:solidFill>
                  <a:srgbClr val="00AF5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00AF50"/>
                </a:solidFill>
                <a:latin typeface="+mn-lt"/>
                <a:cs typeface="Calibri"/>
              </a:rPr>
              <a:t>1</a:t>
            </a:r>
            <a:r>
              <a:rPr lang="it-IT" sz="2400" b="0" spc="-15" dirty="0">
                <a:solidFill>
                  <a:srgbClr val="00AF50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r>
              <a:rPr lang="it-IT" sz="2400" b="0" baseline="-20833" dirty="0">
                <a:latin typeface="+mn-lt"/>
                <a:cs typeface="Calibri"/>
              </a:rPr>
              <a:t> </a:t>
            </a:r>
            <a:r>
              <a:rPr lang="it-IT" sz="2400" b="0" spc="-270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+</a:t>
            </a:r>
            <a:r>
              <a:rPr lang="it-IT" sz="2400" b="0" spc="-10" dirty="0">
                <a:latin typeface="+mn-lt"/>
                <a:cs typeface="Calibri"/>
              </a:rPr>
              <a:t> </a:t>
            </a:r>
            <a:r>
              <a:rPr lang="it-IT" sz="2400" b="0" dirty="0">
                <a:solidFill>
                  <a:srgbClr val="1F487C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1F487C"/>
                </a:solidFill>
                <a:latin typeface="+mn-lt"/>
                <a:cs typeface="Calibri"/>
              </a:rPr>
              <a:t>2</a:t>
            </a:r>
            <a:r>
              <a:rPr lang="it-IT" sz="2400" b="0" spc="-15" dirty="0">
                <a:solidFill>
                  <a:srgbClr val="1F487C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baseline="-20833" dirty="0">
                <a:latin typeface="+mn-lt"/>
                <a:cs typeface="Calibri"/>
              </a:rPr>
              <a:t> </a:t>
            </a:r>
            <a:r>
              <a:rPr lang="it-IT" sz="2400" b="0" spc="-270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+ </a:t>
            </a:r>
            <a:r>
              <a:rPr lang="it-IT" sz="2400" b="0" dirty="0">
                <a:solidFill>
                  <a:srgbClr val="E36C09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E36C09"/>
                </a:solidFill>
                <a:latin typeface="+mn-lt"/>
                <a:cs typeface="Calibri"/>
              </a:rPr>
              <a:t>3</a:t>
            </a:r>
            <a:r>
              <a:rPr lang="it-IT" sz="2400" b="0" spc="-20" dirty="0">
                <a:solidFill>
                  <a:srgbClr val="E36C09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endParaRPr lang="it-IT" sz="2400" b="0" baseline="-20833" dirty="0">
              <a:latin typeface="+mn-lt"/>
              <a:cs typeface="Calibri"/>
            </a:endParaRPr>
          </a:p>
          <a:p>
            <a:pPr marL="0" lvl="1" algn="l">
              <a:buClr>
                <a:schemeClr val="accent2"/>
              </a:buClr>
            </a:pPr>
            <a:endParaRPr lang="it-IT" sz="2400" b="0" dirty="0">
              <a:latin typeface="+mn-lt"/>
            </a:endParaRP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</a:rPr>
              <a:t>    per ottenere la funzione </a:t>
            </a:r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B, </a:t>
            </a:r>
            <a:r>
              <a:rPr lang="it-IT" sz="2400" b="0" dirty="0">
                <a:latin typeface="+mn-lt"/>
              </a:rPr>
              <a:t>ci basta porre 		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FF0000"/>
                </a:solidFill>
                <a:latin typeface="+mn-lt"/>
                <a:cs typeface="Calibri"/>
              </a:rPr>
              <a:t>0</a:t>
            </a:r>
            <a:r>
              <a:rPr lang="it-IT" sz="2400" b="0" spc="-10" dirty="0">
                <a:solidFill>
                  <a:srgbClr val="FF0000"/>
                </a:solidFill>
                <a:cs typeface="Calibri"/>
              </a:rPr>
              <a:t> </a:t>
            </a:r>
            <a:r>
              <a:rPr lang="it-IT" sz="2400" b="0" dirty="0">
                <a:latin typeface="+mn-lt"/>
              </a:rPr>
              <a:t>=0, </a:t>
            </a:r>
            <a:r>
              <a:rPr lang="it-IT" sz="2400" b="0" dirty="0">
                <a:solidFill>
                  <a:srgbClr val="00AF5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00AF50"/>
                </a:solidFill>
                <a:latin typeface="+mn-lt"/>
                <a:cs typeface="Calibri"/>
              </a:rPr>
              <a:t>1</a:t>
            </a:r>
            <a:r>
              <a:rPr lang="it-IT" sz="2400" b="0" dirty="0">
                <a:latin typeface="+mn-lt"/>
              </a:rPr>
              <a:t>=1, </a:t>
            </a:r>
            <a:r>
              <a:rPr lang="it-IT" sz="2400" b="0" dirty="0">
                <a:solidFill>
                  <a:srgbClr val="1F487C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1F487C"/>
                </a:solidFill>
                <a:latin typeface="+mn-lt"/>
                <a:cs typeface="Calibri"/>
              </a:rPr>
              <a:t>2</a:t>
            </a:r>
            <a:r>
              <a:rPr lang="it-IT" sz="2400" b="0" dirty="0">
                <a:latin typeface="+mn-lt"/>
              </a:rPr>
              <a:t>=0, </a:t>
            </a:r>
            <a:r>
              <a:rPr lang="it-IT" sz="2400" b="0" dirty="0">
                <a:solidFill>
                  <a:srgbClr val="E36C09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E36C09"/>
                </a:solidFill>
                <a:latin typeface="+mn-lt"/>
                <a:cs typeface="Calibri"/>
              </a:rPr>
              <a:t>3</a:t>
            </a:r>
            <a:r>
              <a:rPr lang="it-IT" sz="2400" b="0" dirty="0">
                <a:latin typeface="+mn-lt"/>
              </a:rPr>
              <a:t>=1</a:t>
            </a: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marL="0" lvl="1" algn="l">
              <a:buClr>
                <a:schemeClr val="accent2"/>
              </a:buClr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ea typeface="Cambria Math" charset="0"/>
              <a:cs typeface="Cambria Math" charset="0"/>
            </a:endParaRPr>
          </a:p>
        </p:txBody>
      </p:sp>
      <p:cxnSp>
        <p:nvCxnSpPr>
          <p:cNvPr id="6" name="Connettore 1 6"/>
          <p:cNvCxnSpPr/>
          <p:nvPr/>
        </p:nvCxnSpPr>
        <p:spPr>
          <a:xfrm>
            <a:off x="2483768" y="2492896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>
            <a:off x="2852192" y="2492896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6"/>
          <p:cNvCxnSpPr/>
          <p:nvPr/>
        </p:nvCxnSpPr>
        <p:spPr>
          <a:xfrm>
            <a:off x="3707904" y="2492896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6"/>
          <p:cNvCxnSpPr/>
          <p:nvPr/>
        </p:nvCxnSpPr>
        <p:spPr>
          <a:xfrm>
            <a:off x="5364088" y="2492896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6"/>
          <p:cNvCxnSpPr/>
          <p:nvPr/>
        </p:nvCxnSpPr>
        <p:spPr>
          <a:xfrm>
            <a:off x="5156448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ject 2"/>
          <p:cNvSpPr/>
          <p:nvPr/>
        </p:nvSpPr>
        <p:spPr>
          <a:xfrm>
            <a:off x="5237956" y="4077072"/>
            <a:ext cx="2142356" cy="2172072"/>
          </a:xfrm>
          <a:prstGeom prst="rect">
            <a:avLst/>
          </a:prstGeom>
          <a:blipFill>
            <a:blip r:embed="rId2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Box 159"/>
          <p:cNvSpPr txBox="1">
            <a:spLocks noChangeArrowheads="1"/>
          </p:cNvSpPr>
          <p:nvPr/>
        </p:nvSpPr>
        <p:spPr bwMode="auto">
          <a:xfrm>
            <a:off x="4988356" y="4221088"/>
            <a:ext cx="341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0</a:t>
            </a:r>
            <a:endParaRPr lang="it-IT" b="0" baseline="-25000" dirty="0">
              <a:latin typeface="+mn-lt"/>
            </a:endParaRPr>
          </a:p>
        </p:txBody>
      </p:sp>
      <p:sp>
        <p:nvSpPr>
          <p:cNvPr id="13" name="Text Box 162"/>
          <p:cNvSpPr txBox="1">
            <a:spLocks noChangeArrowheads="1"/>
          </p:cNvSpPr>
          <p:nvPr/>
        </p:nvSpPr>
        <p:spPr bwMode="auto">
          <a:xfrm>
            <a:off x="4991948" y="5261138"/>
            <a:ext cx="3001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1</a:t>
            </a:r>
            <a:endParaRPr lang="it-IT" b="0" baseline="-25000" dirty="0">
              <a:latin typeface="+mn-lt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6473304" y="4437112"/>
            <a:ext cx="792088" cy="48235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6" name="Text Box 159"/>
          <p:cNvSpPr txBox="1">
            <a:spLocks noChangeArrowheads="1"/>
          </p:cNvSpPr>
          <p:nvPr/>
        </p:nvSpPr>
        <p:spPr bwMode="auto">
          <a:xfrm>
            <a:off x="6586512" y="4509120"/>
            <a:ext cx="3403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F</a:t>
            </a:r>
            <a:endParaRPr lang="it-IT" b="0" baseline="-25000" dirty="0">
              <a:latin typeface="+mn-lt"/>
            </a:endParaRPr>
          </a:p>
        </p:txBody>
      </p:sp>
      <p:sp>
        <p:nvSpPr>
          <p:cNvPr id="18" name="Text Box 159"/>
          <p:cNvSpPr txBox="1">
            <a:spLocks noChangeArrowheads="1"/>
          </p:cNvSpPr>
          <p:nvPr/>
        </p:nvSpPr>
        <p:spPr bwMode="auto">
          <a:xfrm>
            <a:off x="4988944" y="4541058"/>
            <a:ext cx="3001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1</a:t>
            </a:r>
            <a:endParaRPr lang="it-IT" b="0" baseline="-25000" dirty="0">
              <a:latin typeface="+mn-lt"/>
            </a:endParaRPr>
          </a:p>
        </p:txBody>
      </p:sp>
      <p:sp>
        <p:nvSpPr>
          <p:cNvPr id="19" name="Text Box 162"/>
          <p:cNvSpPr txBox="1">
            <a:spLocks noChangeArrowheads="1"/>
          </p:cNvSpPr>
          <p:nvPr/>
        </p:nvSpPr>
        <p:spPr bwMode="auto">
          <a:xfrm>
            <a:off x="4975252" y="4869160"/>
            <a:ext cx="341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0</a:t>
            </a:r>
            <a:endParaRPr lang="it-IT" b="0" baseline="-25000" dirty="0">
              <a:latin typeface="+mn-lt"/>
            </a:endParaRPr>
          </a:p>
        </p:txBody>
      </p:sp>
      <p:sp>
        <p:nvSpPr>
          <p:cNvPr id="20" name="object 2"/>
          <p:cNvSpPr/>
          <p:nvPr/>
        </p:nvSpPr>
        <p:spPr>
          <a:xfrm>
            <a:off x="5259008" y="4598268"/>
            <a:ext cx="481112" cy="342900"/>
          </a:xfrm>
          <a:prstGeom prst="rect">
            <a:avLst/>
          </a:prstGeom>
          <a:blipFill>
            <a:blip r:embed="rId2" cstate="print"/>
            <a:srcRect/>
            <a:stretch>
              <a:fillRect l="-216470" t="-882881" r="-1381356" b="-85876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"/>
          <p:cNvSpPr/>
          <p:nvPr/>
        </p:nvSpPr>
        <p:spPr>
          <a:xfrm>
            <a:off x="5259008" y="4958308"/>
            <a:ext cx="481112" cy="342900"/>
          </a:xfrm>
          <a:prstGeom prst="rect">
            <a:avLst/>
          </a:prstGeom>
          <a:blipFill>
            <a:blip r:embed="rId2" cstate="print"/>
            <a:srcRect/>
            <a:stretch>
              <a:fillRect l="-216470" t="-882881" r="-1381356" b="-85876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"/>
          <p:cNvSpPr/>
          <p:nvPr/>
        </p:nvSpPr>
        <p:spPr>
          <a:xfrm>
            <a:off x="5740120" y="4365104"/>
            <a:ext cx="210468" cy="254372"/>
          </a:xfrm>
          <a:prstGeom prst="rect">
            <a:avLst/>
          </a:prstGeom>
          <a:blipFill>
            <a:blip r:embed="rId2" cstate="print"/>
            <a:srcRect/>
            <a:stretch>
              <a:fillRect l="-736197" t="-1294843" r="-3044897" b="-108774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"/>
          <p:cNvSpPr/>
          <p:nvPr/>
        </p:nvSpPr>
        <p:spPr>
          <a:xfrm>
            <a:off x="5740120" y="5406876"/>
            <a:ext cx="210468" cy="254372"/>
          </a:xfrm>
          <a:prstGeom prst="rect">
            <a:avLst/>
          </a:prstGeom>
          <a:blipFill>
            <a:blip r:embed="rId2" cstate="print"/>
            <a:srcRect/>
            <a:stretch>
              <a:fillRect l="-736197" t="-1294843" r="-3044897" b="-108774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"/>
          <p:cNvSpPr/>
          <p:nvPr/>
        </p:nvSpPr>
        <p:spPr>
          <a:xfrm>
            <a:off x="6032468" y="5805264"/>
            <a:ext cx="139700" cy="481236"/>
          </a:xfrm>
          <a:prstGeom prst="rect">
            <a:avLst/>
          </a:prstGeom>
          <a:blipFill>
            <a:blip r:embed="rId2" cstate="print"/>
            <a:srcRect/>
            <a:stretch>
              <a:fillRect l="-1190330" t="-945774" r="-4556814" b="-26647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Text Box 159"/>
          <p:cNvSpPr txBox="1">
            <a:spLocks noChangeArrowheads="1"/>
          </p:cNvSpPr>
          <p:nvPr/>
        </p:nvSpPr>
        <p:spPr bwMode="auto">
          <a:xfrm>
            <a:off x="5736282" y="6053226"/>
            <a:ext cx="3722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A</a:t>
            </a:r>
            <a:endParaRPr lang="it-IT" b="0" baseline="-25000" dirty="0">
              <a:latin typeface="+mn-lt"/>
            </a:endParaRPr>
          </a:p>
        </p:txBody>
      </p:sp>
      <p:sp>
        <p:nvSpPr>
          <p:cNvPr id="26" name="Text Box 159"/>
          <p:cNvSpPr txBox="1">
            <a:spLocks noChangeArrowheads="1"/>
          </p:cNvSpPr>
          <p:nvPr/>
        </p:nvSpPr>
        <p:spPr bwMode="auto">
          <a:xfrm>
            <a:off x="6032468" y="6049089"/>
            <a:ext cx="3463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B</a:t>
            </a:r>
            <a:endParaRPr lang="it-IT" b="0" baseline="-25000" dirty="0">
              <a:latin typeface="+mn-lt"/>
            </a:endParaRPr>
          </a:p>
        </p:txBody>
      </p:sp>
      <p:graphicFrame>
        <p:nvGraphicFramePr>
          <p:cNvPr id="27" name="Segnaposto contenuto 11"/>
          <p:cNvGraphicFramePr>
            <a:graphicFrameLocks noGrp="1"/>
          </p:cNvGraphicFramePr>
          <p:nvPr>
            <p:ph sz="half" idx="4294967295"/>
          </p:nvPr>
        </p:nvGraphicFramePr>
        <p:xfrm>
          <a:off x="1763689" y="4209257"/>
          <a:ext cx="1440159" cy="1524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A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B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F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000000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000000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4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8" grpId="0"/>
      <p:bldP spid="19" grpId="0"/>
      <p:bldP spid="25" grpId="0"/>
      <p:bldP spid="2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628800"/>
            <a:ext cx="82809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La funzione </a:t>
            </a:r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può essere minimizzata</a:t>
            </a: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marL="0" lvl="1" algn="l">
              <a:buClr>
                <a:schemeClr val="accent2"/>
              </a:buClr>
            </a:pPr>
            <a:endParaRPr lang="it-IT" sz="2400" b="0" dirty="0">
              <a:latin typeface="+mn-lt"/>
            </a:endParaRPr>
          </a:p>
          <a:p>
            <a:pPr marL="457200" lvl="2" algn="l">
              <a:buClr>
                <a:schemeClr val="accent2"/>
              </a:buClr>
            </a:pPr>
            <a:r>
              <a:rPr lang="it-IT" sz="2400" b="0" dirty="0">
                <a:latin typeface="+mn-lt"/>
              </a:rPr>
              <a:t>			        </a:t>
            </a:r>
          </a:p>
          <a:p>
            <a:pPr marL="457200" lvl="2" algn="l">
              <a:buClr>
                <a:schemeClr val="accent2"/>
              </a:buClr>
            </a:pPr>
            <a:r>
              <a:rPr lang="it-IT" sz="2400" b="0" dirty="0">
                <a:latin typeface="+mn-lt"/>
              </a:rPr>
              <a:t>                                 </a:t>
            </a: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marL="0" lvl="1" algn="l">
              <a:buClr>
                <a:schemeClr val="accent2"/>
              </a:buClr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Poiché </a:t>
            </a:r>
            <a:r>
              <a:rPr lang="it-IT" sz="2400" b="0" dirty="0" err="1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dipende solo da una variabile (B), possiamo usare un 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MUX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con </a:t>
            </a:r>
            <a:r>
              <a:rPr lang="it-IT" sz="2400" b="0" dirty="0" err="1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n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=1 linea di selezione (</a:t>
            </a:r>
            <a:r>
              <a:rPr lang="it-IT" sz="2400" b="0" dirty="0" err="1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s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) ed m=2</a:t>
            </a:r>
            <a:r>
              <a:rPr lang="it-IT" sz="2400" b="0" baseline="30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n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=2</a:t>
            </a:r>
            <a:r>
              <a:rPr lang="it-IT" sz="2400" b="0" baseline="30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=2 linee di input dati (x</a:t>
            </a:r>
            <a:r>
              <a:rPr lang="it-IT" sz="24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x</a:t>
            </a:r>
            <a:r>
              <a:rPr lang="it-IT" sz="24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) , ponendo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 err="1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s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=B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I 2 valori possibili per </a:t>
            </a:r>
            <a:r>
              <a:rPr lang="it-IT" sz="2000" b="0" dirty="0" err="1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(0,1) sulle linee di input dati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ea typeface="Cambria Math" charset="0"/>
              <a:cs typeface="Cambria Math" charset="0"/>
            </a:endParaRPr>
          </a:p>
        </p:txBody>
      </p:sp>
      <p:graphicFrame>
        <p:nvGraphicFramePr>
          <p:cNvPr id="17" name="Segnaposto contenuto 11"/>
          <p:cNvGraphicFramePr>
            <a:graphicFrameLocks noGrp="1"/>
          </p:cNvGraphicFramePr>
          <p:nvPr>
            <p:ph sz="half" idx="4294967295"/>
          </p:nvPr>
        </p:nvGraphicFramePr>
        <p:xfrm>
          <a:off x="1115618" y="2348880"/>
          <a:ext cx="1440159" cy="1524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A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B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F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000000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000000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ttangolo 10"/>
          <p:cNvSpPr/>
          <p:nvPr/>
        </p:nvSpPr>
        <p:spPr>
          <a:xfrm>
            <a:off x="3851920" y="2560836"/>
            <a:ext cx="50405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F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</a:p>
          <a:p>
            <a:pPr algn="l"/>
            <a:r>
              <a:rPr lang="it-IT" sz="2400" b="0" dirty="0">
                <a:latin typeface="+mn-lt"/>
                <a:sym typeface="Symbol"/>
              </a:rPr>
              <a:t>   = (A + A)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</a:p>
          <a:p>
            <a:pPr algn="l"/>
            <a:r>
              <a:rPr lang="it-IT" sz="2400" b="0" dirty="0">
                <a:latin typeface="+mn-lt"/>
                <a:sym typeface="Symbol"/>
              </a:rPr>
              <a:t>   = B</a:t>
            </a:r>
          </a:p>
          <a:p>
            <a:pPr algn="l"/>
            <a:endParaRPr lang="it-IT" sz="2400" b="0" dirty="0">
              <a:latin typeface="+mn-lt"/>
              <a:sym typeface="Symbol"/>
            </a:endParaRPr>
          </a:p>
          <a:p>
            <a:pPr algn="l"/>
            <a:endParaRPr lang="it-IT" sz="2400" b="0" dirty="0">
              <a:latin typeface="+mn-lt"/>
            </a:endParaRPr>
          </a:p>
          <a:p>
            <a:pPr algn="l"/>
            <a:r>
              <a:rPr lang="it-IT" sz="2400" dirty="0">
                <a:latin typeface="+mn-lt"/>
                <a:sym typeface="Symbol"/>
              </a:rPr>
              <a:t> </a:t>
            </a:r>
            <a:endParaRPr lang="it-IT" sz="2400" b="0" dirty="0">
              <a:solidFill>
                <a:srgbClr val="FF3300"/>
              </a:solidFill>
              <a:latin typeface="+mn-lt"/>
            </a:endParaRPr>
          </a:p>
        </p:txBody>
      </p:sp>
      <p:cxnSp>
        <p:nvCxnSpPr>
          <p:cNvPr id="6" name="Connettore 1 6"/>
          <p:cNvCxnSpPr/>
          <p:nvPr/>
        </p:nvCxnSpPr>
        <p:spPr>
          <a:xfrm>
            <a:off x="4508376" y="263691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12"/>
          <p:cNvSpPr txBox="1"/>
          <p:nvPr/>
        </p:nvSpPr>
        <p:spPr>
          <a:xfrm>
            <a:off x="4311885" y="3717032"/>
            <a:ext cx="3043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Espressione minimale</a:t>
            </a:r>
          </a:p>
        </p:txBody>
      </p:sp>
      <p:cxnSp>
        <p:nvCxnSpPr>
          <p:cNvPr id="8" name="Connettore 2 13"/>
          <p:cNvCxnSpPr/>
          <p:nvPr/>
        </p:nvCxnSpPr>
        <p:spPr>
          <a:xfrm flipH="1" flipV="1">
            <a:off x="4572000" y="3645024"/>
            <a:ext cx="746623" cy="21602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6"/>
          <p:cNvCxnSpPr/>
          <p:nvPr/>
        </p:nvCxnSpPr>
        <p:spPr>
          <a:xfrm>
            <a:off x="4572000" y="2996952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03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628800"/>
            <a:ext cx="828092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Infatti, poiché la funzione realizzata dal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MUX 2:1</a:t>
            </a:r>
            <a:r>
              <a:rPr lang="it-IT" sz="2400" b="0" dirty="0">
                <a:latin typeface="+mn-lt"/>
              </a:rPr>
              <a:t> è</a:t>
            </a: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  <a:cs typeface="Calibri"/>
              </a:rPr>
              <a:t>	      		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FF0000"/>
                </a:solidFill>
                <a:latin typeface="+mn-lt"/>
                <a:cs typeface="Calibri"/>
              </a:rPr>
              <a:t>0</a:t>
            </a:r>
            <a:r>
              <a:rPr lang="it-IT" sz="2400" b="0" spc="-10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it-IT" sz="2400" b="0" dirty="0" err="1">
                <a:latin typeface="+mn-lt"/>
                <a:cs typeface="Calibri"/>
              </a:rPr>
              <a:t>s</a:t>
            </a:r>
            <a:r>
              <a:rPr lang="it-IT" sz="2400" b="0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+ </a:t>
            </a:r>
            <a:r>
              <a:rPr lang="it-IT" sz="2400" b="0" dirty="0">
                <a:solidFill>
                  <a:srgbClr val="00AF5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00AF50"/>
                </a:solidFill>
                <a:latin typeface="+mn-lt"/>
                <a:cs typeface="Calibri"/>
              </a:rPr>
              <a:t>1</a:t>
            </a:r>
            <a:r>
              <a:rPr lang="it-IT" sz="2400" b="0" spc="-15" dirty="0">
                <a:solidFill>
                  <a:srgbClr val="00AF50"/>
                </a:solidFill>
                <a:latin typeface="+mn-lt"/>
                <a:cs typeface="Calibri"/>
              </a:rPr>
              <a:t> </a:t>
            </a:r>
            <a:r>
              <a:rPr lang="it-IT" sz="2400" b="0" dirty="0" err="1">
                <a:latin typeface="+mn-lt"/>
                <a:cs typeface="Calibri"/>
              </a:rPr>
              <a:t>s</a:t>
            </a:r>
            <a:endParaRPr lang="it-IT" sz="2400" b="0" spc="-15" baseline="-20833" dirty="0">
              <a:latin typeface="+mn-lt"/>
              <a:cs typeface="Calibri"/>
            </a:endParaRPr>
          </a:p>
          <a:p>
            <a:pPr marL="0" lvl="1" algn="l">
              <a:buClr>
                <a:schemeClr val="accent2"/>
              </a:buClr>
            </a:pPr>
            <a:endParaRPr lang="it-IT" sz="2400" b="0" dirty="0">
              <a:latin typeface="+mn-lt"/>
            </a:endParaRP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</a:rPr>
              <a:t>    per ottenere la funzione </a:t>
            </a:r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= </a:t>
            </a:r>
            <a:r>
              <a:rPr lang="it-IT" sz="2400" b="0" dirty="0">
                <a:latin typeface="+mn-lt"/>
                <a:sym typeface="Symbol"/>
              </a:rPr>
              <a:t>B, </a:t>
            </a:r>
            <a:r>
              <a:rPr lang="it-IT" sz="2400" b="0" dirty="0">
                <a:latin typeface="+mn-lt"/>
              </a:rPr>
              <a:t>ci basta porre 		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FF0000"/>
                </a:solidFill>
                <a:latin typeface="+mn-lt"/>
                <a:cs typeface="Calibri"/>
              </a:rPr>
              <a:t>0</a:t>
            </a:r>
            <a:r>
              <a:rPr lang="it-IT" sz="2400" b="0" spc="-10" dirty="0">
                <a:solidFill>
                  <a:srgbClr val="FF0000"/>
                </a:solidFill>
                <a:cs typeface="Calibri"/>
              </a:rPr>
              <a:t> </a:t>
            </a:r>
            <a:r>
              <a:rPr lang="it-IT" sz="2400" b="0" dirty="0">
                <a:latin typeface="+mn-lt"/>
              </a:rPr>
              <a:t>=0, </a:t>
            </a:r>
            <a:r>
              <a:rPr lang="it-IT" sz="2400" b="0" dirty="0">
                <a:solidFill>
                  <a:srgbClr val="00AF5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00AF50"/>
                </a:solidFill>
                <a:latin typeface="+mn-lt"/>
                <a:cs typeface="Calibri"/>
              </a:rPr>
              <a:t>1</a:t>
            </a:r>
            <a:r>
              <a:rPr lang="it-IT" sz="2400" b="0" dirty="0">
                <a:latin typeface="+mn-lt"/>
              </a:rPr>
              <a:t>=1</a:t>
            </a: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marL="0" lvl="1" algn="l">
              <a:buClr>
                <a:schemeClr val="accent2"/>
              </a:buClr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  <a:ea typeface="Cambria Math" charset="0"/>
              <a:cs typeface="Cambria Math" charset="0"/>
            </a:endParaRPr>
          </a:p>
        </p:txBody>
      </p:sp>
      <p:cxnSp>
        <p:nvCxnSpPr>
          <p:cNvPr id="6" name="Connettore 1 6"/>
          <p:cNvCxnSpPr/>
          <p:nvPr/>
        </p:nvCxnSpPr>
        <p:spPr>
          <a:xfrm>
            <a:off x="3788296" y="2492896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ject 2"/>
          <p:cNvSpPr/>
          <p:nvPr/>
        </p:nvSpPr>
        <p:spPr>
          <a:xfrm>
            <a:off x="5237956" y="4077072"/>
            <a:ext cx="2142356" cy="2172072"/>
          </a:xfrm>
          <a:prstGeom prst="rect">
            <a:avLst/>
          </a:prstGeom>
          <a:blipFill>
            <a:blip r:embed="rId2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ext Box 162"/>
          <p:cNvSpPr txBox="1">
            <a:spLocks noChangeArrowheads="1"/>
          </p:cNvSpPr>
          <p:nvPr/>
        </p:nvSpPr>
        <p:spPr bwMode="auto">
          <a:xfrm>
            <a:off x="4948032" y="5261138"/>
            <a:ext cx="3001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1</a:t>
            </a:r>
            <a:endParaRPr lang="it-IT" b="0" baseline="-25000" dirty="0">
              <a:latin typeface="+mn-lt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6473304" y="4437112"/>
            <a:ext cx="792088" cy="48235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6" name="Text Box 159"/>
          <p:cNvSpPr txBox="1">
            <a:spLocks noChangeArrowheads="1"/>
          </p:cNvSpPr>
          <p:nvPr/>
        </p:nvSpPr>
        <p:spPr bwMode="auto">
          <a:xfrm>
            <a:off x="6586512" y="4509120"/>
            <a:ext cx="3403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F</a:t>
            </a:r>
            <a:endParaRPr lang="it-IT" b="0" baseline="-25000" dirty="0">
              <a:latin typeface="+mn-lt"/>
            </a:endParaRPr>
          </a:p>
        </p:txBody>
      </p:sp>
      <p:sp>
        <p:nvSpPr>
          <p:cNvPr id="18" name="Text Box 159"/>
          <p:cNvSpPr txBox="1">
            <a:spLocks noChangeArrowheads="1"/>
          </p:cNvSpPr>
          <p:nvPr/>
        </p:nvSpPr>
        <p:spPr bwMode="auto">
          <a:xfrm>
            <a:off x="4962971" y="4221088"/>
            <a:ext cx="341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0</a:t>
            </a:r>
            <a:endParaRPr lang="it-IT" b="0" baseline="-25000" dirty="0">
              <a:latin typeface="+mn-lt"/>
            </a:endParaRPr>
          </a:p>
        </p:txBody>
      </p:sp>
      <p:sp>
        <p:nvSpPr>
          <p:cNvPr id="25" name="Text Box 159"/>
          <p:cNvSpPr txBox="1">
            <a:spLocks noChangeArrowheads="1"/>
          </p:cNvSpPr>
          <p:nvPr/>
        </p:nvSpPr>
        <p:spPr bwMode="auto">
          <a:xfrm>
            <a:off x="5762205" y="6125234"/>
            <a:ext cx="3463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B</a:t>
            </a:r>
            <a:endParaRPr lang="it-IT" b="0" baseline="-25000" dirty="0">
              <a:latin typeface="+mn-lt"/>
            </a:endParaRPr>
          </a:p>
        </p:txBody>
      </p:sp>
      <p:graphicFrame>
        <p:nvGraphicFramePr>
          <p:cNvPr id="27" name="Segnaposto contenuto 11"/>
          <p:cNvGraphicFramePr>
            <a:graphicFrameLocks noGrp="1"/>
          </p:cNvGraphicFramePr>
          <p:nvPr>
            <p:ph sz="half" idx="4294967295"/>
          </p:nvPr>
        </p:nvGraphicFramePr>
        <p:xfrm>
          <a:off x="1763689" y="4209257"/>
          <a:ext cx="960106" cy="9144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B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F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000000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90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8" grpId="0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78488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Realizzare la funzione NAND usando un opportuno </a:t>
            </a:r>
            <a:r>
              <a:rPr lang="it-IT" sz="2800" b="0" dirty="0">
                <a:solidFill>
                  <a:srgbClr val="0000FF"/>
                </a:solidFill>
                <a:latin typeface="+mn-lt"/>
                <a:cs typeface="Calibri"/>
              </a:rPr>
              <a:t>MUX</a:t>
            </a:r>
          </a:p>
          <a:p>
            <a:pPr lvl="3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8611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Calibri"/>
              </a:rPr>
              <a:t>Scriviamo la tavola di verità del NAND</a:t>
            </a:r>
            <a:endParaRPr lang="it-IT" sz="2400" b="0" dirty="0">
              <a:latin typeface="+mn-lt"/>
            </a:endParaRPr>
          </a:p>
        </p:txBody>
      </p:sp>
      <p:graphicFrame>
        <p:nvGraphicFramePr>
          <p:cNvPr id="5" name="Tabella 5"/>
          <p:cNvGraphicFramePr>
            <a:graphicFrameLocks noGrp="1"/>
          </p:cNvGraphicFramePr>
          <p:nvPr/>
        </p:nvGraphicFramePr>
        <p:xfrm>
          <a:off x="1259632" y="2348880"/>
          <a:ext cx="2615952" cy="1854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71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 A</a:t>
                      </a:r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it-IT" sz="2400" dirty="0">
                          <a:solidFill>
                            <a:schemeClr val="tx1"/>
                          </a:solidFill>
                          <a:sym typeface="Symbol"/>
                        </a:rPr>
                        <a:t></a:t>
                      </a:r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 B</a:t>
                      </a:r>
                      <a:r>
                        <a:rPr lang="it-IT" sz="2400" dirty="0"/>
                        <a:t> 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0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0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0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1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1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0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1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1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" name="Connettore 1 6"/>
          <p:cNvCxnSpPr/>
          <p:nvPr/>
        </p:nvCxnSpPr>
        <p:spPr>
          <a:xfrm>
            <a:off x="3083496" y="2402880"/>
            <a:ext cx="7200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>
            <a:off x="5257800" y="3060576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tangolo 10"/>
          <p:cNvSpPr/>
          <p:nvPr/>
        </p:nvSpPr>
        <p:spPr>
          <a:xfrm>
            <a:off x="4427984" y="2388944"/>
            <a:ext cx="5040560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 +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endParaRPr lang="it-IT" sz="2400" b="0" dirty="0">
              <a:latin typeface="+mn-lt"/>
            </a:endParaRPr>
          </a:p>
          <a:p>
            <a:pPr algn="l"/>
            <a:r>
              <a:rPr lang="it-IT" sz="2400" dirty="0">
                <a:latin typeface="+mn-lt"/>
                <a:sym typeface="Symbol"/>
              </a:rPr>
              <a:t> </a:t>
            </a:r>
            <a:endParaRPr lang="it-IT" sz="2400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sz="2400" b="0" dirty="0">
              <a:latin typeface="+mn-lt"/>
            </a:endParaRPr>
          </a:p>
        </p:txBody>
      </p:sp>
      <p:cxnSp>
        <p:nvCxnSpPr>
          <p:cNvPr id="9" name="Connettore 1 6"/>
          <p:cNvCxnSpPr/>
          <p:nvPr/>
        </p:nvCxnSpPr>
        <p:spPr>
          <a:xfrm>
            <a:off x="5084440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6"/>
          <p:cNvCxnSpPr/>
          <p:nvPr/>
        </p:nvCxnSpPr>
        <p:spPr>
          <a:xfrm>
            <a:off x="5372472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6"/>
          <p:cNvCxnSpPr/>
          <p:nvPr/>
        </p:nvCxnSpPr>
        <p:spPr>
          <a:xfrm>
            <a:off x="5868144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6"/>
          <p:cNvCxnSpPr/>
          <p:nvPr/>
        </p:nvCxnSpPr>
        <p:spPr>
          <a:xfrm>
            <a:off x="6948264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12"/>
          <p:cNvSpPr txBox="1"/>
          <p:nvPr/>
        </p:nvSpPr>
        <p:spPr>
          <a:xfrm>
            <a:off x="4833489" y="3140968"/>
            <a:ext cx="3647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Espressione canonica SOP</a:t>
            </a:r>
          </a:p>
        </p:txBody>
      </p:sp>
      <p:cxnSp>
        <p:nvCxnSpPr>
          <p:cNvPr id="23" name="Connettore 2 13"/>
          <p:cNvCxnSpPr/>
          <p:nvPr/>
        </p:nvCxnSpPr>
        <p:spPr>
          <a:xfrm flipH="1" flipV="1">
            <a:off x="6300192" y="2852936"/>
            <a:ext cx="144016" cy="43204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15616" y="4325034"/>
            <a:ext cx="7776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</a:rPr>
              <a:t>La funzione realizzata dal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MUX 4:1</a:t>
            </a:r>
            <a:r>
              <a:rPr lang="it-IT" sz="2400" b="0" dirty="0">
                <a:latin typeface="+mn-lt"/>
              </a:rPr>
              <a:t> è</a:t>
            </a: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  <a:cs typeface="Calibri"/>
              </a:rPr>
              <a:t>      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FF0000"/>
                </a:solidFill>
                <a:latin typeface="+mn-lt"/>
                <a:cs typeface="Calibri"/>
              </a:rPr>
              <a:t>0</a:t>
            </a:r>
            <a:r>
              <a:rPr lang="it-IT" sz="2400" b="0" spc="-10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r>
              <a:rPr lang="it-IT" sz="2400" b="0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+ </a:t>
            </a:r>
            <a:r>
              <a:rPr lang="it-IT" sz="2400" b="0" dirty="0">
                <a:solidFill>
                  <a:srgbClr val="00AF5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00AF50"/>
                </a:solidFill>
                <a:latin typeface="+mn-lt"/>
                <a:cs typeface="Calibri"/>
              </a:rPr>
              <a:t>1</a:t>
            </a:r>
            <a:r>
              <a:rPr lang="it-IT" sz="2400" b="0" spc="-15" dirty="0">
                <a:solidFill>
                  <a:srgbClr val="00AF50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r>
              <a:rPr lang="it-IT" sz="2400" b="0" baseline="-20833" dirty="0">
                <a:latin typeface="+mn-lt"/>
                <a:cs typeface="Calibri"/>
              </a:rPr>
              <a:t> </a:t>
            </a:r>
            <a:r>
              <a:rPr lang="it-IT" sz="2400" b="0" spc="-270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+</a:t>
            </a:r>
            <a:r>
              <a:rPr lang="it-IT" sz="2400" b="0" spc="-10" dirty="0">
                <a:latin typeface="+mn-lt"/>
                <a:cs typeface="Calibri"/>
              </a:rPr>
              <a:t> </a:t>
            </a:r>
            <a:r>
              <a:rPr lang="it-IT" sz="2400" b="0" dirty="0">
                <a:solidFill>
                  <a:srgbClr val="1F487C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1F487C"/>
                </a:solidFill>
                <a:latin typeface="+mn-lt"/>
                <a:cs typeface="Calibri"/>
              </a:rPr>
              <a:t>2</a:t>
            </a:r>
            <a:r>
              <a:rPr lang="it-IT" sz="2400" b="0" spc="-15" dirty="0">
                <a:solidFill>
                  <a:srgbClr val="1F487C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baseline="-20833" dirty="0">
                <a:latin typeface="+mn-lt"/>
                <a:cs typeface="Calibri"/>
              </a:rPr>
              <a:t> </a:t>
            </a:r>
            <a:r>
              <a:rPr lang="it-IT" sz="2400" b="0" spc="-270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+ </a:t>
            </a:r>
            <a:r>
              <a:rPr lang="it-IT" sz="2400" b="0" dirty="0">
                <a:solidFill>
                  <a:srgbClr val="E36C09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E36C09"/>
                </a:solidFill>
                <a:latin typeface="+mn-lt"/>
                <a:cs typeface="Calibri"/>
              </a:rPr>
              <a:t>3</a:t>
            </a:r>
            <a:r>
              <a:rPr lang="it-IT" sz="2400" b="0" spc="-20" dirty="0">
                <a:solidFill>
                  <a:srgbClr val="E36C09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endParaRPr lang="it-IT" sz="2400" b="0" baseline="-20833" dirty="0">
              <a:latin typeface="+mn-lt"/>
              <a:cs typeface="Calibri"/>
            </a:endParaRPr>
          </a:p>
          <a:p>
            <a:pPr marL="0" lvl="1" algn="l">
              <a:buClr>
                <a:schemeClr val="accent2"/>
              </a:buClr>
            </a:pPr>
            <a:endParaRPr lang="it-IT" sz="2400" b="0" dirty="0">
              <a:latin typeface="+mn-lt"/>
            </a:endParaRP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</a:rPr>
              <a:t>Per ottenere la funzione NAND, ci </a:t>
            </a:r>
            <a:br>
              <a:rPr lang="it-IT" sz="2400" b="0" dirty="0">
                <a:latin typeface="+mn-lt"/>
              </a:rPr>
            </a:br>
            <a:r>
              <a:rPr lang="it-IT" sz="2400" b="0" dirty="0">
                <a:latin typeface="+mn-lt"/>
              </a:rPr>
              <a:t>basta porre 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FF0000"/>
                </a:solidFill>
                <a:latin typeface="+mn-lt"/>
                <a:cs typeface="Calibri"/>
              </a:rPr>
              <a:t>0</a:t>
            </a:r>
            <a:r>
              <a:rPr lang="it-IT" sz="2400" b="0" dirty="0">
                <a:latin typeface="+mn-lt"/>
              </a:rPr>
              <a:t>=1, </a:t>
            </a:r>
            <a:r>
              <a:rPr lang="it-IT" sz="2400" b="0" dirty="0">
                <a:solidFill>
                  <a:srgbClr val="00AF5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00AF50"/>
                </a:solidFill>
                <a:latin typeface="+mn-lt"/>
                <a:cs typeface="Calibri"/>
              </a:rPr>
              <a:t>1</a:t>
            </a:r>
            <a:r>
              <a:rPr lang="it-IT" sz="2400" b="0" dirty="0">
                <a:latin typeface="+mn-lt"/>
              </a:rPr>
              <a:t>=1, </a:t>
            </a:r>
            <a:r>
              <a:rPr lang="it-IT" sz="2400" b="0" dirty="0">
                <a:solidFill>
                  <a:srgbClr val="1F487C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1F487C"/>
                </a:solidFill>
                <a:latin typeface="+mn-lt"/>
                <a:cs typeface="Calibri"/>
              </a:rPr>
              <a:t>2</a:t>
            </a:r>
            <a:r>
              <a:rPr lang="it-IT" sz="2400" b="0" dirty="0">
                <a:latin typeface="+mn-lt"/>
              </a:rPr>
              <a:t>=1, </a:t>
            </a:r>
            <a:r>
              <a:rPr lang="it-IT" sz="2400" b="0" dirty="0">
                <a:solidFill>
                  <a:srgbClr val="E36C09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E36C09"/>
                </a:solidFill>
                <a:latin typeface="+mn-lt"/>
                <a:cs typeface="Calibri"/>
              </a:rPr>
              <a:t>3</a:t>
            </a:r>
            <a:r>
              <a:rPr lang="it-IT" sz="2400" b="0" dirty="0">
                <a:latin typeface="+mn-lt"/>
              </a:rPr>
              <a:t>=0</a:t>
            </a:r>
          </a:p>
        </p:txBody>
      </p:sp>
      <p:cxnSp>
        <p:nvCxnSpPr>
          <p:cNvPr id="52" name="Connettore 1 6"/>
          <p:cNvCxnSpPr/>
          <p:nvPr/>
        </p:nvCxnSpPr>
        <p:spPr>
          <a:xfrm>
            <a:off x="2204120" y="5189130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1 6"/>
          <p:cNvCxnSpPr/>
          <p:nvPr/>
        </p:nvCxnSpPr>
        <p:spPr>
          <a:xfrm>
            <a:off x="2483768" y="5189130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6"/>
          <p:cNvCxnSpPr/>
          <p:nvPr/>
        </p:nvCxnSpPr>
        <p:spPr>
          <a:xfrm>
            <a:off x="3428256" y="5189130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1 6"/>
          <p:cNvCxnSpPr/>
          <p:nvPr/>
        </p:nvCxnSpPr>
        <p:spPr>
          <a:xfrm>
            <a:off x="5084440" y="5189130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bject 2"/>
          <p:cNvSpPr/>
          <p:nvPr/>
        </p:nvSpPr>
        <p:spPr>
          <a:xfrm>
            <a:off x="7110164" y="4293096"/>
            <a:ext cx="2142356" cy="2172072"/>
          </a:xfrm>
          <a:prstGeom prst="rect">
            <a:avLst/>
          </a:prstGeom>
          <a:blipFill>
            <a:blip r:embed="rId2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Text Box 159"/>
          <p:cNvSpPr txBox="1">
            <a:spLocks noChangeArrowheads="1"/>
          </p:cNvSpPr>
          <p:nvPr/>
        </p:nvSpPr>
        <p:spPr bwMode="auto">
          <a:xfrm>
            <a:off x="6901641" y="4437112"/>
            <a:ext cx="3001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1</a:t>
            </a:r>
            <a:endParaRPr lang="it-IT" b="0" baseline="-25000" dirty="0">
              <a:latin typeface="+mn-lt"/>
            </a:endParaRPr>
          </a:p>
        </p:txBody>
      </p:sp>
      <p:sp>
        <p:nvSpPr>
          <p:cNvPr id="71" name="Text Box 162"/>
          <p:cNvSpPr txBox="1">
            <a:spLocks noChangeArrowheads="1"/>
          </p:cNvSpPr>
          <p:nvPr/>
        </p:nvSpPr>
        <p:spPr bwMode="auto">
          <a:xfrm>
            <a:off x="6895087" y="5549170"/>
            <a:ext cx="341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0</a:t>
            </a:r>
            <a:endParaRPr lang="it-IT" b="0" baseline="-25000" dirty="0">
              <a:latin typeface="+mn-lt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8345512" y="4653136"/>
            <a:ext cx="792088" cy="48235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73" name="Text Box 159"/>
          <p:cNvSpPr txBox="1">
            <a:spLocks noChangeArrowheads="1"/>
          </p:cNvSpPr>
          <p:nvPr/>
        </p:nvSpPr>
        <p:spPr bwMode="auto">
          <a:xfrm>
            <a:off x="8458720" y="4725144"/>
            <a:ext cx="3403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F</a:t>
            </a:r>
            <a:endParaRPr lang="it-IT" b="0" baseline="-25000" dirty="0">
              <a:latin typeface="+mn-lt"/>
            </a:endParaRPr>
          </a:p>
        </p:txBody>
      </p:sp>
      <p:sp>
        <p:nvSpPr>
          <p:cNvPr id="74" name="Text Box 159"/>
          <p:cNvSpPr txBox="1">
            <a:spLocks noChangeArrowheads="1"/>
          </p:cNvSpPr>
          <p:nvPr/>
        </p:nvSpPr>
        <p:spPr bwMode="auto">
          <a:xfrm>
            <a:off x="6936164" y="4757082"/>
            <a:ext cx="3001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1</a:t>
            </a:r>
            <a:endParaRPr lang="it-IT" b="0" baseline="-25000" dirty="0">
              <a:latin typeface="+mn-lt"/>
            </a:endParaRPr>
          </a:p>
        </p:txBody>
      </p:sp>
      <p:sp>
        <p:nvSpPr>
          <p:cNvPr id="75" name="Text Box 162"/>
          <p:cNvSpPr txBox="1">
            <a:spLocks noChangeArrowheads="1"/>
          </p:cNvSpPr>
          <p:nvPr/>
        </p:nvSpPr>
        <p:spPr bwMode="auto">
          <a:xfrm>
            <a:off x="6936164" y="5117122"/>
            <a:ext cx="3001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1</a:t>
            </a:r>
            <a:endParaRPr lang="it-IT" b="0" baseline="-25000" dirty="0">
              <a:latin typeface="+mn-lt"/>
            </a:endParaRPr>
          </a:p>
        </p:txBody>
      </p:sp>
      <p:sp>
        <p:nvSpPr>
          <p:cNvPr id="76" name="object 2"/>
          <p:cNvSpPr/>
          <p:nvPr/>
        </p:nvSpPr>
        <p:spPr>
          <a:xfrm>
            <a:off x="7131216" y="4814292"/>
            <a:ext cx="481112" cy="342900"/>
          </a:xfrm>
          <a:prstGeom prst="rect">
            <a:avLst/>
          </a:prstGeom>
          <a:blipFill>
            <a:blip r:embed="rId2" cstate="print"/>
            <a:srcRect/>
            <a:stretch>
              <a:fillRect l="-216470" t="-882881" r="-1381356" b="-85876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2"/>
          <p:cNvSpPr/>
          <p:nvPr/>
        </p:nvSpPr>
        <p:spPr>
          <a:xfrm>
            <a:off x="7131216" y="5174332"/>
            <a:ext cx="481112" cy="342900"/>
          </a:xfrm>
          <a:prstGeom prst="rect">
            <a:avLst/>
          </a:prstGeom>
          <a:blipFill>
            <a:blip r:embed="rId2" cstate="print"/>
            <a:srcRect/>
            <a:stretch>
              <a:fillRect l="-216470" t="-882881" r="-1381356" b="-85876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2"/>
          <p:cNvSpPr/>
          <p:nvPr/>
        </p:nvSpPr>
        <p:spPr>
          <a:xfrm>
            <a:off x="7612328" y="4581128"/>
            <a:ext cx="210468" cy="254372"/>
          </a:xfrm>
          <a:prstGeom prst="rect">
            <a:avLst/>
          </a:prstGeom>
          <a:blipFill>
            <a:blip r:embed="rId2" cstate="print"/>
            <a:srcRect/>
            <a:stretch>
              <a:fillRect l="-736197" t="-1294843" r="-3044897" b="-108774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2"/>
          <p:cNvSpPr/>
          <p:nvPr/>
        </p:nvSpPr>
        <p:spPr>
          <a:xfrm>
            <a:off x="7612328" y="5622900"/>
            <a:ext cx="210468" cy="254372"/>
          </a:xfrm>
          <a:prstGeom prst="rect">
            <a:avLst/>
          </a:prstGeom>
          <a:blipFill>
            <a:blip r:embed="rId2" cstate="print"/>
            <a:srcRect/>
            <a:stretch>
              <a:fillRect l="-736197" t="-1294843" r="-3044897" b="-108774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2"/>
          <p:cNvSpPr/>
          <p:nvPr/>
        </p:nvSpPr>
        <p:spPr>
          <a:xfrm>
            <a:off x="7904676" y="6021288"/>
            <a:ext cx="139700" cy="481236"/>
          </a:xfrm>
          <a:prstGeom prst="rect">
            <a:avLst/>
          </a:prstGeom>
          <a:blipFill>
            <a:blip r:embed="rId2" cstate="print"/>
            <a:srcRect/>
            <a:stretch>
              <a:fillRect l="-1190330" t="-945774" r="-4556814" b="-26647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Text Box 159"/>
          <p:cNvSpPr txBox="1">
            <a:spLocks noChangeArrowheads="1"/>
          </p:cNvSpPr>
          <p:nvPr/>
        </p:nvSpPr>
        <p:spPr bwMode="auto">
          <a:xfrm>
            <a:off x="7608490" y="6269250"/>
            <a:ext cx="3722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A</a:t>
            </a:r>
            <a:endParaRPr lang="it-IT" b="0" baseline="-25000" dirty="0">
              <a:latin typeface="+mn-lt"/>
            </a:endParaRPr>
          </a:p>
        </p:txBody>
      </p:sp>
      <p:sp>
        <p:nvSpPr>
          <p:cNvPr id="82" name="Text Box 159"/>
          <p:cNvSpPr txBox="1">
            <a:spLocks noChangeArrowheads="1"/>
          </p:cNvSpPr>
          <p:nvPr/>
        </p:nvSpPr>
        <p:spPr bwMode="auto">
          <a:xfrm>
            <a:off x="7900360" y="6269250"/>
            <a:ext cx="3463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B</a:t>
            </a:r>
            <a:endParaRPr lang="it-IT" b="0" baseline="-25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036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50" grpId="0"/>
      <p:bldP spid="69" grpId="0" animBg="1"/>
      <p:bldP spid="70" grpId="0"/>
      <p:bldP spid="71" grpId="0"/>
      <p:bldP spid="72" grpId="0" animBg="1"/>
      <p:bldP spid="73" grpId="0"/>
      <p:bldP spid="73" grpId="1"/>
      <p:bldP spid="74" grpId="0"/>
      <p:bldP spid="75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/>
      <p:bldP spid="8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78488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Realizzare la funzione NOR usando un opportuno </a:t>
            </a:r>
            <a:r>
              <a:rPr lang="it-IT" sz="2800" b="0" dirty="0">
                <a:solidFill>
                  <a:srgbClr val="0000FF"/>
                </a:solidFill>
                <a:latin typeface="+mn-lt"/>
                <a:cs typeface="Calibri"/>
              </a:rPr>
              <a:t>MUX</a:t>
            </a:r>
          </a:p>
          <a:p>
            <a:pPr lvl="3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07547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Calibri"/>
              </a:rPr>
              <a:t>Scriviamo la tavola di verità del NOR</a:t>
            </a:r>
            <a:endParaRPr lang="it-IT" sz="2400" b="0" dirty="0">
              <a:latin typeface="+mn-lt"/>
            </a:endParaRPr>
          </a:p>
        </p:txBody>
      </p:sp>
      <p:graphicFrame>
        <p:nvGraphicFramePr>
          <p:cNvPr id="5" name="Tabella 5"/>
          <p:cNvGraphicFramePr>
            <a:graphicFrameLocks noGrp="1"/>
          </p:cNvGraphicFramePr>
          <p:nvPr/>
        </p:nvGraphicFramePr>
        <p:xfrm>
          <a:off x="1259632" y="2348880"/>
          <a:ext cx="2615952" cy="1849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71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 A</a:t>
                      </a:r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it-IT" sz="2400" dirty="0">
                          <a:solidFill>
                            <a:schemeClr val="tx1"/>
                          </a:solidFill>
                          <a:sym typeface="Symbol"/>
                        </a:rPr>
                        <a:t>+</a:t>
                      </a:r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 B</a:t>
                      </a:r>
                      <a:r>
                        <a:rPr lang="it-IT" sz="2400" dirty="0"/>
                        <a:t> 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0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0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1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1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0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1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1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" name="Connettore 1 6"/>
          <p:cNvCxnSpPr/>
          <p:nvPr/>
        </p:nvCxnSpPr>
        <p:spPr>
          <a:xfrm>
            <a:off x="3083496" y="2402880"/>
            <a:ext cx="7200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>
            <a:off x="5257800" y="3060576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tangolo 10"/>
          <p:cNvSpPr/>
          <p:nvPr/>
        </p:nvSpPr>
        <p:spPr>
          <a:xfrm>
            <a:off x="4427984" y="2388944"/>
            <a:ext cx="5040560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 </a:t>
            </a:r>
            <a:endParaRPr lang="it-IT" sz="2400" b="0" dirty="0">
              <a:latin typeface="+mn-lt"/>
            </a:endParaRPr>
          </a:p>
          <a:p>
            <a:pPr algn="l"/>
            <a:r>
              <a:rPr lang="it-IT" sz="2400" dirty="0">
                <a:latin typeface="+mn-lt"/>
                <a:sym typeface="Symbol"/>
              </a:rPr>
              <a:t> </a:t>
            </a:r>
            <a:endParaRPr lang="it-IT" sz="2400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sz="2400" b="0" dirty="0">
              <a:latin typeface="+mn-lt"/>
            </a:endParaRPr>
          </a:p>
        </p:txBody>
      </p:sp>
      <p:cxnSp>
        <p:nvCxnSpPr>
          <p:cNvPr id="9" name="Connettore 1 6"/>
          <p:cNvCxnSpPr/>
          <p:nvPr/>
        </p:nvCxnSpPr>
        <p:spPr>
          <a:xfrm>
            <a:off x="5084440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6"/>
          <p:cNvCxnSpPr/>
          <p:nvPr/>
        </p:nvCxnSpPr>
        <p:spPr>
          <a:xfrm>
            <a:off x="5372472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12"/>
          <p:cNvSpPr txBox="1"/>
          <p:nvPr/>
        </p:nvSpPr>
        <p:spPr>
          <a:xfrm>
            <a:off x="4833489" y="3140968"/>
            <a:ext cx="3647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Espressione canonica SOP</a:t>
            </a:r>
          </a:p>
        </p:txBody>
      </p:sp>
      <p:cxnSp>
        <p:nvCxnSpPr>
          <p:cNvPr id="23" name="Connettore 2 13"/>
          <p:cNvCxnSpPr/>
          <p:nvPr/>
        </p:nvCxnSpPr>
        <p:spPr>
          <a:xfrm flipH="1" flipV="1">
            <a:off x="5436096" y="2780928"/>
            <a:ext cx="1368152" cy="43204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15616" y="4325034"/>
            <a:ext cx="7776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</a:rPr>
              <a:t>La funzione realizzata dal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MUX 4:1</a:t>
            </a:r>
            <a:r>
              <a:rPr lang="it-IT" sz="2400" b="0" dirty="0">
                <a:latin typeface="+mn-lt"/>
              </a:rPr>
              <a:t> è</a:t>
            </a: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  <a:cs typeface="Calibri"/>
              </a:rPr>
              <a:t>       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FF0000"/>
                </a:solidFill>
                <a:latin typeface="+mn-lt"/>
                <a:cs typeface="Calibri"/>
              </a:rPr>
              <a:t>0</a:t>
            </a:r>
            <a:r>
              <a:rPr lang="it-IT" sz="2400" b="0" spc="-10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r>
              <a:rPr lang="it-IT" sz="2400" b="0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+ </a:t>
            </a:r>
            <a:r>
              <a:rPr lang="it-IT" sz="2400" b="0" dirty="0">
                <a:solidFill>
                  <a:srgbClr val="00AF5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00AF50"/>
                </a:solidFill>
                <a:latin typeface="+mn-lt"/>
                <a:cs typeface="Calibri"/>
              </a:rPr>
              <a:t>1</a:t>
            </a:r>
            <a:r>
              <a:rPr lang="it-IT" sz="2400" b="0" spc="-15" dirty="0">
                <a:solidFill>
                  <a:srgbClr val="00AF50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r>
              <a:rPr lang="it-IT" sz="2400" b="0" baseline="-20833" dirty="0">
                <a:latin typeface="+mn-lt"/>
                <a:cs typeface="Calibri"/>
              </a:rPr>
              <a:t> </a:t>
            </a:r>
            <a:r>
              <a:rPr lang="it-IT" sz="2400" b="0" spc="-270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+</a:t>
            </a:r>
            <a:r>
              <a:rPr lang="it-IT" sz="2400" b="0" spc="-10" dirty="0">
                <a:latin typeface="+mn-lt"/>
                <a:cs typeface="Calibri"/>
              </a:rPr>
              <a:t> </a:t>
            </a:r>
            <a:r>
              <a:rPr lang="it-IT" sz="2400" b="0" dirty="0">
                <a:solidFill>
                  <a:srgbClr val="1F487C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1F487C"/>
                </a:solidFill>
                <a:latin typeface="+mn-lt"/>
                <a:cs typeface="Calibri"/>
              </a:rPr>
              <a:t>2</a:t>
            </a:r>
            <a:r>
              <a:rPr lang="it-IT" sz="2400" b="0" spc="-15" dirty="0">
                <a:solidFill>
                  <a:srgbClr val="1F487C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baseline="-20833" dirty="0">
                <a:latin typeface="+mn-lt"/>
                <a:cs typeface="Calibri"/>
              </a:rPr>
              <a:t> </a:t>
            </a:r>
            <a:r>
              <a:rPr lang="it-IT" sz="2400" b="0" spc="-270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+ </a:t>
            </a:r>
            <a:r>
              <a:rPr lang="it-IT" sz="2400" b="0" dirty="0">
                <a:solidFill>
                  <a:srgbClr val="E36C09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E36C09"/>
                </a:solidFill>
                <a:latin typeface="+mn-lt"/>
                <a:cs typeface="Calibri"/>
              </a:rPr>
              <a:t>3</a:t>
            </a:r>
            <a:r>
              <a:rPr lang="it-IT" sz="2400" b="0" spc="-20" dirty="0">
                <a:solidFill>
                  <a:srgbClr val="E36C09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1</a:t>
            </a:r>
            <a:r>
              <a:rPr lang="it-IT" sz="2400" b="0" spc="254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endParaRPr lang="it-IT" sz="2400" b="0" baseline="-20833" dirty="0">
              <a:latin typeface="+mn-lt"/>
              <a:cs typeface="Calibri"/>
            </a:endParaRPr>
          </a:p>
          <a:p>
            <a:pPr marL="0" lvl="1" algn="l">
              <a:buClr>
                <a:schemeClr val="accent2"/>
              </a:buClr>
            </a:pPr>
            <a:endParaRPr lang="it-IT" sz="2400" b="0" dirty="0">
              <a:latin typeface="+mn-lt"/>
            </a:endParaRP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</a:rPr>
              <a:t>Per ottenere la funzione NOR, ci basta </a:t>
            </a:r>
            <a:br>
              <a:rPr lang="it-IT" sz="2400" b="0" dirty="0">
                <a:latin typeface="+mn-lt"/>
              </a:rPr>
            </a:br>
            <a:r>
              <a:rPr lang="it-IT" sz="2400" b="0" dirty="0">
                <a:latin typeface="+mn-lt"/>
              </a:rPr>
              <a:t>porre 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FF0000"/>
                </a:solidFill>
                <a:latin typeface="+mn-lt"/>
                <a:cs typeface="Calibri"/>
              </a:rPr>
              <a:t>0</a:t>
            </a:r>
            <a:r>
              <a:rPr lang="it-IT" sz="2400" b="0" dirty="0">
                <a:latin typeface="+mn-lt"/>
              </a:rPr>
              <a:t>=1, </a:t>
            </a:r>
            <a:r>
              <a:rPr lang="it-IT" sz="2400" b="0" dirty="0">
                <a:solidFill>
                  <a:srgbClr val="00AF50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00AF50"/>
                </a:solidFill>
                <a:latin typeface="+mn-lt"/>
                <a:cs typeface="Calibri"/>
              </a:rPr>
              <a:t>1</a:t>
            </a:r>
            <a:r>
              <a:rPr lang="it-IT" sz="2400" b="0" dirty="0">
                <a:latin typeface="+mn-lt"/>
              </a:rPr>
              <a:t>=0, </a:t>
            </a:r>
            <a:r>
              <a:rPr lang="it-IT" sz="2400" b="0" dirty="0">
                <a:solidFill>
                  <a:srgbClr val="1F487C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1F487C"/>
                </a:solidFill>
                <a:latin typeface="+mn-lt"/>
                <a:cs typeface="Calibri"/>
              </a:rPr>
              <a:t>2</a:t>
            </a:r>
            <a:r>
              <a:rPr lang="it-IT" sz="2400" b="0" dirty="0">
                <a:latin typeface="+mn-lt"/>
              </a:rPr>
              <a:t>=0, </a:t>
            </a:r>
            <a:r>
              <a:rPr lang="it-IT" sz="2400" b="0" dirty="0">
                <a:solidFill>
                  <a:srgbClr val="E36C09"/>
                </a:solidFill>
                <a:latin typeface="+mn-lt"/>
                <a:cs typeface="Calibri"/>
              </a:rPr>
              <a:t>x</a:t>
            </a:r>
            <a:r>
              <a:rPr lang="it-IT" sz="2400" b="0" baseline="-25000" dirty="0">
                <a:solidFill>
                  <a:srgbClr val="E36C09"/>
                </a:solidFill>
                <a:latin typeface="+mn-lt"/>
                <a:cs typeface="Calibri"/>
              </a:rPr>
              <a:t>3</a:t>
            </a:r>
            <a:r>
              <a:rPr lang="it-IT" sz="2400" b="0" dirty="0">
                <a:latin typeface="+mn-lt"/>
              </a:rPr>
              <a:t>=0</a:t>
            </a:r>
          </a:p>
        </p:txBody>
      </p:sp>
      <p:cxnSp>
        <p:nvCxnSpPr>
          <p:cNvPr id="52" name="Connettore 1 6"/>
          <p:cNvCxnSpPr/>
          <p:nvPr/>
        </p:nvCxnSpPr>
        <p:spPr>
          <a:xfrm>
            <a:off x="2276128" y="5189130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1 6"/>
          <p:cNvCxnSpPr/>
          <p:nvPr/>
        </p:nvCxnSpPr>
        <p:spPr>
          <a:xfrm>
            <a:off x="2564160" y="5189130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6"/>
          <p:cNvCxnSpPr/>
          <p:nvPr/>
        </p:nvCxnSpPr>
        <p:spPr>
          <a:xfrm>
            <a:off x="3500264" y="5189130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1 6"/>
          <p:cNvCxnSpPr/>
          <p:nvPr/>
        </p:nvCxnSpPr>
        <p:spPr>
          <a:xfrm>
            <a:off x="5156448" y="5189130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bject 2"/>
          <p:cNvSpPr/>
          <p:nvPr/>
        </p:nvSpPr>
        <p:spPr>
          <a:xfrm>
            <a:off x="7110164" y="4293096"/>
            <a:ext cx="2142356" cy="2172072"/>
          </a:xfrm>
          <a:prstGeom prst="rect">
            <a:avLst/>
          </a:prstGeom>
          <a:blipFill>
            <a:blip r:embed="rId2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Text Box 159"/>
          <p:cNvSpPr txBox="1">
            <a:spLocks noChangeArrowheads="1"/>
          </p:cNvSpPr>
          <p:nvPr/>
        </p:nvSpPr>
        <p:spPr bwMode="auto">
          <a:xfrm>
            <a:off x="6901641" y="4437112"/>
            <a:ext cx="3001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1</a:t>
            </a:r>
            <a:endParaRPr lang="it-IT" b="0" baseline="-25000" dirty="0">
              <a:latin typeface="+mn-lt"/>
            </a:endParaRPr>
          </a:p>
        </p:txBody>
      </p:sp>
      <p:sp>
        <p:nvSpPr>
          <p:cNvPr id="24" name="Text Box 162"/>
          <p:cNvSpPr txBox="1">
            <a:spLocks noChangeArrowheads="1"/>
          </p:cNvSpPr>
          <p:nvPr/>
        </p:nvSpPr>
        <p:spPr bwMode="auto">
          <a:xfrm>
            <a:off x="6895087" y="5549170"/>
            <a:ext cx="341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0</a:t>
            </a:r>
            <a:endParaRPr lang="it-IT" b="0" baseline="-25000" dirty="0">
              <a:latin typeface="+mn-lt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8345512" y="4653136"/>
            <a:ext cx="792088" cy="48235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6" name="Text Box 159"/>
          <p:cNvSpPr txBox="1">
            <a:spLocks noChangeArrowheads="1"/>
          </p:cNvSpPr>
          <p:nvPr/>
        </p:nvSpPr>
        <p:spPr bwMode="auto">
          <a:xfrm>
            <a:off x="8458720" y="4725144"/>
            <a:ext cx="3403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F</a:t>
            </a:r>
            <a:endParaRPr lang="it-IT" b="0" baseline="-25000" dirty="0">
              <a:latin typeface="+mn-lt"/>
            </a:endParaRPr>
          </a:p>
        </p:txBody>
      </p:sp>
      <p:sp>
        <p:nvSpPr>
          <p:cNvPr id="27" name="Text Box 159"/>
          <p:cNvSpPr txBox="1">
            <a:spLocks noChangeArrowheads="1"/>
          </p:cNvSpPr>
          <p:nvPr/>
        </p:nvSpPr>
        <p:spPr bwMode="auto">
          <a:xfrm>
            <a:off x="6895087" y="4757082"/>
            <a:ext cx="341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0</a:t>
            </a:r>
            <a:endParaRPr lang="it-IT" b="0" baseline="-25000" dirty="0">
              <a:latin typeface="+mn-lt"/>
            </a:endParaRPr>
          </a:p>
        </p:txBody>
      </p:sp>
      <p:sp>
        <p:nvSpPr>
          <p:cNvPr id="28" name="Text Box 162"/>
          <p:cNvSpPr txBox="1">
            <a:spLocks noChangeArrowheads="1"/>
          </p:cNvSpPr>
          <p:nvPr/>
        </p:nvSpPr>
        <p:spPr bwMode="auto">
          <a:xfrm>
            <a:off x="6895087" y="5117122"/>
            <a:ext cx="341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0</a:t>
            </a:r>
            <a:endParaRPr lang="it-IT" b="0" baseline="-25000" dirty="0">
              <a:latin typeface="+mn-lt"/>
            </a:endParaRPr>
          </a:p>
        </p:txBody>
      </p:sp>
      <p:sp>
        <p:nvSpPr>
          <p:cNvPr id="29" name="object 2"/>
          <p:cNvSpPr/>
          <p:nvPr/>
        </p:nvSpPr>
        <p:spPr>
          <a:xfrm>
            <a:off x="7131216" y="4814292"/>
            <a:ext cx="481112" cy="342900"/>
          </a:xfrm>
          <a:prstGeom prst="rect">
            <a:avLst/>
          </a:prstGeom>
          <a:blipFill>
            <a:blip r:embed="rId2" cstate="print"/>
            <a:srcRect/>
            <a:stretch>
              <a:fillRect l="-216470" t="-882881" r="-1381356" b="-85876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"/>
          <p:cNvSpPr/>
          <p:nvPr/>
        </p:nvSpPr>
        <p:spPr>
          <a:xfrm>
            <a:off x="7131216" y="5174332"/>
            <a:ext cx="481112" cy="342900"/>
          </a:xfrm>
          <a:prstGeom prst="rect">
            <a:avLst/>
          </a:prstGeom>
          <a:blipFill>
            <a:blip r:embed="rId2" cstate="print"/>
            <a:srcRect/>
            <a:stretch>
              <a:fillRect l="-216470" t="-882881" r="-1381356" b="-85876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"/>
          <p:cNvSpPr/>
          <p:nvPr/>
        </p:nvSpPr>
        <p:spPr>
          <a:xfrm>
            <a:off x="7612328" y="4581128"/>
            <a:ext cx="210468" cy="254372"/>
          </a:xfrm>
          <a:prstGeom prst="rect">
            <a:avLst/>
          </a:prstGeom>
          <a:blipFill>
            <a:blip r:embed="rId2" cstate="print"/>
            <a:srcRect/>
            <a:stretch>
              <a:fillRect l="-736197" t="-1294843" r="-3044897" b="-108774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"/>
          <p:cNvSpPr/>
          <p:nvPr/>
        </p:nvSpPr>
        <p:spPr>
          <a:xfrm>
            <a:off x="7612328" y="5622900"/>
            <a:ext cx="210468" cy="254372"/>
          </a:xfrm>
          <a:prstGeom prst="rect">
            <a:avLst/>
          </a:prstGeom>
          <a:blipFill>
            <a:blip r:embed="rId2" cstate="print"/>
            <a:srcRect/>
            <a:stretch>
              <a:fillRect l="-736197" t="-1294843" r="-3044897" b="-108774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"/>
          <p:cNvSpPr/>
          <p:nvPr/>
        </p:nvSpPr>
        <p:spPr>
          <a:xfrm>
            <a:off x="7904676" y="6021288"/>
            <a:ext cx="139700" cy="481236"/>
          </a:xfrm>
          <a:prstGeom prst="rect">
            <a:avLst/>
          </a:prstGeom>
          <a:blipFill>
            <a:blip r:embed="rId2" cstate="print"/>
            <a:srcRect/>
            <a:stretch>
              <a:fillRect l="-1190330" t="-945774" r="-4556814" b="-26647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Text Box 159"/>
          <p:cNvSpPr txBox="1">
            <a:spLocks noChangeArrowheads="1"/>
          </p:cNvSpPr>
          <p:nvPr/>
        </p:nvSpPr>
        <p:spPr bwMode="auto">
          <a:xfrm>
            <a:off x="7608490" y="6269250"/>
            <a:ext cx="3722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A</a:t>
            </a:r>
            <a:endParaRPr lang="it-IT" b="0" baseline="-25000" dirty="0">
              <a:latin typeface="+mn-lt"/>
            </a:endParaRPr>
          </a:p>
        </p:txBody>
      </p:sp>
      <p:sp>
        <p:nvSpPr>
          <p:cNvPr id="35" name="Text Box 159"/>
          <p:cNvSpPr txBox="1">
            <a:spLocks noChangeArrowheads="1"/>
          </p:cNvSpPr>
          <p:nvPr/>
        </p:nvSpPr>
        <p:spPr bwMode="auto">
          <a:xfrm>
            <a:off x="7900360" y="6269250"/>
            <a:ext cx="3463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B</a:t>
            </a:r>
            <a:endParaRPr lang="it-IT" b="0" baseline="-25000" dirty="0">
              <a:latin typeface="+mn-lt"/>
            </a:endParaRPr>
          </a:p>
        </p:txBody>
      </p:sp>
      <p:sp>
        <p:nvSpPr>
          <p:cNvPr id="3" name="CasellaDiTesto 12">
            <a:extLst>
              <a:ext uri="{FF2B5EF4-FFF2-40B4-BE49-F238E27FC236}">
                <a16:creationId xmlns:a16="http://schemas.microsoft.com/office/drawing/2014/main" id="{5F4AF925-5CFE-E7B1-97BD-704258396734}"/>
              </a:ext>
            </a:extLst>
          </p:cNvPr>
          <p:cNvSpPr txBox="1"/>
          <p:nvPr/>
        </p:nvSpPr>
        <p:spPr>
          <a:xfrm>
            <a:off x="6187528" y="2014639"/>
            <a:ext cx="2965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correggere!!!!!!!!!</a:t>
            </a:r>
          </a:p>
        </p:txBody>
      </p:sp>
    </p:spTree>
    <p:extLst>
      <p:ext uri="{BB962C8B-B14F-4D97-AF65-F5344CB8AC3E}">
        <p14:creationId xmlns:p14="http://schemas.microsoft.com/office/powerpoint/2010/main" val="360996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50" grpId="0"/>
      <p:bldP spid="20" grpId="0" animBg="1"/>
      <p:bldP spid="22" grpId="0"/>
      <p:bldP spid="24" grpId="0"/>
      <p:bldP spid="25" grpId="0" animBg="1"/>
      <p:bldP spid="26" grpId="0"/>
      <p:bldP spid="26" grpId="1"/>
      <p:bldP spid="27" grpId="0"/>
      <p:bldP spid="28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/>
      <p:bldP spid="35" grpId="0"/>
      <p:bldP spid="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9552" y="1772816"/>
            <a:ext cx="8424936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Font typeface="Wingdings" charset="2"/>
              <a:buChar char="Ø"/>
              <a:tabLst>
                <a:tab pos="355600" algn="l"/>
              </a:tabLst>
            </a:pPr>
            <a:r>
              <a:rPr sz="2800" spc="-60" dirty="0"/>
              <a:t>R</a:t>
            </a:r>
            <a:r>
              <a:rPr sz="2800" dirty="0"/>
              <a:t>eali</a:t>
            </a:r>
            <a:r>
              <a:rPr sz="2800" spc="-15" dirty="0"/>
              <a:t>z</a:t>
            </a:r>
            <a:r>
              <a:rPr sz="2800" spc="-55" dirty="0"/>
              <a:t>z</a:t>
            </a:r>
            <a:r>
              <a:rPr sz="2800" dirty="0"/>
              <a:t>a</a:t>
            </a:r>
            <a:r>
              <a:rPr sz="2800" spc="-35" dirty="0"/>
              <a:t>r</a:t>
            </a:r>
            <a:r>
              <a:rPr sz="2800" dirty="0"/>
              <a:t>e</a:t>
            </a:r>
            <a:r>
              <a:rPr sz="2800" spc="-15" dirty="0"/>
              <a:t> </a:t>
            </a:r>
            <a:r>
              <a:rPr sz="2800" spc="-5" dirty="0"/>
              <a:t>u</a:t>
            </a:r>
            <a:r>
              <a:rPr sz="2800" dirty="0"/>
              <a:t>n</a:t>
            </a:r>
            <a:r>
              <a:rPr sz="2800" spc="10" dirty="0"/>
              <a:t> </a:t>
            </a:r>
            <a:r>
              <a:rPr lang="it-IT" sz="2800" dirty="0">
                <a:solidFill>
                  <a:srgbClr val="0000FF"/>
                </a:solidFill>
              </a:rPr>
              <a:t>MUX</a:t>
            </a:r>
            <a:r>
              <a:rPr sz="2800" spc="15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4</a:t>
            </a:r>
            <a:r>
              <a:rPr sz="2800" spc="-10" dirty="0">
                <a:solidFill>
                  <a:srgbClr val="0000FF"/>
                </a:solidFill>
              </a:rPr>
              <a:t>:</a:t>
            </a:r>
            <a:r>
              <a:rPr sz="2800" dirty="0">
                <a:solidFill>
                  <a:srgbClr val="0000FF"/>
                </a:solidFill>
              </a:rPr>
              <a:t>1</a:t>
            </a:r>
            <a:r>
              <a:rPr sz="2800" spc="10" dirty="0"/>
              <a:t> </a:t>
            </a:r>
            <a:r>
              <a:rPr sz="2800" spc="-5" dirty="0"/>
              <a:t>ut</a:t>
            </a:r>
            <a:r>
              <a:rPr sz="2800" spc="-10" dirty="0"/>
              <a:t>i</a:t>
            </a:r>
            <a:r>
              <a:rPr sz="2800" dirty="0"/>
              <a:t>l</a:t>
            </a:r>
            <a:r>
              <a:rPr sz="2800" spc="-10" dirty="0"/>
              <a:t>i</a:t>
            </a:r>
            <a:r>
              <a:rPr sz="2800" dirty="0"/>
              <a:t>z</a:t>
            </a:r>
            <a:r>
              <a:rPr sz="2800" spc="-60" dirty="0"/>
              <a:t>z</a:t>
            </a:r>
            <a:r>
              <a:rPr sz="2800" dirty="0"/>
              <a:t>ando</a:t>
            </a:r>
            <a:r>
              <a:rPr sz="2800" spc="40" dirty="0"/>
              <a:t> </a:t>
            </a:r>
            <a:r>
              <a:rPr lang="it-IT" sz="2800" spc="40" dirty="0"/>
              <a:t>tre </a:t>
            </a:r>
            <a:r>
              <a:rPr lang="it-IT" sz="2800" dirty="0">
                <a:solidFill>
                  <a:srgbClr val="0000FF"/>
                </a:solidFill>
              </a:rPr>
              <a:t>MUX</a:t>
            </a:r>
            <a:r>
              <a:rPr sz="2800" spc="15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2:1</a:t>
            </a:r>
            <a:endParaRPr lang="it-IT" sz="2800" dirty="0">
              <a:solidFill>
                <a:srgbClr val="0000FF"/>
              </a:solidFill>
            </a:endParaRPr>
          </a:p>
        </p:txBody>
      </p:sp>
      <p:sp>
        <p:nvSpPr>
          <p:cNvPr id="5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>
            <a:normAutofit/>
          </a:bodyPr>
          <a:lstStyle/>
          <a:p>
            <a:r>
              <a:rPr lang="it-IT" sz="4800" dirty="0"/>
              <a:t>Esercizio 6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7972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>
            <a:normAutofit/>
          </a:bodyPr>
          <a:lstStyle/>
          <a:p>
            <a:r>
              <a:rPr lang="it-IT" sz="4800" dirty="0"/>
              <a:t>Esercizio 6: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 Box 159"/>
          <p:cNvSpPr txBox="1">
            <a:spLocks noChangeArrowheads="1"/>
          </p:cNvSpPr>
          <p:nvPr/>
        </p:nvSpPr>
        <p:spPr bwMode="auto">
          <a:xfrm>
            <a:off x="1907704" y="2216696"/>
            <a:ext cx="440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0</a:t>
            </a:r>
          </a:p>
        </p:txBody>
      </p:sp>
      <p:sp>
        <p:nvSpPr>
          <p:cNvPr id="6" name="Text Box 162"/>
          <p:cNvSpPr txBox="1">
            <a:spLocks noChangeArrowheads="1"/>
          </p:cNvSpPr>
          <p:nvPr/>
        </p:nvSpPr>
        <p:spPr bwMode="auto">
          <a:xfrm>
            <a:off x="1899315" y="3256746"/>
            <a:ext cx="440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2</a:t>
            </a:r>
          </a:p>
        </p:txBody>
      </p:sp>
      <p:sp>
        <p:nvSpPr>
          <p:cNvPr id="7" name="Text Box 159"/>
          <p:cNvSpPr txBox="1">
            <a:spLocks noChangeArrowheads="1"/>
          </p:cNvSpPr>
          <p:nvPr/>
        </p:nvSpPr>
        <p:spPr bwMode="auto">
          <a:xfrm>
            <a:off x="2822315" y="4120842"/>
            <a:ext cx="3095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s</a:t>
            </a:r>
            <a:endParaRPr lang="it-IT" b="0" baseline="-25000" dirty="0">
              <a:latin typeface="+mn-lt"/>
            </a:endParaRPr>
          </a:p>
        </p:txBody>
      </p:sp>
      <p:sp>
        <p:nvSpPr>
          <p:cNvPr id="8" name="Text Box 159"/>
          <p:cNvSpPr txBox="1">
            <a:spLocks noChangeArrowheads="1"/>
          </p:cNvSpPr>
          <p:nvPr/>
        </p:nvSpPr>
        <p:spPr bwMode="auto">
          <a:xfrm>
            <a:off x="3629008" y="2504728"/>
            <a:ext cx="316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c</a:t>
            </a:r>
            <a:endParaRPr lang="it-IT" b="0" baseline="-25000" dirty="0">
              <a:latin typeface="+mn-lt"/>
            </a:endParaRPr>
          </a:p>
        </p:txBody>
      </p:sp>
      <p:sp>
        <p:nvSpPr>
          <p:cNvPr id="9" name="object 2"/>
          <p:cNvSpPr/>
          <p:nvPr/>
        </p:nvSpPr>
        <p:spPr>
          <a:xfrm>
            <a:off x="2235113" y="1988840"/>
            <a:ext cx="2142356" cy="2172072"/>
          </a:xfrm>
          <a:prstGeom prst="rect">
            <a:avLst/>
          </a:prstGeom>
          <a:blipFill>
            <a:blip r:embed="rId3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 bwMode="auto">
          <a:xfrm>
            <a:off x="3585381" y="2576736"/>
            <a:ext cx="360040" cy="28803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1" name="Text Box 159"/>
          <p:cNvSpPr txBox="1">
            <a:spLocks noChangeArrowheads="1"/>
          </p:cNvSpPr>
          <p:nvPr/>
        </p:nvSpPr>
        <p:spPr bwMode="auto">
          <a:xfrm>
            <a:off x="3501400" y="2464658"/>
            <a:ext cx="4225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y</a:t>
            </a:r>
            <a:r>
              <a:rPr lang="it-IT" b="0" baseline="-25000" dirty="0">
                <a:latin typeface="+mn-lt"/>
              </a:rPr>
              <a:t>0</a:t>
            </a:r>
          </a:p>
        </p:txBody>
      </p:sp>
      <p:sp>
        <p:nvSpPr>
          <p:cNvPr id="12" name="Text Box 159"/>
          <p:cNvSpPr txBox="1">
            <a:spLocks noChangeArrowheads="1"/>
          </p:cNvSpPr>
          <p:nvPr/>
        </p:nvSpPr>
        <p:spPr bwMode="auto">
          <a:xfrm>
            <a:off x="1913596" y="4509120"/>
            <a:ext cx="4130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1</a:t>
            </a:r>
          </a:p>
        </p:txBody>
      </p:sp>
      <p:sp>
        <p:nvSpPr>
          <p:cNvPr id="13" name="Text Box 162"/>
          <p:cNvSpPr txBox="1">
            <a:spLocks noChangeArrowheads="1"/>
          </p:cNvSpPr>
          <p:nvPr/>
        </p:nvSpPr>
        <p:spPr bwMode="auto">
          <a:xfrm>
            <a:off x="1877822" y="5549170"/>
            <a:ext cx="440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3</a:t>
            </a:r>
          </a:p>
        </p:txBody>
      </p:sp>
      <p:sp>
        <p:nvSpPr>
          <p:cNvPr id="14" name="Text Box 159"/>
          <p:cNvSpPr txBox="1">
            <a:spLocks noChangeArrowheads="1"/>
          </p:cNvSpPr>
          <p:nvPr/>
        </p:nvSpPr>
        <p:spPr bwMode="auto">
          <a:xfrm>
            <a:off x="2723845" y="6413266"/>
            <a:ext cx="38650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s</a:t>
            </a:r>
            <a:r>
              <a:rPr lang="it-IT" b="0" baseline="-25000" dirty="0">
                <a:latin typeface="+mn-lt"/>
              </a:rPr>
              <a:t>1</a:t>
            </a:r>
          </a:p>
        </p:txBody>
      </p:sp>
      <p:sp>
        <p:nvSpPr>
          <p:cNvPr id="15" name="Text Box 159"/>
          <p:cNvSpPr txBox="1">
            <a:spLocks noChangeArrowheads="1"/>
          </p:cNvSpPr>
          <p:nvPr/>
        </p:nvSpPr>
        <p:spPr bwMode="auto">
          <a:xfrm>
            <a:off x="3607515" y="4797152"/>
            <a:ext cx="316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c</a:t>
            </a:r>
            <a:endParaRPr lang="it-IT" b="0" baseline="-25000" dirty="0">
              <a:latin typeface="+mn-lt"/>
            </a:endParaRPr>
          </a:p>
        </p:txBody>
      </p:sp>
      <p:sp>
        <p:nvSpPr>
          <p:cNvPr id="16" name="object 2"/>
          <p:cNvSpPr/>
          <p:nvPr/>
        </p:nvSpPr>
        <p:spPr>
          <a:xfrm>
            <a:off x="2213620" y="4281264"/>
            <a:ext cx="2142356" cy="2172072"/>
          </a:xfrm>
          <a:prstGeom prst="rect">
            <a:avLst/>
          </a:prstGeom>
          <a:blipFill>
            <a:blip r:embed="rId3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3563888" y="4869160"/>
            <a:ext cx="360040" cy="28803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9" name="Text Box 159"/>
          <p:cNvSpPr txBox="1">
            <a:spLocks noChangeArrowheads="1"/>
          </p:cNvSpPr>
          <p:nvPr/>
        </p:nvSpPr>
        <p:spPr bwMode="auto">
          <a:xfrm>
            <a:off x="2771800" y="4037002"/>
            <a:ext cx="38650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s</a:t>
            </a:r>
            <a:r>
              <a:rPr lang="it-IT" b="0" baseline="-25000" dirty="0">
                <a:latin typeface="+mn-lt"/>
              </a:rPr>
              <a:t>1</a:t>
            </a:r>
          </a:p>
        </p:txBody>
      </p:sp>
      <p:sp>
        <p:nvSpPr>
          <p:cNvPr id="22" name="Text Box 159"/>
          <p:cNvSpPr txBox="1">
            <a:spLocks noChangeArrowheads="1"/>
          </p:cNvSpPr>
          <p:nvPr/>
        </p:nvSpPr>
        <p:spPr bwMode="auto">
          <a:xfrm>
            <a:off x="4928708" y="5200962"/>
            <a:ext cx="4138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s</a:t>
            </a:r>
            <a:r>
              <a:rPr lang="it-IT" b="0" baseline="-25000" dirty="0">
                <a:latin typeface="+mn-lt"/>
              </a:rPr>
              <a:t>0</a:t>
            </a:r>
          </a:p>
        </p:txBody>
      </p:sp>
      <p:sp>
        <p:nvSpPr>
          <p:cNvPr id="23" name="Text Box 159"/>
          <p:cNvSpPr txBox="1">
            <a:spLocks noChangeArrowheads="1"/>
          </p:cNvSpPr>
          <p:nvPr/>
        </p:nvSpPr>
        <p:spPr bwMode="auto">
          <a:xfrm>
            <a:off x="5839763" y="3584848"/>
            <a:ext cx="316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c</a:t>
            </a:r>
            <a:endParaRPr lang="it-IT" b="0" baseline="-25000" dirty="0">
              <a:latin typeface="+mn-lt"/>
            </a:endParaRPr>
          </a:p>
        </p:txBody>
      </p:sp>
      <p:sp>
        <p:nvSpPr>
          <p:cNvPr id="24" name="object 2"/>
          <p:cNvSpPr/>
          <p:nvPr/>
        </p:nvSpPr>
        <p:spPr>
          <a:xfrm>
            <a:off x="4445868" y="3068960"/>
            <a:ext cx="2142356" cy="2172072"/>
          </a:xfrm>
          <a:prstGeom prst="rect">
            <a:avLst/>
          </a:prstGeom>
          <a:blipFill>
            <a:blip r:embed="rId3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 bwMode="auto">
          <a:xfrm>
            <a:off x="5796136" y="3656856"/>
            <a:ext cx="360040" cy="28803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6" name="Text Box 159"/>
          <p:cNvSpPr txBox="1">
            <a:spLocks noChangeArrowheads="1"/>
          </p:cNvSpPr>
          <p:nvPr/>
        </p:nvSpPr>
        <p:spPr bwMode="auto">
          <a:xfrm>
            <a:off x="5695747" y="3544778"/>
            <a:ext cx="316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c</a:t>
            </a:r>
            <a:endParaRPr lang="it-IT" b="0" baseline="-25000" dirty="0">
              <a:latin typeface="+mn-lt"/>
            </a:endParaRPr>
          </a:p>
        </p:txBody>
      </p:sp>
      <p:sp>
        <p:nvSpPr>
          <p:cNvPr id="27" name="Text Box 159"/>
          <p:cNvSpPr txBox="1">
            <a:spLocks noChangeArrowheads="1"/>
          </p:cNvSpPr>
          <p:nvPr/>
        </p:nvSpPr>
        <p:spPr bwMode="auto">
          <a:xfrm>
            <a:off x="3519265" y="4757082"/>
            <a:ext cx="395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y</a:t>
            </a:r>
            <a:r>
              <a:rPr lang="it-IT" b="0" baseline="-25000" dirty="0">
                <a:latin typeface="+mn-lt"/>
              </a:rPr>
              <a:t>1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851920" y="2636912"/>
            <a:ext cx="2880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851920" y="5085184"/>
            <a:ext cx="2880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9552" y="1700808"/>
            <a:ext cx="860444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Font typeface="Wingdings" charset="2"/>
              <a:buChar char="Ø"/>
              <a:tabLst>
                <a:tab pos="355600" algn="l"/>
              </a:tabLst>
            </a:pPr>
            <a:r>
              <a:rPr sz="2800" spc="-60" dirty="0"/>
              <a:t>R</a:t>
            </a:r>
            <a:r>
              <a:rPr sz="2800" dirty="0"/>
              <a:t>eali</a:t>
            </a:r>
            <a:r>
              <a:rPr sz="2800" spc="-15" dirty="0"/>
              <a:t>z</a:t>
            </a:r>
            <a:r>
              <a:rPr sz="2800" spc="-55" dirty="0"/>
              <a:t>z</a:t>
            </a:r>
            <a:r>
              <a:rPr sz="2800" dirty="0"/>
              <a:t>a</a:t>
            </a:r>
            <a:r>
              <a:rPr sz="2800" spc="-35" dirty="0"/>
              <a:t>r</a:t>
            </a:r>
            <a:r>
              <a:rPr sz="2800" dirty="0"/>
              <a:t>e</a:t>
            </a:r>
            <a:r>
              <a:rPr sz="2800" spc="-15" dirty="0"/>
              <a:t> </a:t>
            </a:r>
            <a:r>
              <a:rPr sz="2800" spc="-5" dirty="0"/>
              <a:t>u</a:t>
            </a:r>
            <a:r>
              <a:rPr sz="2800" dirty="0"/>
              <a:t>n</a:t>
            </a:r>
            <a:r>
              <a:rPr sz="2800" spc="10" dirty="0"/>
              <a:t> </a:t>
            </a:r>
            <a:r>
              <a:rPr lang="it-IT" sz="2800" dirty="0">
                <a:solidFill>
                  <a:srgbClr val="0000FF"/>
                </a:solidFill>
              </a:rPr>
              <a:t>MUX</a:t>
            </a:r>
            <a:r>
              <a:rPr sz="2800" spc="15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4</a:t>
            </a:r>
            <a:r>
              <a:rPr sz="2800" spc="-10" dirty="0">
                <a:solidFill>
                  <a:srgbClr val="0000FF"/>
                </a:solidFill>
              </a:rPr>
              <a:t>:</a:t>
            </a:r>
            <a:r>
              <a:rPr sz="2800" dirty="0">
                <a:solidFill>
                  <a:srgbClr val="0000FF"/>
                </a:solidFill>
              </a:rPr>
              <a:t>1</a:t>
            </a:r>
            <a:r>
              <a:rPr sz="2800" spc="10" dirty="0"/>
              <a:t> </a:t>
            </a:r>
            <a:r>
              <a:rPr sz="2800" spc="-5" dirty="0"/>
              <a:t>ut</a:t>
            </a:r>
            <a:r>
              <a:rPr sz="2800" spc="-10" dirty="0"/>
              <a:t>i</a:t>
            </a:r>
            <a:r>
              <a:rPr sz="2800" dirty="0"/>
              <a:t>l</a:t>
            </a:r>
            <a:r>
              <a:rPr sz="2800" spc="-10" dirty="0"/>
              <a:t>i</a:t>
            </a:r>
            <a:r>
              <a:rPr sz="2800" dirty="0"/>
              <a:t>z</a:t>
            </a:r>
            <a:r>
              <a:rPr sz="2800" spc="-60" dirty="0"/>
              <a:t>z</a:t>
            </a:r>
            <a:r>
              <a:rPr sz="2800" dirty="0"/>
              <a:t>ando</a:t>
            </a:r>
            <a:r>
              <a:rPr sz="2800" spc="40" dirty="0"/>
              <a:t> </a:t>
            </a:r>
            <a:r>
              <a:rPr lang="it-IT" sz="2800" spc="40" dirty="0"/>
              <a:t>tre </a:t>
            </a:r>
            <a:r>
              <a:rPr lang="it-IT" sz="2800" dirty="0">
                <a:solidFill>
                  <a:srgbClr val="0000FF"/>
                </a:solidFill>
              </a:rPr>
              <a:t>MUX</a:t>
            </a:r>
            <a:r>
              <a:rPr sz="2800" spc="15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2:1</a:t>
            </a:r>
            <a:endParaRPr lang="it-IT" sz="2800" dirty="0">
              <a:solidFill>
                <a:srgbClr val="0000FF"/>
              </a:solidFill>
            </a:endParaRPr>
          </a:p>
        </p:txBody>
      </p:sp>
      <p:sp>
        <p:nvSpPr>
          <p:cNvPr id="29" name="Line 42"/>
          <p:cNvSpPr>
            <a:spLocks noChangeShapeType="1"/>
          </p:cNvSpPr>
          <p:nvPr/>
        </p:nvSpPr>
        <p:spPr bwMode="auto">
          <a:xfrm>
            <a:off x="3851920" y="2924945"/>
            <a:ext cx="576064" cy="504056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" name="Line 42"/>
          <p:cNvSpPr>
            <a:spLocks noChangeShapeType="1"/>
          </p:cNvSpPr>
          <p:nvPr/>
        </p:nvSpPr>
        <p:spPr bwMode="auto">
          <a:xfrm flipV="1">
            <a:off x="3851920" y="4581128"/>
            <a:ext cx="576064" cy="64807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505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>
            <a:normAutofit/>
          </a:bodyPr>
          <a:lstStyle/>
          <a:p>
            <a:r>
              <a:rPr lang="it-IT" sz="4800" dirty="0"/>
              <a:t>Esercizio 6: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 Box 159"/>
          <p:cNvSpPr txBox="1">
            <a:spLocks noChangeArrowheads="1"/>
          </p:cNvSpPr>
          <p:nvPr/>
        </p:nvSpPr>
        <p:spPr bwMode="auto">
          <a:xfrm>
            <a:off x="497426" y="1856656"/>
            <a:ext cx="440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0</a:t>
            </a:r>
          </a:p>
        </p:txBody>
      </p:sp>
      <p:sp>
        <p:nvSpPr>
          <p:cNvPr id="6" name="Text Box 162"/>
          <p:cNvSpPr txBox="1">
            <a:spLocks noChangeArrowheads="1"/>
          </p:cNvSpPr>
          <p:nvPr/>
        </p:nvSpPr>
        <p:spPr bwMode="auto">
          <a:xfrm>
            <a:off x="489037" y="2896706"/>
            <a:ext cx="440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2</a:t>
            </a:r>
          </a:p>
        </p:txBody>
      </p:sp>
      <p:sp>
        <p:nvSpPr>
          <p:cNvPr id="7" name="Text Box 159"/>
          <p:cNvSpPr txBox="1">
            <a:spLocks noChangeArrowheads="1"/>
          </p:cNvSpPr>
          <p:nvPr/>
        </p:nvSpPr>
        <p:spPr bwMode="auto">
          <a:xfrm>
            <a:off x="1412037" y="3760802"/>
            <a:ext cx="3095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s</a:t>
            </a:r>
            <a:endParaRPr lang="it-IT" b="0" baseline="-25000" dirty="0">
              <a:latin typeface="+mn-lt"/>
            </a:endParaRPr>
          </a:p>
        </p:txBody>
      </p:sp>
      <p:sp>
        <p:nvSpPr>
          <p:cNvPr id="8" name="Text Box 159"/>
          <p:cNvSpPr txBox="1">
            <a:spLocks noChangeArrowheads="1"/>
          </p:cNvSpPr>
          <p:nvPr/>
        </p:nvSpPr>
        <p:spPr bwMode="auto">
          <a:xfrm>
            <a:off x="2218730" y="2144688"/>
            <a:ext cx="316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c</a:t>
            </a:r>
            <a:endParaRPr lang="it-IT" b="0" baseline="-25000" dirty="0">
              <a:latin typeface="+mn-lt"/>
            </a:endParaRPr>
          </a:p>
        </p:txBody>
      </p:sp>
      <p:sp>
        <p:nvSpPr>
          <p:cNvPr id="9" name="object 2"/>
          <p:cNvSpPr/>
          <p:nvPr/>
        </p:nvSpPr>
        <p:spPr>
          <a:xfrm>
            <a:off x="824835" y="1628800"/>
            <a:ext cx="2142356" cy="2172072"/>
          </a:xfrm>
          <a:prstGeom prst="rect">
            <a:avLst/>
          </a:prstGeom>
          <a:blipFill>
            <a:blip r:embed="rId3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 bwMode="auto">
          <a:xfrm>
            <a:off x="2175103" y="2216696"/>
            <a:ext cx="360040" cy="28803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1" name="Text Box 159"/>
          <p:cNvSpPr txBox="1">
            <a:spLocks noChangeArrowheads="1"/>
          </p:cNvSpPr>
          <p:nvPr/>
        </p:nvSpPr>
        <p:spPr bwMode="auto">
          <a:xfrm>
            <a:off x="2091122" y="2104618"/>
            <a:ext cx="4225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y</a:t>
            </a:r>
            <a:r>
              <a:rPr lang="it-IT" b="0" baseline="-25000" dirty="0">
                <a:latin typeface="+mn-lt"/>
              </a:rPr>
              <a:t>0</a:t>
            </a:r>
          </a:p>
        </p:txBody>
      </p:sp>
      <p:sp>
        <p:nvSpPr>
          <p:cNvPr id="12" name="Text Box 159"/>
          <p:cNvSpPr txBox="1">
            <a:spLocks noChangeArrowheads="1"/>
          </p:cNvSpPr>
          <p:nvPr/>
        </p:nvSpPr>
        <p:spPr bwMode="auto">
          <a:xfrm>
            <a:off x="503318" y="4149080"/>
            <a:ext cx="4130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1</a:t>
            </a:r>
          </a:p>
        </p:txBody>
      </p:sp>
      <p:sp>
        <p:nvSpPr>
          <p:cNvPr id="13" name="Text Box 162"/>
          <p:cNvSpPr txBox="1">
            <a:spLocks noChangeArrowheads="1"/>
          </p:cNvSpPr>
          <p:nvPr/>
        </p:nvSpPr>
        <p:spPr bwMode="auto">
          <a:xfrm>
            <a:off x="467544" y="5189130"/>
            <a:ext cx="440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3</a:t>
            </a:r>
          </a:p>
        </p:txBody>
      </p:sp>
      <p:sp>
        <p:nvSpPr>
          <p:cNvPr id="14" name="Text Box 159"/>
          <p:cNvSpPr txBox="1">
            <a:spLocks noChangeArrowheads="1"/>
          </p:cNvSpPr>
          <p:nvPr/>
        </p:nvSpPr>
        <p:spPr bwMode="auto">
          <a:xfrm>
            <a:off x="1313567" y="6053226"/>
            <a:ext cx="38650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s</a:t>
            </a:r>
            <a:r>
              <a:rPr lang="it-IT" b="0" baseline="-25000" dirty="0">
                <a:latin typeface="+mn-lt"/>
              </a:rPr>
              <a:t>1</a:t>
            </a:r>
          </a:p>
        </p:txBody>
      </p:sp>
      <p:sp>
        <p:nvSpPr>
          <p:cNvPr id="15" name="Text Box 159"/>
          <p:cNvSpPr txBox="1">
            <a:spLocks noChangeArrowheads="1"/>
          </p:cNvSpPr>
          <p:nvPr/>
        </p:nvSpPr>
        <p:spPr bwMode="auto">
          <a:xfrm>
            <a:off x="2197237" y="4437112"/>
            <a:ext cx="316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c</a:t>
            </a:r>
            <a:endParaRPr lang="it-IT" b="0" baseline="-25000" dirty="0">
              <a:latin typeface="+mn-lt"/>
            </a:endParaRPr>
          </a:p>
        </p:txBody>
      </p:sp>
      <p:sp>
        <p:nvSpPr>
          <p:cNvPr id="16" name="object 2"/>
          <p:cNvSpPr/>
          <p:nvPr/>
        </p:nvSpPr>
        <p:spPr>
          <a:xfrm>
            <a:off x="803342" y="3921224"/>
            <a:ext cx="2142356" cy="2172072"/>
          </a:xfrm>
          <a:prstGeom prst="rect">
            <a:avLst/>
          </a:prstGeom>
          <a:blipFill>
            <a:blip r:embed="rId3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2153610" y="4509120"/>
            <a:ext cx="360040" cy="28803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9" name="Text Box 159"/>
          <p:cNvSpPr txBox="1">
            <a:spLocks noChangeArrowheads="1"/>
          </p:cNvSpPr>
          <p:nvPr/>
        </p:nvSpPr>
        <p:spPr bwMode="auto">
          <a:xfrm>
            <a:off x="1361522" y="3676962"/>
            <a:ext cx="38650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s</a:t>
            </a:r>
            <a:r>
              <a:rPr lang="it-IT" b="0" baseline="-25000" dirty="0">
                <a:latin typeface="+mn-lt"/>
              </a:rPr>
              <a:t>1</a:t>
            </a:r>
          </a:p>
        </p:txBody>
      </p:sp>
      <p:sp>
        <p:nvSpPr>
          <p:cNvPr id="22" name="Text Box 159"/>
          <p:cNvSpPr txBox="1">
            <a:spLocks noChangeArrowheads="1"/>
          </p:cNvSpPr>
          <p:nvPr/>
        </p:nvSpPr>
        <p:spPr bwMode="auto">
          <a:xfrm>
            <a:off x="3518430" y="4840922"/>
            <a:ext cx="4138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s</a:t>
            </a:r>
            <a:r>
              <a:rPr lang="it-IT" b="0" baseline="-25000" dirty="0">
                <a:latin typeface="+mn-lt"/>
              </a:rPr>
              <a:t>0</a:t>
            </a:r>
          </a:p>
        </p:txBody>
      </p:sp>
      <p:sp>
        <p:nvSpPr>
          <p:cNvPr id="23" name="Text Box 159"/>
          <p:cNvSpPr txBox="1">
            <a:spLocks noChangeArrowheads="1"/>
          </p:cNvSpPr>
          <p:nvPr/>
        </p:nvSpPr>
        <p:spPr bwMode="auto">
          <a:xfrm>
            <a:off x="4429485" y="3224808"/>
            <a:ext cx="316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c</a:t>
            </a:r>
            <a:endParaRPr lang="it-IT" b="0" baseline="-25000" dirty="0">
              <a:latin typeface="+mn-lt"/>
            </a:endParaRPr>
          </a:p>
        </p:txBody>
      </p:sp>
      <p:sp>
        <p:nvSpPr>
          <p:cNvPr id="24" name="object 2"/>
          <p:cNvSpPr/>
          <p:nvPr/>
        </p:nvSpPr>
        <p:spPr>
          <a:xfrm>
            <a:off x="3035590" y="2708920"/>
            <a:ext cx="2142356" cy="2172072"/>
          </a:xfrm>
          <a:prstGeom prst="rect">
            <a:avLst/>
          </a:prstGeom>
          <a:blipFill>
            <a:blip r:embed="rId3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 bwMode="auto">
          <a:xfrm>
            <a:off x="4385858" y="3296816"/>
            <a:ext cx="360040" cy="28803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6" name="Text Box 159"/>
          <p:cNvSpPr txBox="1">
            <a:spLocks noChangeArrowheads="1"/>
          </p:cNvSpPr>
          <p:nvPr/>
        </p:nvSpPr>
        <p:spPr bwMode="auto">
          <a:xfrm>
            <a:off x="4285469" y="3184738"/>
            <a:ext cx="316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c</a:t>
            </a:r>
            <a:endParaRPr lang="it-IT" b="0" baseline="-25000" dirty="0">
              <a:latin typeface="+mn-lt"/>
            </a:endParaRPr>
          </a:p>
        </p:txBody>
      </p:sp>
      <p:sp>
        <p:nvSpPr>
          <p:cNvPr id="27" name="Text Box 159"/>
          <p:cNvSpPr txBox="1">
            <a:spLocks noChangeArrowheads="1"/>
          </p:cNvSpPr>
          <p:nvPr/>
        </p:nvSpPr>
        <p:spPr bwMode="auto">
          <a:xfrm>
            <a:off x="2108987" y="4397042"/>
            <a:ext cx="395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y</a:t>
            </a:r>
            <a:r>
              <a:rPr lang="it-IT" b="0" baseline="-25000" dirty="0">
                <a:latin typeface="+mn-lt"/>
              </a:rPr>
              <a:t>1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2425856" y="2260536"/>
            <a:ext cx="2880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2441642" y="4725144"/>
            <a:ext cx="2880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9" name="Line 42"/>
          <p:cNvSpPr>
            <a:spLocks noChangeShapeType="1"/>
          </p:cNvSpPr>
          <p:nvPr/>
        </p:nvSpPr>
        <p:spPr bwMode="auto">
          <a:xfrm>
            <a:off x="2441642" y="2564905"/>
            <a:ext cx="576064" cy="504056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" name="Line 42"/>
          <p:cNvSpPr>
            <a:spLocks noChangeShapeType="1"/>
          </p:cNvSpPr>
          <p:nvPr/>
        </p:nvSpPr>
        <p:spPr bwMode="auto">
          <a:xfrm flipV="1">
            <a:off x="2441642" y="4221088"/>
            <a:ext cx="576064" cy="64807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" name="object 6"/>
          <p:cNvSpPr txBox="1"/>
          <p:nvPr/>
        </p:nvSpPr>
        <p:spPr>
          <a:xfrm>
            <a:off x="3499105" y="1700808"/>
            <a:ext cx="323313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2800" b="0" spc="-15" dirty="0">
                <a:solidFill>
                  <a:srgbClr val="FF3300"/>
                </a:solidFill>
                <a:latin typeface="+mn-lt"/>
                <a:cs typeface="Calibri"/>
              </a:rPr>
              <a:t>y</a:t>
            </a:r>
            <a:r>
              <a:rPr lang="it-IT" sz="2800" b="0" spc="-15" baseline="-25000" dirty="0">
                <a:solidFill>
                  <a:srgbClr val="FF3300"/>
                </a:solidFill>
                <a:latin typeface="+mn-lt"/>
                <a:cs typeface="Calibri"/>
              </a:rPr>
              <a:t>0</a:t>
            </a:r>
            <a:r>
              <a:rPr sz="2800" b="0" spc="-5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sz="2800" b="0" spc="-15" dirty="0">
                <a:solidFill>
                  <a:srgbClr val="FF3300"/>
                </a:solidFill>
                <a:latin typeface="+mn-lt"/>
                <a:cs typeface="Calibri"/>
              </a:rPr>
              <a:t>=</a:t>
            </a:r>
            <a:r>
              <a:rPr sz="2800" b="0" spc="15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it-IT" sz="2800" b="0" spc="15" dirty="0">
                <a:solidFill>
                  <a:srgbClr val="FF3300"/>
                </a:solidFill>
                <a:latin typeface="+mn-lt"/>
                <a:cs typeface="Calibri"/>
              </a:rPr>
              <a:t>x</a:t>
            </a:r>
            <a:r>
              <a:rPr lang="it-IT" sz="2800" b="0" spc="15" baseline="-25000" dirty="0">
                <a:solidFill>
                  <a:srgbClr val="FF3300"/>
                </a:solidFill>
                <a:latin typeface="+mn-lt"/>
                <a:cs typeface="Calibri"/>
              </a:rPr>
              <a:t>0</a:t>
            </a:r>
            <a:r>
              <a:rPr lang="it-IT" sz="2800" b="0" spc="-20" dirty="0">
                <a:solidFill>
                  <a:srgbClr val="FF3300"/>
                </a:solidFill>
                <a:latin typeface="+mn-lt"/>
                <a:cs typeface="Calibri"/>
              </a:rPr>
              <a:t>s</a:t>
            </a:r>
            <a:r>
              <a:rPr lang="it-IT" sz="2800" b="0" spc="-20" baseline="-25000" dirty="0">
                <a:solidFill>
                  <a:srgbClr val="FF3300"/>
                </a:solidFill>
                <a:latin typeface="+mn-lt"/>
                <a:cs typeface="Calibri"/>
              </a:rPr>
              <a:t>1</a:t>
            </a:r>
            <a:r>
              <a:rPr sz="2800" b="0" spc="15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sz="2800" b="0" spc="-15" dirty="0">
                <a:solidFill>
                  <a:srgbClr val="FF3300"/>
                </a:solidFill>
                <a:latin typeface="+mn-lt"/>
                <a:cs typeface="Calibri"/>
              </a:rPr>
              <a:t>+</a:t>
            </a:r>
            <a:r>
              <a:rPr sz="2800" b="0" spc="10" dirty="0">
                <a:solidFill>
                  <a:srgbClr val="FF3300"/>
                </a:solidFill>
                <a:latin typeface="+mn-lt"/>
                <a:cs typeface="Calibri"/>
              </a:rPr>
              <a:t> </a:t>
            </a:r>
            <a:r>
              <a:rPr lang="it-IT" sz="2800" b="0" spc="-20" dirty="0">
                <a:solidFill>
                  <a:srgbClr val="FF3300"/>
                </a:solidFill>
                <a:latin typeface="+mn-lt"/>
                <a:cs typeface="Calibri"/>
              </a:rPr>
              <a:t>x</a:t>
            </a:r>
            <a:r>
              <a:rPr lang="it-IT" sz="2800" b="0" spc="-20" baseline="-25000" dirty="0">
                <a:solidFill>
                  <a:srgbClr val="FF3300"/>
                </a:solidFill>
                <a:latin typeface="+mn-lt"/>
                <a:cs typeface="Calibri"/>
              </a:rPr>
              <a:t>2</a:t>
            </a:r>
            <a:r>
              <a:rPr lang="it-IT" sz="2800" b="0" spc="-15" dirty="0">
                <a:solidFill>
                  <a:srgbClr val="FF3300"/>
                </a:solidFill>
                <a:latin typeface="+mn-lt"/>
                <a:cs typeface="Calibri"/>
              </a:rPr>
              <a:t>s</a:t>
            </a:r>
            <a:r>
              <a:rPr lang="it-IT" sz="2800" b="0" spc="-15" baseline="-25000" dirty="0">
                <a:solidFill>
                  <a:srgbClr val="FF3300"/>
                </a:solidFill>
                <a:latin typeface="+mn-lt"/>
                <a:cs typeface="Calibri"/>
              </a:rPr>
              <a:t>1</a:t>
            </a:r>
            <a:endParaRPr sz="2800" b="0" baseline="-25000" dirty="0">
              <a:solidFill>
                <a:srgbClr val="FF3300"/>
              </a:solidFill>
              <a:latin typeface="+mn-lt"/>
              <a:cs typeface="Calibri"/>
            </a:endParaRPr>
          </a:p>
        </p:txBody>
      </p:sp>
      <p:sp>
        <p:nvSpPr>
          <p:cNvPr id="32" name="object 5"/>
          <p:cNvSpPr/>
          <p:nvPr/>
        </p:nvSpPr>
        <p:spPr>
          <a:xfrm>
            <a:off x="5508105" y="1772815"/>
            <a:ext cx="216023" cy="45719"/>
          </a:xfrm>
          <a:custGeom>
            <a:avLst/>
            <a:gdLst/>
            <a:ahLst/>
            <a:cxnLst/>
            <a:rect l="l" t="t" r="r" b="b"/>
            <a:pathLst>
              <a:path w="332104">
                <a:moveTo>
                  <a:pt x="3317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6"/>
          <p:cNvSpPr txBox="1"/>
          <p:nvPr/>
        </p:nvSpPr>
        <p:spPr>
          <a:xfrm>
            <a:off x="3499105" y="2134017"/>
            <a:ext cx="323313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2800" b="0" spc="-15" dirty="0">
                <a:solidFill>
                  <a:srgbClr val="33CC33"/>
                </a:solidFill>
                <a:latin typeface="+mn-lt"/>
                <a:cs typeface="Calibri"/>
              </a:rPr>
              <a:t>y</a:t>
            </a:r>
            <a:r>
              <a:rPr lang="it-IT" sz="2800" b="0" spc="-15" baseline="-25000" dirty="0">
                <a:solidFill>
                  <a:srgbClr val="33CC33"/>
                </a:solidFill>
                <a:latin typeface="+mn-lt"/>
                <a:cs typeface="Calibri"/>
              </a:rPr>
              <a:t>1</a:t>
            </a:r>
            <a:r>
              <a:rPr sz="2800" b="0" spc="-5" dirty="0">
                <a:solidFill>
                  <a:srgbClr val="33CC33"/>
                </a:solidFill>
                <a:latin typeface="+mn-lt"/>
                <a:cs typeface="Calibri"/>
              </a:rPr>
              <a:t> </a:t>
            </a:r>
            <a:r>
              <a:rPr sz="2800" b="0" spc="-15" dirty="0">
                <a:solidFill>
                  <a:srgbClr val="33CC33"/>
                </a:solidFill>
                <a:latin typeface="+mn-lt"/>
                <a:cs typeface="Calibri"/>
              </a:rPr>
              <a:t>=</a:t>
            </a:r>
            <a:r>
              <a:rPr sz="2800" b="0" spc="15" dirty="0">
                <a:solidFill>
                  <a:srgbClr val="33CC33"/>
                </a:solidFill>
                <a:latin typeface="+mn-lt"/>
                <a:cs typeface="Calibri"/>
              </a:rPr>
              <a:t> </a:t>
            </a:r>
            <a:r>
              <a:rPr lang="it-IT" sz="2800" b="0" spc="15" dirty="0">
                <a:solidFill>
                  <a:srgbClr val="33CC33"/>
                </a:solidFill>
                <a:latin typeface="+mn-lt"/>
                <a:cs typeface="Calibri"/>
              </a:rPr>
              <a:t>x</a:t>
            </a:r>
            <a:r>
              <a:rPr lang="it-IT" sz="2800" b="0" spc="15" baseline="-25000" dirty="0">
                <a:solidFill>
                  <a:srgbClr val="33CC33"/>
                </a:solidFill>
                <a:latin typeface="+mn-lt"/>
                <a:cs typeface="Calibri"/>
              </a:rPr>
              <a:t>1</a:t>
            </a:r>
            <a:r>
              <a:rPr lang="it-IT" sz="2800" b="0" spc="-20" dirty="0">
                <a:solidFill>
                  <a:srgbClr val="33CC33"/>
                </a:solidFill>
                <a:latin typeface="+mn-lt"/>
                <a:cs typeface="Calibri"/>
              </a:rPr>
              <a:t>s</a:t>
            </a:r>
            <a:r>
              <a:rPr lang="it-IT" sz="2800" b="0" spc="-20" baseline="-25000" dirty="0">
                <a:solidFill>
                  <a:srgbClr val="33CC33"/>
                </a:solidFill>
                <a:latin typeface="+mn-lt"/>
                <a:cs typeface="Calibri"/>
              </a:rPr>
              <a:t>1</a:t>
            </a:r>
            <a:r>
              <a:rPr sz="2800" b="0" spc="15" dirty="0">
                <a:solidFill>
                  <a:srgbClr val="33CC33"/>
                </a:solidFill>
                <a:latin typeface="+mn-lt"/>
                <a:cs typeface="Calibri"/>
              </a:rPr>
              <a:t> </a:t>
            </a:r>
            <a:r>
              <a:rPr sz="2800" b="0" spc="-15" dirty="0">
                <a:solidFill>
                  <a:srgbClr val="33CC33"/>
                </a:solidFill>
                <a:latin typeface="+mn-lt"/>
                <a:cs typeface="Calibri"/>
              </a:rPr>
              <a:t>+</a:t>
            </a:r>
            <a:r>
              <a:rPr sz="2800" b="0" spc="10" dirty="0">
                <a:solidFill>
                  <a:srgbClr val="33CC33"/>
                </a:solidFill>
                <a:latin typeface="+mn-lt"/>
                <a:cs typeface="Calibri"/>
              </a:rPr>
              <a:t> </a:t>
            </a:r>
            <a:r>
              <a:rPr lang="it-IT" sz="2800" b="0" spc="-20" dirty="0">
                <a:solidFill>
                  <a:srgbClr val="33CC33"/>
                </a:solidFill>
                <a:latin typeface="+mn-lt"/>
                <a:cs typeface="Calibri"/>
              </a:rPr>
              <a:t>x</a:t>
            </a:r>
            <a:r>
              <a:rPr lang="it-IT" sz="2800" b="0" spc="-20" baseline="-25000" dirty="0">
                <a:solidFill>
                  <a:srgbClr val="33CC33"/>
                </a:solidFill>
                <a:latin typeface="+mn-lt"/>
                <a:cs typeface="Calibri"/>
              </a:rPr>
              <a:t>3</a:t>
            </a:r>
            <a:r>
              <a:rPr lang="it-IT" sz="2800" b="0" spc="-15" dirty="0">
                <a:solidFill>
                  <a:srgbClr val="33CC33"/>
                </a:solidFill>
                <a:latin typeface="+mn-lt"/>
                <a:cs typeface="Calibri"/>
              </a:rPr>
              <a:t>s</a:t>
            </a:r>
            <a:r>
              <a:rPr lang="it-IT" sz="2800" b="0" spc="-15" baseline="-25000" dirty="0">
                <a:solidFill>
                  <a:srgbClr val="33CC33"/>
                </a:solidFill>
                <a:latin typeface="+mn-lt"/>
                <a:cs typeface="Calibri"/>
              </a:rPr>
              <a:t>1</a:t>
            </a:r>
            <a:endParaRPr sz="2800" b="0" baseline="-25000" dirty="0">
              <a:solidFill>
                <a:srgbClr val="33CC33"/>
              </a:solidFill>
              <a:latin typeface="+mn-lt"/>
              <a:cs typeface="Calibri"/>
            </a:endParaRPr>
          </a:p>
        </p:txBody>
      </p:sp>
      <p:sp>
        <p:nvSpPr>
          <p:cNvPr id="34" name="object 5"/>
          <p:cNvSpPr/>
          <p:nvPr/>
        </p:nvSpPr>
        <p:spPr>
          <a:xfrm>
            <a:off x="5436096" y="2204864"/>
            <a:ext cx="216023" cy="45719"/>
          </a:xfrm>
          <a:custGeom>
            <a:avLst/>
            <a:gdLst/>
            <a:ahLst/>
            <a:cxnLst/>
            <a:rect l="l" t="t" r="r" b="b"/>
            <a:pathLst>
              <a:path w="332104">
                <a:moveTo>
                  <a:pt x="331724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33CC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41642" y="4896906"/>
            <a:ext cx="5796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  <a:cs typeface="Calibri"/>
              </a:rPr>
              <a:t>	</a:t>
            </a:r>
          </a:p>
          <a:p>
            <a:pPr marL="0" lvl="1" algn="l">
              <a:buClr>
                <a:schemeClr val="accent2"/>
              </a:buClr>
            </a:pPr>
            <a:r>
              <a:rPr lang="it-IT" sz="2400" b="0" dirty="0">
                <a:latin typeface="+mn-lt"/>
                <a:cs typeface="Calibri"/>
              </a:rPr>
              <a:t> c</a:t>
            </a:r>
            <a:r>
              <a:rPr lang="it-IT" sz="2400" b="0" spc="-15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= 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Calibri"/>
              </a:rPr>
              <a:t>y</a:t>
            </a:r>
            <a:r>
              <a:rPr lang="it-IT" sz="2400" b="0" baseline="-25000" dirty="0">
                <a:solidFill>
                  <a:srgbClr val="FF0000"/>
                </a:solidFill>
                <a:latin typeface="+mn-lt"/>
                <a:cs typeface="Calibri"/>
              </a:rPr>
              <a:t>0</a:t>
            </a:r>
            <a:r>
              <a:rPr lang="it-IT" sz="2400" b="0" spc="-10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  <a:r>
              <a:rPr lang="it-IT" sz="2400" b="0" baseline="-20833" dirty="0">
                <a:latin typeface="+mn-lt"/>
                <a:cs typeface="Calibri"/>
              </a:rPr>
              <a:t> </a:t>
            </a:r>
            <a:r>
              <a:rPr lang="it-IT" sz="2400" b="0" dirty="0">
                <a:latin typeface="+mn-lt"/>
                <a:cs typeface="Calibri"/>
              </a:rPr>
              <a:t>+ </a:t>
            </a:r>
            <a:r>
              <a:rPr lang="it-IT" sz="2400" b="0" dirty="0">
                <a:solidFill>
                  <a:srgbClr val="00AF50"/>
                </a:solidFill>
                <a:latin typeface="+mn-lt"/>
                <a:cs typeface="Calibri"/>
              </a:rPr>
              <a:t>y</a:t>
            </a:r>
            <a:r>
              <a:rPr lang="it-IT" sz="2400" b="0" baseline="-25000" dirty="0">
                <a:solidFill>
                  <a:srgbClr val="00AF50"/>
                </a:solidFill>
                <a:latin typeface="+mn-lt"/>
                <a:cs typeface="Calibri"/>
              </a:rPr>
              <a:t>1</a:t>
            </a:r>
            <a:r>
              <a:rPr lang="it-IT" sz="2400" b="0" dirty="0">
                <a:latin typeface="+mn-lt"/>
                <a:cs typeface="Calibri"/>
              </a:rPr>
              <a:t>s</a:t>
            </a:r>
            <a:r>
              <a:rPr lang="it-IT" sz="2400" b="0" spc="-15" baseline="-20833" dirty="0">
                <a:latin typeface="+mn-lt"/>
                <a:cs typeface="Calibri"/>
              </a:rPr>
              <a:t>0</a:t>
            </a:r>
          </a:p>
        </p:txBody>
      </p:sp>
      <p:sp>
        <p:nvSpPr>
          <p:cNvPr id="36" name="object 5"/>
          <p:cNvSpPr/>
          <p:nvPr/>
        </p:nvSpPr>
        <p:spPr>
          <a:xfrm>
            <a:off x="3491880" y="5399505"/>
            <a:ext cx="216023" cy="45719"/>
          </a:xfrm>
          <a:custGeom>
            <a:avLst/>
            <a:gdLst/>
            <a:ahLst/>
            <a:cxnLst/>
            <a:rect l="l" t="t" r="r" b="b"/>
            <a:pathLst>
              <a:path w="332104">
                <a:moveTo>
                  <a:pt x="331724" y="0"/>
                </a:moveTo>
                <a:lnTo>
                  <a:pt x="0" y="0"/>
                </a:lnTo>
              </a:path>
            </a:pathLst>
          </a:custGeom>
          <a:ln w="25908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"/>
          <p:cNvSpPr/>
          <p:nvPr/>
        </p:nvSpPr>
        <p:spPr>
          <a:xfrm>
            <a:off x="6875309" y="3068960"/>
            <a:ext cx="2142356" cy="2172072"/>
          </a:xfrm>
          <a:prstGeom prst="rect">
            <a:avLst/>
          </a:prstGeom>
          <a:blipFill>
            <a:blip r:embed="rId3" cstate="print"/>
            <a:srcRect/>
            <a:stretch>
              <a:fillRect l="-48613" t="-130625" r="-232671" b="-601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Text Box 159"/>
          <p:cNvSpPr txBox="1">
            <a:spLocks noChangeArrowheads="1"/>
          </p:cNvSpPr>
          <p:nvPr/>
        </p:nvSpPr>
        <p:spPr bwMode="auto">
          <a:xfrm>
            <a:off x="6526481" y="3212976"/>
            <a:ext cx="440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0</a:t>
            </a:r>
          </a:p>
        </p:txBody>
      </p:sp>
      <p:sp>
        <p:nvSpPr>
          <p:cNvPr id="47" name="Text Box 162"/>
          <p:cNvSpPr txBox="1">
            <a:spLocks noChangeArrowheads="1"/>
          </p:cNvSpPr>
          <p:nvPr/>
        </p:nvSpPr>
        <p:spPr bwMode="auto">
          <a:xfrm>
            <a:off x="6516216" y="4325034"/>
            <a:ext cx="440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8110657" y="3429000"/>
            <a:ext cx="792088" cy="48235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49" name="Text Box 159"/>
          <p:cNvSpPr txBox="1">
            <a:spLocks noChangeArrowheads="1"/>
          </p:cNvSpPr>
          <p:nvPr/>
        </p:nvSpPr>
        <p:spPr bwMode="auto">
          <a:xfrm>
            <a:off x="8247785" y="3501008"/>
            <a:ext cx="3164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 err="1">
                <a:latin typeface="+mn-lt"/>
              </a:rPr>
              <a:t>c</a:t>
            </a:r>
            <a:endParaRPr lang="it-IT" b="0" baseline="-25000" dirty="0">
              <a:latin typeface="+mn-lt"/>
            </a:endParaRPr>
          </a:p>
        </p:txBody>
      </p:sp>
      <p:sp>
        <p:nvSpPr>
          <p:cNvPr id="52" name="object 2"/>
          <p:cNvSpPr/>
          <p:nvPr/>
        </p:nvSpPr>
        <p:spPr>
          <a:xfrm>
            <a:off x="6896361" y="3590156"/>
            <a:ext cx="481112" cy="342900"/>
          </a:xfrm>
          <a:prstGeom prst="rect">
            <a:avLst/>
          </a:prstGeom>
          <a:blipFill>
            <a:blip r:embed="rId3" cstate="print"/>
            <a:srcRect/>
            <a:stretch>
              <a:fillRect l="-216470" t="-882881" r="-1381356" b="-85876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"/>
          <p:cNvSpPr/>
          <p:nvPr/>
        </p:nvSpPr>
        <p:spPr>
          <a:xfrm>
            <a:off x="6896361" y="3950196"/>
            <a:ext cx="481112" cy="342900"/>
          </a:xfrm>
          <a:prstGeom prst="rect">
            <a:avLst/>
          </a:prstGeom>
          <a:blipFill>
            <a:blip r:embed="rId3" cstate="print"/>
            <a:srcRect/>
            <a:stretch>
              <a:fillRect l="-216470" t="-882881" r="-1381356" b="-858769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"/>
          <p:cNvSpPr/>
          <p:nvPr/>
        </p:nvSpPr>
        <p:spPr>
          <a:xfrm>
            <a:off x="7377473" y="3356992"/>
            <a:ext cx="210468" cy="254372"/>
          </a:xfrm>
          <a:prstGeom prst="rect">
            <a:avLst/>
          </a:prstGeom>
          <a:blipFill>
            <a:blip r:embed="rId3" cstate="print"/>
            <a:srcRect/>
            <a:stretch>
              <a:fillRect l="-736197" t="-1294843" r="-3044897" b="-108774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"/>
          <p:cNvSpPr/>
          <p:nvPr/>
        </p:nvSpPr>
        <p:spPr>
          <a:xfrm>
            <a:off x="7377473" y="4398764"/>
            <a:ext cx="210468" cy="254372"/>
          </a:xfrm>
          <a:prstGeom prst="rect">
            <a:avLst/>
          </a:prstGeom>
          <a:blipFill>
            <a:blip r:embed="rId3" cstate="print"/>
            <a:srcRect/>
            <a:stretch>
              <a:fillRect l="-736197" t="-1294843" r="-3044897" b="-108774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"/>
          <p:cNvSpPr/>
          <p:nvPr/>
        </p:nvSpPr>
        <p:spPr>
          <a:xfrm>
            <a:off x="7669821" y="4797152"/>
            <a:ext cx="139700" cy="481236"/>
          </a:xfrm>
          <a:prstGeom prst="rect">
            <a:avLst/>
          </a:prstGeom>
          <a:blipFill>
            <a:blip r:embed="rId3" cstate="print"/>
            <a:srcRect/>
            <a:stretch>
              <a:fillRect l="-1190330" t="-945774" r="-4556814" b="-26647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Text Box 159"/>
          <p:cNvSpPr txBox="1">
            <a:spLocks noChangeArrowheads="1"/>
          </p:cNvSpPr>
          <p:nvPr/>
        </p:nvSpPr>
        <p:spPr bwMode="auto">
          <a:xfrm>
            <a:off x="7359400" y="5045114"/>
            <a:ext cx="38650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s</a:t>
            </a:r>
            <a:r>
              <a:rPr lang="it-IT" b="0" baseline="-25000" dirty="0">
                <a:latin typeface="+mn-lt"/>
              </a:rPr>
              <a:t>1</a:t>
            </a:r>
          </a:p>
        </p:txBody>
      </p:sp>
      <p:sp>
        <p:nvSpPr>
          <p:cNvPr id="59" name="Text Box 159"/>
          <p:cNvSpPr txBox="1">
            <a:spLocks noChangeArrowheads="1"/>
          </p:cNvSpPr>
          <p:nvPr/>
        </p:nvSpPr>
        <p:spPr bwMode="auto">
          <a:xfrm>
            <a:off x="7614497" y="5045114"/>
            <a:ext cx="4138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s</a:t>
            </a:r>
            <a:r>
              <a:rPr lang="it-IT" b="0" baseline="-25000" dirty="0">
                <a:latin typeface="+mn-lt"/>
              </a:rPr>
              <a:t>0</a:t>
            </a:r>
          </a:p>
        </p:txBody>
      </p:sp>
      <p:sp>
        <p:nvSpPr>
          <p:cNvPr id="64" name="CasellaDiTesto 6"/>
          <p:cNvSpPr txBox="1"/>
          <p:nvPr/>
        </p:nvSpPr>
        <p:spPr>
          <a:xfrm>
            <a:off x="4283968" y="3748970"/>
            <a:ext cx="184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800" b="0" dirty="0">
                <a:solidFill>
                  <a:srgbClr val="0000FF"/>
                </a:solidFill>
                <a:latin typeface="+mn-lt"/>
              </a:rPr>
              <a:t> è equivalente a </a:t>
            </a:r>
          </a:p>
        </p:txBody>
      </p:sp>
      <p:sp>
        <p:nvSpPr>
          <p:cNvPr id="3" name="Text Box 159">
            <a:extLst>
              <a:ext uri="{FF2B5EF4-FFF2-40B4-BE49-F238E27FC236}">
                <a16:creationId xmlns:a16="http://schemas.microsoft.com/office/drawing/2014/main" id="{61807CAF-CC57-F1FB-3C19-CC58D151F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5212" y="3460938"/>
            <a:ext cx="4130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1</a:t>
            </a:r>
          </a:p>
        </p:txBody>
      </p:sp>
      <p:sp>
        <p:nvSpPr>
          <p:cNvPr id="18" name="Text Box 159">
            <a:extLst>
              <a:ext uri="{FF2B5EF4-FFF2-40B4-BE49-F238E27FC236}">
                <a16:creationId xmlns:a16="http://schemas.microsoft.com/office/drawing/2014/main" id="{8F79DF20-4726-FC74-160B-35721F15A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827" y="3861048"/>
            <a:ext cx="440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it-IT" b="0" dirty="0">
                <a:latin typeface="+mn-lt"/>
              </a:rPr>
              <a:t>x</a:t>
            </a:r>
            <a:r>
              <a:rPr lang="it-IT" b="0" baseline="-25000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4990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45" grpId="0" animBg="1"/>
      <p:bldP spid="46" grpId="0"/>
      <p:bldP spid="47" grpId="0"/>
      <p:bldP spid="48" grpId="0" animBg="1"/>
      <p:bldP spid="49" grpId="0"/>
      <p:bldP spid="49" grpId="1"/>
      <p:bldP spid="52" grpId="0" animBg="1"/>
      <p:bldP spid="53" grpId="0" animBg="1"/>
      <p:bldP spid="54" grpId="0" animBg="1"/>
      <p:bldP spid="55" grpId="0" animBg="1"/>
      <p:bldP spid="56" grpId="0" animBg="1"/>
      <p:bldP spid="57" grpId="0"/>
      <p:bldP spid="59" grpId="0"/>
      <p:bldP spid="64" grpId="0"/>
      <p:bldP spid="3" grpId="0"/>
      <p:bldP spid="1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7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latin typeface="+mn-lt"/>
              </a:rPr>
              <a:t>Implementare, utilizzando un 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PLA</a:t>
            </a:r>
            <a:r>
              <a:rPr lang="it-IT" sz="2800" b="0" dirty="0">
                <a:latin typeface="+mn-lt"/>
              </a:rPr>
              <a:t>, le seguenti funzioni logiche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 err="1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=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+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+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sym typeface="Symbol"/>
              </a:rPr>
              <a:t>C</a:t>
            </a: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G =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+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</p:txBody>
      </p:sp>
      <p:cxnSp>
        <p:nvCxnSpPr>
          <p:cNvPr id="12" name="Connettore 1 7"/>
          <p:cNvCxnSpPr/>
          <p:nvPr/>
        </p:nvCxnSpPr>
        <p:spPr>
          <a:xfrm>
            <a:off x="1907704" y="2636912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7"/>
          <p:cNvCxnSpPr/>
          <p:nvPr/>
        </p:nvCxnSpPr>
        <p:spPr>
          <a:xfrm>
            <a:off x="4355976" y="2636912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1 7"/>
          <p:cNvCxnSpPr/>
          <p:nvPr/>
        </p:nvCxnSpPr>
        <p:spPr>
          <a:xfrm>
            <a:off x="4067944" y="2636912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>
            <a:off x="4644008" y="2636912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7"/>
          <p:cNvCxnSpPr/>
          <p:nvPr/>
        </p:nvCxnSpPr>
        <p:spPr>
          <a:xfrm>
            <a:off x="3275856" y="2996952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04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Line 28"/>
          <p:cNvSpPr>
            <a:spLocks noChangeShapeType="1"/>
          </p:cNvSpPr>
          <p:nvPr/>
        </p:nvSpPr>
        <p:spPr bwMode="auto">
          <a:xfrm flipV="1">
            <a:off x="6804248" y="5759385"/>
            <a:ext cx="792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" name="Line 28"/>
          <p:cNvSpPr>
            <a:spLocks noChangeShapeType="1"/>
          </p:cNvSpPr>
          <p:nvPr/>
        </p:nvSpPr>
        <p:spPr bwMode="auto">
          <a:xfrm flipV="1">
            <a:off x="6876256" y="5111313"/>
            <a:ext cx="792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" name="Line 30"/>
          <p:cNvSpPr>
            <a:spLocks noChangeShapeType="1"/>
          </p:cNvSpPr>
          <p:nvPr/>
        </p:nvSpPr>
        <p:spPr bwMode="auto">
          <a:xfrm>
            <a:off x="5436096" y="4535249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" name="Line 30"/>
          <p:cNvSpPr>
            <a:spLocks noChangeShapeType="1"/>
          </p:cNvSpPr>
          <p:nvPr/>
        </p:nvSpPr>
        <p:spPr bwMode="auto">
          <a:xfrm>
            <a:off x="3203848" y="4391233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2123728" y="4247217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" name="Line 30"/>
          <p:cNvSpPr>
            <a:spLocks noChangeShapeType="1"/>
          </p:cNvSpPr>
          <p:nvPr/>
        </p:nvSpPr>
        <p:spPr bwMode="auto">
          <a:xfrm>
            <a:off x="3347864" y="3599145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" name="Line 30"/>
          <p:cNvSpPr>
            <a:spLocks noChangeShapeType="1"/>
          </p:cNvSpPr>
          <p:nvPr/>
        </p:nvSpPr>
        <p:spPr bwMode="auto">
          <a:xfrm>
            <a:off x="4427984" y="3599145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" name="Line 30"/>
          <p:cNvSpPr>
            <a:spLocks noChangeShapeType="1"/>
          </p:cNvSpPr>
          <p:nvPr/>
        </p:nvSpPr>
        <p:spPr bwMode="auto">
          <a:xfrm>
            <a:off x="5605264" y="3599145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9" name="Line 30"/>
          <p:cNvSpPr>
            <a:spLocks noChangeShapeType="1"/>
          </p:cNvSpPr>
          <p:nvPr/>
        </p:nvSpPr>
        <p:spPr bwMode="auto">
          <a:xfrm>
            <a:off x="2267744" y="3599145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" name="Line 30"/>
          <p:cNvSpPr>
            <a:spLocks noChangeShapeType="1"/>
          </p:cNvSpPr>
          <p:nvPr/>
        </p:nvSpPr>
        <p:spPr bwMode="auto">
          <a:xfrm>
            <a:off x="5461248" y="3383121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" name="Line 30"/>
          <p:cNvSpPr>
            <a:spLocks noChangeShapeType="1"/>
          </p:cNvSpPr>
          <p:nvPr/>
        </p:nvSpPr>
        <p:spPr bwMode="auto">
          <a:xfrm>
            <a:off x="4211960" y="3383121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6" name="Line 30"/>
          <p:cNvSpPr>
            <a:spLocks noChangeShapeType="1"/>
          </p:cNvSpPr>
          <p:nvPr/>
        </p:nvSpPr>
        <p:spPr bwMode="auto">
          <a:xfrm>
            <a:off x="3203848" y="3383121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>
            <a:off x="1979712" y="3167097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39552" y="1628800"/>
            <a:ext cx="8208912" cy="496855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eaLnBrk="1" hangingPunct="1">
              <a:lnSpc>
                <a:spcPct val="90000"/>
              </a:lnSpc>
              <a:buFont typeface="Wingdings" charset="2"/>
              <a:buChar char="Ø"/>
            </a:pPr>
            <a:r>
              <a:rPr lang="it-IT" sz="2400" b="0" dirty="0">
                <a:latin typeface="Comic Sans MS" charset="0"/>
              </a:rPr>
              <a:t>Otteniamo il </a:t>
            </a:r>
            <a:r>
              <a:rPr lang="it-IT" sz="2400" b="0" dirty="0">
                <a:solidFill>
                  <a:srgbClr val="FF3300"/>
                </a:solidFill>
                <a:latin typeface="Comic Sans MS" charset="0"/>
              </a:rPr>
              <a:t>circuito AND-to-OR</a:t>
            </a:r>
            <a:r>
              <a:rPr lang="it-IT" sz="2400" b="0" dirty="0">
                <a:latin typeface="Comic Sans MS" charset="0"/>
              </a:rPr>
              <a:t> per le funzioni</a:t>
            </a:r>
          </a:p>
        </p:txBody>
      </p:sp>
      <p:sp>
        <p:nvSpPr>
          <p:cNvPr id="14" name="AutoShape 22"/>
          <p:cNvSpPr>
            <a:spLocks noChangeArrowheads="1"/>
          </p:cNvSpPr>
          <p:nvPr/>
        </p:nvSpPr>
        <p:spPr bwMode="auto">
          <a:xfrm rot="5400000">
            <a:off x="2877716" y="3992374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5" name="AutoShape 22"/>
          <p:cNvSpPr>
            <a:spLocks noChangeArrowheads="1"/>
          </p:cNvSpPr>
          <p:nvPr/>
        </p:nvSpPr>
        <p:spPr bwMode="auto">
          <a:xfrm rot="5400000">
            <a:off x="3932684" y="3992374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6" name="AutoShape 22"/>
          <p:cNvSpPr>
            <a:spLocks noChangeArrowheads="1"/>
          </p:cNvSpPr>
          <p:nvPr/>
        </p:nvSpPr>
        <p:spPr bwMode="auto">
          <a:xfrm rot="5400000">
            <a:off x="5133392" y="3967941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7" name="Oval 34"/>
          <p:cNvSpPr>
            <a:spLocks noChangeArrowheads="1"/>
          </p:cNvSpPr>
          <p:nvPr/>
        </p:nvSpPr>
        <p:spPr bwMode="auto">
          <a:xfrm rot="16092290">
            <a:off x="4168703" y="3828668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8" name="Oval 34"/>
          <p:cNvSpPr>
            <a:spLocks noChangeArrowheads="1"/>
          </p:cNvSpPr>
          <p:nvPr/>
        </p:nvSpPr>
        <p:spPr bwMode="auto">
          <a:xfrm rot="16092290">
            <a:off x="3002266" y="3828668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1" name="Oval 34"/>
          <p:cNvSpPr>
            <a:spLocks noChangeArrowheads="1"/>
          </p:cNvSpPr>
          <p:nvPr/>
        </p:nvSpPr>
        <p:spPr bwMode="auto">
          <a:xfrm rot="16092290">
            <a:off x="1922146" y="3828668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V="1">
            <a:off x="1547664" y="3167096"/>
            <a:ext cx="4968552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 flipV="1">
            <a:off x="1547664" y="3369620"/>
            <a:ext cx="4968552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V="1">
            <a:off x="1547664" y="3585644"/>
            <a:ext cx="4968552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>
            <a:off x="3059832" y="3167097"/>
            <a:ext cx="0" cy="7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4067944" y="3167097"/>
            <a:ext cx="0" cy="7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>
            <a:off x="5317232" y="3167097"/>
            <a:ext cx="0" cy="7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" name="Line 30"/>
          <p:cNvSpPr>
            <a:spLocks noChangeShapeType="1"/>
          </p:cNvSpPr>
          <p:nvPr/>
        </p:nvSpPr>
        <p:spPr bwMode="auto">
          <a:xfrm>
            <a:off x="2132112" y="3383121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AutoShape 22"/>
          <p:cNvSpPr>
            <a:spLocks noChangeArrowheads="1"/>
          </p:cNvSpPr>
          <p:nvPr/>
        </p:nvSpPr>
        <p:spPr bwMode="auto">
          <a:xfrm rot="5400000">
            <a:off x="1797596" y="3992374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 flipV="1">
            <a:off x="2123728" y="4953793"/>
            <a:ext cx="4544888" cy="13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" name="Line 28"/>
          <p:cNvSpPr>
            <a:spLocks noChangeShapeType="1"/>
          </p:cNvSpPr>
          <p:nvPr/>
        </p:nvSpPr>
        <p:spPr bwMode="auto">
          <a:xfrm flipV="1">
            <a:off x="3203848" y="5106195"/>
            <a:ext cx="3617168" cy="51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8" name="Line 28"/>
          <p:cNvSpPr>
            <a:spLocks noChangeShapeType="1"/>
          </p:cNvSpPr>
          <p:nvPr/>
        </p:nvSpPr>
        <p:spPr bwMode="auto">
          <a:xfrm>
            <a:off x="5436096" y="5255329"/>
            <a:ext cx="1537320" cy="32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8" name="AutoShape 27"/>
          <p:cNvSpPr>
            <a:spLocks noChangeArrowheads="1"/>
          </p:cNvSpPr>
          <p:nvPr/>
        </p:nvSpPr>
        <p:spPr bwMode="auto">
          <a:xfrm rot="10872147">
            <a:off x="6522000" y="4855977"/>
            <a:ext cx="793361" cy="559538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9" name="Line 30"/>
          <p:cNvSpPr>
            <a:spLocks noChangeShapeType="1"/>
          </p:cNvSpPr>
          <p:nvPr/>
        </p:nvSpPr>
        <p:spPr bwMode="auto">
          <a:xfrm>
            <a:off x="4283968" y="4535249"/>
            <a:ext cx="0" cy="12241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" name="Line 28"/>
          <p:cNvSpPr>
            <a:spLocks noChangeShapeType="1"/>
          </p:cNvSpPr>
          <p:nvPr/>
        </p:nvSpPr>
        <p:spPr bwMode="auto">
          <a:xfrm>
            <a:off x="5796136" y="5615369"/>
            <a:ext cx="129614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 flipV="1">
            <a:off x="4283968" y="5759385"/>
            <a:ext cx="288032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AutoShape 27"/>
          <p:cNvSpPr>
            <a:spLocks noChangeArrowheads="1"/>
          </p:cNvSpPr>
          <p:nvPr/>
        </p:nvSpPr>
        <p:spPr bwMode="auto">
          <a:xfrm rot="10872147">
            <a:off x="6510258" y="5504049"/>
            <a:ext cx="793361" cy="559538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59" name="Rettangolo 10"/>
          <p:cNvSpPr/>
          <p:nvPr/>
        </p:nvSpPr>
        <p:spPr>
          <a:xfrm>
            <a:off x="1187624" y="2999854"/>
            <a:ext cx="3600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b="0" dirty="0">
                <a:latin typeface="+mn-lt"/>
              </a:rPr>
              <a:t>AB</a:t>
            </a:r>
          </a:p>
          <a:p>
            <a:pPr algn="l"/>
            <a:r>
              <a:rPr lang="it-IT" b="0" dirty="0">
                <a:latin typeface="+mn-lt"/>
                <a:sym typeface="Symbol"/>
              </a:rPr>
              <a:t>C</a:t>
            </a:r>
            <a:endParaRPr lang="it-IT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b="0" dirty="0">
              <a:latin typeface="+mn-lt"/>
            </a:endParaRPr>
          </a:p>
        </p:txBody>
      </p:sp>
      <p:sp>
        <p:nvSpPr>
          <p:cNvPr id="60" name="Rettangolo 10"/>
          <p:cNvSpPr/>
          <p:nvPr/>
        </p:nvSpPr>
        <p:spPr>
          <a:xfrm>
            <a:off x="7740352" y="4823281"/>
            <a:ext cx="43204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b="0" dirty="0">
                <a:latin typeface="+mn-lt"/>
              </a:rPr>
              <a:t>F</a:t>
            </a:r>
          </a:p>
          <a:p>
            <a:pPr algn="l"/>
            <a:endParaRPr lang="it-IT" b="0" dirty="0">
              <a:latin typeface="+mn-lt"/>
            </a:endParaRPr>
          </a:p>
          <a:p>
            <a:pPr algn="l"/>
            <a:endParaRPr lang="it-IT" b="0" dirty="0">
              <a:latin typeface="+mn-lt"/>
            </a:endParaRPr>
          </a:p>
          <a:p>
            <a:pPr algn="l"/>
            <a:r>
              <a:rPr lang="it-IT" b="0" dirty="0">
                <a:latin typeface="+mn-lt"/>
              </a:rPr>
              <a:t>G</a:t>
            </a:r>
          </a:p>
          <a:p>
            <a:pPr algn="l"/>
            <a:endParaRPr lang="it-IT" b="0" dirty="0">
              <a:latin typeface="+mn-lt"/>
            </a:endParaRPr>
          </a:p>
          <a:p>
            <a:pPr algn="l"/>
            <a:endParaRPr lang="it-IT" b="0" dirty="0">
              <a:latin typeface="+mn-lt"/>
            </a:endParaRPr>
          </a:p>
          <a:p>
            <a:pPr algn="l"/>
            <a:endParaRPr lang="it-IT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b="0" dirty="0">
              <a:latin typeface="+mn-lt"/>
            </a:endParaRPr>
          </a:p>
        </p:txBody>
      </p:sp>
      <p:sp>
        <p:nvSpPr>
          <p:cNvPr id="61" name="Oval 34"/>
          <p:cNvSpPr>
            <a:spLocks noChangeArrowheads="1"/>
          </p:cNvSpPr>
          <p:nvPr/>
        </p:nvSpPr>
        <p:spPr bwMode="auto">
          <a:xfrm rot="16092290">
            <a:off x="2074546" y="3843510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62" name="Oval 34"/>
          <p:cNvSpPr>
            <a:spLocks noChangeArrowheads="1"/>
          </p:cNvSpPr>
          <p:nvPr/>
        </p:nvSpPr>
        <p:spPr bwMode="auto">
          <a:xfrm rot="16092290">
            <a:off x="2226946" y="3843510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63" name="Line 30"/>
          <p:cNvSpPr>
            <a:spLocks noChangeShapeType="1"/>
          </p:cNvSpPr>
          <p:nvPr/>
        </p:nvSpPr>
        <p:spPr bwMode="auto">
          <a:xfrm>
            <a:off x="5796136" y="5255329"/>
            <a:ext cx="0" cy="3600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467544" y="2021939"/>
            <a:ext cx="8856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 err="1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=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+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+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sym typeface="Symbol"/>
              </a:rPr>
              <a:t>C</a:t>
            </a: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G =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+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</p:txBody>
      </p:sp>
      <p:cxnSp>
        <p:nvCxnSpPr>
          <p:cNvPr id="65" name="Connettore 1 7"/>
          <p:cNvCxnSpPr/>
          <p:nvPr/>
        </p:nvCxnSpPr>
        <p:spPr>
          <a:xfrm>
            <a:off x="1979712" y="2060848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1 7"/>
          <p:cNvCxnSpPr/>
          <p:nvPr/>
        </p:nvCxnSpPr>
        <p:spPr>
          <a:xfrm>
            <a:off x="4139952" y="2060848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1 7"/>
          <p:cNvCxnSpPr/>
          <p:nvPr/>
        </p:nvCxnSpPr>
        <p:spPr>
          <a:xfrm>
            <a:off x="4427984" y="2060848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1 7"/>
          <p:cNvCxnSpPr/>
          <p:nvPr/>
        </p:nvCxnSpPr>
        <p:spPr>
          <a:xfrm>
            <a:off x="4716016" y="2060848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1 7"/>
          <p:cNvCxnSpPr/>
          <p:nvPr/>
        </p:nvCxnSpPr>
        <p:spPr>
          <a:xfrm>
            <a:off x="3347864" y="2420888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>
            <a:normAutofit/>
          </a:bodyPr>
          <a:lstStyle/>
          <a:p>
            <a:r>
              <a:rPr lang="it-IT" sz="4800" dirty="0"/>
              <a:t>Esercizio 7: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3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2627784" y="2996952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11560" y="1556792"/>
            <a:ext cx="8208912" cy="496855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eaLnBrk="1" hangingPunct="1">
              <a:lnSpc>
                <a:spcPct val="90000"/>
              </a:lnSpc>
              <a:buFont typeface="Wingdings" charset="2"/>
              <a:buChar char="Ø"/>
            </a:pPr>
            <a:r>
              <a:rPr lang="it-IT" sz="2400" b="0" dirty="0">
                <a:latin typeface="Comic Sans MS" charset="0"/>
              </a:rPr>
              <a:t>Rappresentazione equivalente sotto forma di griglia</a:t>
            </a:r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V="1">
            <a:off x="1547664" y="3140967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1763688" y="3356992"/>
            <a:ext cx="24482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V="1">
            <a:off x="1547664" y="3573015"/>
            <a:ext cx="266429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 flipV="1">
            <a:off x="2123728" y="4941168"/>
            <a:ext cx="2160240" cy="26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" name="Rettangolo 10"/>
          <p:cNvSpPr/>
          <p:nvPr/>
        </p:nvSpPr>
        <p:spPr>
          <a:xfrm>
            <a:off x="1187624" y="2980109"/>
            <a:ext cx="3600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latin typeface="+mn-lt"/>
              </a:rPr>
              <a:t>A</a:t>
            </a:r>
          </a:p>
          <a:p>
            <a:pPr algn="l"/>
            <a:endParaRPr lang="it-IT" sz="1400" b="0" dirty="0">
              <a:latin typeface="+mn-lt"/>
            </a:endParaRPr>
          </a:p>
          <a:p>
            <a:pPr algn="l"/>
            <a:r>
              <a:rPr lang="it-IT" sz="1400" b="0" dirty="0">
                <a:latin typeface="+mn-lt"/>
              </a:rPr>
              <a:t>B</a:t>
            </a:r>
          </a:p>
          <a:p>
            <a:pPr algn="l"/>
            <a:endParaRPr lang="it-IT" sz="1400" b="0" dirty="0">
              <a:latin typeface="+mn-lt"/>
              <a:sym typeface="Symbol"/>
            </a:endParaRPr>
          </a:p>
          <a:p>
            <a:pPr algn="l"/>
            <a:r>
              <a:rPr lang="it-IT" sz="1400" b="0" dirty="0">
                <a:latin typeface="+mn-lt"/>
                <a:sym typeface="Symbol"/>
              </a:rPr>
              <a:t>C</a:t>
            </a:r>
            <a:endParaRPr lang="it-IT" sz="1400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sz="1400" b="0" dirty="0">
              <a:latin typeface="+mn-lt"/>
            </a:endParaRPr>
          </a:p>
        </p:txBody>
      </p:sp>
      <p:sp>
        <p:nvSpPr>
          <p:cNvPr id="60" name="Rettangolo 10"/>
          <p:cNvSpPr/>
          <p:nvPr/>
        </p:nvSpPr>
        <p:spPr>
          <a:xfrm>
            <a:off x="4355976" y="4725144"/>
            <a:ext cx="43204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 err="1">
                <a:latin typeface="+mn-lt"/>
              </a:rPr>
              <a:t>F</a:t>
            </a:r>
            <a:endParaRPr lang="it-IT" sz="1400" b="0" dirty="0">
              <a:latin typeface="+mn-lt"/>
            </a:endParaRPr>
          </a:p>
          <a:p>
            <a:pPr algn="l"/>
            <a:endParaRPr lang="it-IT" sz="1400" b="0" dirty="0">
              <a:latin typeface="+mn-lt"/>
            </a:endParaRPr>
          </a:p>
          <a:p>
            <a:pPr algn="l"/>
            <a:r>
              <a:rPr lang="it-IT" sz="1400" b="0" dirty="0">
                <a:latin typeface="+mn-lt"/>
              </a:rPr>
              <a:t>G</a:t>
            </a:r>
          </a:p>
          <a:p>
            <a:pPr algn="l"/>
            <a:endParaRPr lang="it-IT" sz="1400" b="0" dirty="0">
              <a:latin typeface="+mn-lt"/>
            </a:endParaRPr>
          </a:p>
          <a:p>
            <a:pPr algn="l"/>
            <a:endParaRPr lang="it-IT" sz="1400" b="0" dirty="0">
              <a:latin typeface="+mn-lt"/>
            </a:endParaRPr>
          </a:p>
          <a:p>
            <a:pPr algn="l"/>
            <a:endParaRPr lang="it-IT" sz="1400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sz="1400" b="0" dirty="0">
              <a:latin typeface="+mn-lt"/>
            </a:endParaRPr>
          </a:p>
        </p:txBody>
      </p:sp>
      <p:sp>
        <p:nvSpPr>
          <p:cNvPr id="71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>
            <a:normAutofit/>
          </a:bodyPr>
          <a:lstStyle/>
          <a:p>
            <a:r>
              <a:rPr lang="it-IT" sz="4800" dirty="0"/>
              <a:t>Esercizio 7: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50" name="Line 28"/>
          <p:cNvSpPr>
            <a:spLocks noChangeShapeType="1"/>
          </p:cNvSpPr>
          <p:nvPr/>
        </p:nvSpPr>
        <p:spPr bwMode="auto">
          <a:xfrm>
            <a:off x="1763688" y="3789038"/>
            <a:ext cx="2448272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" name="Line 28"/>
          <p:cNvSpPr>
            <a:spLocks noChangeShapeType="1"/>
          </p:cNvSpPr>
          <p:nvPr/>
        </p:nvSpPr>
        <p:spPr bwMode="auto">
          <a:xfrm>
            <a:off x="1547664" y="4005062"/>
            <a:ext cx="2664296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" name="Line 28"/>
          <p:cNvSpPr>
            <a:spLocks noChangeShapeType="1"/>
          </p:cNvSpPr>
          <p:nvPr/>
        </p:nvSpPr>
        <p:spPr bwMode="auto">
          <a:xfrm flipV="1">
            <a:off x="1763688" y="4221087"/>
            <a:ext cx="24482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6" name="Group 32"/>
          <p:cNvGrpSpPr>
            <a:grpSpLocks/>
          </p:cNvGrpSpPr>
          <p:nvPr/>
        </p:nvGrpSpPr>
        <p:grpSpPr bwMode="auto">
          <a:xfrm rot="16092290">
            <a:off x="1982481" y="3218428"/>
            <a:ext cx="194784" cy="338402"/>
            <a:chOff x="3888" y="2880"/>
            <a:chExt cx="288" cy="384"/>
          </a:xfrm>
        </p:grpSpPr>
        <p:sp>
          <p:nvSpPr>
            <p:cNvPr id="73" name="AutoShape 33"/>
            <p:cNvSpPr>
              <a:spLocks noChangeArrowheads="1"/>
            </p:cNvSpPr>
            <p:nvPr/>
          </p:nvSpPr>
          <p:spPr bwMode="auto">
            <a:xfrm>
              <a:off x="3888" y="2880"/>
              <a:ext cx="288" cy="288"/>
            </a:xfrm>
            <a:prstGeom prst="flowChartMerg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  <p:sp>
          <p:nvSpPr>
            <p:cNvPr id="74" name="Oval 34"/>
            <p:cNvSpPr>
              <a:spLocks noChangeArrowheads="1"/>
            </p:cNvSpPr>
            <p:nvPr/>
          </p:nvSpPr>
          <p:spPr bwMode="auto">
            <a:xfrm>
              <a:off x="3984" y="31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</p:grpSp>
      <p:grpSp>
        <p:nvGrpSpPr>
          <p:cNvPr id="75" name="Group 32"/>
          <p:cNvGrpSpPr>
            <a:grpSpLocks/>
          </p:cNvGrpSpPr>
          <p:nvPr/>
        </p:nvGrpSpPr>
        <p:grpSpPr bwMode="auto">
          <a:xfrm rot="16092290">
            <a:off x="1982481" y="3650476"/>
            <a:ext cx="194784" cy="338402"/>
            <a:chOff x="3888" y="2880"/>
            <a:chExt cx="288" cy="384"/>
          </a:xfrm>
        </p:grpSpPr>
        <p:sp>
          <p:nvSpPr>
            <p:cNvPr id="76" name="AutoShape 33"/>
            <p:cNvSpPr>
              <a:spLocks noChangeArrowheads="1"/>
            </p:cNvSpPr>
            <p:nvPr/>
          </p:nvSpPr>
          <p:spPr bwMode="auto">
            <a:xfrm>
              <a:off x="3888" y="2880"/>
              <a:ext cx="288" cy="288"/>
            </a:xfrm>
            <a:prstGeom prst="flowChartMerg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  <p:sp>
          <p:nvSpPr>
            <p:cNvPr id="77" name="Oval 34"/>
            <p:cNvSpPr>
              <a:spLocks noChangeArrowheads="1"/>
            </p:cNvSpPr>
            <p:nvPr/>
          </p:nvSpPr>
          <p:spPr bwMode="auto">
            <a:xfrm>
              <a:off x="3984" y="31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</p:grpSp>
      <p:grpSp>
        <p:nvGrpSpPr>
          <p:cNvPr id="78" name="Group 32"/>
          <p:cNvGrpSpPr>
            <a:grpSpLocks/>
          </p:cNvGrpSpPr>
          <p:nvPr/>
        </p:nvGrpSpPr>
        <p:grpSpPr bwMode="auto">
          <a:xfrm rot="16092290">
            <a:off x="1982481" y="4082524"/>
            <a:ext cx="194784" cy="338402"/>
            <a:chOff x="3888" y="2880"/>
            <a:chExt cx="288" cy="384"/>
          </a:xfrm>
        </p:grpSpPr>
        <p:sp>
          <p:nvSpPr>
            <p:cNvPr id="79" name="AutoShape 33"/>
            <p:cNvSpPr>
              <a:spLocks noChangeArrowheads="1"/>
            </p:cNvSpPr>
            <p:nvPr/>
          </p:nvSpPr>
          <p:spPr bwMode="auto">
            <a:xfrm>
              <a:off x="3888" y="2880"/>
              <a:ext cx="288" cy="288"/>
            </a:xfrm>
            <a:prstGeom prst="flowChartMerg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  <p:sp>
          <p:nvSpPr>
            <p:cNvPr id="80" name="Oval 34"/>
            <p:cNvSpPr>
              <a:spLocks noChangeArrowheads="1"/>
            </p:cNvSpPr>
            <p:nvPr/>
          </p:nvSpPr>
          <p:spPr bwMode="auto">
            <a:xfrm>
              <a:off x="3984" y="31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</p:grpSp>
      <p:sp>
        <p:nvSpPr>
          <p:cNvPr id="81" name="Line 30"/>
          <p:cNvSpPr>
            <a:spLocks noChangeShapeType="1"/>
          </p:cNvSpPr>
          <p:nvPr/>
        </p:nvSpPr>
        <p:spPr bwMode="auto">
          <a:xfrm>
            <a:off x="1763688" y="3140968"/>
            <a:ext cx="0" cy="2160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" name="Line 30"/>
          <p:cNvSpPr>
            <a:spLocks noChangeShapeType="1"/>
          </p:cNvSpPr>
          <p:nvPr/>
        </p:nvSpPr>
        <p:spPr bwMode="auto">
          <a:xfrm>
            <a:off x="1763688" y="3573016"/>
            <a:ext cx="0" cy="2160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" name="Line 30"/>
          <p:cNvSpPr>
            <a:spLocks noChangeShapeType="1"/>
          </p:cNvSpPr>
          <p:nvPr/>
        </p:nvSpPr>
        <p:spPr bwMode="auto">
          <a:xfrm>
            <a:off x="1763688" y="4005064"/>
            <a:ext cx="0" cy="2160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4" name="Line 30"/>
          <p:cNvSpPr>
            <a:spLocks noChangeShapeType="1"/>
          </p:cNvSpPr>
          <p:nvPr/>
        </p:nvSpPr>
        <p:spPr bwMode="auto">
          <a:xfrm>
            <a:off x="2915816" y="2996952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5" name="Line 30"/>
          <p:cNvSpPr>
            <a:spLocks noChangeShapeType="1"/>
          </p:cNvSpPr>
          <p:nvPr/>
        </p:nvSpPr>
        <p:spPr bwMode="auto">
          <a:xfrm>
            <a:off x="3203848" y="2996952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6" name="Line 30"/>
          <p:cNvSpPr>
            <a:spLocks noChangeShapeType="1"/>
          </p:cNvSpPr>
          <p:nvPr/>
        </p:nvSpPr>
        <p:spPr bwMode="auto">
          <a:xfrm>
            <a:off x="3491880" y="2996952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8" name="Line 28"/>
          <p:cNvSpPr>
            <a:spLocks noChangeShapeType="1"/>
          </p:cNvSpPr>
          <p:nvPr/>
        </p:nvSpPr>
        <p:spPr bwMode="auto">
          <a:xfrm flipV="1">
            <a:off x="2123728" y="5229199"/>
            <a:ext cx="216024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9" name="Oval 88"/>
          <p:cNvSpPr/>
          <p:nvPr/>
        </p:nvSpPr>
        <p:spPr bwMode="auto">
          <a:xfrm>
            <a:off x="2555776" y="3284984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0" name="Oval 89"/>
          <p:cNvSpPr/>
          <p:nvPr/>
        </p:nvSpPr>
        <p:spPr bwMode="auto">
          <a:xfrm>
            <a:off x="2555776" y="3501008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1" name="Oval 90"/>
          <p:cNvSpPr/>
          <p:nvPr/>
        </p:nvSpPr>
        <p:spPr bwMode="auto">
          <a:xfrm>
            <a:off x="2555776" y="3933056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2" name="Oval 91"/>
          <p:cNvSpPr/>
          <p:nvPr/>
        </p:nvSpPr>
        <p:spPr bwMode="auto">
          <a:xfrm>
            <a:off x="2843808" y="3068960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3" name="Oval 92"/>
          <p:cNvSpPr/>
          <p:nvPr/>
        </p:nvSpPr>
        <p:spPr bwMode="auto">
          <a:xfrm>
            <a:off x="2843808" y="3501008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4" name="Oval 93"/>
          <p:cNvSpPr/>
          <p:nvPr/>
        </p:nvSpPr>
        <p:spPr bwMode="auto">
          <a:xfrm>
            <a:off x="2843808" y="3933056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5" name="Oval 94"/>
          <p:cNvSpPr/>
          <p:nvPr/>
        </p:nvSpPr>
        <p:spPr bwMode="auto">
          <a:xfrm>
            <a:off x="3131840" y="3284984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6" name="Oval 95"/>
          <p:cNvSpPr/>
          <p:nvPr/>
        </p:nvSpPr>
        <p:spPr bwMode="auto">
          <a:xfrm>
            <a:off x="3131840" y="3717032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7" name="Oval 96"/>
          <p:cNvSpPr/>
          <p:nvPr/>
        </p:nvSpPr>
        <p:spPr bwMode="auto">
          <a:xfrm>
            <a:off x="3131840" y="4149080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8" name="Oval 97"/>
          <p:cNvSpPr/>
          <p:nvPr/>
        </p:nvSpPr>
        <p:spPr bwMode="auto">
          <a:xfrm>
            <a:off x="3419872" y="3068960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9" name="Oval 98"/>
          <p:cNvSpPr/>
          <p:nvPr/>
        </p:nvSpPr>
        <p:spPr bwMode="auto">
          <a:xfrm>
            <a:off x="3419872" y="3717032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0" name="Oval 99"/>
          <p:cNvSpPr/>
          <p:nvPr/>
        </p:nvSpPr>
        <p:spPr bwMode="auto">
          <a:xfrm>
            <a:off x="3419872" y="3933056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1" name="Oval 100"/>
          <p:cNvSpPr/>
          <p:nvPr/>
        </p:nvSpPr>
        <p:spPr bwMode="auto">
          <a:xfrm>
            <a:off x="2555776" y="4869160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2" name="Oval 101"/>
          <p:cNvSpPr/>
          <p:nvPr/>
        </p:nvSpPr>
        <p:spPr bwMode="auto">
          <a:xfrm>
            <a:off x="2843808" y="4869160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3" name="Oval 102"/>
          <p:cNvSpPr/>
          <p:nvPr/>
        </p:nvSpPr>
        <p:spPr bwMode="auto">
          <a:xfrm>
            <a:off x="3131840" y="4869160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4" name="Oval 103"/>
          <p:cNvSpPr/>
          <p:nvPr/>
        </p:nvSpPr>
        <p:spPr bwMode="auto">
          <a:xfrm>
            <a:off x="2843808" y="5157192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5" name="Oval 104"/>
          <p:cNvSpPr/>
          <p:nvPr/>
        </p:nvSpPr>
        <p:spPr bwMode="auto">
          <a:xfrm>
            <a:off x="3419872" y="5157192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67544" y="2021939"/>
            <a:ext cx="8856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 err="1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F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=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+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+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sym typeface="Symbol"/>
              </a:rPr>
              <a:t>C</a:t>
            </a: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G =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 + A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B</a:t>
            </a:r>
            <a:r>
              <a:rPr lang="it-IT" sz="2400" dirty="0">
                <a:solidFill>
                  <a:srgbClr val="0000FF"/>
                </a:solidFill>
                <a:latin typeface="+mn-lt"/>
                <a:sym typeface="Symbol"/>
              </a:rPr>
              <a:t>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  <a:sym typeface="Symbol"/>
              </a:rPr>
              <a:t>C</a:t>
            </a: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</p:txBody>
      </p:sp>
      <p:cxnSp>
        <p:nvCxnSpPr>
          <p:cNvPr id="107" name="Connettore 1 7"/>
          <p:cNvCxnSpPr/>
          <p:nvPr/>
        </p:nvCxnSpPr>
        <p:spPr>
          <a:xfrm>
            <a:off x="1979712" y="2060848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ttore 1 7"/>
          <p:cNvCxnSpPr/>
          <p:nvPr/>
        </p:nvCxnSpPr>
        <p:spPr>
          <a:xfrm>
            <a:off x="4139952" y="2060848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ttore 1 7"/>
          <p:cNvCxnSpPr/>
          <p:nvPr/>
        </p:nvCxnSpPr>
        <p:spPr>
          <a:xfrm>
            <a:off x="4427984" y="2060848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ttore 1 7"/>
          <p:cNvCxnSpPr/>
          <p:nvPr/>
        </p:nvCxnSpPr>
        <p:spPr>
          <a:xfrm>
            <a:off x="4716016" y="2060848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ttore 1 7"/>
          <p:cNvCxnSpPr/>
          <p:nvPr/>
        </p:nvCxnSpPr>
        <p:spPr>
          <a:xfrm>
            <a:off x="3347864" y="2420888"/>
            <a:ext cx="216024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85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9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628800"/>
            <a:ext cx="784887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Date le tre funzioni logiche </a:t>
            </a:r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, G, ed H, definite dalla seguente tavola di verità</a:t>
            </a: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Progettare un </a:t>
            </a:r>
            <a:r>
              <a:rPr lang="it-IT" sz="2400" b="0" dirty="0">
                <a:solidFill>
                  <a:srgbClr val="33CC33"/>
                </a:solidFill>
                <a:latin typeface="+mn-lt"/>
                <a:ea typeface="Cambria Math" charset="0"/>
                <a:cs typeface="Cambria Math" charset="0"/>
              </a:rPr>
              <a:t>circuito </a:t>
            </a: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che le realizzi utilizzando una </a:t>
            </a:r>
            <a:r>
              <a:rPr lang="it-IT" sz="24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ROM</a:t>
            </a:r>
            <a:endParaRPr lang="it-IT" sz="2400" b="0" dirty="0">
              <a:latin typeface="+mn-lt"/>
              <a:ea typeface="Cambria Math" charset="0"/>
              <a:cs typeface="Cambria Math" charset="0"/>
            </a:endParaRPr>
          </a:p>
        </p:txBody>
      </p:sp>
      <p:graphicFrame>
        <p:nvGraphicFramePr>
          <p:cNvPr id="17" name="Segnaposto contenuto 11"/>
          <p:cNvGraphicFramePr>
            <a:graphicFrameLocks noGrp="1"/>
          </p:cNvGraphicFramePr>
          <p:nvPr>
            <p:ph sz="half" idx="4294967295"/>
          </p:nvPr>
        </p:nvGraphicFramePr>
        <p:xfrm>
          <a:off x="1115618" y="2636912"/>
          <a:ext cx="2880318" cy="2743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A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B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C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F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G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H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6183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9: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628800"/>
            <a:ext cx="88569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Gli output del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decodificatore</a:t>
            </a:r>
            <a:r>
              <a:rPr lang="it-IT" sz="2400" b="0" dirty="0">
                <a:latin typeface="+mn-lt"/>
              </a:rPr>
              <a:t> andranno in input a tre porte OR per generare gli output delle funzioni: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G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H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</a:t>
            </a:r>
            <a:r>
              <a:rPr lang="it-IT" sz="2400" b="0" dirty="0">
                <a:latin typeface="+mn-lt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 + </a:t>
            </a:r>
            <a:r>
              <a:rPr lang="it-IT" sz="2400" b="0" dirty="0">
                <a:latin typeface="+mn-lt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 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</p:txBody>
      </p:sp>
      <p:sp>
        <p:nvSpPr>
          <p:cNvPr id="17" name="object 2"/>
          <p:cNvSpPr/>
          <p:nvPr/>
        </p:nvSpPr>
        <p:spPr>
          <a:xfrm>
            <a:off x="1066800" y="3861048"/>
            <a:ext cx="2470944" cy="2184400"/>
          </a:xfrm>
          <a:prstGeom prst="rect">
            <a:avLst/>
          </a:prstGeom>
          <a:blipFill>
            <a:blip r:embed="rId2" cstate="print"/>
            <a:srcRect/>
            <a:stretch>
              <a:fillRect l="-21547" t="-223187" r="-389843" b="-8873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5" name="Connettore 1 6"/>
          <p:cNvCxnSpPr/>
          <p:nvPr/>
        </p:nvCxnSpPr>
        <p:spPr>
          <a:xfrm>
            <a:off x="4681736" y="4140696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>
            <a:off x="2123728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6"/>
          <p:cNvCxnSpPr/>
          <p:nvPr/>
        </p:nvCxnSpPr>
        <p:spPr>
          <a:xfrm>
            <a:off x="2411760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6"/>
          <p:cNvCxnSpPr/>
          <p:nvPr/>
        </p:nvCxnSpPr>
        <p:spPr>
          <a:xfrm>
            <a:off x="3491880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6"/>
          <p:cNvCxnSpPr/>
          <p:nvPr/>
        </p:nvCxnSpPr>
        <p:spPr>
          <a:xfrm>
            <a:off x="2123728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6"/>
          <p:cNvCxnSpPr/>
          <p:nvPr/>
        </p:nvCxnSpPr>
        <p:spPr>
          <a:xfrm>
            <a:off x="4572000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6"/>
          <p:cNvCxnSpPr/>
          <p:nvPr/>
        </p:nvCxnSpPr>
        <p:spPr>
          <a:xfrm>
            <a:off x="2051720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6"/>
          <p:cNvCxnSpPr/>
          <p:nvPr/>
        </p:nvCxnSpPr>
        <p:spPr>
          <a:xfrm>
            <a:off x="3275856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6"/>
          <p:cNvCxnSpPr/>
          <p:nvPr/>
        </p:nvCxnSpPr>
        <p:spPr>
          <a:xfrm>
            <a:off x="4940424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6"/>
          <p:cNvCxnSpPr/>
          <p:nvPr/>
        </p:nvCxnSpPr>
        <p:spPr>
          <a:xfrm>
            <a:off x="2627784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1 6"/>
          <p:cNvCxnSpPr/>
          <p:nvPr/>
        </p:nvCxnSpPr>
        <p:spPr>
          <a:xfrm>
            <a:off x="2708176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1 6"/>
          <p:cNvCxnSpPr/>
          <p:nvPr/>
        </p:nvCxnSpPr>
        <p:spPr>
          <a:xfrm>
            <a:off x="2420144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6"/>
          <p:cNvCxnSpPr/>
          <p:nvPr/>
        </p:nvCxnSpPr>
        <p:spPr>
          <a:xfrm>
            <a:off x="3779912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ine 28"/>
          <p:cNvSpPr>
            <a:spLocks noChangeShapeType="1"/>
          </p:cNvSpPr>
          <p:nvPr/>
        </p:nvSpPr>
        <p:spPr bwMode="auto">
          <a:xfrm flipV="1">
            <a:off x="3563888" y="4063571"/>
            <a:ext cx="2007840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>
            <a:off x="3572272" y="4293094"/>
            <a:ext cx="567680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 flipV="1">
            <a:off x="3572272" y="4509120"/>
            <a:ext cx="2007840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 flipV="1">
            <a:off x="3563888" y="4725144"/>
            <a:ext cx="2007840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cxnSp>
        <p:nvCxnSpPr>
          <p:cNvPr id="29" name="Connettore 1 6"/>
          <p:cNvCxnSpPr/>
          <p:nvPr/>
        </p:nvCxnSpPr>
        <p:spPr>
          <a:xfrm>
            <a:off x="4681736" y="5018293"/>
            <a:ext cx="4572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Line 28"/>
          <p:cNvSpPr>
            <a:spLocks noChangeShapeType="1"/>
          </p:cNvSpPr>
          <p:nvPr/>
        </p:nvSpPr>
        <p:spPr bwMode="auto">
          <a:xfrm flipV="1">
            <a:off x="3572272" y="5373216"/>
            <a:ext cx="2007840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" name="Line 28"/>
          <p:cNvSpPr>
            <a:spLocks noChangeShapeType="1"/>
          </p:cNvSpPr>
          <p:nvPr/>
        </p:nvSpPr>
        <p:spPr bwMode="auto">
          <a:xfrm>
            <a:off x="4427984" y="4149080"/>
            <a:ext cx="0" cy="1008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" name="Line 28"/>
          <p:cNvSpPr>
            <a:spLocks noChangeShapeType="1"/>
          </p:cNvSpPr>
          <p:nvPr/>
        </p:nvSpPr>
        <p:spPr bwMode="auto">
          <a:xfrm flipV="1">
            <a:off x="4427984" y="4149079"/>
            <a:ext cx="1152128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9" name="Line 28"/>
          <p:cNvSpPr>
            <a:spLocks noChangeShapeType="1"/>
          </p:cNvSpPr>
          <p:nvPr/>
        </p:nvSpPr>
        <p:spPr bwMode="auto">
          <a:xfrm flipV="1">
            <a:off x="3563888" y="5575740"/>
            <a:ext cx="1944216" cy="1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" name="Line 28"/>
          <p:cNvSpPr>
            <a:spLocks noChangeShapeType="1"/>
          </p:cNvSpPr>
          <p:nvPr/>
        </p:nvSpPr>
        <p:spPr bwMode="auto">
          <a:xfrm>
            <a:off x="4644008" y="4221088"/>
            <a:ext cx="0" cy="13681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 flipV="1">
            <a:off x="4644008" y="4221088"/>
            <a:ext cx="936104" cy="218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" name="Line 28"/>
          <p:cNvSpPr>
            <a:spLocks noChangeShapeType="1"/>
          </p:cNvSpPr>
          <p:nvPr/>
        </p:nvSpPr>
        <p:spPr bwMode="auto">
          <a:xfrm>
            <a:off x="4139952" y="4293096"/>
            <a:ext cx="0" cy="1008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" name="Line 28"/>
          <p:cNvSpPr>
            <a:spLocks noChangeShapeType="1"/>
          </p:cNvSpPr>
          <p:nvPr/>
        </p:nvSpPr>
        <p:spPr bwMode="auto">
          <a:xfrm flipV="1">
            <a:off x="4139952" y="5301206"/>
            <a:ext cx="1440160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" name="Line 28"/>
          <p:cNvSpPr>
            <a:spLocks noChangeShapeType="1"/>
          </p:cNvSpPr>
          <p:nvPr/>
        </p:nvSpPr>
        <p:spPr bwMode="auto">
          <a:xfrm flipV="1">
            <a:off x="3563888" y="5143691"/>
            <a:ext cx="8640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AutoShape 27"/>
          <p:cNvSpPr>
            <a:spLocks noChangeArrowheads="1"/>
          </p:cNvSpPr>
          <p:nvPr/>
        </p:nvSpPr>
        <p:spPr bwMode="auto">
          <a:xfrm rot="10872147">
            <a:off x="5358452" y="3867475"/>
            <a:ext cx="618151" cy="530654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5" name="Line 28"/>
          <p:cNvSpPr>
            <a:spLocks noChangeShapeType="1"/>
          </p:cNvSpPr>
          <p:nvPr/>
        </p:nvSpPr>
        <p:spPr bwMode="auto">
          <a:xfrm flipV="1">
            <a:off x="3563888" y="4927667"/>
            <a:ext cx="2007840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" name="Line 30"/>
          <p:cNvSpPr>
            <a:spLocks noChangeShapeType="1"/>
          </p:cNvSpPr>
          <p:nvPr/>
        </p:nvSpPr>
        <p:spPr bwMode="auto">
          <a:xfrm rot="16271550">
            <a:off x="6130611" y="396254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" name="Line 30"/>
          <p:cNvSpPr>
            <a:spLocks noChangeShapeType="1"/>
          </p:cNvSpPr>
          <p:nvPr/>
        </p:nvSpPr>
        <p:spPr bwMode="auto">
          <a:xfrm rot="16271550">
            <a:off x="6130611" y="453067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8" name="Line 30"/>
          <p:cNvSpPr>
            <a:spLocks noChangeShapeType="1"/>
          </p:cNvSpPr>
          <p:nvPr/>
        </p:nvSpPr>
        <p:spPr bwMode="auto">
          <a:xfrm rot="16271550">
            <a:off x="6130611" y="525075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87824" y="378904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87824" y="4005064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87824" y="422108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87824" y="445859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87824" y="4653136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87824" y="486916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87824" y="5085184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6</a:t>
            </a:r>
          </a:p>
        </p:txBody>
      </p:sp>
      <p:sp>
        <p:nvSpPr>
          <p:cNvPr id="55" name="AutoShape 27"/>
          <p:cNvSpPr>
            <a:spLocks noChangeArrowheads="1"/>
          </p:cNvSpPr>
          <p:nvPr/>
        </p:nvSpPr>
        <p:spPr bwMode="auto">
          <a:xfrm rot="10872147">
            <a:off x="5369588" y="4443540"/>
            <a:ext cx="618151" cy="530654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56" name="AutoShape 27"/>
          <p:cNvSpPr>
            <a:spLocks noChangeArrowheads="1"/>
          </p:cNvSpPr>
          <p:nvPr/>
        </p:nvSpPr>
        <p:spPr bwMode="auto">
          <a:xfrm rot="10872147">
            <a:off x="5369588" y="5124166"/>
            <a:ext cx="618151" cy="530654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57" name="TextBox 56"/>
          <p:cNvSpPr txBox="1"/>
          <p:nvPr/>
        </p:nvSpPr>
        <p:spPr>
          <a:xfrm>
            <a:off x="2987824" y="530120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36096" y="393305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/>
                <a:cs typeface="Arial"/>
              </a:rPr>
              <a:t>F</a:t>
            </a:r>
            <a:endParaRPr lang="en-US" sz="1800" baseline="-25000" dirty="0">
              <a:latin typeface="Arial"/>
              <a:cs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436096" y="4499828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/>
                <a:cs typeface="Arial"/>
              </a:rPr>
              <a:t>G</a:t>
            </a:r>
            <a:endParaRPr lang="en-US" sz="1800" baseline="-25000" dirty="0">
              <a:latin typeface="Arial"/>
              <a:cs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36096" y="5219908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/>
                <a:cs typeface="Arial"/>
              </a:rPr>
              <a:t>H</a:t>
            </a:r>
            <a:endParaRPr lang="en-US" sz="1800" baseline="-25000" dirty="0">
              <a:latin typeface="Arial"/>
              <a:cs typeface="Arial"/>
            </a:endParaRPr>
          </a:p>
        </p:txBody>
      </p:sp>
      <p:sp>
        <p:nvSpPr>
          <p:cNvPr id="61" name="CasellaDiTesto 6"/>
          <p:cNvSpPr txBox="1"/>
          <p:nvPr/>
        </p:nvSpPr>
        <p:spPr>
          <a:xfrm>
            <a:off x="4088546" y="5939988"/>
            <a:ext cx="4280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800" b="0" dirty="0">
                <a:solidFill>
                  <a:srgbClr val="0000FF"/>
                </a:solidFill>
                <a:latin typeface="+mn-lt"/>
              </a:rPr>
              <a:t> Il circuito è lo stesso dell’Esercizio 1</a:t>
            </a:r>
          </a:p>
          <a:p>
            <a:r>
              <a:rPr lang="it-IT" sz="1800" b="0" dirty="0">
                <a:solidFill>
                  <a:srgbClr val="0000FF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901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32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6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9: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628800"/>
            <a:ext cx="88569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Gli output del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decodificatore</a:t>
            </a:r>
            <a:r>
              <a:rPr lang="it-IT" sz="2400" b="0" dirty="0">
                <a:latin typeface="+mn-lt"/>
              </a:rPr>
              <a:t> andranno in input a tre porte OR per generare gli output delle funzioni: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 err="1">
                <a:latin typeface="+mn-lt"/>
              </a:rPr>
              <a:t>F</a:t>
            </a:r>
            <a:r>
              <a:rPr lang="it-IT" sz="2400" b="0" dirty="0">
                <a:latin typeface="+mn-lt"/>
              </a:rPr>
              <a:t>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G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+</a:t>
            </a:r>
            <a:r>
              <a:rPr lang="it-IT" sz="2400" dirty="0">
                <a:latin typeface="+mn-lt"/>
                <a:sym typeface="Symbol"/>
              </a:rPr>
              <a:t> </a:t>
            </a:r>
            <a:r>
              <a:rPr lang="it-IT" sz="2400" b="0" dirty="0">
                <a:latin typeface="+mn-lt"/>
                <a:sym typeface="Symbol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latin typeface="+mn-lt"/>
              </a:rPr>
              <a:t>H = 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+ </a:t>
            </a:r>
            <a:r>
              <a:rPr lang="it-IT" sz="2400" b="0" dirty="0">
                <a:latin typeface="+mn-lt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 + </a:t>
            </a:r>
            <a:r>
              <a:rPr lang="it-IT" sz="2400" b="0" dirty="0">
                <a:latin typeface="+mn-lt"/>
              </a:rPr>
              <a:t>A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B</a:t>
            </a:r>
            <a:r>
              <a:rPr lang="it-IT" sz="2400" dirty="0">
                <a:latin typeface="+mn-lt"/>
                <a:sym typeface="Symbol"/>
              </a:rPr>
              <a:t></a:t>
            </a:r>
            <a:r>
              <a:rPr lang="it-IT" sz="2400" b="0" dirty="0">
                <a:latin typeface="+mn-lt"/>
                <a:sym typeface="Symbol"/>
              </a:rPr>
              <a:t>C  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400" b="0" dirty="0">
              <a:latin typeface="+mn-lt"/>
            </a:endParaRPr>
          </a:p>
        </p:txBody>
      </p:sp>
      <p:sp>
        <p:nvSpPr>
          <p:cNvPr id="17" name="object 2"/>
          <p:cNvSpPr/>
          <p:nvPr/>
        </p:nvSpPr>
        <p:spPr>
          <a:xfrm>
            <a:off x="1066800" y="3861048"/>
            <a:ext cx="2470944" cy="2184400"/>
          </a:xfrm>
          <a:prstGeom prst="rect">
            <a:avLst/>
          </a:prstGeom>
          <a:blipFill>
            <a:blip r:embed="rId2" cstate="print"/>
            <a:srcRect/>
            <a:stretch>
              <a:fillRect l="-21547" t="-223187" r="-389843" b="-8873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7" name="Connettore 1 6"/>
          <p:cNvCxnSpPr/>
          <p:nvPr/>
        </p:nvCxnSpPr>
        <p:spPr>
          <a:xfrm>
            <a:off x="2123728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6"/>
          <p:cNvCxnSpPr/>
          <p:nvPr/>
        </p:nvCxnSpPr>
        <p:spPr>
          <a:xfrm>
            <a:off x="2411760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6"/>
          <p:cNvCxnSpPr/>
          <p:nvPr/>
        </p:nvCxnSpPr>
        <p:spPr>
          <a:xfrm>
            <a:off x="3491880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6"/>
          <p:cNvCxnSpPr/>
          <p:nvPr/>
        </p:nvCxnSpPr>
        <p:spPr>
          <a:xfrm>
            <a:off x="2123728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6"/>
          <p:cNvCxnSpPr/>
          <p:nvPr/>
        </p:nvCxnSpPr>
        <p:spPr>
          <a:xfrm>
            <a:off x="4572000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6"/>
          <p:cNvCxnSpPr/>
          <p:nvPr/>
        </p:nvCxnSpPr>
        <p:spPr>
          <a:xfrm>
            <a:off x="2051720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6"/>
          <p:cNvCxnSpPr/>
          <p:nvPr/>
        </p:nvCxnSpPr>
        <p:spPr>
          <a:xfrm>
            <a:off x="3275856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6"/>
          <p:cNvCxnSpPr/>
          <p:nvPr/>
        </p:nvCxnSpPr>
        <p:spPr>
          <a:xfrm>
            <a:off x="4940424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6"/>
          <p:cNvCxnSpPr/>
          <p:nvPr/>
        </p:nvCxnSpPr>
        <p:spPr>
          <a:xfrm>
            <a:off x="2627784" y="278092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1 6"/>
          <p:cNvCxnSpPr/>
          <p:nvPr/>
        </p:nvCxnSpPr>
        <p:spPr>
          <a:xfrm>
            <a:off x="2708176" y="242088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1 6"/>
          <p:cNvCxnSpPr/>
          <p:nvPr/>
        </p:nvCxnSpPr>
        <p:spPr>
          <a:xfrm>
            <a:off x="2420144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6"/>
          <p:cNvCxnSpPr/>
          <p:nvPr/>
        </p:nvCxnSpPr>
        <p:spPr>
          <a:xfrm>
            <a:off x="3779912" y="3140968"/>
            <a:ext cx="207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987824" y="378904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87824" y="4005064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87824" y="422108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87824" y="445859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87824" y="4653136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87824" y="486916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87824" y="5085184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87824" y="5301208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Arial"/>
                <a:cs typeface="Arial"/>
              </a:rPr>
              <a:t>Out</a:t>
            </a:r>
            <a:r>
              <a:rPr lang="en-US" sz="1400" b="0" baseline="-25000" dirty="0">
                <a:latin typeface="Arial"/>
                <a:cs typeface="Arial"/>
              </a:rPr>
              <a:t>7</a:t>
            </a:r>
          </a:p>
        </p:txBody>
      </p:sp>
      <p:sp>
        <p:nvSpPr>
          <p:cNvPr id="61" name="Line 28"/>
          <p:cNvSpPr>
            <a:spLocks noChangeShapeType="1"/>
          </p:cNvSpPr>
          <p:nvPr/>
        </p:nvSpPr>
        <p:spPr bwMode="auto">
          <a:xfrm flipV="1">
            <a:off x="3491880" y="4063571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2" name="Line 28"/>
          <p:cNvSpPr>
            <a:spLocks noChangeShapeType="1"/>
          </p:cNvSpPr>
          <p:nvPr/>
        </p:nvSpPr>
        <p:spPr bwMode="auto">
          <a:xfrm flipV="1">
            <a:off x="3491880" y="4279595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3" name="Line 28"/>
          <p:cNvSpPr>
            <a:spLocks noChangeShapeType="1"/>
          </p:cNvSpPr>
          <p:nvPr/>
        </p:nvSpPr>
        <p:spPr bwMode="auto">
          <a:xfrm flipV="1">
            <a:off x="3491880" y="4495619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4" name="Line 28"/>
          <p:cNvSpPr>
            <a:spLocks noChangeShapeType="1"/>
          </p:cNvSpPr>
          <p:nvPr/>
        </p:nvSpPr>
        <p:spPr bwMode="auto">
          <a:xfrm flipV="1">
            <a:off x="3491880" y="4711643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5" name="Line 28"/>
          <p:cNvSpPr>
            <a:spLocks noChangeShapeType="1"/>
          </p:cNvSpPr>
          <p:nvPr/>
        </p:nvSpPr>
        <p:spPr bwMode="auto">
          <a:xfrm flipV="1">
            <a:off x="3491880" y="4927667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" name="Line 28"/>
          <p:cNvSpPr>
            <a:spLocks noChangeShapeType="1"/>
          </p:cNvSpPr>
          <p:nvPr/>
        </p:nvSpPr>
        <p:spPr bwMode="auto">
          <a:xfrm flipV="1">
            <a:off x="3491880" y="5143691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7" name="Line 28"/>
          <p:cNvSpPr>
            <a:spLocks noChangeShapeType="1"/>
          </p:cNvSpPr>
          <p:nvPr/>
        </p:nvSpPr>
        <p:spPr bwMode="auto">
          <a:xfrm flipV="1">
            <a:off x="3491880" y="5359715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" name="Line 28"/>
          <p:cNvSpPr>
            <a:spLocks noChangeShapeType="1"/>
          </p:cNvSpPr>
          <p:nvPr/>
        </p:nvSpPr>
        <p:spPr bwMode="auto">
          <a:xfrm flipV="1">
            <a:off x="3491880" y="5575739"/>
            <a:ext cx="2664296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" name="Line 30"/>
          <p:cNvSpPr>
            <a:spLocks noChangeShapeType="1"/>
          </p:cNvSpPr>
          <p:nvPr/>
        </p:nvSpPr>
        <p:spPr bwMode="auto">
          <a:xfrm>
            <a:off x="4355976" y="3645024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0" name="Line 30"/>
          <p:cNvSpPr>
            <a:spLocks noChangeShapeType="1"/>
          </p:cNvSpPr>
          <p:nvPr/>
        </p:nvSpPr>
        <p:spPr bwMode="auto">
          <a:xfrm>
            <a:off x="4788024" y="3645024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" name="Line 30"/>
          <p:cNvSpPr>
            <a:spLocks noChangeShapeType="1"/>
          </p:cNvSpPr>
          <p:nvPr/>
        </p:nvSpPr>
        <p:spPr bwMode="auto">
          <a:xfrm>
            <a:off x="5220072" y="3645024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" name="Oval 81"/>
          <p:cNvSpPr/>
          <p:nvPr/>
        </p:nvSpPr>
        <p:spPr bwMode="auto">
          <a:xfrm>
            <a:off x="4283968" y="4005064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3" name="Oval 82"/>
          <p:cNvSpPr/>
          <p:nvPr/>
        </p:nvSpPr>
        <p:spPr bwMode="auto">
          <a:xfrm>
            <a:off x="5148064" y="4221088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4" name="Oval 83"/>
          <p:cNvSpPr/>
          <p:nvPr/>
        </p:nvSpPr>
        <p:spPr bwMode="auto">
          <a:xfrm>
            <a:off x="4716016" y="4437112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5" name="Oval 84"/>
          <p:cNvSpPr/>
          <p:nvPr/>
        </p:nvSpPr>
        <p:spPr bwMode="auto">
          <a:xfrm>
            <a:off x="4716016" y="4653136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6" name="Oval 85"/>
          <p:cNvSpPr/>
          <p:nvPr/>
        </p:nvSpPr>
        <p:spPr bwMode="auto">
          <a:xfrm>
            <a:off x="4716016" y="4869160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7" name="Oval 86"/>
          <p:cNvSpPr/>
          <p:nvPr/>
        </p:nvSpPr>
        <p:spPr bwMode="auto">
          <a:xfrm>
            <a:off x="4283968" y="5085184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8" name="Oval 87"/>
          <p:cNvSpPr/>
          <p:nvPr/>
        </p:nvSpPr>
        <p:spPr bwMode="auto">
          <a:xfrm>
            <a:off x="4283968" y="5517232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9" name="Oval 88"/>
          <p:cNvSpPr/>
          <p:nvPr/>
        </p:nvSpPr>
        <p:spPr bwMode="auto">
          <a:xfrm>
            <a:off x="5148064" y="5301208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0" name="Oval 89"/>
          <p:cNvSpPr/>
          <p:nvPr/>
        </p:nvSpPr>
        <p:spPr bwMode="auto">
          <a:xfrm>
            <a:off x="5148064" y="5517232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45" name="CasellaDiTesto 6"/>
          <p:cNvSpPr txBox="1"/>
          <p:nvPr/>
        </p:nvSpPr>
        <p:spPr>
          <a:xfrm>
            <a:off x="4447980" y="5877272"/>
            <a:ext cx="4588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800" b="0" dirty="0">
                <a:solidFill>
                  <a:srgbClr val="0000FF"/>
                </a:solidFill>
                <a:latin typeface="+mn-lt"/>
              </a:rPr>
              <a:t> Il circuito è lo stesso dell’Esercizio 1</a:t>
            </a:r>
          </a:p>
          <a:p>
            <a:pPr algn="ctr"/>
            <a:r>
              <a:rPr lang="it-IT" sz="1800" b="0" dirty="0">
                <a:solidFill>
                  <a:srgbClr val="0000FF"/>
                </a:solidFill>
                <a:latin typeface="+mn-lt"/>
              </a:rPr>
              <a:t>(infatti una ROM è costituita da un </a:t>
            </a:r>
          </a:p>
          <a:p>
            <a:pPr algn="ctr"/>
            <a:r>
              <a:rPr lang="it-IT" sz="1800" b="0" dirty="0">
                <a:solidFill>
                  <a:srgbClr val="0000FF"/>
                </a:solidFill>
                <a:latin typeface="+mn-lt"/>
              </a:rPr>
              <a:t>decodificatore e una catena di porte OR)</a:t>
            </a:r>
          </a:p>
          <a:p>
            <a:pPr algn="ctr"/>
            <a:r>
              <a:rPr lang="it-IT" sz="1800" b="0" dirty="0">
                <a:solidFill>
                  <a:srgbClr val="0000FF"/>
                </a:solidFill>
                <a:latin typeface="+mn-lt"/>
              </a:rPr>
              <a:t> </a:t>
            </a:r>
          </a:p>
        </p:txBody>
      </p:sp>
      <p:sp>
        <p:nvSpPr>
          <p:cNvPr id="46" name="CasellaDiTesto 6"/>
          <p:cNvSpPr txBox="1"/>
          <p:nvPr/>
        </p:nvSpPr>
        <p:spPr>
          <a:xfrm>
            <a:off x="7346520" y="5334224"/>
            <a:ext cx="14146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800" b="0" dirty="0">
                <a:solidFill>
                  <a:srgbClr val="CC0000"/>
                </a:solidFill>
                <a:latin typeface="+mn-lt"/>
              </a:rPr>
              <a:t>ROM 2</a:t>
            </a:r>
            <a:r>
              <a:rPr lang="it-IT" sz="1800" b="0" baseline="30000" dirty="0">
                <a:solidFill>
                  <a:srgbClr val="CC0000"/>
                </a:solidFill>
                <a:latin typeface="+mn-lt"/>
              </a:rPr>
              <a:t>3</a:t>
            </a:r>
            <a:r>
              <a:rPr lang="it-IT" sz="1800" b="0" dirty="0">
                <a:solidFill>
                  <a:srgbClr val="CC0000"/>
                </a:solidFill>
                <a:latin typeface="+mn-lt"/>
              </a:rPr>
              <a:t> x3</a:t>
            </a:r>
          </a:p>
          <a:p>
            <a:pPr algn="ctr"/>
            <a:endParaRPr lang="it-IT" sz="1800" b="0" dirty="0">
              <a:solidFill>
                <a:srgbClr val="CC0000"/>
              </a:solidFill>
              <a:latin typeface="+mn-lt"/>
            </a:endParaRPr>
          </a:p>
          <a:p>
            <a:pPr algn="ctr"/>
            <a:r>
              <a:rPr lang="it-IT" sz="1800" b="0" dirty="0">
                <a:solidFill>
                  <a:srgbClr val="CC0000"/>
                </a:solidFill>
                <a:latin typeface="+mn-lt"/>
              </a:rPr>
              <a:t> </a:t>
            </a:r>
          </a:p>
        </p:txBody>
      </p:sp>
      <p:graphicFrame>
        <p:nvGraphicFramePr>
          <p:cNvPr id="5" name="Segnaposto contenuto 11">
            <a:extLst>
              <a:ext uri="{FF2B5EF4-FFF2-40B4-BE49-F238E27FC236}">
                <a16:creationId xmlns:a16="http://schemas.microsoft.com/office/drawing/2014/main" id="{2C459F2E-CE87-22AA-EE1E-49D82CE22C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6823036"/>
              </p:ext>
            </p:extLst>
          </p:nvPr>
        </p:nvGraphicFramePr>
        <p:xfrm>
          <a:off x="6812634" y="2565524"/>
          <a:ext cx="2096598" cy="2743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49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4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94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9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9936"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A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B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C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F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/>
                        <a:t>G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i="0" dirty="0" err="1"/>
                        <a:t>H</a:t>
                      </a:r>
                      <a:endParaRPr lang="it-IT" sz="1400" b="0" i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9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9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9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9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936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rgbClr val="CC0000"/>
                          </a:solidFill>
                        </a:rPr>
                        <a:t>1</a:t>
                      </a:r>
                      <a:endParaRPr lang="it-IT" sz="1400" b="0" dirty="0">
                        <a:solidFill>
                          <a:srgbClr val="CC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it-IT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solidFill>
                            <a:srgbClr val="CC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2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45" grpId="0"/>
      <p:bldP spid="46" grpId="0"/>
    </p:bldLst>
  </p:timing>
</p:sld>
</file>

<file path=ppt/theme/theme1.xml><?xml version="1.0" encoding="utf-8"?>
<a:theme xmlns:a="http://schemas.openxmlformats.org/drawingml/2006/main" name="korea">
  <a:themeElements>
    <a:clrScheme name="korea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korea">
      <a:majorFont>
        <a:latin typeface="Arial Black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miter lim="800000"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miter lim="800000"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08" charset="0"/>
          </a:defRPr>
        </a:defPPr>
      </a:lstStyle>
    </a:lnDef>
  </a:objectDefaults>
  <a:extraClrSchemeLst>
    <a:extraClrScheme>
      <a:clrScheme name="korea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rea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rea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stelvio</Template>
  <TotalTime>185178</TotalTime>
  <Words>5404</Words>
  <Application>Microsoft Office PowerPoint</Application>
  <PresentationFormat>Presentazione su schermo (4:3)</PresentationFormat>
  <Paragraphs>1611</Paragraphs>
  <Slides>85</Slides>
  <Notes>27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17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85</vt:i4>
      </vt:variant>
    </vt:vector>
  </HeadingPairs>
  <TitlesOfParts>
    <vt:vector size="104" baseType="lpstr">
      <vt:lpstr>ＭＳ Ｐゴシック</vt:lpstr>
      <vt:lpstr>ＭＳ Ｐゴシック</vt:lpstr>
      <vt:lpstr>-apple-system</vt:lpstr>
      <vt:lpstr>Aptos</vt:lpstr>
      <vt:lpstr>Arial</vt:lpstr>
      <vt:lpstr>Arial Black</vt:lpstr>
      <vt:lpstr>Calibri</vt:lpstr>
      <vt:lpstr>Cambria Math</vt:lpstr>
      <vt:lpstr>Century Gothic</vt:lpstr>
      <vt:lpstr>Comic Sans MS</vt:lpstr>
      <vt:lpstr>Courier</vt:lpstr>
      <vt:lpstr>Courier New</vt:lpstr>
      <vt:lpstr>Symbol</vt:lpstr>
      <vt:lpstr>Tahoma</vt:lpstr>
      <vt:lpstr>TeX Gyre Heros Cn</vt:lpstr>
      <vt:lpstr>Times New Roman</vt:lpstr>
      <vt:lpstr>Wingdings</vt:lpstr>
      <vt:lpstr>korea</vt:lpstr>
      <vt:lpstr>Visio</vt:lpstr>
      <vt:lpstr>Architettura degli Elaboratori</vt:lpstr>
      <vt:lpstr>Presentazione standard di PowerPoint</vt:lpstr>
      <vt:lpstr>Su cosa  ci esercitiamo oggi?</vt:lpstr>
      <vt:lpstr>Esercizio 1.b: Soluzione</vt:lpstr>
      <vt:lpstr>Esercizio 1.c: Soluzione</vt:lpstr>
      <vt:lpstr>Esercizio 1.d: Soluzione</vt:lpstr>
      <vt:lpstr>Esercizio 1.f: Soluzione</vt:lpstr>
      <vt:lpstr>Esercizio 2.b: Soluzione</vt:lpstr>
      <vt:lpstr>Esercizio 2.c: Soluzione</vt:lpstr>
      <vt:lpstr>Esercizio 2.c: Soluzione</vt:lpstr>
      <vt:lpstr>Esercizio 2.c: Soluzione</vt:lpstr>
      <vt:lpstr>Esercizio 2.d: Soluzione</vt:lpstr>
      <vt:lpstr>Esercizio 2.d: Soluzione</vt:lpstr>
      <vt:lpstr>Esercizio 2.d: Soluzione</vt:lpstr>
      <vt:lpstr>Esercizio 2.f: Soluzione</vt:lpstr>
      <vt:lpstr>Esercizio 2.g: Soluzione</vt:lpstr>
      <vt:lpstr>Esercizio 3</vt:lpstr>
      <vt:lpstr>Esercizio 3: Soluzione</vt:lpstr>
      <vt:lpstr>Esercizio 3: Soluzione</vt:lpstr>
      <vt:lpstr>Esercizio 3: Soluzione</vt:lpstr>
      <vt:lpstr>Esercizio 4</vt:lpstr>
      <vt:lpstr>Esercizio 4: Soluzione</vt:lpstr>
      <vt:lpstr>Esercizio 4: Soluzione</vt:lpstr>
      <vt:lpstr>Esercizio 4: Soluzione</vt:lpstr>
      <vt:lpstr>Su cosa  ci esercitiamo oggi?</vt:lpstr>
      <vt:lpstr>Esercizio 1</vt:lpstr>
      <vt:lpstr>Esercizio 1: Soluzione</vt:lpstr>
      <vt:lpstr>Esercizio 4</vt:lpstr>
      <vt:lpstr>Esercizio 4: Soluzione</vt:lpstr>
      <vt:lpstr>Esercizio 4: Soluzione</vt:lpstr>
      <vt:lpstr>Esercizio 4: Soluzione </vt:lpstr>
      <vt:lpstr>Esercizio 4: Soluzione </vt:lpstr>
      <vt:lpstr>Esercizio 4: Soluzione </vt:lpstr>
      <vt:lpstr>Esercizio 4: Soluzione </vt:lpstr>
      <vt:lpstr>Esercizio 4: Soluzione </vt:lpstr>
      <vt:lpstr>Esercizio 5</vt:lpstr>
      <vt:lpstr>Esercizio 5: Soluzione</vt:lpstr>
      <vt:lpstr>Esercizio 5: Soluzione</vt:lpstr>
      <vt:lpstr>Su cosa  ci esercitiamo oggi?</vt:lpstr>
      <vt:lpstr>Algebra di Boole</vt:lpstr>
      <vt:lpstr>Esercizio 2</vt:lpstr>
      <vt:lpstr>Esercizio 2: Soluzione</vt:lpstr>
      <vt:lpstr>Esercizio 3</vt:lpstr>
      <vt:lpstr>Esercizio 3: Soluzione</vt:lpstr>
      <vt:lpstr>Esercizio 3: Soluzione</vt:lpstr>
      <vt:lpstr>Esercizio 3: Soluzione</vt:lpstr>
      <vt:lpstr>Esercizio 3: Soluzione</vt:lpstr>
      <vt:lpstr>Esercizio 4</vt:lpstr>
      <vt:lpstr>Esercizio 4: Soluzione</vt:lpstr>
      <vt:lpstr>Esercizio 4: Soluzione</vt:lpstr>
      <vt:lpstr>Esercizio 4: Soluzione</vt:lpstr>
      <vt:lpstr>Esercizio 4: Soluzione</vt:lpstr>
      <vt:lpstr>Esercizio 4: Soluzione</vt:lpstr>
      <vt:lpstr>Esercizio 4: Soluzione</vt:lpstr>
      <vt:lpstr>Esercizio 7</vt:lpstr>
      <vt:lpstr>Esercizio 7: Soluzione</vt:lpstr>
      <vt:lpstr>Esercizio 8</vt:lpstr>
      <vt:lpstr>Esercizio 8: Soluzione</vt:lpstr>
      <vt:lpstr>Esercizio 9</vt:lpstr>
      <vt:lpstr>Esercizio 9: Soluzione</vt:lpstr>
      <vt:lpstr>Su cosa  ci esercitiamo oggi?</vt:lpstr>
      <vt:lpstr>Esercizio 1</vt:lpstr>
      <vt:lpstr>Esercizio 1: Soluzione</vt:lpstr>
      <vt:lpstr>Esercizio 1: Soluzione</vt:lpstr>
      <vt:lpstr>Esercizio 1: Soluzione</vt:lpstr>
      <vt:lpstr>Esercizio 1: Soluzione</vt:lpstr>
      <vt:lpstr>Multiplexer e  funzioni logiche </vt:lpstr>
      <vt:lpstr>Esercizio 2</vt:lpstr>
      <vt:lpstr>Esercizio 2: Soluzione</vt:lpstr>
      <vt:lpstr>Esercizio 2: Soluzione</vt:lpstr>
      <vt:lpstr>Esercizio 2: Soluzione</vt:lpstr>
      <vt:lpstr>Esercizio 2: Soluzione</vt:lpstr>
      <vt:lpstr>Esercizio 3</vt:lpstr>
      <vt:lpstr>Esercizio 3: Soluzione</vt:lpstr>
      <vt:lpstr>Esercizio 4</vt:lpstr>
      <vt:lpstr>Esercizio 4: Soluzione</vt:lpstr>
      <vt:lpstr>Esercizio 6</vt:lpstr>
      <vt:lpstr>Esercizio 6: Soluzione</vt:lpstr>
      <vt:lpstr>Esercizio 6: Soluzione</vt:lpstr>
      <vt:lpstr>Esercizio 7</vt:lpstr>
      <vt:lpstr>Esercizio 7: Soluzione</vt:lpstr>
      <vt:lpstr>Esercizio 7: Soluzione</vt:lpstr>
      <vt:lpstr>Esercizio 9</vt:lpstr>
      <vt:lpstr>Esercizio 9: Soluzione</vt:lpstr>
      <vt:lpstr>Esercizio 9: Soluzione</vt:lpstr>
    </vt:vector>
  </TitlesOfParts>
  <Manager/>
  <Company>Dipartimento di Informatica -- Università di Salerno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</dc:title>
  <dc:subject/>
  <dc:creator>Barbara Masucci</dc:creator>
  <cp:keywords/>
  <dc:description/>
  <cp:lastModifiedBy>Domenico ROSSI</cp:lastModifiedBy>
  <cp:revision>1777</cp:revision>
  <cp:lastPrinted>2024-10-09T18:46:22Z</cp:lastPrinted>
  <dcterms:created xsi:type="dcterms:W3CDTF">2013-04-23T09:51:04Z</dcterms:created>
  <dcterms:modified xsi:type="dcterms:W3CDTF">2025-10-31T10:07:23Z</dcterms:modified>
  <cp:category/>
</cp:coreProperties>
</file>